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90" r:id="rId4"/>
    <p:sldId id="314" r:id="rId5"/>
    <p:sldId id="277" r:id="rId6"/>
    <p:sldId id="324" r:id="rId7"/>
    <p:sldId id="272" r:id="rId8"/>
    <p:sldId id="298" r:id="rId9"/>
    <p:sldId id="300" r:id="rId10"/>
    <p:sldId id="299" r:id="rId11"/>
    <p:sldId id="313" r:id="rId12"/>
    <p:sldId id="276" r:id="rId13"/>
    <p:sldId id="301" r:id="rId14"/>
    <p:sldId id="302" r:id="rId15"/>
    <p:sldId id="332" r:id="rId16"/>
    <p:sldId id="278" r:id="rId17"/>
    <p:sldId id="303" r:id="rId18"/>
    <p:sldId id="262" r:id="rId19"/>
    <p:sldId id="307" r:id="rId20"/>
    <p:sldId id="316" r:id="rId21"/>
    <p:sldId id="327" r:id="rId22"/>
    <p:sldId id="328" r:id="rId23"/>
    <p:sldId id="329" r:id="rId24"/>
    <p:sldId id="330" r:id="rId25"/>
    <p:sldId id="318" r:id="rId26"/>
    <p:sldId id="331" r:id="rId27"/>
    <p:sldId id="319" r:id="rId28"/>
    <p:sldId id="320" r:id="rId29"/>
    <p:sldId id="269" r:id="rId30"/>
    <p:sldId id="296" r:id="rId31"/>
  </p:sldIdLst>
  <p:sldSz cx="12192000" cy="6858000"/>
  <p:notesSz cx="9866313" cy="142954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Vinaconex%20E&amp;C\1-%20Cac%20du%20an\B.%20Thi%20cong\47.NOXH%20Y&#234;n%20S&#7903;\Bi&#7875;u%20&#273;&#7891;%20nh&#226;n%20l&#7921;c%20NOXH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500" b="1" i="0" baseline="0">
                <a:effectLst/>
              </a:rPr>
              <a:t>BIỂU ĐỒ NHÂN LỰC THI CÔNG 04 TÒA NOXH YÊN SỞ</a:t>
            </a:r>
          </a:p>
        </c:rich>
      </c:tx>
      <c:layout>
        <c:manualLayout>
          <c:xMode val="edge"/>
          <c:yMode val="edge"/>
          <c:x val="0.27187417420264537"/>
          <c:y val="1.1653798129602731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Manpower!$H$6:$AG$6</c:f>
              <c:strCache>
                <c:ptCount val="26"/>
                <c:pt idx="0">
                  <c:v>Tháng 1</c:v>
                </c:pt>
                <c:pt idx="1">
                  <c:v>Tháng 2</c:v>
                </c:pt>
                <c:pt idx="2">
                  <c:v>Tháng 3</c:v>
                </c:pt>
                <c:pt idx="3">
                  <c:v>Tháng 4</c:v>
                </c:pt>
                <c:pt idx="4">
                  <c:v>Tháng 5</c:v>
                </c:pt>
                <c:pt idx="5">
                  <c:v>Tháng 6</c:v>
                </c:pt>
                <c:pt idx="6">
                  <c:v>Tháng 7</c:v>
                </c:pt>
                <c:pt idx="7">
                  <c:v>Tháng 8</c:v>
                </c:pt>
                <c:pt idx="8">
                  <c:v>Tháng 9</c:v>
                </c:pt>
                <c:pt idx="9">
                  <c:v>Tháng 10</c:v>
                </c:pt>
                <c:pt idx="10">
                  <c:v>Tháng 11</c:v>
                </c:pt>
                <c:pt idx="11">
                  <c:v>Tháng 12</c:v>
                </c:pt>
                <c:pt idx="12">
                  <c:v>Tháng 13</c:v>
                </c:pt>
                <c:pt idx="13">
                  <c:v>Tháng 14</c:v>
                </c:pt>
                <c:pt idx="14">
                  <c:v>Tháng 15</c:v>
                </c:pt>
                <c:pt idx="15">
                  <c:v>Tháng 16</c:v>
                </c:pt>
                <c:pt idx="16">
                  <c:v>Tháng 17</c:v>
                </c:pt>
                <c:pt idx="17">
                  <c:v>Tháng 18</c:v>
                </c:pt>
                <c:pt idx="18">
                  <c:v>Tháng 19</c:v>
                </c:pt>
                <c:pt idx="19">
                  <c:v>Tháng 20</c:v>
                </c:pt>
                <c:pt idx="20">
                  <c:v>Tháng 21</c:v>
                </c:pt>
                <c:pt idx="21">
                  <c:v>Tháng 22</c:v>
                </c:pt>
                <c:pt idx="22">
                  <c:v>Tháng 23</c:v>
                </c:pt>
                <c:pt idx="23">
                  <c:v>Tháng 24</c:v>
                </c:pt>
                <c:pt idx="24">
                  <c:v>Tháng 25</c:v>
                </c:pt>
                <c:pt idx="25">
                  <c:v>Tháng 26</c:v>
                </c:pt>
              </c:strCache>
            </c:strRef>
          </c:cat>
          <c:val>
            <c:numRef>
              <c:f>Manpower!$H$250:$AG$250</c:f>
              <c:numCache>
                <c:formatCode>_(* #,##0_);_(* \(#,##0\);_(* "-"??_);_(@_)</c:formatCode>
                <c:ptCount val="26"/>
                <c:pt idx="0">
                  <c:v>10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55</c:v>
                </c:pt>
                <c:pt idx="5">
                  <c:v>60</c:v>
                </c:pt>
                <c:pt idx="6">
                  <c:v>105</c:v>
                </c:pt>
                <c:pt idx="7">
                  <c:v>195</c:v>
                </c:pt>
                <c:pt idx="8">
                  <c:v>240</c:v>
                </c:pt>
                <c:pt idx="9">
                  <c:v>240</c:v>
                </c:pt>
                <c:pt idx="10">
                  <c:v>240</c:v>
                </c:pt>
                <c:pt idx="11">
                  <c:v>240</c:v>
                </c:pt>
                <c:pt idx="12">
                  <c:v>240</c:v>
                </c:pt>
                <c:pt idx="13">
                  <c:v>240</c:v>
                </c:pt>
                <c:pt idx="14">
                  <c:v>240</c:v>
                </c:pt>
                <c:pt idx="15">
                  <c:v>290</c:v>
                </c:pt>
                <c:pt idx="16">
                  <c:v>340</c:v>
                </c:pt>
                <c:pt idx="17">
                  <c:v>390</c:v>
                </c:pt>
                <c:pt idx="18">
                  <c:v>390</c:v>
                </c:pt>
                <c:pt idx="19">
                  <c:v>390</c:v>
                </c:pt>
                <c:pt idx="20">
                  <c:v>380</c:v>
                </c:pt>
                <c:pt idx="21">
                  <c:v>340</c:v>
                </c:pt>
                <c:pt idx="22">
                  <c:v>280</c:v>
                </c:pt>
                <c:pt idx="23">
                  <c:v>280</c:v>
                </c:pt>
                <c:pt idx="24">
                  <c:v>230</c:v>
                </c:pt>
                <c:pt idx="25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C-4155-A77E-3B3294AFD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8691520"/>
        <c:axId val="1448693696"/>
      </c:barChart>
      <c:catAx>
        <c:axId val="1448691520"/>
        <c:scaling>
          <c:orientation val="minMax"/>
        </c:scaling>
        <c:delete val="0"/>
        <c:axPos val="b"/>
        <c:numFmt formatCode="d\/m\/yyyy;@" sourceLinked="0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448693696"/>
        <c:crosses val="autoZero"/>
        <c:auto val="1"/>
        <c:lblAlgn val="ctr"/>
        <c:lblOffset val="100"/>
        <c:noMultiLvlLbl val="1"/>
      </c:catAx>
      <c:valAx>
        <c:axId val="1448693696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4486915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4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4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3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1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3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9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F4531-0A2E-4BD3-A7D7-4596FAC3CB47}" type="datetimeFigureOut">
              <a:rPr lang="en-US" smtClean="0"/>
              <a:t>08-Apr-26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89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72906" y="116477"/>
            <a:ext cx="3276573" cy="3746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DỰ ÁN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40930" y="554897"/>
            <a:ext cx="9607742" cy="514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TÊN DỰ ÁN:   </a:t>
            </a:r>
            <a:r>
              <a:rPr lang="en-US" sz="1500" b="1" dirty="0">
                <a:solidFill>
                  <a:srgbClr val="0070C0"/>
                </a:solidFill>
              </a:rPr>
              <a:t>DỰ ÁN NHÀ Ở CHO LỰC LƯỢNG VŨ TRANG CÔNG AN NHÂN DÂN (NHÀ Ở XÃ HỘI CHO CÁN BỘ, CHIẾN SỸ CÔNG AN) TẠI Ô ĐẤT C3-ODK3 VÀ C3-ODK4 THUỘC QUY HOẠCH PHÂN KHU ĐÔ THỊ H2-4, PHƯỜNG YÊN SỞ, THÀNH PHỐ HÀ NỘI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40930" y="1130974"/>
            <a:ext cx="6605154" cy="529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CHỦ ĐẦU TƯ: </a:t>
            </a:r>
            <a:r>
              <a:rPr lang="en-US" sz="1500" b="1" dirty="0">
                <a:solidFill>
                  <a:srgbClr val="0070C0"/>
                </a:solidFill>
              </a:rPr>
              <a:t>LIÊN DANH CÔNG TY CỔ PHẦN ĐẦU TƯ TÀI CHÍNH VÀ AN NINH CÔNG NGHỆ ITF VÀ CÔNG TY TNHH PHÁT TRIỂN TIỀN PHONG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40930" y="1722348"/>
            <a:ext cx="6605154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ĐỊA ĐIỂM XÂY DỰNG: </a:t>
            </a:r>
            <a:r>
              <a:rPr lang="en-US" sz="1500" b="1" dirty="0">
                <a:solidFill>
                  <a:srgbClr val="0070C0"/>
                </a:solidFill>
              </a:rPr>
              <a:t>Ô ĐẤT C3-ODK3 VÀ C3-ODK4 - PHƯỜNG YÊN SỞ, TP HÀ NỘI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340930" y="2115390"/>
            <a:ext cx="6605154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QUY MÔ: </a:t>
            </a:r>
            <a:r>
              <a:rPr lang="en-US" sz="1500" b="1" dirty="0">
                <a:solidFill>
                  <a:srgbClr val="0070C0"/>
                </a:solidFill>
              </a:rPr>
              <a:t>NHÀ THƯƠNG MẠI N01: (4B+38F+R); NƠXH (CT01,CT02): 2B+21F+R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0045539" y="1685354"/>
            <a:ext cx="512733" cy="35079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N01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783444" y="3293991"/>
            <a:ext cx="640972" cy="27001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CT01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7893427" y="3720547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CT02-1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340930" y="2510350"/>
            <a:ext cx="3328862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ĐƠN VỊ THI CÔNG PHẦN THÔ: </a:t>
            </a:r>
            <a:r>
              <a:rPr lang="en-US" sz="1500" b="1" dirty="0">
                <a:solidFill>
                  <a:srgbClr val="0070C0"/>
                </a:solidFill>
              </a:rPr>
              <a:t>BAN XDDD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0" y="4729287"/>
            <a:ext cx="3474720" cy="2113368"/>
            <a:chOff x="8363712" y="4052872"/>
            <a:chExt cx="3728288" cy="2367167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63712" y="4052872"/>
              <a:ext cx="3728288" cy="236716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11106912" y="6047232"/>
              <a:ext cx="985088" cy="360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Vị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trí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dự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án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765438" y="4118119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CT02-2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823046" y="4415420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CT02-3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69792" y="3108960"/>
            <a:ext cx="2377440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tòa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9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09593" y="114152"/>
            <a:ext cx="3783111" cy="416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0000"/>
                </a:solidFill>
              </a:rPr>
              <a:t>VỊ TRÍ DỰ ÁN  - ĐƯỜNG TIẾP CẬN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80843" y="618682"/>
            <a:ext cx="10519795" cy="6017010"/>
            <a:chOff x="8363712" y="4052872"/>
            <a:chExt cx="3728288" cy="2367167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3712" y="4052872"/>
              <a:ext cx="3728288" cy="2367167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1106912" y="6047232"/>
              <a:ext cx="985088" cy="360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Vị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trí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dự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án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Down Arrow 5"/>
          <p:cNvSpPr/>
          <p:nvPr/>
        </p:nvSpPr>
        <p:spPr>
          <a:xfrm rot="20936328">
            <a:off x="8012995" y="1124147"/>
            <a:ext cx="389510" cy="49070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515658" y="646722"/>
            <a:ext cx="1384183" cy="444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ĐIỂM KẾT NỐI GIAO THÔNG</a:t>
            </a:r>
          </a:p>
        </p:txBody>
      </p:sp>
      <p:sp>
        <p:nvSpPr>
          <p:cNvPr id="20" name="Down Arrow 19"/>
          <p:cNvSpPr/>
          <p:nvPr/>
        </p:nvSpPr>
        <p:spPr>
          <a:xfrm rot="20936328">
            <a:off x="8853635" y="4573441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20936328">
            <a:off x="8473489" y="2673325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 rot="5139251">
            <a:off x="8285685" y="3584680"/>
            <a:ext cx="242471" cy="3921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 rot="4493784">
            <a:off x="8474377" y="4941855"/>
            <a:ext cx="208820" cy="3921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 rot="5208864">
            <a:off x="7291821" y="3665378"/>
            <a:ext cx="224372" cy="39627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 rot="20936328">
            <a:off x="8610737" y="3366999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 rot="20936328">
            <a:off x="6118881" y="1124148"/>
            <a:ext cx="389510" cy="49070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6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53679" y="2162354"/>
            <a:ext cx="8514334" cy="360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SỬ DỤNG ĐƯỜNG NỘI KHU TÁI ĐỊNH CƯ X2A: ĐƯỜNG NHỎ, ĐI QUA KHU DÂN CƯ ĐÔNG ĐÚC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53679" y="275841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ĐỀ XUẤT: THUÊ ĐƯỜNG QUA BÃI XE TẢI PHÍA TÂY DỰ ÁN ĐỂ LÀM ĐƯỜNG KẾT NỐI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3679" y="335447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HIỆN TRẠNG: - ĐANG LÀ KHU VỰC BÃI XE KHÔNG PHÉP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4263" y="394750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KẾT NỐI TRỰC TIẾP VỚI ĐƯỜNG GOM VÀNH ĐAI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4263" y="454053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KHI BẮT ĐẦU DỰ ÁN SẼ TIẾP CẬN ĐỂ ĐÀM PHÁN MƯỢN ĐƯỜNG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VỊ TRÍ DỰ ÁN, ĐƯỜNG TIẾP CẬN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7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2435" y="803508"/>
            <a:ext cx="1463486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ĐỊA HÌNH: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28705" y="803508"/>
            <a:ext cx="5488969" cy="5468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Địa</a:t>
            </a:r>
            <a:r>
              <a:rPr lang="en-US" sz="1500" b="1" dirty="0"/>
              <a:t> </a:t>
            </a:r>
            <a:r>
              <a:rPr lang="en-US" sz="1500" b="1" dirty="0" err="1"/>
              <a:t>hình</a:t>
            </a:r>
            <a:r>
              <a:rPr lang="en-US" sz="1500" b="1" dirty="0"/>
              <a:t> </a:t>
            </a:r>
            <a:r>
              <a:rPr lang="en-US" sz="1500" b="1" dirty="0" err="1"/>
              <a:t>xung</a:t>
            </a:r>
            <a:r>
              <a:rPr lang="en-US" sz="1500" b="1" dirty="0"/>
              <a:t> </a:t>
            </a:r>
            <a:r>
              <a:rPr lang="en-US" sz="1500" b="1" dirty="0" err="1"/>
              <a:t>quanh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bằng</a:t>
            </a:r>
            <a:r>
              <a:rPr lang="en-US" sz="1500" b="1" dirty="0"/>
              <a:t> </a:t>
            </a:r>
            <a:r>
              <a:rPr lang="en-US" sz="1500" b="1" dirty="0" err="1"/>
              <a:t>phẳng</a:t>
            </a:r>
            <a:r>
              <a:rPr lang="en-US" sz="1500" b="1" dirty="0"/>
              <a:t>,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cao</a:t>
            </a:r>
            <a:r>
              <a:rPr lang="en-US" sz="1500" b="1" dirty="0"/>
              <a:t> </a:t>
            </a:r>
            <a:r>
              <a:rPr lang="en-US" sz="1500" b="1" dirty="0" err="1"/>
              <a:t>độ</a:t>
            </a:r>
            <a:r>
              <a:rPr lang="en-US" sz="1500" b="1" dirty="0"/>
              <a:t> </a:t>
            </a:r>
            <a:r>
              <a:rPr lang="en-US" sz="1500" b="1" dirty="0" err="1"/>
              <a:t>trung</a:t>
            </a:r>
            <a:r>
              <a:rPr lang="en-US" sz="1500" b="1" dirty="0"/>
              <a:t> </a:t>
            </a:r>
            <a:r>
              <a:rPr lang="en-US" sz="1500" b="1" dirty="0" err="1"/>
              <a:t>bình</a:t>
            </a:r>
            <a:r>
              <a:rPr lang="en-US" sz="1500" b="1" dirty="0"/>
              <a:t> +4.7m. </a:t>
            </a:r>
            <a:r>
              <a:rPr lang="en-US" sz="1500" b="1" dirty="0" err="1"/>
              <a:t>Vị</a:t>
            </a:r>
            <a:r>
              <a:rPr lang="en-US" sz="1500" b="1" dirty="0"/>
              <a:t> </a:t>
            </a:r>
            <a:r>
              <a:rPr lang="en-US" sz="1500" b="1" dirty="0" err="1"/>
              <a:t>trí</a:t>
            </a:r>
            <a:r>
              <a:rPr lang="en-US" sz="1500" b="1" dirty="0"/>
              <a:t> </a:t>
            </a:r>
            <a:r>
              <a:rPr lang="en-US" sz="1500" b="1" dirty="0" err="1"/>
              <a:t>các</a:t>
            </a:r>
            <a:r>
              <a:rPr lang="en-US" sz="1500" b="1" dirty="0"/>
              <a:t> </a:t>
            </a:r>
            <a:r>
              <a:rPr lang="en-US" sz="1500" b="1" dirty="0" err="1"/>
              <a:t>tòa</a:t>
            </a:r>
            <a:r>
              <a:rPr lang="en-US" sz="1500" b="1" dirty="0"/>
              <a:t> </a:t>
            </a:r>
            <a:r>
              <a:rPr lang="en-US" sz="1500" b="1" dirty="0" err="1"/>
              <a:t>nhà</a:t>
            </a:r>
            <a:r>
              <a:rPr lang="en-US" sz="1500" b="1" dirty="0"/>
              <a:t> </a:t>
            </a:r>
            <a:r>
              <a:rPr lang="en-US" sz="1500" b="1" dirty="0" err="1"/>
              <a:t>là</a:t>
            </a:r>
            <a:r>
              <a:rPr lang="en-US" sz="1500" b="1" dirty="0"/>
              <a:t> </a:t>
            </a:r>
            <a:r>
              <a:rPr lang="en-US" sz="1500" b="1" dirty="0" err="1"/>
              <a:t>các</a:t>
            </a:r>
            <a:r>
              <a:rPr lang="en-US" sz="1500" b="1" dirty="0"/>
              <a:t> </a:t>
            </a:r>
            <a:r>
              <a:rPr lang="en-US" sz="1500" b="1" dirty="0" err="1"/>
              <a:t>ao</a:t>
            </a:r>
            <a:r>
              <a:rPr lang="en-US" sz="1500" b="1" dirty="0"/>
              <a:t> </a:t>
            </a:r>
            <a:r>
              <a:rPr lang="en-US" sz="1500" b="1" dirty="0" err="1"/>
              <a:t>tự</a:t>
            </a:r>
            <a:r>
              <a:rPr lang="en-US" sz="1500" b="1" dirty="0"/>
              <a:t> </a:t>
            </a:r>
            <a:r>
              <a:rPr lang="en-US" sz="1500" b="1" dirty="0" err="1"/>
              <a:t>nhiên</a:t>
            </a:r>
            <a:r>
              <a:rPr lang="en-US" sz="1500" b="1" dirty="0"/>
              <a:t>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chiều</a:t>
            </a:r>
            <a:r>
              <a:rPr lang="en-US" sz="1500" b="1" dirty="0"/>
              <a:t> </a:t>
            </a:r>
            <a:r>
              <a:rPr lang="en-US" sz="1500" b="1" dirty="0" err="1"/>
              <a:t>sâu</a:t>
            </a:r>
            <a:r>
              <a:rPr lang="en-US" sz="1500" b="1" dirty="0"/>
              <a:t> </a:t>
            </a:r>
            <a:r>
              <a:rPr lang="en-US" sz="1500" b="1" dirty="0" err="1"/>
              <a:t>nước</a:t>
            </a:r>
            <a:r>
              <a:rPr lang="en-US" sz="1500" b="1" dirty="0"/>
              <a:t> 1.5 -:- 2.0m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2435" y="1455121"/>
            <a:ext cx="963614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ĐỊA CHẤT: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28705" y="1528361"/>
            <a:ext cx="6256619" cy="9022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tại</a:t>
            </a:r>
            <a:r>
              <a:rPr lang="en-US" sz="1500" b="1" dirty="0"/>
              <a:t> </a:t>
            </a:r>
            <a:r>
              <a:rPr lang="en-US" sz="1500" b="1" dirty="0" err="1"/>
              <a:t>Phường</a:t>
            </a:r>
            <a:r>
              <a:rPr lang="en-US" sz="1500" b="1" dirty="0"/>
              <a:t> </a:t>
            </a:r>
            <a:r>
              <a:rPr lang="en-US" sz="1500" b="1" dirty="0" err="1"/>
              <a:t>Yên</a:t>
            </a:r>
            <a:r>
              <a:rPr lang="en-US" sz="1500" b="1" dirty="0"/>
              <a:t> </a:t>
            </a:r>
            <a:r>
              <a:rPr lang="en-US" sz="1500" b="1" dirty="0" err="1"/>
              <a:t>Sở</a:t>
            </a:r>
            <a:r>
              <a:rPr lang="en-US" sz="1500" b="1" dirty="0"/>
              <a:t>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lớp</a:t>
            </a:r>
            <a:r>
              <a:rPr lang="en-US" sz="1500" b="1" dirty="0"/>
              <a:t> </a:t>
            </a:r>
            <a:r>
              <a:rPr lang="en-US" sz="1500" b="1" dirty="0" err="1"/>
              <a:t>đất</a:t>
            </a:r>
            <a:r>
              <a:rPr lang="en-US" sz="1500" b="1" dirty="0"/>
              <a:t> </a:t>
            </a:r>
            <a:r>
              <a:rPr lang="en-US" sz="1500" b="1" dirty="0" err="1"/>
              <a:t>sét</a:t>
            </a:r>
            <a:r>
              <a:rPr lang="en-US" sz="1500" b="1" dirty="0"/>
              <a:t> </a:t>
            </a:r>
            <a:r>
              <a:rPr lang="en-US" sz="1500" b="1" dirty="0" err="1"/>
              <a:t>pha</a:t>
            </a:r>
            <a:r>
              <a:rPr lang="en-US" sz="1500" b="1" dirty="0"/>
              <a:t> </a:t>
            </a:r>
            <a:r>
              <a:rPr lang="en-US" sz="1500" b="1" dirty="0" err="1"/>
              <a:t>dẻo</a:t>
            </a:r>
            <a:r>
              <a:rPr lang="en-US" sz="1500" b="1" dirty="0"/>
              <a:t> </a:t>
            </a:r>
            <a:r>
              <a:rPr lang="en-US" sz="1500" b="1" dirty="0" err="1"/>
              <a:t>chảy</a:t>
            </a:r>
            <a:r>
              <a:rPr lang="en-US" sz="1500" b="1" dirty="0"/>
              <a:t> </a:t>
            </a:r>
            <a:r>
              <a:rPr lang="en-US" sz="1500" b="1" dirty="0" err="1"/>
              <a:t>chiều</a:t>
            </a:r>
            <a:r>
              <a:rPr lang="en-US" sz="1500" b="1" dirty="0"/>
              <a:t> </a:t>
            </a:r>
            <a:r>
              <a:rPr lang="en-US" sz="1500" b="1" dirty="0" err="1"/>
              <a:t>sâu</a:t>
            </a:r>
            <a:r>
              <a:rPr lang="en-US" sz="1500" b="1" dirty="0"/>
              <a:t> </a:t>
            </a:r>
            <a:r>
              <a:rPr lang="en-US" sz="1500" b="1" dirty="0" err="1"/>
              <a:t>từ</a:t>
            </a:r>
            <a:r>
              <a:rPr lang="en-US" sz="1500" b="1" dirty="0"/>
              <a:t> 15.5-27.5m. </a:t>
            </a:r>
            <a:r>
              <a:rPr lang="en-US" sz="1500" b="1" dirty="0" err="1"/>
              <a:t>Cọc</a:t>
            </a:r>
            <a:r>
              <a:rPr lang="en-US" sz="1500" b="1" dirty="0"/>
              <a:t> </a:t>
            </a:r>
            <a:r>
              <a:rPr lang="en-US" sz="1500" b="1" dirty="0" err="1"/>
              <a:t>khoan</a:t>
            </a:r>
            <a:r>
              <a:rPr lang="en-US" sz="1500" b="1" dirty="0"/>
              <a:t> </a:t>
            </a:r>
            <a:r>
              <a:rPr lang="en-US" sz="1500" b="1" dirty="0" err="1"/>
              <a:t>nhồi</a:t>
            </a:r>
            <a:r>
              <a:rPr lang="en-US" sz="1500" b="1" dirty="0"/>
              <a:t> </a:t>
            </a:r>
            <a:r>
              <a:rPr lang="en-US" sz="1500" b="1" dirty="0" err="1"/>
              <a:t>đặt</a:t>
            </a:r>
            <a:r>
              <a:rPr lang="en-US" sz="1500" b="1" dirty="0"/>
              <a:t> </a:t>
            </a:r>
            <a:r>
              <a:rPr lang="en-US" sz="1500" b="1" dirty="0" err="1"/>
              <a:t>vào</a:t>
            </a:r>
            <a:r>
              <a:rPr lang="en-US" sz="1500" b="1" dirty="0"/>
              <a:t> </a:t>
            </a:r>
            <a:r>
              <a:rPr lang="en-US" sz="1500" b="1" dirty="0" err="1"/>
              <a:t>lớp</a:t>
            </a:r>
            <a:r>
              <a:rPr lang="en-US" sz="1500" b="1" dirty="0"/>
              <a:t> </a:t>
            </a:r>
            <a:r>
              <a:rPr lang="en-US" sz="1500" b="1" dirty="0" err="1"/>
              <a:t>đất</a:t>
            </a:r>
            <a:r>
              <a:rPr lang="en-US" sz="1500" b="1" dirty="0"/>
              <a:t> </a:t>
            </a:r>
            <a:r>
              <a:rPr lang="en-US" sz="1500" b="1" dirty="0" err="1"/>
              <a:t>số</a:t>
            </a:r>
            <a:r>
              <a:rPr lang="en-US" sz="1500" b="1" dirty="0"/>
              <a:t> 6 </a:t>
            </a:r>
            <a:r>
              <a:rPr lang="en-US" sz="1500" b="1" dirty="0" err="1"/>
              <a:t>sỏi</a:t>
            </a:r>
            <a:r>
              <a:rPr lang="en-US" sz="1500" b="1" dirty="0"/>
              <a:t> </a:t>
            </a:r>
            <a:r>
              <a:rPr lang="en-US" sz="1500" b="1" dirty="0" err="1"/>
              <a:t>cuội</a:t>
            </a:r>
            <a:r>
              <a:rPr lang="en-US" sz="1500" b="1" dirty="0"/>
              <a:t>. </a:t>
            </a:r>
            <a:r>
              <a:rPr lang="en-US" sz="1500" b="1" dirty="0" err="1"/>
              <a:t>Nền</a:t>
            </a:r>
            <a:r>
              <a:rPr lang="en-US" sz="1500" b="1" dirty="0"/>
              <a:t> </a:t>
            </a:r>
            <a:r>
              <a:rPr lang="en-US" sz="1500" b="1" dirty="0" err="1"/>
              <a:t>đất</a:t>
            </a:r>
            <a:r>
              <a:rPr lang="en-US" sz="1500" b="1" dirty="0"/>
              <a:t> </a:t>
            </a:r>
            <a:r>
              <a:rPr lang="en-US" sz="1500" b="1" dirty="0" err="1"/>
              <a:t>rất</a:t>
            </a:r>
            <a:r>
              <a:rPr lang="en-US" sz="1500" b="1" dirty="0"/>
              <a:t> </a:t>
            </a:r>
            <a:r>
              <a:rPr lang="en-US" sz="1500" b="1" dirty="0" err="1"/>
              <a:t>yếu</a:t>
            </a:r>
            <a:r>
              <a:rPr lang="en-US" sz="1500" b="1" dirty="0"/>
              <a:t> </a:t>
            </a:r>
            <a:r>
              <a:rPr lang="en-US" sz="1500" b="1" dirty="0" err="1"/>
              <a:t>nên</a:t>
            </a:r>
            <a:r>
              <a:rPr lang="en-US" sz="1500" b="1" dirty="0"/>
              <a:t> BPTC </a:t>
            </a:r>
            <a:r>
              <a:rPr lang="en-US" sz="1500" b="1" dirty="0" err="1"/>
              <a:t>hố</a:t>
            </a:r>
            <a:r>
              <a:rPr lang="en-US" sz="1500" b="1" dirty="0"/>
              <a:t> </a:t>
            </a:r>
            <a:r>
              <a:rPr lang="en-US" sz="1500" b="1" dirty="0" err="1"/>
              <a:t>móng</a:t>
            </a:r>
            <a:r>
              <a:rPr lang="en-US" sz="1500" b="1" dirty="0"/>
              <a:t> </a:t>
            </a:r>
            <a:r>
              <a:rPr lang="en-US" sz="1500" b="1" dirty="0" err="1"/>
              <a:t>cần</a:t>
            </a:r>
            <a:r>
              <a:rPr lang="en-US" sz="1500" b="1" dirty="0"/>
              <a:t> </a:t>
            </a:r>
            <a:r>
              <a:rPr lang="en-US" sz="1500" b="1" dirty="0" err="1"/>
              <a:t>phải</a:t>
            </a:r>
            <a:r>
              <a:rPr lang="en-US" sz="1500" b="1" dirty="0"/>
              <a:t> </a:t>
            </a:r>
            <a:r>
              <a:rPr lang="en-US" sz="1500" b="1" dirty="0" err="1"/>
              <a:t>được</a:t>
            </a:r>
            <a:r>
              <a:rPr lang="en-US" sz="1500" b="1" dirty="0"/>
              <a:t> </a:t>
            </a:r>
            <a:r>
              <a:rPr lang="en-US" sz="1500" b="1" dirty="0" err="1"/>
              <a:t>thiết</a:t>
            </a:r>
            <a:r>
              <a:rPr lang="en-US" sz="1500" b="1" dirty="0"/>
              <a:t> </a:t>
            </a:r>
            <a:r>
              <a:rPr lang="en-US" sz="1500" b="1" dirty="0" err="1"/>
              <a:t>kế</a:t>
            </a:r>
            <a:r>
              <a:rPr lang="en-US" sz="1500" b="1" dirty="0"/>
              <a:t>, </a:t>
            </a:r>
            <a:r>
              <a:rPr lang="en-US" sz="1500" b="1" dirty="0" err="1"/>
              <a:t>tính</a:t>
            </a:r>
            <a:r>
              <a:rPr lang="en-US" sz="1500" b="1" dirty="0"/>
              <a:t> </a:t>
            </a:r>
            <a:r>
              <a:rPr lang="en-US" sz="1500" b="1" dirty="0" err="1"/>
              <a:t>toán</a:t>
            </a:r>
            <a:r>
              <a:rPr lang="en-US" sz="1500" b="1" dirty="0"/>
              <a:t> </a:t>
            </a:r>
            <a:r>
              <a:rPr lang="en-US" sz="1500" b="1" dirty="0" err="1"/>
              <a:t>thẩm</a:t>
            </a:r>
            <a:r>
              <a:rPr lang="en-US" sz="1500" b="1" dirty="0"/>
              <a:t> </a:t>
            </a:r>
            <a:r>
              <a:rPr lang="en-US" sz="1500" b="1" dirty="0" err="1"/>
              <a:t>tra</a:t>
            </a:r>
            <a:r>
              <a:rPr lang="en-US" sz="1500" b="1" dirty="0"/>
              <a:t> </a:t>
            </a:r>
            <a:r>
              <a:rPr lang="en-US" sz="1500" b="1" dirty="0" err="1"/>
              <a:t>và</a:t>
            </a:r>
            <a:r>
              <a:rPr lang="en-US" sz="1500" b="1" dirty="0"/>
              <a:t> </a:t>
            </a:r>
            <a:r>
              <a:rPr lang="en-US" sz="1500" b="1" dirty="0" err="1"/>
              <a:t>thi</a:t>
            </a:r>
            <a:r>
              <a:rPr lang="en-US" sz="1500" b="1" dirty="0"/>
              <a:t> </a:t>
            </a:r>
            <a:r>
              <a:rPr lang="en-US" sz="1500" b="1" dirty="0" err="1"/>
              <a:t>công</a:t>
            </a:r>
            <a:r>
              <a:rPr lang="en-US" sz="1500" b="1" dirty="0"/>
              <a:t> </a:t>
            </a:r>
            <a:r>
              <a:rPr lang="en-US" sz="1500" b="1" dirty="0" err="1"/>
              <a:t>phối</a:t>
            </a:r>
            <a:r>
              <a:rPr lang="en-US" sz="1500" b="1" dirty="0"/>
              <a:t> </a:t>
            </a:r>
            <a:r>
              <a:rPr lang="en-US" sz="1500" b="1" dirty="0" err="1"/>
              <a:t>hợp</a:t>
            </a:r>
            <a:r>
              <a:rPr lang="en-US" sz="1500" b="1" dirty="0"/>
              <a:t> </a:t>
            </a:r>
            <a:r>
              <a:rPr lang="en-US" sz="1500" b="1" dirty="0" err="1"/>
              <a:t>chặt</a:t>
            </a:r>
            <a:r>
              <a:rPr lang="en-US" sz="1500" b="1" dirty="0"/>
              <a:t> </a:t>
            </a:r>
            <a:r>
              <a:rPr lang="en-US" sz="1500" b="1" dirty="0" err="1"/>
              <a:t>chẽ</a:t>
            </a:r>
            <a:r>
              <a:rPr lang="en-US" sz="1500" b="1" dirty="0"/>
              <a:t> </a:t>
            </a:r>
            <a:r>
              <a:rPr lang="en-US" sz="1500" b="1" dirty="0" err="1"/>
              <a:t>giữa</a:t>
            </a:r>
            <a:r>
              <a:rPr lang="en-US" sz="1500" b="1" dirty="0"/>
              <a:t> </a:t>
            </a:r>
            <a:r>
              <a:rPr lang="en-US" sz="1500" b="1" dirty="0" err="1"/>
              <a:t>các</a:t>
            </a:r>
            <a:r>
              <a:rPr lang="en-US" sz="1500" b="1" dirty="0"/>
              <a:t> </a:t>
            </a:r>
            <a:r>
              <a:rPr lang="en-US" sz="1500" b="1" dirty="0" err="1"/>
              <a:t>bên</a:t>
            </a:r>
            <a:r>
              <a:rPr lang="en-US" sz="1500" b="1" dirty="0"/>
              <a:t> </a:t>
            </a:r>
            <a:r>
              <a:rPr lang="en-US" sz="1500" b="1" dirty="0" err="1"/>
              <a:t>liên</a:t>
            </a:r>
            <a:r>
              <a:rPr lang="en-US" sz="1500" b="1" dirty="0"/>
              <a:t> </a:t>
            </a:r>
            <a:r>
              <a:rPr lang="en-US" sz="1500" b="1" dirty="0" err="1"/>
              <a:t>quan</a:t>
            </a:r>
            <a:r>
              <a:rPr lang="en-US" sz="1500" b="1" dirty="0"/>
              <a:t>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2435" y="2673983"/>
            <a:ext cx="963613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XÃ HỘI: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28705" y="2678149"/>
            <a:ext cx="5986495" cy="6541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Mặt</a:t>
            </a:r>
            <a:r>
              <a:rPr lang="en-US" sz="1500" b="1" dirty="0"/>
              <a:t> </a:t>
            </a:r>
            <a:r>
              <a:rPr lang="en-US" sz="1500" b="1" dirty="0" err="1"/>
              <a:t>phía</a:t>
            </a:r>
            <a:r>
              <a:rPr lang="en-US" sz="1500" b="1" dirty="0"/>
              <a:t> </a:t>
            </a:r>
            <a:r>
              <a:rPr lang="en-US" sz="1500" b="1" dirty="0" err="1"/>
              <a:t>Đông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giáp</a:t>
            </a:r>
            <a:r>
              <a:rPr lang="en-US" sz="1500" b="1" dirty="0"/>
              <a:t> </a:t>
            </a:r>
            <a:r>
              <a:rPr lang="en-US" sz="1500" b="1" dirty="0" err="1"/>
              <a:t>với</a:t>
            </a:r>
            <a:r>
              <a:rPr lang="en-US" sz="1500" b="1" dirty="0"/>
              <a:t>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nội</a:t>
            </a:r>
            <a:r>
              <a:rPr lang="en-US" sz="1500" b="1" dirty="0"/>
              <a:t> </a:t>
            </a:r>
            <a:r>
              <a:rPr lang="en-US" sz="1500" b="1" dirty="0" err="1"/>
              <a:t>bộ</a:t>
            </a:r>
            <a:r>
              <a:rPr lang="en-US" sz="1500" b="1" dirty="0"/>
              <a:t> </a:t>
            </a:r>
            <a:r>
              <a:rPr lang="en-US" sz="1500" b="1" dirty="0" err="1"/>
              <a:t>khu</a:t>
            </a:r>
            <a:r>
              <a:rPr lang="en-US" sz="1500" b="1" dirty="0"/>
              <a:t> </a:t>
            </a:r>
            <a:r>
              <a:rPr lang="en-US" sz="1500" b="1" dirty="0" err="1"/>
              <a:t>tái</a:t>
            </a:r>
            <a:r>
              <a:rPr lang="en-US" sz="1500" b="1" dirty="0"/>
              <a:t> </a:t>
            </a:r>
            <a:r>
              <a:rPr lang="en-US" sz="1500" b="1" dirty="0" err="1"/>
              <a:t>định</a:t>
            </a:r>
            <a:r>
              <a:rPr lang="en-US" sz="1500" b="1" dirty="0"/>
              <a:t> </a:t>
            </a:r>
            <a:r>
              <a:rPr lang="en-US" sz="1500" b="1" dirty="0" err="1"/>
              <a:t>cư</a:t>
            </a:r>
            <a:r>
              <a:rPr lang="en-US" sz="1500" b="1" dirty="0"/>
              <a:t> X2A </a:t>
            </a:r>
            <a:r>
              <a:rPr lang="en-US" sz="1500" b="1" dirty="0" err="1"/>
              <a:t>đã</a:t>
            </a:r>
            <a:r>
              <a:rPr lang="en-US" sz="1500" b="1" dirty="0"/>
              <a:t> </a:t>
            </a:r>
            <a:r>
              <a:rPr lang="en-US" sz="1500" b="1" dirty="0" err="1"/>
              <a:t>xây</a:t>
            </a:r>
            <a:r>
              <a:rPr lang="en-US" sz="1500" b="1" dirty="0"/>
              <a:t> </a:t>
            </a:r>
            <a:r>
              <a:rPr lang="en-US" sz="1500" b="1" dirty="0" err="1"/>
              <a:t>dựng</a:t>
            </a:r>
            <a:r>
              <a:rPr lang="en-US" sz="1500" b="1" dirty="0"/>
              <a:t> </a:t>
            </a:r>
            <a:r>
              <a:rPr lang="en-US" sz="1500" b="1" dirty="0" err="1"/>
              <a:t>nhà</a:t>
            </a:r>
            <a:r>
              <a:rPr lang="en-US" sz="1500" b="1" dirty="0"/>
              <a:t> </a:t>
            </a:r>
            <a:r>
              <a:rPr lang="en-US" sz="1500" b="1" dirty="0" err="1"/>
              <a:t>liền</a:t>
            </a:r>
            <a:r>
              <a:rPr lang="en-US" sz="1500" b="1" dirty="0"/>
              <a:t> </a:t>
            </a:r>
            <a:r>
              <a:rPr lang="en-US" sz="1500" b="1" dirty="0" err="1"/>
              <a:t>kề</a:t>
            </a:r>
            <a:r>
              <a:rPr lang="en-US" sz="1500" b="1" dirty="0"/>
              <a:t> </a:t>
            </a:r>
            <a:r>
              <a:rPr lang="en-US" sz="1500" b="1" dirty="0" err="1"/>
              <a:t>từ</a:t>
            </a:r>
            <a:r>
              <a:rPr lang="en-US" sz="1500" b="1" dirty="0"/>
              <a:t> 3-5 </a:t>
            </a:r>
            <a:r>
              <a:rPr lang="en-US" sz="1500" b="1" dirty="0" err="1"/>
              <a:t>tầng</a:t>
            </a:r>
            <a:r>
              <a:rPr lang="en-US" sz="1500" b="1" dirty="0"/>
              <a:t>, </a:t>
            </a:r>
            <a:r>
              <a:rPr lang="en-US" sz="1500" b="1" dirty="0" err="1"/>
              <a:t>dân</a:t>
            </a:r>
            <a:r>
              <a:rPr lang="en-US" sz="1500" b="1" dirty="0"/>
              <a:t> </a:t>
            </a:r>
            <a:r>
              <a:rPr lang="en-US" sz="1500" b="1" dirty="0" err="1"/>
              <a:t>cư</a:t>
            </a:r>
            <a:r>
              <a:rPr lang="en-US" sz="1500" b="1" dirty="0"/>
              <a:t> </a:t>
            </a:r>
            <a:r>
              <a:rPr lang="en-US" sz="1500" b="1" dirty="0" err="1"/>
              <a:t>đã</a:t>
            </a:r>
            <a:r>
              <a:rPr lang="en-US" sz="1500" b="1" dirty="0"/>
              <a:t> </a:t>
            </a:r>
            <a:r>
              <a:rPr lang="en-US" sz="1500" b="1" dirty="0" err="1"/>
              <a:t>sinh</a:t>
            </a:r>
            <a:r>
              <a:rPr lang="en-US" sz="1500" b="1" dirty="0"/>
              <a:t> </a:t>
            </a:r>
            <a:r>
              <a:rPr lang="en-US" sz="1500" b="1" dirty="0" err="1"/>
              <a:t>sống</a:t>
            </a:r>
            <a:r>
              <a:rPr lang="en-US" sz="1500" b="1" dirty="0"/>
              <a:t> </a:t>
            </a:r>
            <a:r>
              <a:rPr lang="en-US" sz="1500" b="1" dirty="0" err="1"/>
              <a:t>ổn</a:t>
            </a:r>
            <a:r>
              <a:rPr lang="en-US" sz="1500" b="1" dirty="0"/>
              <a:t> </a:t>
            </a:r>
            <a:r>
              <a:rPr lang="en-US" sz="1500" b="1" dirty="0" err="1"/>
              <a:t>định</a:t>
            </a:r>
            <a:r>
              <a:rPr lang="en-US" sz="1500" b="1" dirty="0"/>
              <a:t>. </a:t>
            </a:r>
            <a:r>
              <a:rPr lang="en-US" sz="1500" b="1" dirty="0" err="1"/>
              <a:t>Khoảng</a:t>
            </a:r>
            <a:r>
              <a:rPr lang="en-US" sz="1500" b="1" dirty="0"/>
              <a:t> </a:t>
            </a:r>
            <a:r>
              <a:rPr lang="en-US" sz="1500" b="1" dirty="0" err="1"/>
              <a:t>cách</a:t>
            </a:r>
            <a:r>
              <a:rPr lang="en-US" sz="1500" b="1" dirty="0"/>
              <a:t> </a:t>
            </a:r>
            <a:r>
              <a:rPr lang="en-US" sz="1500" b="1" dirty="0" err="1"/>
              <a:t>từ</a:t>
            </a:r>
            <a:r>
              <a:rPr lang="en-US" sz="1500" b="1" dirty="0"/>
              <a:t> </a:t>
            </a:r>
            <a:r>
              <a:rPr lang="en-US" sz="1500" b="1" dirty="0" err="1"/>
              <a:t>ranh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đến</a:t>
            </a:r>
            <a:r>
              <a:rPr lang="en-US" sz="1500" b="1" dirty="0"/>
              <a:t> </a:t>
            </a:r>
            <a:r>
              <a:rPr lang="en-US" sz="1500" b="1" dirty="0" err="1"/>
              <a:t>dãy</a:t>
            </a:r>
            <a:r>
              <a:rPr lang="en-US" sz="1500" b="1" dirty="0"/>
              <a:t> </a:t>
            </a:r>
            <a:r>
              <a:rPr lang="en-US" sz="1500" b="1" dirty="0" err="1"/>
              <a:t>nhà</a:t>
            </a:r>
            <a:r>
              <a:rPr lang="en-US" sz="1500" b="1" dirty="0"/>
              <a:t> </a:t>
            </a:r>
            <a:r>
              <a:rPr lang="en-US" sz="1500" b="1" dirty="0" err="1"/>
              <a:t>liền</a:t>
            </a:r>
            <a:r>
              <a:rPr lang="en-US" sz="1500" b="1" dirty="0"/>
              <a:t> </a:t>
            </a:r>
            <a:r>
              <a:rPr lang="en-US" sz="1500" b="1" dirty="0" err="1"/>
              <a:t>kề</a:t>
            </a:r>
            <a:r>
              <a:rPr lang="en-US" sz="1500" b="1" dirty="0"/>
              <a:t> </a:t>
            </a:r>
            <a:r>
              <a:rPr lang="en-US" sz="1500" b="1" dirty="0" err="1"/>
              <a:t>nhỏ</a:t>
            </a:r>
            <a:r>
              <a:rPr lang="en-US" sz="1500" b="1" dirty="0"/>
              <a:t> </a:t>
            </a:r>
            <a:r>
              <a:rPr lang="en-US" sz="1500" b="1" dirty="0" err="1"/>
              <a:t>nhất</a:t>
            </a:r>
            <a:r>
              <a:rPr lang="en-US" sz="1500" b="1" dirty="0"/>
              <a:t> </a:t>
            </a:r>
            <a:r>
              <a:rPr lang="en-US" sz="1500" b="1" dirty="0" err="1"/>
              <a:t>là</a:t>
            </a:r>
            <a:r>
              <a:rPr lang="en-US" sz="1500" b="1" dirty="0"/>
              <a:t> 15m.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82435" y="3332179"/>
            <a:ext cx="1231837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GIAO THÔNG: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28705" y="3332178"/>
            <a:ext cx="5986495" cy="7588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kết</a:t>
            </a:r>
            <a:r>
              <a:rPr lang="en-US" sz="1500" b="1" dirty="0"/>
              <a:t> </a:t>
            </a:r>
            <a:r>
              <a:rPr lang="en-US" sz="1500" b="1" dirty="0" err="1"/>
              <a:t>nối</a:t>
            </a:r>
            <a:r>
              <a:rPr lang="en-US" sz="1500" b="1" dirty="0"/>
              <a:t> </a:t>
            </a:r>
            <a:r>
              <a:rPr lang="en-US" sz="1500" b="1" dirty="0" err="1"/>
              <a:t>với</a:t>
            </a:r>
            <a:r>
              <a:rPr lang="en-US" sz="1500" b="1" dirty="0"/>
              <a:t>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vành</a:t>
            </a:r>
            <a:r>
              <a:rPr lang="en-US" sz="1500" b="1" dirty="0"/>
              <a:t> </a:t>
            </a:r>
            <a:r>
              <a:rPr lang="en-US" sz="1500" b="1" dirty="0" err="1"/>
              <a:t>đai</a:t>
            </a:r>
            <a:r>
              <a:rPr lang="en-US" sz="1500" b="1" dirty="0"/>
              <a:t> III </a:t>
            </a:r>
            <a:r>
              <a:rPr lang="en-US" sz="1500" b="1" dirty="0" err="1"/>
              <a:t>Hà</a:t>
            </a:r>
            <a:r>
              <a:rPr lang="en-US" sz="1500" b="1" dirty="0"/>
              <a:t> </a:t>
            </a:r>
            <a:r>
              <a:rPr lang="en-US" sz="1500" b="1" dirty="0" err="1"/>
              <a:t>nội</a:t>
            </a:r>
            <a:r>
              <a:rPr lang="en-US" sz="1500" b="1" dirty="0"/>
              <a:t> qua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Hưng</a:t>
            </a:r>
            <a:r>
              <a:rPr lang="en-US" sz="1500" b="1" dirty="0"/>
              <a:t> </a:t>
            </a:r>
            <a:r>
              <a:rPr lang="en-US" sz="1500" b="1" dirty="0" err="1"/>
              <a:t>Thịnh</a:t>
            </a:r>
            <a:r>
              <a:rPr lang="en-US" sz="1500" b="1" dirty="0"/>
              <a:t> </a:t>
            </a:r>
            <a:r>
              <a:rPr lang="en-US" sz="1500" b="1" dirty="0" err="1"/>
              <a:t>vào</a:t>
            </a:r>
            <a:r>
              <a:rPr lang="en-US" sz="1500" b="1" dirty="0"/>
              <a:t> </a:t>
            </a:r>
            <a:r>
              <a:rPr lang="en-US" sz="1500" b="1" dirty="0" err="1"/>
              <a:t>khu</a:t>
            </a:r>
            <a:r>
              <a:rPr lang="en-US" sz="1500" b="1" dirty="0"/>
              <a:t> </a:t>
            </a:r>
            <a:r>
              <a:rPr lang="en-US" sz="1500" b="1" dirty="0" err="1"/>
              <a:t>tái</a:t>
            </a:r>
            <a:r>
              <a:rPr lang="en-US" sz="1500" b="1" dirty="0"/>
              <a:t> </a:t>
            </a:r>
            <a:r>
              <a:rPr lang="en-US" sz="1500" b="1" dirty="0" err="1"/>
              <a:t>định</a:t>
            </a:r>
            <a:r>
              <a:rPr lang="en-US" sz="1500" b="1" dirty="0"/>
              <a:t> </a:t>
            </a:r>
            <a:r>
              <a:rPr lang="en-US" sz="1500" b="1" dirty="0" err="1"/>
              <a:t>cư</a:t>
            </a:r>
            <a:r>
              <a:rPr lang="en-US" sz="1500" b="1" dirty="0"/>
              <a:t> X2A, qua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nội</a:t>
            </a:r>
            <a:r>
              <a:rPr lang="en-US" sz="1500" b="1" dirty="0"/>
              <a:t> </a:t>
            </a:r>
            <a:r>
              <a:rPr lang="en-US" sz="1500" b="1" dirty="0" err="1"/>
              <a:t>khu</a:t>
            </a:r>
            <a:r>
              <a:rPr lang="en-US" sz="1500" b="1" dirty="0"/>
              <a:t> </a:t>
            </a:r>
            <a:r>
              <a:rPr lang="en-US" sz="1500" b="1" dirty="0" err="1"/>
              <a:t>để</a:t>
            </a:r>
            <a:r>
              <a:rPr lang="en-US" sz="1500" b="1" dirty="0"/>
              <a:t> </a:t>
            </a:r>
            <a:r>
              <a:rPr lang="en-US" sz="1500" b="1" dirty="0" err="1"/>
              <a:t>tiếp</a:t>
            </a:r>
            <a:r>
              <a:rPr lang="en-US" sz="1500" b="1" dirty="0"/>
              <a:t> </a:t>
            </a:r>
            <a:r>
              <a:rPr lang="en-US" sz="1500" b="1" dirty="0" err="1"/>
              <a:t>cận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. </a:t>
            </a:r>
            <a:r>
              <a:rPr lang="en-US" sz="1500" b="1" dirty="0" err="1"/>
              <a:t>Điều</a:t>
            </a:r>
            <a:r>
              <a:rPr lang="en-US" sz="1500" b="1" dirty="0"/>
              <a:t> </a:t>
            </a:r>
            <a:r>
              <a:rPr lang="en-US" sz="1500" b="1" dirty="0" err="1"/>
              <a:t>kiện</a:t>
            </a:r>
            <a:r>
              <a:rPr lang="en-US" sz="1500" b="1" dirty="0"/>
              <a:t> </a:t>
            </a:r>
            <a:r>
              <a:rPr lang="en-US" sz="1500" b="1" dirty="0" err="1"/>
              <a:t>để</a:t>
            </a:r>
            <a:r>
              <a:rPr lang="en-US" sz="1500" b="1" dirty="0"/>
              <a:t> </a:t>
            </a:r>
            <a:r>
              <a:rPr lang="en-US" sz="1500" b="1" dirty="0" err="1"/>
              <a:t>vận</a:t>
            </a:r>
            <a:r>
              <a:rPr lang="en-US" sz="1500" b="1" dirty="0"/>
              <a:t> </a:t>
            </a:r>
            <a:r>
              <a:rPr lang="en-US" sz="1500" b="1" dirty="0" err="1"/>
              <a:t>chuyển</a:t>
            </a:r>
            <a:r>
              <a:rPr lang="en-US" sz="1500" b="1" dirty="0"/>
              <a:t> </a:t>
            </a:r>
            <a:r>
              <a:rPr lang="en-US" sz="1500" b="1" dirty="0" err="1"/>
              <a:t>thiết</a:t>
            </a:r>
            <a:r>
              <a:rPr lang="en-US" sz="1500" b="1" dirty="0"/>
              <a:t> </a:t>
            </a:r>
            <a:r>
              <a:rPr lang="en-US" sz="1500" b="1" dirty="0" err="1"/>
              <a:t>bị</a:t>
            </a:r>
            <a:r>
              <a:rPr lang="en-US" sz="1500" b="1" dirty="0"/>
              <a:t>, </a:t>
            </a:r>
            <a:r>
              <a:rPr lang="en-US" sz="1500" b="1" dirty="0" err="1"/>
              <a:t>vật</a:t>
            </a:r>
            <a:r>
              <a:rPr lang="en-US" sz="1500" b="1" dirty="0"/>
              <a:t> </a:t>
            </a:r>
            <a:r>
              <a:rPr lang="en-US" sz="1500" b="1" dirty="0" err="1"/>
              <a:t>tư</a:t>
            </a:r>
            <a:r>
              <a:rPr lang="en-US" sz="1500" b="1" dirty="0"/>
              <a:t> </a:t>
            </a:r>
            <a:r>
              <a:rPr lang="en-US" sz="1500" b="1" dirty="0" err="1"/>
              <a:t>vào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nhiều</a:t>
            </a:r>
            <a:r>
              <a:rPr lang="en-US" sz="1500" b="1" dirty="0"/>
              <a:t> </a:t>
            </a:r>
            <a:r>
              <a:rPr lang="en-US" sz="1500" b="1" dirty="0" err="1"/>
              <a:t>điểm</a:t>
            </a:r>
            <a:r>
              <a:rPr lang="en-US" sz="1500" b="1" dirty="0"/>
              <a:t> </a:t>
            </a:r>
            <a:r>
              <a:rPr lang="en-US" sz="1500" b="1" dirty="0" err="1"/>
              <a:t>không</a:t>
            </a:r>
            <a:r>
              <a:rPr lang="en-US" sz="1500" b="1" dirty="0"/>
              <a:t> </a:t>
            </a:r>
            <a:r>
              <a:rPr lang="en-US" sz="1500" b="1" dirty="0" err="1"/>
              <a:t>thuận</a:t>
            </a:r>
            <a:r>
              <a:rPr lang="en-US" sz="1500" b="1" dirty="0"/>
              <a:t> </a:t>
            </a:r>
            <a:r>
              <a:rPr lang="en-US" sz="1500" b="1" dirty="0" err="1"/>
              <a:t>lợi</a:t>
            </a:r>
            <a:r>
              <a:rPr lang="en-US" sz="1500" b="1" dirty="0"/>
              <a:t>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886" y="4374776"/>
            <a:ext cx="4267200" cy="24003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b="45792"/>
          <a:stretch/>
        </p:blipFill>
        <p:spPr>
          <a:xfrm>
            <a:off x="9601256" y="4374776"/>
            <a:ext cx="2490744" cy="24003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r="11314"/>
          <a:stretch/>
        </p:blipFill>
        <p:spPr>
          <a:xfrm>
            <a:off x="1289435" y="4374777"/>
            <a:ext cx="3784415" cy="2400300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ĐIỀU KIỆN ĐỊA HÌNH, ĐỊA CHẤT VÀ BỐI CẢNH XÃ HỘI DỰ ÁN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857" y="803508"/>
            <a:ext cx="4526894" cy="23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4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09594" y="114152"/>
            <a:ext cx="4301346" cy="416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0000"/>
                </a:solidFill>
              </a:rPr>
              <a:t>ĐÁNH GIÁ ĐIỀU KIỆN TRIỂN KHAI DỰ ÁN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62305" y="782515"/>
            <a:ext cx="10642340" cy="5331066"/>
            <a:chOff x="862305" y="782515"/>
            <a:chExt cx="10642340" cy="5331066"/>
          </a:xfrm>
        </p:grpSpPr>
        <p:sp>
          <p:nvSpPr>
            <p:cNvPr id="5" name="Title 1"/>
            <p:cNvSpPr txBox="1">
              <a:spLocks/>
            </p:cNvSpPr>
            <p:nvPr/>
          </p:nvSpPr>
          <p:spPr>
            <a:xfrm>
              <a:off x="2390497" y="782515"/>
              <a:ext cx="1119875" cy="3317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ĐỊA HÌNH: </a:t>
              </a: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862305" y="1132879"/>
              <a:ext cx="4372168" cy="21328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Địa</a:t>
              </a:r>
              <a:r>
                <a:rPr lang="en-US" sz="1500" b="1" dirty="0"/>
                <a:t> </a:t>
              </a:r>
              <a:r>
                <a:rPr lang="en-US" sz="1500" b="1" dirty="0" err="1"/>
                <a:t>hình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phẳng</a:t>
              </a:r>
              <a:r>
                <a:rPr lang="en-US" sz="1500" b="1" dirty="0"/>
                <a:t>,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đủ</a:t>
              </a:r>
              <a:r>
                <a:rPr lang="en-US" sz="1500" b="1" dirty="0"/>
                <a:t> </a:t>
              </a:r>
              <a:r>
                <a:rPr lang="en-US" sz="1500" b="1" dirty="0" err="1"/>
                <a:t>rộng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để</a:t>
              </a:r>
              <a:r>
                <a:rPr lang="en-US" sz="1500" b="1" dirty="0"/>
                <a:t> </a:t>
              </a:r>
              <a:r>
                <a:rPr lang="en-US" sz="1500" b="1" dirty="0" err="1"/>
                <a:t>bố</a:t>
              </a:r>
              <a:r>
                <a:rPr lang="en-US" sz="1500" b="1" dirty="0"/>
                <a:t> </a:t>
              </a:r>
              <a:r>
                <a:rPr lang="en-US" sz="1500" b="1" dirty="0" err="1"/>
                <a:t>trí</a:t>
              </a:r>
              <a:r>
                <a:rPr lang="en-US" sz="1500" b="1" dirty="0"/>
                <a:t> </a:t>
              </a:r>
              <a:r>
                <a:rPr lang="en-US" sz="1500" b="1" dirty="0" err="1"/>
                <a:t>sắp</a:t>
              </a:r>
              <a:r>
                <a:rPr lang="en-US" sz="1500" b="1" dirty="0"/>
                <a:t> </a:t>
              </a:r>
              <a:r>
                <a:rPr lang="en-US" sz="1500" b="1" dirty="0" err="1"/>
                <a:t>xếp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trường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Bờ</a:t>
              </a:r>
              <a:r>
                <a:rPr lang="en-US" sz="1500" b="1" dirty="0"/>
                <a:t> </a:t>
              </a:r>
              <a:r>
                <a:rPr lang="en-US" sz="1500" b="1" dirty="0" err="1"/>
                <a:t>đất</a:t>
              </a:r>
              <a:r>
                <a:rPr lang="en-US" sz="1500" b="1" dirty="0"/>
                <a:t> </a:t>
              </a:r>
              <a:r>
                <a:rPr lang="en-US" sz="1500" b="1" dirty="0" err="1"/>
                <a:t>đã</a:t>
              </a:r>
              <a:r>
                <a:rPr lang="en-US" sz="1500" b="1" dirty="0"/>
                <a:t> </a:t>
              </a:r>
              <a:r>
                <a:rPr lang="en-US" sz="1500" b="1" dirty="0" err="1"/>
                <a:t>hình</a:t>
              </a:r>
              <a:r>
                <a:rPr lang="en-US" sz="1500" b="1" dirty="0"/>
                <a:t> </a:t>
              </a:r>
              <a:r>
                <a:rPr lang="en-US" sz="1500" b="1" dirty="0" err="1"/>
                <a:t>thành</a:t>
              </a:r>
              <a:r>
                <a:rPr lang="en-US" sz="1500" b="1" dirty="0"/>
                <a:t> </a:t>
              </a:r>
              <a:r>
                <a:rPr lang="en-US" sz="1500" b="1" dirty="0" err="1"/>
                <a:t>lâu</a:t>
              </a:r>
              <a:r>
                <a:rPr lang="en-US" sz="1500" b="1" dirty="0"/>
                <a:t> </a:t>
              </a:r>
              <a:r>
                <a:rPr lang="en-US" sz="1500" b="1" dirty="0" err="1"/>
                <a:t>tạo</a:t>
              </a:r>
              <a:r>
                <a:rPr lang="en-US" sz="1500" b="1" dirty="0"/>
                <a:t> </a:t>
              </a:r>
              <a:r>
                <a:rPr lang="en-US" sz="1500" b="1" dirty="0" err="1"/>
                <a:t>thành</a:t>
              </a:r>
              <a:r>
                <a:rPr lang="en-US" sz="1500" b="1" dirty="0"/>
                <a:t> </a:t>
              </a:r>
              <a:r>
                <a:rPr lang="en-US" sz="1500" b="1" dirty="0" err="1"/>
                <a:t>bờ</a:t>
              </a:r>
              <a:r>
                <a:rPr lang="en-US" sz="1500" b="1" dirty="0"/>
                <a:t> </a:t>
              </a:r>
              <a:r>
                <a:rPr lang="en-US" sz="1500" b="1" dirty="0" err="1"/>
                <a:t>ngăn</a:t>
              </a:r>
              <a:r>
                <a:rPr lang="en-US" sz="1500" b="1" dirty="0"/>
                <a:t> </a:t>
              </a:r>
              <a:r>
                <a:rPr lang="en-US" sz="1500" b="1" dirty="0" err="1"/>
                <a:t>nước</a:t>
              </a:r>
              <a:r>
                <a:rPr lang="en-US" sz="1500" b="1" dirty="0"/>
                <a:t>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xâm</a:t>
              </a:r>
              <a:r>
                <a:rPr lang="en-US" sz="1500" b="1" dirty="0"/>
                <a:t> </a:t>
              </a:r>
              <a:r>
                <a:rPr lang="en-US" sz="1500" b="1" dirty="0" err="1"/>
                <a:t>nhập</a:t>
              </a:r>
              <a:r>
                <a:rPr lang="en-US" sz="1500" b="1" dirty="0"/>
                <a:t>, </a:t>
              </a:r>
              <a:r>
                <a:rPr lang="en-US" sz="1500" b="1" dirty="0" err="1"/>
                <a:t>có</a:t>
              </a:r>
              <a:r>
                <a:rPr lang="en-US" sz="1500" b="1" dirty="0"/>
                <a:t> </a:t>
              </a:r>
              <a:r>
                <a:rPr lang="en-US" sz="1500" b="1" dirty="0" err="1"/>
                <a:t>thể</a:t>
              </a:r>
              <a:r>
                <a:rPr lang="en-US" sz="1500" b="1" dirty="0"/>
                <a:t> </a:t>
              </a:r>
              <a:r>
                <a:rPr lang="en-US" sz="1500" b="1" dirty="0" err="1"/>
                <a:t>tiếp</a:t>
              </a:r>
              <a:r>
                <a:rPr lang="en-US" sz="1500" b="1" dirty="0"/>
                <a:t> </a:t>
              </a:r>
              <a:r>
                <a:rPr lang="en-US" sz="1500" b="1" dirty="0" err="1"/>
                <a:t>cận</a:t>
              </a:r>
              <a:r>
                <a:rPr lang="en-US" sz="1500" b="1" dirty="0"/>
                <a:t> </a:t>
              </a:r>
              <a:r>
                <a:rPr lang="en-US" sz="1500" b="1" dirty="0" err="1"/>
                <a:t>với</a:t>
              </a:r>
              <a:r>
                <a:rPr lang="en-US" sz="1500" b="1" dirty="0"/>
                <a:t> </a:t>
              </a:r>
              <a:r>
                <a:rPr lang="en-US" sz="1500" b="1" dirty="0" err="1"/>
                <a:t>kênh</a:t>
              </a:r>
              <a:r>
                <a:rPr lang="en-US" sz="1500" b="1" dirty="0"/>
                <a:t> </a:t>
              </a:r>
              <a:r>
                <a:rPr lang="en-US" sz="1500" b="1" dirty="0" err="1"/>
                <a:t>của</a:t>
              </a:r>
              <a:r>
                <a:rPr lang="en-US" sz="1500" b="1" dirty="0"/>
                <a:t> </a:t>
              </a:r>
              <a:r>
                <a:rPr lang="en-US" sz="1500" b="1" dirty="0" err="1"/>
                <a:t>trạm</a:t>
              </a:r>
              <a:r>
                <a:rPr lang="en-US" sz="1500" b="1" dirty="0"/>
                <a:t> </a:t>
              </a:r>
              <a:r>
                <a:rPr lang="en-US" sz="1500" b="1" dirty="0" err="1"/>
                <a:t>bơm</a:t>
              </a:r>
              <a:r>
                <a:rPr lang="en-US" sz="1500" b="1" dirty="0"/>
                <a:t> </a:t>
              </a:r>
              <a:r>
                <a:rPr lang="en-US" sz="1500" b="1" dirty="0" err="1"/>
                <a:t>Yên</a:t>
              </a:r>
              <a:r>
                <a:rPr lang="en-US" sz="1500" b="1" dirty="0"/>
                <a:t> </a:t>
              </a:r>
              <a:r>
                <a:rPr lang="en-US" sz="1500" b="1" dirty="0" err="1"/>
                <a:t>Sở</a:t>
              </a:r>
              <a:r>
                <a:rPr lang="en-US" sz="1500" b="1" dirty="0"/>
                <a:t>.</a:t>
              </a:r>
            </a:p>
            <a:p>
              <a:pPr algn="l"/>
              <a:r>
                <a:rPr lang="en-US" sz="1500" b="1" dirty="0" err="1"/>
                <a:t>Bất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Ao</a:t>
              </a:r>
              <a:r>
                <a:rPr lang="en-US" sz="1500" b="1" dirty="0"/>
                <a:t> </a:t>
              </a:r>
              <a:r>
                <a:rPr lang="en-US" sz="1500" b="1" dirty="0" err="1"/>
                <a:t>tự</a:t>
              </a:r>
              <a:r>
                <a:rPr lang="en-US" sz="1500" b="1" dirty="0"/>
                <a:t> </a:t>
              </a:r>
              <a:r>
                <a:rPr lang="en-US" sz="1500" b="1" dirty="0" err="1"/>
                <a:t>nhiên</a:t>
              </a:r>
              <a:r>
                <a:rPr lang="en-US" sz="1500" b="1" dirty="0"/>
                <a:t> </a:t>
              </a:r>
              <a:r>
                <a:rPr lang="en-US" sz="1500" b="1" dirty="0" err="1"/>
                <a:t>có</a:t>
              </a:r>
              <a:r>
                <a:rPr lang="en-US" sz="1500" b="1" dirty="0"/>
                <a:t> </a:t>
              </a:r>
              <a:r>
                <a:rPr lang="en-US" sz="1500" b="1" dirty="0" err="1"/>
                <a:t>chiều</a:t>
              </a:r>
              <a:r>
                <a:rPr lang="en-US" sz="1500" b="1" dirty="0"/>
                <a:t> </a:t>
              </a:r>
              <a:r>
                <a:rPr lang="en-US" sz="1500" b="1" dirty="0" err="1"/>
                <a:t>sâu</a:t>
              </a:r>
              <a:r>
                <a:rPr lang="en-US" sz="1500" b="1" dirty="0"/>
                <a:t> </a:t>
              </a:r>
              <a:r>
                <a:rPr lang="en-US" sz="1500" b="1" dirty="0" err="1"/>
                <a:t>thấp</a:t>
              </a:r>
              <a:r>
                <a:rPr lang="en-US" sz="1500" b="1" dirty="0"/>
                <a:t> </a:t>
              </a:r>
              <a:r>
                <a:rPr lang="en-US" sz="1500" b="1" dirty="0" err="1"/>
                <a:t>hơn</a:t>
              </a:r>
              <a:r>
                <a:rPr lang="en-US" sz="1500" b="1" dirty="0"/>
                <a:t>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chung</a:t>
              </a:r>
              <a:r>
                <a:rPr lang="en-US" sz="1500" b="1" dirty="0"/>
                <a:t>: </a:t>
              </a:r>
              <a:r>
                <a:rPr lang="en-US" sz="1500" b="1" dirty="0" err="1"/>
                <a:t>Phải</a:t>
              </a:r>
              <a:r>
                <a:rPr lang="en-US" sz="1500" b="1" dirty="0"/>
                <a:t> san </a:t>
              </a:r>
              <a:r>
                <a:rPr lang="en-US" sz="1500" b="1" dirty="0" err="1"/>
                <a:t>lấp</a:t>
              </a:r>
              <a:r>
                <a:rPr lang="en-US" sz="1500" b="1" dirty="0"/>
                <a:t>, </a:t>
              </a:r>
              <a:r>
                <a:rPr lang="en-US" sz="1500" b="1" dirty="0" err="1"/>
                <a:t>cải</a:t>
              </a:r>
              <a:r>
                <a:rPr lang="en-US" sz="1500" b="1" dirty="0"/>
                <a:t> </a:t>
              </a:r>
              <a:r>
                <a:rPr lang="en-US" sz="1500" b="1" dirty="0" err="1"/>
                <a:t>tạo</a:t>
              </a:r>
              <a:r>
                <a:rPr lang="en-US" sz="1500" b="1" dirty="0"/>
                <a:t>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trước</a:t>
              </a:r>
              <a:r>
                <a:rPr lang="en-US" sz="1500" b="1" dirty="0"/>
                <a:t> </a:t>
              </a:r>
              <a:r>
                <a:rPr lang="en-US" sz="1500" b="1" dirty="0" err="1"/>
                <a:t>khi</a:t>
              </a:r>
              <a:r>
                <a:rPr lang="en-US" sz="1500" b="1" dirty="0"/>
                <a:t> </a:t>
              </a:r>
              <a:r>
                <a:rPr lang="en-US" sz="1500" b="1" dirty="0" err="1"/>
                <a:t>thi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endParaRPr lang="en-US" sz="1500" b="1" dirty="0"/>
            </a:p>
          </p:txBody>
        </p: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8704041" y="782515"/>
              <a:ext cx="1094521" cy="33170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VỊ TRÍ: </a:t>
              </a:r>
            </a:p>
          </p:txBody>
        </p:sp>
        <p:sp>
          <p:nvSpPr>
            <p:cNvPr id="23" name="Title 1"/>
            <p:cNvSpPr txBox="1">
              <a:spLocks/>
            </p:cNvSpPr>
            <p:nvPr/>
          </p:nvSpPr>
          <p:spPr>
            <a:xfrm>
              <a:off x="6802017" y="1132880"/>
              <a:ext cx="4702628" cy="213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>
                  <a:solidFill>
                    <a:srgbClr val="FF0000"/>
                  </a:solidFill>
                </a:rPr>
                <a:t>Thuận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lợi</a:t>
              </a:r>
              <a:r>
                <a:rPr lang="en-US" sz="1500" b="1" dirty="0">
                  <a:solidFill>
                    <a:srgbClr val="FF0000"/>
                  </a:solidFill>
                </a:rPr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Xa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trung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tâm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thành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phố</a:t>
              </a:r>
              <a:endParaRPr lang="en-US" sz="1500" b="1" dirty="0">
                <a:solidFill>
                  <a:srgbClr val="FF0000"/>
                </a:solidFill>
              </a:endParaRPr>
            </a:p>
            <a:p>
              <a:pPr marL="285750" indent="-285750" algn="l">
                <a:buFontTx/>
                <a:buChar char="-"/>
              </a:pPr>
              <a:r>
                <a:rPr lang="en-US" sz="1500" b="1" dirty="0">
                  <a:solidFill>
                    <a:srgbClr val="FF0000"/>
                  </a:solidFill>
                </a:rPr>
                <a:t>Ba </a:t>
              </a:r>
              <a:r>
                <a:rPr lang="en-US" sz="1500" b="1" dirty="0" err="1">
                  <a:solidFill>
                    <a:srgbClr val="FF0000"/>
                  </a:solidFill>
                </a:rPr>
                <a:t>mặt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không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giáp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khu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dân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cư</a:t>
              </a:r>
              <a:r>
                <a:rPr lang="en-US" sz="1500" b="1" dirty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>
                  <a:solidFill>
                    <a:srgbClr val="FF0000"/>
                  </a:solidFill>
                </a:rPr>
                <a:t>giảm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khả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năng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xung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đột</a:t>
              </a:r>
              <a:r>
                <a:rPr lang="en-US" sz="1500" b="1" dirty="0">
                  <a:solidFill>
                    <a:srgbClr val="FF0000"/>
                  </a:solidFill>
                </a:rPr>
                <a:t>.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Gần</a:t>
              </a:r>
              <a:r>
                <a:rPr lang="en-US" sz="1500" b="1" dirty="0">
                  <a:solidFill>
                    <a:srgbClr val="FF0000"/>
                  </a:solidFill>
                </a:rPr>
                <a:t> VĐIII </a:t>
              </a:r>
              <a:r>
                <a:rPr lang="en-US" sz="1500" b="1" dirty="0" err="1">
                  <a:solidFill>
                    <a:srgbClr val="FF0000"/>
                  </a:solidFill>
                </a:rPr>
                <a:t>Hà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Nội</a:t>
              </a:r>
              <a:r>
                <a:rPr lang="en-US" sz="1500" b="1" dirty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>
                  <a:solidFill>
                    <a:srgbClr val="FF0000"/>
                  </a:solidFill>
                </a:rPr>
                <a:t>thuận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cho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việc</a:t>
              </a:r>
              <a:r>
                <a:rPr lang="en-US" sz="1500" b="1" dirty="0">
                  <a:solidFill>
                    <a:srgbClr val="FF0000"/>
                  </a:solidFill>
                </a:rPr>
                <a:t> di </a:t>
              </a:r>
              <a:r>
                <a:rPr lang="en-US" sz="1500" b="1" dirty="0" err="1">
                  <a:solidFill>
                    <a:srgbClr val="FF0000"/>
                  </a:solidFill>
                </a:rPr>
                <a:t>chuyển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và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huy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động</a:t>
              </a:r>
              <a:endParaRPr lang="en-US" sz="1500" b="1" dirty="0">
                <a:solidFill>
                  <a:srgbClr val="FF0000"/>
                </a:solidFill>
              </a:endParaRPr>
            </a:p>
            <a:p>
              <a:pPr algn="l"/>
              <a:r>
                <a:rPr lang="en-US" sz="1500" b="1" dirty="0" err="1">
                  <a:solidFill>
                    <a:srgbClr val="FF0000"/>
                  </a:solidFill>
                </a:rPr>
                <a:t>Bất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lợi</a:t>
              </a:r>
              <a:r>
                <a:rPr lang="en-US" sz="1500" b="1" dirty="0">
                  <a:solidFill>
                    <a:srgbClr val="FF0000"/>
                  </a:solidFill>
                </a:rPr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Mặt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phía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đông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giáp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nhà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dân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ảnh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hưởng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đến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việc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tổ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chức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thi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công</a:t>
              </a:r>
              <a:endParaRPr lang="en-US" sz="1500" b="1" dirty="0">
                <a:solidFill>
                  <a:srgbClr val="FF0000"/>
                </a:solidFill>
              </a:endParaRP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Phương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tiện</a:t>
              </a:r>
              <a:r>
                <a:rPr lang="en-US" sz="1500" b="1" dirty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>
                  <a:solidFill>
                    <a:srgbClr val="FF0000"/>
                  </a:solidFill>
                </a:rPr>
                <a:t>vật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tư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phải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tiếp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cận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thông</a:t>
              </a:r>
              <a:r>
                <a:rPr lang="en-US" sz="1500" b="1" dirty="0">
                  <a:solidFill>
                    <a:srgbClr val="FF0000"/>
                  </a:solidFill>
                </a:rPr>
                <a:t> qua </a:t>
              </a:r>
              <a:r>
                <a:rPr lang="en-US" sz="1500" b="1" dirty="0" err="1">
                  <a:solidFill>
                    <a:srgbClr val="FF0000"/>
                  </a:solidFill>
                </a:rPr>
                <a:t>đường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nội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khu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dân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cư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Title 1"/>
            <p:cNvSpPr txBox="1">
              <a:spLocks/>
            </p:cNvSpPr>
            <p:nvPr/>
          </p:nvSpPr>
          <p:spPr>
            <a:xfrm>
              <a:off x="2390497" y="3630382"/>
              <a:ext cx="1119875" cy="3317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XÃ HỘI</a:t>
              </a:r>
            </a:p>
          </p:txBody>
        </p:sp>
        <p:sp>
          <p:nvSpPr>
            <p:cNvPr id="27" name="Title 1"/>
            <p:cNvSpPr txBox="1">
              <a:spLocks/>
            </p:cNvSpPr>
            <p:nvPr/>
          </p:nvSpPr>
          <p:spPr>
            <a:xfrm>
              <a:off x="862305" y="3980746"/>
              <a:ext cx="4372168" cy="21328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gần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 </a:t>
              </a:r>
              <a:r>
                <a:rPr lang="en-US" sz="1500" b="1" dirty="0" err="1"/>
                <a:t>đông</a:t>
              </a:r>
              <a:r>
                <a:rPr lang="en-US" sz="1500" b="1" dirty="0"/>
                <a:t> </a:t>
              </a:r>
              <a:r>
                <a:rPr lang="en-US" sz="1500" b="1" dirty="0" err="1"/>
                <a:t>đúc</a:t>
              </a:r>
              <a:r>
                <a:rPr lang="en-US" sz="1500" b="1" dirty="0"/>
                <a:t> </a:t>
              </a:r>
              <a:r>
                <a:rPr lang="en-US" sz="1500" b="1" dirty="0" err="1"/>
                <a:t>nên</a:t>
              </a:r>
              <a:r>
                <a:rPr lang="en-US" sz="1500" b="1" dirty="0"/>
                <a:t> </a:t>
              </a:r>
              <a:r>
                <a:rPr lang="en-US" sz="1500" b="1" dirty="0" err="1"/>
                <a:t>giảm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được</a:t>
              </a:r>
              <a:r>
                <a:rPr lang="en-US" sz="1500" b="1" dirty="0"/>
                <a:t> </a:t>
              </a:r>
              <a:r>
                <a:rPr lang="en-US" sz="1500" b="1" dirty="0" err="1"/>
                <a:t>các</a:t>
              </a:r>
              <a:r>
                <a:rPr lang="en-US" sz="1500" b="1" dirty="0"/>
                <a:t> </a:t>
              </a:r>
              <a:r>
                <a:rPr lang="en-US" sz="1500" b="1" dirty="0" err="1"/>
                <a:t>ảnh</a:t>
              </a:r>
              <a:r>
                <a:rPr lang="en-US" sz="1500" b="1" dirty="0"/>
                <a:t> </a:t>
              </a:r>
              <a:r>
                <a:rPr lang="en-US" sz="1500" b="1" dirty="0" err="1"/>
                <a:t>hưởng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đến</a:t>
              </a:r>
              <a:r>
                <a:rPr lang="en-US" sz="1500" b="1" dirty="0"/>
                <a:t>/</a:t>
              </a:r>
              <a:r>
                <a:rPr lang="en-US" sz="1500" b="1" dirty="0" err="1"/>
                <a:t>từ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/>
                <a:t>3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giáp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, </a:t>
              </a:r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 </a:t>
              </a:r>
              <a:r>
                <a:rPr lang="en-US" sz="1500" b="1" dirty="0" err="1"/>
                <a:t>cho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tác</a:t>
              </a:r>
              <a:r>
                <a:rPr lang="en-US" sz="1500" b="1" dirty="0"/>
                <a:t> </a:t>
              </a:r>
              <a:r>
                <a:rPr lang="en-US" sz="1500" b="1" dirty="0" err="1"/>
                <a:t>bảo</a:t>
              </a:r>
              <a:r>
                <a:rPr lang="en-US" sz="1500" b="1" dirty="0"/>
                <a:t> </a:t>
              </a:r>
              <a:r>
                <a:rPr lang="en-US" sz="1500" b="1" dirty="0" err="1"/>
                <a:t>vệ</a:t>
              </a:r>
              <a:r>
                <a:rPr lang="en-US" sz="1500" b="1" dirty="0"/>
                <a:t>, an </a:t>
              </a:r>
              <a:r>
                <a:rPr lang="en-US" sz="1500" b="1" dirty="0" err="1"/>
                <a:t>ninh</a:t>
              </a:r>
              <a:r>
                <a:rPr lang="en-US" sz="1500" b="1" dirty="0"/>
                <a:t> an </a:t>
              </a:r>
              <a:r>
                <a:rPr lang="en-US" sz="1500" b="1" dirty="0" err="1"/>
                <a:t>toàn</a:t>
              </a:r>
              <a:r>
                <a:rPr lang="en-US" sz="1500" b="1" dirty="0"/>
                <a:t> </a:t>
              </a:r>
              <a:r>
                <a:rPr lang="en-US" sz="1500" b="1" dirty="0" err="1"/>
                <a:t>khi</a:t>
              </a:r>
              <a:r>
                <a:rPr lang="en-US" sz="1500" b="1" dirty="0"/>
                <a:t> </a:t>
              </a:r>
              <a:r>
                <a:rPr lang="en-US" sz="1500" b="1" dirty="0" err="1"/>
                <a:t>thực</a:t>
              </a:r>
              <a:r>
                <a:rPr lang="en-US" sz="1500" b="1" dirty="0"/>
                <a:t> </a:t>
              </a:r>
              <a:r>
                <a:rPr lang="en-US" sz="1500" b="1" dirty="0" err="1"/>
                <a:t>hiện</a:t>
              </a:r>
              <a:r>
                <a:rPr lang="en-US" sz="1500" b="1" dirty="0"/>
                <a:t> DA.</a:t>
              </a:r>
            </a:p>
            <a:p>
              <a:pPr algn="l"/>
              <a:r>
                <a:rPr lang="en-US" sz="1500" b="1" dirty="0" err="1"/>
                <a:t>Bất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Hàng</a:t>
              </a:r>
              <a:r>
                <a:rPr lang="en-US" sz="1500" b="1" dirty="0"/>
                <a:t> </a:t>
              </a:r>
              <a:r>
                <a:rPr lang="en-US" sz="1500" b="1" dirty="0" err="1"/>
                <a:t>rào</a:t>
              </a:r>
              <a:r>
                <a:rPr lang="en-US" sz="1500" b="1" dirty="0"/>
                <a:t> </a:t>
              </a:r>
              <a:r>
                <a:rPr lang="en-US" sz="1500" b="1" dirty="0" err="1"/>
                <a:t>dự</a:t>
              </a:r>
              <a:r>
                <a:rPr lang="en-US" sz="1500" b="1" dirty="0"/>
                <a:t> </a:t>
              </a:r>
              <a:r>
                <a:rPr lang="en-US" sz="1500" b="1" dirty="0" err="1"/>
                <a:t>án</a:t>
              </a:r>
              <a:r>
                <a:rPr lang="en-US" sz="1500" b="1" dirty="0"/>
                <a:t> </a:t>
              </a:r>
              <a:r>
                <a:rPr lang="en-US" sz="1500" b="1" dirty="0" err="1"/>
                <a:t>trải</a:t>
              </a:r>
              <a:r>
                <a:rPr lang="en-US" sz="1500" b="1" dirty="0"/>
                <a:t> </a:t>
              </a:r>
              <a:r>
                <a:rPr lang="en-US" sz="1500" b="1" dirty="0" err="1"/>
                <a:t>dài</a:t>
              </a:r>
              <a:r>
                <a:rPr lang="en-US" sz="1500" b="1" dirty="0"/>
                <a:t> </a:t>
              </a:r>
              <a:r>
                <a:rPr lang="en-US" sz="1500" b="1" dirty="0" err="1"/>
                <a:t>khó</a:t>
              </a:r>
              <a:r>
                <a:rPr lang="en-US" sz="1500" b="1" dirty="0"/>
                <a:t> </a:t>
              </a:r>
              <a:r>
                <a:rPr lang="en-US" sz="1500" b="1" dirty="0" err="1"/>
                <a:t>kiểm</a:t>
              </a:r>
              <a:r>
                <a:rPr lang="en-US" sz="1500" b="1" dirty="0"/>
                <a:t> </a:t>
              </a:r>
              <a:r>
                <a:rPr lang="en-US" sz="1500" b="1" dirty="0" err="1"/>
                <a:t>soát</a:t>
              </a:r>
              <a:r>
                <a:rPr lang="en-US" sz="1500" b="1" dirty="0"/>
                <a:t>, </a:t>
              </a:r>
              <a:r>
                <a:rPr lang="en-US" sz="1500" b="1" dirty="0" err="1"/>
                <a:t>cần</a:t>
              </a:r>
              <a:r>
                <a:rPr lang="en-US" sz="1500" b="1" dirty="0"/>
                <a:t> </a:t>
              </a:r>
              <a:r>
                <a:rPr lang="en-US" sz="1500" b="1" dirty="0" err="1"/>
                <a:t>tăng</a:t>
              </a:r>
              <a:r>
                <a:rPr lang="en-US" sz="1500" b="1" dirty="0"/>
                <a:t> </a:t>
              </a:r>
              <a:r>
                <a:rPr lang="en-US" sz="1500" b="1" dirty="0" err="1"/>
                <a:t>cường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tác</a:t>
              </a:r>
              <a:r>
                <a:rPr lang="en-US" sz="1500" b="1" dirty="0"/>
                <a:t> an </a:t>
              </a:r>
              <a:r>
                <a:rPr lang="en-US" sz="1500" b="1" dirty="0" err="1"/>
                <a:t>ninh</a:t>
              </a:r>
              <a:endParaRPr lang="en-US" sz="1500" b="1" dirty="0"/>
            </a:p>
          </p:txBody>
        </p:sp>
        <p:sp>
          <p:nvSpPr>
            <p:cNvPr id="30" name="Title 1"/>
            <p:cNvSpPr txBox="1">
              <a:spLocks/>
            </p:cNvSpPr>
            <p:nvPr/>
          </p:nvSpPr>
          <p:spPr>
            <a:xfrm>
              <a:off x="8657386" y="3630381"/>
              <a:ext cx="1289045" cy="3317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GIAO THÔNG: </a:t>
              </a:r>
            </a:p>
          </p:txBody>
        </p:sp>
        <p:sp>
          <p:nvSpPr>
            <p:cNvPr id="31" name="Title 1"/>
            <p:cNvSpPr txBox="1">
              <a:spLocks/>
            </p:cNvSpPr>
            <p:nvPr/>
          </p:nvSpPr>
          <p:spPr>
            <a:xfrm>
              <a:off x="6802017" y="3980746"/>
              <a:ext cx="4702628" cy="21328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Dự</a:t>
              </a:r>
              <a:r>
                <a:rPr lang="en-US" sz="1500" b="1" dirty="0"/>
                <a:t> </a:t>
              </a:r>
              <a:r>
                <a:rPr lang="en-US" sz="1500" b="1" dirty="0" err="1"/>
                <a:t>án</a:t>
              </a:r>
              <a:r>
                <a:rPr lang="en-US" sz="1500" b="1" dirty="0"/>
                <a:t> </a:t>
              </a:r>
              <a:r>
                <a:rPr lang="en-US" sz="1500" b="1" dirty="0" err="1"/>
                <a:t>nằm</a:t>
              </a:r>
              <a:r>
                <a:rPr lang="en-US" sz="1500" b="1" dirty="0"/>
                <a:t> </a:t>
              </a:r>
              <a:r>
                <a:rPr lang="en-US" sz="1500" b="1" dirty="0" err="1"/>
                <a:t>ngoài</a:t>
              </a:r>
              <a:r>
                <a:rPr lang="en-US" sz="1500" b="1" dirty="0"/>
                <a:t> </a:t>
              </a:r>
              <a:r>
                <a:rPr lang="en-US" sz="1500" b="1" dirty="0" err="1"/>
                <a:t>vành</a:t>
              </a:r>
              <a:r>
                <a:rPr lang="en-US" sz="1500" b="1" dirty="0"/>
                <a:t> </a:t>
              </a:r>
              <a:r>
                <a:rPr lang="en-US" sz="1500" b="1" dirty="0" err="1"/>
                <a:t>đai</a:t>
              </a:r>
              <a:r>
                <a:rPr lang="en-US" sz="1500" b="1" dirty="0"/>
                <a:t> III, </a:t>
              </a: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bị</a:t>
              </a:r>
              <a:r>
                <a:rPr lang="en-US" sz="1500" b="1" dirty="0"/>
                <a:t> </a:t>
              </a:r>
              <a:r>
                <a:rPr lang="en-US" sz="1500" b="1" dirty="0" err="1"/>
                <a:t>hạn</a:t>
              </a:r>
              <a:r>
                <a:rPr lang="en-US" sz="1500" b="1" dirty="0"/>
                <a:t> </a:t>
              </a:r>
              <a:r>
                <a:rPr lang="en-US" sz="1500" b="1" dirty="0" err="1"/>
                <a:t>chế</a:t>
              </a:r>
              <a:r>
                <a:rPr lang="en-US" sz="1500" b="1" dirty="0"/>
                <a:t> </a:t>
              </a:r>
              <a:r>
                <a:rPr lang="en-US" sz="1500" b="1" dirty="0" err="1"/>
                <a:t>thời</a:t>
              </a:r>
              <a:r>
                <a:rPr lang="en-US" sz="1500" b="1" dirty="0"/>
                <a:t> </a:t>
              </a:r>
              <a:r>
                <a:rPr lang="en-US" sz="1500" b="1" dirty="0" err="1"/>
                <a:t>gian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Điểm</a:t>
              </a:r>
              <a:r>
                <a:rPr lang="en-US" sz="1500" b="1" dirty="0"/>
                <a:t> </a:t>
              </a:r>
              <a:r>
                <a:rPr lang="en-US" sz="1500" b="1" dirty="0" err="1"/>
                <a:t>kết</a:t>
              </a:r>
              <a:r>
                <a:rPr lang="en-US" sz="1500" b="1" dirty="0"/>
                <a:t> </a:t>
              </a:r>
              <a:r>
                <a:rPr lang="en-US" sz="1500" b="1" dirty="0" err="1"/>
                <a:t>nối</a:t>
              </a:r>
              <a:r>
                <a:rPr lang="en-US" sz="1500" b="1" dirty="0"/>
                <a:t> </a:t>
              </a:r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.</a:t>
              </a:r>
            </a:p>
            <a:p>
              <a:pPr algn="l"/>
              <a:r>
                <a:rPr lang="en-US" sz="1500" b="1" dirty="0" err="1"/>
                <a:t>Bất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Hiện</a:t>
              </a:r>
              <a:r>
                <a:rPr lang="en-US" sz="1500" b="1" dirty="0"/>
                <a:t> </a:t>
              </a:r>
              <a:r>
                <a:rPr lang="en-US" sz="1500" b="1" dirty="0" err="1"/>
                <a:t>chỉ</a:t>
              </a:r>
              <a:r>
                <a:rPr lang="en-US" sz="1500" b="1" dirty="0"/>
                <a:t> </a:t>
              </a:r>
              <a:r>
                <a:rPr lang="en-US" sz="1500" b="1" dirty="0" err="1"/>
                <a:t>có</a:t>
              </a:r>
              <a:r>
                <a:rPr lang="en-US" sz="1500" b="1" dirty="0"/>
                <a:t>  </a:t>
              </a:r>
              <a:r>
                <a:rPr lang="en-US" sz="1500" b="1" dirty="0" err="1"/>
                <a:t>một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tiếp</a:t>
              </a:r>
              <a:r>
                <a:rPr lang="en-US" sz="1500" b="1" dirty="0"/>
                <a:t> </a:t>
              </a:r>
              <a:r>
                <a:rPr lang="en-US" sz="1500" b="1" dirty="0" err="1"/>
                <a:t>cận</a:t>
              </a:r>
              <a:r>
                <a:rPr lang="en-US" sz="1500" b="1" dirty="0"/>
                <a:t> </a:t>
              </a:r>
              <a:r>
                <a:rPr lang="en-US" sz="1500" b="1" dirty="0" err="1"/>
                <a:t>duy</a:t>
              </a:r>
              <a:r>
                <a:rPr lang="en-US" sz="1500" b="1" dirty="0"/>
                <a:t> </a:t>
              </a:r>
              <a:r>
                <a:rPr lang="en-US" sz="1500" b="1" dirty="0" err="1"/>
                <a:t>nhất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Phải</a:t>
              </a:r>
              <a:r>
                <a:rPr lang="en-US" sz="1500" b="1" dirty="0"/>
                <a:t> </a:t>
              </a:r>
              <a:r>
                <a:rPr lang="en-US" sz="1500" b="1" dirty="0" err="1"/>
                <a:t>đi</a:t>
              </a:r>
              <a:r>
                <a:rPr lang="en-US" sz="1500" b="1" dirty="0"/>
                <a:t> qua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, </a:t>
              </a:r>
              <a:r>
                <a:rPr lang="en-US" sz="1500" b="1" dirty="0" err="1"/>
                <a:t>khổ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hẹp</a:t>
              </a:r>
              <a:r>
                <a:rPr lang="en-US" sz="1500" b="1" dirty="0"/>
                <a:t>, </a:t>
              </a:r>
              <a:r>
                <a:rPr lang="en-US" sz="1500" b="1" dirty="0" err="1"/>
                <a:t>góc</a:t>
              </a:r>
              <a:r>
                <a:rPr lang="en-US" sz="1500" b="1" dirty="0"/>
                <a:t> </a:t>
              </a:r>
              <a:r>
                <a:rPr lang="en-US" sz="1500" b="1" dirty="0" err="1"/>
                <a:t>cua</a:t>
              </a:r>
              <a:r>
                <a:rPr lang="en-US" sz="1500" b="1" dirty="0"/>
                <a:t> </a:t>
              </a:r>
              <a:r>
                <a:rPr lang="en-US" sz="1500" b="1" dirty="0" err="1"/>
                <a:t>nhỏ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Thói</a:t>
              </a:r>
              <a:r>
                <a:rPr lang="en-US" sz="1500" b="1" dirty="0"/>
                <a:t> </a:t>
              </a:r>
              <a:r>
                <a:rPr lang="en-US" sz="1500" b="1" dirty="0" err="1"/>
                <a:t>quen</a:t>
              </a:r>
              <a:r>
                <a:rPr lang="en-US" sz="1500" b="1" dirty="0"/>
                <a:t> </a:t>
              </a:r>
              <a:r>
                <a:rPr lang="en-US" sz="1500" b="1" dirty="0" err="1"/>
                <a:t>chiếm</a:t>
              </a:r>
              <a:r>
                <a:rPr lang="en-US" sz="1500" b="1" dirty="0"/>
                <a:t> </a:t>
              </a:r>
              <a:r>
                <a:rPr lang="en-US" sz="1500" b="1" dirty="0" err="1"/>
                <a:t>dụng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cộng</a:t>
              </a:r>
              <a:r>
                <a:rPr lang="en-US" sz="1500" b="1" dirty="0"/>
                <a:t> </a:t>
              </a:r>
              <a:r>
                <a:rPr lang="en-US" sz="1500" b="1" dirty="0" err="1"/>
                <a:t>của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 </a:t>
              </a:r>
              <a:r>
                <a:rPr lang="en-US" sz="1500" b="1" dirty="0" err="1"/>
                <a:t>đã</a:t>
              </a:r>
              <a:r>
                <a:rPr lang="en-US" sz="1500" b="1" dirty="0"/>
                <a:t> </a:t>
              </a:r>
              <a:r>
                <a:rPr lang="en-US" sz="1500" b="1" dirty="0" err="1"/>
                <a:t>hình</a:t>
              </a:r>
              <a:r>
                <a:rPr lang="en-US" sz="1500" b="1" dirty="0"/>
                <a:t> </a:t>
              </a:r>
              <a:r>
                <a:rPr lang="en-US" sz="1500" b="1" dirty="0" err="1"/>
                <a:t>thành</a:t>
              </a:r>
              <a:r>
                <a:rPr lang="en-US" sz="1500" b="1" dirty="0"/>
                <a:t> </a:t>
              </a:r>
              <a:r>
                <a:rPr lang="en-US" sz="1500" b="1" dirty="0" err="1"/>
                <a:t>lâu</a:t>
              </a:r>
              <a:r>
                <a:rPr lang="en-US" sz="1500" b="1" dirty="0"/>
                <a:t>, </a:t>
              </a:r>
              <a:r>
                <a:rPr lang="en-US" sz="1500" b="1" dirty="0" err="1"/>
                <a:t>cản</a:t>
              </a:r>
              <a:r>
                <a:rPr lang="en-US" sz="1500" b="1" dirty="0"/>
                <a:t> </a:t>
              </a:r>
              <a:r>
                <a:rPr lang="en-US" sz="1500" b="1" dirty="0" err="1"/>
                <a:t>trở</a:t>
              </a:r>
              <a:r>
                <a:rPr lang="en-US" sz="1500" b="1" dirty="0"/>
                <a:t> </a:t>
              </a:r>
              <a:r>
                <a:rPr lang="en-US" sz="1500" b="1" dirty="0" err="1"/>
                <a:t>một</a:t>
              </a:r>
              <a:r>
                <a:rPr lang="en-US" sz="1500" b="1" dirty="0"/>
                <a:t> </a:t>
              </a:r>
              <a:r>
                <a:rPr lang="en-US" sz="1500" b="1" dirty="0" err="1"/>
                <a:t>phần</a:t>
              </a:r>
              <a:r>
                <a:rPr lang="en-US" sz="1500" b="1" dirty="0"/>
                <a:t> </a:t>
              </a:r>
              <a:r>
                <a:rPr lang="en-US" sz="1500" b="1" dirty="0" err="1"/>
                <a:t>việc</a:t>
              </a:r>
              <a:r>
                <a:rPr lang="en-US" sz="1500" b="1" dirty="0"/>
                <a:t> di </a:t>
              </a:r>
              <a:r>
                <a:rPr lang="en-US" sz="1500" b="1" dirty="0" err="1"/>
                <a:t>chuyển</a:t>
              </a:r>
              <a:r>
                <a:rPr lang="en-US" sz="1500" b="1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687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THÔNG SỐ QUY HOẠCH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74992"/>
              </p:ext>
            </p:extLst>
          </p:nvPr>
        </p:nvGraphicFramePr>
        <p:xfrm>
          <a:off x="382385" y="532005"/>
          <a:ext cx="11421687" cy="6247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475">
                  <a:extLst>
                    <a:ext uri="{9D8B030D-6E8A-4147-A177-3AD203B41FA5}">
                      <a16:colId xmlns:a16="http://schemas.microsoft.com/office/drawing/2014/main" val="3558147054"/>
                    </a:ext>
                  </a:extLst>
                </a:gridCol>
                <a:gridCol w="2394293">
                  <a:extLst>
                    <a:ext uri="{9D8B030D-6E8A-4147-A177-3AD203B41FA5}">
                      <a16:colId xmlns:a16="http://schemas.microsoft.com/office/drawing/2014/main" val="1959003311"/>
                    </a:ext>
                  </a:extLst>
                </a:gridCol>
                <a:gridCol w="1147156">
                  <a:extLst>
                    <a:ext uri="{9D8B030D-6E8A-4147-A177-3AD203B41FA5}">
                      <a16:colId xmlns:a16="http://schemas.microsoft.com/office/drawing/2014/main" val="1995078797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3192893466"/>
                    </a:ext>
                  </a:extLst>
                </a:gridCol>
                <a:gridCol w="806334">
                  <a:extLst>
                    <a:ext uri="{9D8B030D-6E8A-4147-A177-3AD203B41FA5}">
                      <a16:colId xmlns:a16="http://schemas.microsoft.com/office/drawing/2014/main" val="16812311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993920600"/>
                    </a:ext>
                  </a:extLst>
                </a:gridCol>
                <a:gridCol w="1238597">
                  <a:extLst>
                    <a:ext uri="{9D8B030D-6E8A-4147-A177-3AD203B41FA5}">
                      <a16:colId xmlns:a16="http://schemas.microsoft.com/office/drawing/2014/main" val="2450110598"/>
                    </a:ext>
                  </a:extLst>
                </a:gridCol>
                <a:gridCol w="1130531">
                  <a:extLst>
                    <a:ext uri="{9D8B030D-6E8A-4147-A177-3AD203B41FA5}">
                      <a16:colId xmlns:a16="http://schemas.microsoft.com/office/drawing/2014/main" val="470718223"/>
                    </a:ext>
                  </a:extLst>
                </a:gridCol>
                <a:gridCol w="630066">
                  <a:extLst>
                    <a:ext uri="{9D8B030D-6E8A-4147-A177-3AD203B41FA5}">
                      <a16:colId xmlns:a16="http://schemas.microsoft.com/office/drawing/2014/main" val="683676050"/>
                    </a:ext>
                  </a:extLst>
                </a:gridCol>
                <a:gridCol w="852902">
                  <a:extLst>
                    <a:ext uri="{9D8B030D-6E8A-4147-A177-3AD203B41FA5}">
                      <a16:colId xmlns:a16="http://schemas.microsoft.com/office/drawing/2014/main" val="2976242662"/>
                    </a:ext>
                  </a:extLst>
                </a:gridCol>
                <a:gridCol w="1010849">
                  <a:extLst>
                    <a:ext uri="{9D8B030D-6E8A-4147-A177-3AD203B41FA5}">
                      <a16:colId xmlns:a16="http://schemas.microsoft.com/office/drawing/2014/main" val="313908607"/>
                    </a:ext>
                  </a:extLst>
                </a:gridCol>
              </a:tblGrid>
              <a:tr h="5156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mục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ô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DTXD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MĐXD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sàn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 căn hộ dự kiến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Dân số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 lệ đất ở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sàn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ở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759972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 đường giao thông 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5140.0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580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ở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25193.0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9320.6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274,406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1,820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155,504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81820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II.1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ở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xã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hội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20154.5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5851.7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148,800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78,000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544033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CT1 (21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5872.8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1422.8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24.23%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35,617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99824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2944.0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558"/>
                  </a:ext>
                </a:extLst>
              </a:tr>
              <a:tr h="227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778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2-12,15-21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25,610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9148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13,14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1223.0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065587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74919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xanh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1174.6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2717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sân vườn, giao thông</a:t>
                      </a:r>
                      <a:endParaRPr lang="vi-V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4698.2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532557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CT2 (21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14281.7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4428.9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31.01%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113,183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2,287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56.7%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5563"/>
                  </a:ext>
                </a:extLst>
              </a:tr>
              <a:tr h="178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xây dựng tầng hầm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10094.0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20,188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06468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4428.9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4,429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92207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2-12,15-21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4428.9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79,720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23578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13,14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4047.9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8,096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78763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 tum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773850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cây xanh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2856.3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22321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sân vườn, giao thông</a:t>
                      </a:r>
                      <a:endParaRPr lang="vi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11425.4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83311"/>
                  </a:ext>
                </a:extLst>
              </a:tr>
              <a:tr h="1915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II.2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 xây dựng nhà ở thương mại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5038.5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3468.9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68.85%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125,606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2,014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77,504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6446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NO1 (35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04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5038.5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3468.9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68.85%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125,606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65093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 vực tầng hầm (4 tầng hầm)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5038.5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20,154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373884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3194.2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912033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2-3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2678.6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2486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đế tầng 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3468.9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3,469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527509"/>
                  </a:ext>
                </a:extLst>
              </a:tr>
              <a:tr h="1963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tháp 5-35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2985.0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92,536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76709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 tum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895.5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37324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cây xanh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1007.7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2959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sân vườn, giao thông</a:t>
                      </a:r>
                      <a:endParaRPr lang="vi-V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4030.8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20268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</a:t>
                      </a: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30333.0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9320.6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30.73%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2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83728" y="2122415"/>
            <a:ext cx="53353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Để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người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đọc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hiểu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được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1 </a:t>
            </a:r>
            <a:r>
              <a:rPr lang="en-US" dirty="0" err="1" smtClean="0">
                <a:solidFill>
                  <a:srgbClr val="FF0000"/>
                </a:solidFill>
              </a:rPr>
              <a:t>tòa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thương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mại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và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NOXH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NOXH </a:t>
            </a:r>
            <a:r>
              <a:rPr lang="en-US" dirty="0" err="1" smtClean="0">
                <a:solidFill>
                  <a:srgbClr val="FF0000"/>
                </a:solidFill>
              </a:rPr>
              <a:t>thì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3 4 </a:t>
            </a:r>
            <a:r>
              <a:rPr lang="en-US" dirty="0" err="1" smtClean="0">
                <a:solidFill>
                  <a:srgbClr val="FF0000"/>
                </a:solidFill>
              </a:rPr>
              <a:t>tòa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FF0000"/>
                </a:solidFill>
              </a:rPr>
              <a:t>Giải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thích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chỗ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dòng</a:t>
            </a:r>
            <a:r>
              <a:rPr lang="en-US" dirty="0" smtClean="0">
                <a:solidFill>
                  <a:srgbClr val="FF0000"/>
                </a:solidFill>
              </a:rPr>
              <a:t> 2.3; 2.4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gì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không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hiểu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0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9551" b="9751"/>
          <a:stretch/>
        </p:blipFill>
        <p:spPr>
          <a:xfrm>
            <a:off x="139959" y="0"/>
            <a:ext cx="11930744" cy="6792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635858" y="1231041"/>
            <a:ext cx="4655890" cy="423019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 CHỨC THỰC HIỆN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3728" y="2122415"/>
            <a:ext cx="533539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Bỏ</a:t>
            </a:r>
            <a:r>
              <a:rPr lang="en-US" dirty="0" smtClean="0">
                <a:solidFill>
                  <a:srgbClr val="FF0000"/>
                </a:solidFill>
              </a:rPr>
              <a:t> back ground </a:t>
            </a:r>
            <a:r>
              <a:rPr lang="en-US" dirty="0" err="1" smtClean="0">
                <a:solidFill>
                  <a:srgbClr val="FF0000"/>
                </a:solidFill>
              </a:rPr>
              <a:t>đi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nhìn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mắt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00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48746"/>
            <a:ext cx="12192000" cy="6409254"/>
          </a:xfrm>
          <a:prstGeom prst="rect">
            <a:avLst/>
          </a:prstGeom>
          <a:effectLst>
            <a:reflection blurRad="635000" stA="0" endPos="58000" dir="5400000" sy="-100000" algn="bl" rotWithShape="0"/>
          </a:effec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041783" y="959398"/>
            <a:ext cx="1560353" cy="41639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CHỦ ĐẦU TƯ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4454554" y="1679479"/>
            <a:ext cx="2726422" cy="41639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THẦU (………..)</a:t>
            </a:r>
          </a:p>
        </p:txBody>
      </p:sp>
      <p:cxnSp>
        <p:nvCxnSpPr>
          <p:cNvPr id="15" name="Straight Arrow Connector 14"/>
          <p:cNvCxnSpPr>
            <a:stCxn id="19" idx="2"/>
          </p:cNvCxnSpPr>
          <p:nvPr/>
        </p:nvCxnSpPr>
        <p:spPr>
          <a:xfrm>
            <a:off x="5817765" y="2095875"/>
            <a:ext cx="1" cy="4165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5" idx="2"/>
            <a:endCxn id="19" idx="0"/>
          </p:cNvCxnSpPr>
          <p:nvPr/>
        </p:nvCxnSpPr>
        <p:spPr>
          <a:xfrm flipH="1">
            <a:off x="5817765" y="1375795"/>
            <a:ext cx="4195" cy="303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233528" y="2512375"/>
            <a:ext cx="91248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 txBox="1">
            <a:spLocks/>
          </p:cNvSpPr>
          <p:nvPr/>
        </p:nvSpPr>
        <p:spPr>
          <a:xfrm>
            <a:off x="586037" y="2900255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MÓNG CỌC</a:t>
            </a:r>
          </a:p>
        </p:txBody>
      </p:sp>
      <p:cxnSp>
        <p:nvCxnSpPr>
          <p:cNvPr id="30" name="Straight Arrow Connector 29"/>
          <p:cNvCxnSpPr>
            <a:endCxn id="27" idx="0"/>
          </p:cNvCxnSpPr>
          <p:nvPr/>
        </p:nvCxnSpPr>
        <p:spPr>
          <a:xfrm flipH="1">
            <a:off x="1233528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/>
          <p:cNvSpPr txBox="1">
            <a:spLocks/>
          </p:cNvSpPr>
          <p:nvPr/>
        </p:nvSpPr>
        <p:spPr>
          <a:xfrm>
            <a:off x="2121223" y="2900255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VÒNG VÂY, HỆ VĂNG CHỐNG</a:t>
            </a:r>
          </a:p>
        </p:txBody>
      </p:sp>
      <p:cxnSp>
        <p:nvCxnSpPr>
          <p:cNvPr id="34" name="Straight Arrow Connector 33"/>
          <p:cNvCxnSpPr>
            <a:endCxn id="33" idx="0"/>
          </p:cNvCxnSpPr>
          <p:nvPr/>
        </p:nvCxnSpPr>
        <p:spPr>
          <a:xfrm flipH="1">
            <a:off x="2768714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/>
          <p:cNvSpPr txBox="1">
            <a:spLocks/>
          </p:cNvSpPr>
          <p:nvPr/>
        </p:nvSpPr>
        <p:spPr>
          <a:xfrm>
            <a:off x="3652019" y="2900255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 CUNG CẤP VT, THIẾT BỊ</a:t>
            </a:r>
          </a:p>
        </p:txBody>
      </p:sp>
      <p:cxnSp>
        <p:nvCxnSpPr>
          <p:cNvPr id="36" name="Straight Arrow Connector 35"/>
          <p:cNvCxnSpPr>
            <a:endCxn id="35" idx="0"/>
          </p:cNvCxnSpPr>
          <p:nvPr/>
        </p:nvCxnSpPr>
        <p:spPr>
          <a:xfrm flipH="1">
            <a:off x="4299510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1"/>
          <p:cNvSpPr txBox="1">
            <a:spLocks/>
          </p:cNvSpPr>
          <p:nvPr/>
        </p:nvSpPr>
        <p:spPr>
          <a:xfrm>
            <a:off x="5041784" y="2900254"/>
            <a:ext cx="1560352" cy="1839525"/>
          </a:xfrm>
          <a:prstGeom prst="rect">
            <a:avLst/>
          </a:prstGeom>
          <a:solidFill>
            <a:srgbClr val="FFC000"/>
          </a:solidFill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 XDDD THI CÔNG PHẦN THÔ, HẠ TẦNG CẢNH QUAN NGOÀI NHÀ</a:t>
            </a:r>
          </a:p>
        </p:txBody>
      </p:sp>
      <p:cxnSp>
        <p:nvCxnSpPr>
          <p:cNvPr id="49" name="Straight Arrow Connector 48"/>
          <p:cNvCxnSpPr>
            <a:endCxn id="48" idx="0"/>
          </p:cNvCxnSpPr>
          <p:nvPr/>
        </p:nvCxnSpPr>
        <p:spPr>
          <a:xfrm>
            <a:off x="5821917" y="2512375"/>
            <a:ext cx="43" cy="38787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itle 1"/>
          <p:cNvSpPr txBox="1">
            <a:spLocks/>
          </p:cNvSpPr>
          <p:nvPr/>
        </p:nvSpPr>
        <p:spPr>
          <a:xfrm>
            <a:off x="6683663" y="2900255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THI CÔNG CƠ ĐIỆN</a:t>
            </a:r>
          </a:p>
        </p:txBody>
      </p:sp>
      <p:cxnSp>
        <p:nvCxnSpPr>
          <p:cNvPr id="51" name="Straight Arrow Connector 50"/>
          <p:cNvCxnSpPr>
            <a:endCxn id="50" idx="0"/>
          </p:cNvCxnSpPr>
          <p:nvPr/>
        </p:nvCxnSpPr>
        <p:spPr>
          <a:xfrm flipH="1">
            <a:off x="7331154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1"/>
          <p:cNvSpPr txBox="1">
            <a:spLocks/>
          </p:cNvSpPr>
          <p:nvPr/>
        </p:nvSpPr>
        <p:spPr>
          <a:xfrm>
            <a:off x="8197290" y="2900255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THI CÔNG HOÀN THIỆN</a:t>
            </a:r>
          </a:p>
        </p:txBody>
      </p:sp>
      <p:cxnSp>
        <p:nvCxnSpPr>
          <p:cNvPr id="55" name="Straight Arrow Connector 54"/>
          <p:cNvCxnSpPr>
            <a:endCxn id="54" idx="0"/>
          </p:cNvCxnSpPr>
          <p:nvPr/>
        </p:nvCxnSpPr>
        <p:spPr>
          <a:xfrm flipH="1">
            <a:off x="8844781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itle 1"/>
          <p:cNvSpPr txBox="1">
            <a:spLocks/>
          </p:cNvSpPr>
          <p:nvPr/>
        </p:nvSpPr>
        <p:spPr>
          <a:xfrm>
            <a:off x="9710917" y="2900255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KHÁC</a:t>
            </a:r>
          </a:p>
        </p:txBody>
      </p:sp>
      <p:cxnSp>
        <p:nvCxnSpPr>
          <p:cNvPr id="57" name="Straight Arrow Connector 56"/>
          <p:cNvCxnSpPr>
            <a:endCxn id="56" idx="0"/>
          </p:cNvCxnSpPr>
          <p:nvPr/>
        </p:nvCxnSpPr>
        <p:spPr>
          <a:xfrm flipH="1">
            <a:off x="10358408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PHẠM VI CÔNG VIỆC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1783" y="2143043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Bỏ</a:t>
            </a:r>
            <a:r>
              <a:rPr lang="en-US" dirty="0" smtClean="0">
                <a:solidFill>
                  <a:srgbClr val="FF0000"/>
                </a:solidFill>
              </a:rPr>
              <a:t> back ground </a:t>
            </a:r>
            <a:r>
              <a:rPr lang="en-US" dirty="0" err="1" smtClean="0">
                <a:solidFill>
                  <a:srgbClr val="FF0000"/>
                </a:solidFill>
              </a:rPr>
              <a:t>đi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nhìn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mắt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FF0000"/>
                </a:solidFill>
              </a:rPr>
              <a:t>Nêu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rõ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phạm</a:t>
            </a:r>
            <a:r>
              <a:rPr lang="en-US" dirty="0" smtClean="0">
                <a:solidFill>
                  <a:srgbClr val="FF0000"/>
                </a:solidFill>
              </a:rPr>
              <a:t> vi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việc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94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789" y="1021573"/>
            <a:ext cx="738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PHẠM VI CÔNG VIỆC: THI CÔNG </a:t>
            </a: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TOÀ NOXH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407" y="1681850"/>
            <a:ext cx="103068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ốp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nhồi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 ME, PCCC…)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ốp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 ME, PCCC…)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PHẠM VI CÔNG VIỆC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49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SƠ ĐỒ TỔ CHỨC BAN ĐIỀU HÀNH THI CÔNG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57" y="791150"/>
            <a:ext cx="8886506" cy="5122527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452202" y="6081512"/>
            <a:ext cx="8458761" cy="5468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BĐH: 36 </a:t>
            </a:r>
            <a:r>
              <a:rPr lang="en-US" sz="1500" b="1" dirty="0" err="1"/>
              <a:t>người</a:t>
            </a:r>
            <a:r>
              <a:rPr lang="en-US" sz="1500" b="1" dirty="0"/>
              <a:t> </a:t>
            </a:r>
            <a:r>
              <a:rPr lang="en-US" sz="1500" b="1" dirty="0" err="1"/>
              <a:t>gồm</a:t>
            </a:r>
            <a:r>
              <a:rPr lang="en-US" sz="1500" b="1" dirty="0"/>
              <a:t>: 1 </a:t>
            </a:r>
            <a:r>
              <a:rPr lang="en-US" sz="1500" b="1" dirty="0" err="1"/>
              <a:t>trưởng</a:t>
            </a:r>
            <a:r>
              <a:rPr lang="en-US" sz="1500" b="1" dirty="0"/>
              <a:t> ban, 1 </a:t>
            </a:r>
            <a:r>
              <a:rPr lang="en-US" sz="1500" b="1" dirty="0" err="1"/>
              <a:t>phó</a:t>
            </a:r>
            <a:r>
              <a:rPr lang="en-US" sz="1500" b="1" dirty="0"/>
              <a:t> ban, 40 </a:t>
            </a:r>
            <a:r>
              <a:rPr lang="en-US" sz="1500" b="1" dirty="0" err="1"/>
              <a:t>kỹ</a:t>
            </a:r>
            <a:r>
              <a:rPr lang="en-US" sz="1500" b="1" dirty="0"/>
              <a:t> </a:t>
            </a:r>
            <a:r>
              <a:rPr lang="en-US" sz="1500" b="1" dirty="0" err="1"/>
              <a:t>sư</a:t>
            </a:r>
            <a:r>
              <a:rPr lang="en-US" sz="1500" b="1" dirty="0"/>
              <a:t>, 4 </a:t>
            </a:r>
            <a:r>
              <a:rPr lang="en-US" sz="1500" b="1" dirty="0" err="1"/>
              <a:t>gián</a:t>
            </a:r>
            <a:r>
              <a:rPr lang="en-US" sz="1500" b="1" dirty="0"/>
              <a:t> </a:t>
            </a:r>
            <a:r>
              <a:rPr lang="en-US" sz="1500" b="1" dirty="0" err="1"/>
              <a:t>tiếp</a:t>
            </a:r>
            <a:r>
              <a:rPr lang="en-US" sz="1500" b="1" dirty="0"/>
              <a:t> </a:t>
            </a:r>
            <a:r>
              <a:rPr lang="en-US" sz="1500" b="1" dirty="0" err="1"/>
              <a:t>không</a:t>
            </a:r>
            <a:r>
              <a:rPr lang="en-US" sz="1500" b="1" dirty="0"/>
              <a:t> </a:t>
            </a:r>
            <a:r>
              <a:rPr lang="en-US" sz="1500" b="1" dirty="0" err="1"/>
              <a:t>cần</a:t>
            </a:r>
            <a:r>
              <a:rPr lang="en-US" sz="1500" b="1" dirty="0"/>
              <a:t> </a:t>
            </a:r>
            <a:r>
              <a:rPr lang="en-US" sz="1500" b="1" dirty="0" err="1"/>
              <a:t>trình</a:t>
            </a:r>
            <a:r>
              <a:rPr lang="en-US" sz="1500" b="1" dirty="0"/>
              <a:t> </a:t>
            </a:r>
            <a:r>
              <a:rPr lang="en-US" sz="1500" b="1" dirty="0" err="1"/>
              <a:t>độ</a:t>
            </a:r>
            <a:r>
              <a:rPr lang="en-US" sz="1500" b="1" dirty="0"/>
              <a:t> </a:t>
            </a:r>
            <a:r>
              <a:rPr lang="en-US" sz="1500" b="1" dirty="0" err="1"/>
              <a:t>đại</a:t>
            </a:r>
            <a:r>
              <a:rPr lang="en-US" sz="1500" b="1" dirty="0"/>
              <a:t> </a:t>
            </a:r>
            <a:r>
              <a:rPr lang="en-US" sz="1500" b="1" dirty="0" err="1"/>
              <a:t>học</a:t>
            </a:r>
            <a:endParaRPr lang="en-US" sz="1500" b="1" dirty="0"/>
          </a:p>
          <a:p>
            <a:pPr algn="l"/>
            <a:r>
              <a:rPr lang="en-US" sz="1500" b="1" dirty="0" err="1"/>
              <a:t>Tổ</a:t>
            </a:r>
            <a:r>
              <a:rPr lang="en-US" sz="1500" b="1" dirty="0"/>
              <a:t> </a:t>
            </a:r>
            <a:r>
              <a:rPr lang="en-US" sz="1500" b="1" dirty="0" err="1"/>
              <a:t>cơ</a:t>
            </a:r>
            <a:r>
              <a:rPr lang="en-US" sz="1500" b="1" dirty="0"/>
              <a:t> </a:t>
            </a:r>
            <a:r>
              <a:rPr lang="en-US" sz="1500" b="1" dirty="0" err="1"/>
              <a:t>giới</a:t>
            </a:r>
            <a:r>
              <a:rPr lang="en-US" sz="1500" b="1" dirty="0"/>
              <a:t>: 4 </a:t>
            </a:r>
            <a:r>
              <a:rPr lang="en-US" sz="1500" b="1" dirty="0" err="1"/>
              <a:t>cẩu</a:t>
            </a:r>
            <a:r>
              <a:rPr lang="en-US" sz="1500" b="1" dirty="0"/>
              <a:t> </a:t>
            </a:r>
            <a:r>
              <a:rPr lang="en-US" sz="1500" b="1" dirty="0" err="1"/>
              <a:t>tháp</a:t>
            </a:r>
            <a:r>
              <a:rPr lang="en-US" sz="1500" b="1" dirty="0"/>
              <a:t>, 4 </a:t>
            </a:r>
            <a:r>
              <a:rPr lang="en-US" sz="1500" b="1" dirty="0" err="1"/>
              <a:t>vận</a:t>
            </a:r>
            <a:r>
              <a:rPr lang="en-US" sz="1500" b="1" dirty="0"/>
              <a:t> </a:t>
            </a:r>
            <a:r>
              <a:rPr lang="en-US" sz="1500" b="1" dirty="0" err="1"/>
              <a:t>thăng</a:t>
            </a:r>
            <a:r>
              <a:rPr lang="en-US" sz="1500" b="1" dirty="0"/>
              <a:t>, 1 </a:t>
            </a:r>
            <a:r>
              <a:rPr lang="en-US" sz="1500" b="1" dirty="0" err="1"/>
              <a:t>xúc</a:t>
            </a:r>
            <a:r>
              <a:rPr lang="en-US" sz="1500" b="1" dirty="0"/>
              <a:t> </a:t>
            </a:r>
            <a:r>
              <a:rPr lang="en-US" sz="1500" b="1" dirty="0" err="1"/>
              <a:t>cấp</a:t>
            </a:r>
            <a:r>
              <a:rPr lang="en-US" sz="1500" b="1" dirty="0"/>
              <a:t> </a:t>
            </a:r>
            <a:r>
              <a:rPr lang="en-US" sz="1500" b="1" dirty="0" err="1"/>
              <a:t>liệu</a:t>
            </a:r>
            <a:r>
              <a:rPr lang="en-US" sz="1500" b="1" dirty="0"/>
              <a:t>, 3 </a:t>
            </a:r>
            <a:r>
              <a:rPr lang="en-US" sz="1500" b="1" dirty="0" err="1"/>
              <a:t>xe</a:t>
            </a:r>
            <a:r>
              <a:rPr lang="en-US" sz="1500" b="1" dirty="0"/>
              <a:t> </a:t>
            </a:r>
            <a:r>
              <a:rPr lang="en-US" sz="1500" b="1" dirty="0" err="1"/>
              <a:t>nâng</a:t>
            </a:r>
            <a:endParaRPr lang="en-US" sz="15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13882" y="700136"/>
            <a:ext cx="53353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Vai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trò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trách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nhiệm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ban XDDD </a:t>
            </a:r>
            <a:r>
              <a:rPr lang="en-US" dirty="0" err="1" smtClean="0">
                <a:solidFill>
                  <a:srgbClr val="FF0000"/>
                </a:solidFill>
              </a:rPr>
              <a:t>hoặc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pháp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mới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Nêu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được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liên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hệ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với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bên</a:t>
            </a:r>
            <a:r>
              <a:rPr lang="en-US" dirty="0" smtClean="0">
                <a:solidFill>
                  <a:srgbClr val="FF0000"/>
                </a:solidFill>
              </a:rPr>
              <a:t> CĐT; VNCN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13882" y="3124554"/>
            <a:ext cx="5335399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Thêm</a:t>
            </a:r>
            <a:r>
              <a:rPr lang="en-US" dirty="0" smtClean="0">
                <a:solidFill>
                  <a:srgbClr val="FF0000"/>
                </a:solidFill>
              </a:rPr>
              <a:t> 1 slice </a:t>
            </a:r>
            <a:r>
              <a:rPr lang="en-US" dirty="0" err="1" smtClean="0">
                <a:solidFill>
                  <a:srgbClr val="FF0000"/>
                </a:solidFill>
              </a:rPr>
              <a:t>về</a:t>
            </a:r>
            <a:r>
              <a:rPr lang="en-US" dirty="0" smtClean="0">
                <a:solidFill>
                  <a:srgbClr val="FF0000"/>
                </a:solidFill>
              </a:rPr>
              <a:t> PHÂN GÓI:</a:t>
            </a:r>
          </a:p>
          <a:p>
            <a:pPr marL="285750" indent="-285750"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Giá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gói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Thời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Trách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nhiệm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bên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29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SƠ ĐỒ TỔ CHỨC, PHẠM VI CÔNG VIỆC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123111-72ED-E12C-969B-F9D7FDF38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05006"/>
              </p:ext>
            </p:extLst>
          </p:nvPr>
        </p:nvGraphicFramePr>
        <p:xfrm>
          <a:off x="1395833" y="497357"/>
          <a:ext cx="9846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67">
                  <a:extLst>
                    <a:ext uri="{9D8B030D-6E8A-4147-A177-3AD203B41FA5}">
                      <a16:colId xmlns:a16="http://schemas.microsoft.com/office/drawing/2014/main" val="4284933443"/>
                    </a:ext>
                  </a:extLst>
                </a:gridCol>
                <a:gridCol w="4090300">
                  <a:extLst>
                    <a:ext uri="{9D8B030D-6E8A-4147-A177-3AD203B41FA5}">
                      <a16:colId xmlns:a16="http://schemas.microsoft.com/office/drawing/2014/main" val="3113884247"/>
                    </a:ext>
                  </a:extLst>
                </a:gridCol>
                <a:gridCol w="1061023">
                  <a:extLst>
                    <a:ext uri="{9D8B030D-6E8A-4147-A177-3AD203B41FA5}">
                      <a16:colId xmlns:a16="http://schemas.microsoft.com/office/drawing/2014/main" val="2477611136"/>
                    </a:ext>
                  </a:extLst>
                </a:gridCol>
                <a:gridCol w="1589330">
                  <a:extLst>
                    <a:ext uri="{9D8B030D-6E8A-4147-A177-3AD203B41FA5}">
                      <a16:colId xmlns:a16="http://schemas.microsoft.com/office/drawing/2014/main" val="4028327814"/>
                    </a:ext>
                  </a:extLst>
                </a:gridCol>
                <a:gridCol w="1389457">
                  <a:extLst>
                    <a:ext uri="{9D8B030D-6E8A-4147-A177-3AD203B41FA5}">
                      <a16:colId xmlns:a16="http://schemas.microsoft.com/office/drawing/2014/main" val="898209170"/>
                    </a:ext>
                  </a:extLst>
                </a:gridCol>
                <a:gridCol w="1135681">
                  <a:extLst>
                    <a:ext uri="{9D8B030D-6E8A-4147-A177-3AD203B41FA5}">
                      <a16:colId xmlns:a16="http://schemas.microsoft.com/office/drawing/2014/main" val="498253896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Đơn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lượng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Thời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38240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ngầm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65104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thân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5767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thiện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30521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lượng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CN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trung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bình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người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2472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lượng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CN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lớn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nhất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người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624038"/>
                  </a:ext>
                </a:extLst>
              </a:tr>
            </a:tbl>
          </a:graphicData>
        </a:graphic>
      </p:graphicFrame>
      <p:graphicFrame>
        <p:nvGraphicFramePr>
          <p:cNvPr id="4" name="Biểu đồ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444855"/>
              </p:ext>
            </p:extLst>
          </p:nvPr>
        </p:nvGraphicFramePr>
        <p:xfrm>
          <a:off x="739139" y="2871982"/>
          <a:ext cx="10605049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73963" y="2691917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bảng</a:t>
            </a:r>
            <a:r>
              <a:rPr lang="en-US" dirty="0" smtClean="0">
                <a:solidFill>
                  <a:srgbClr val="FF0000"/>
                </a:solidFill>
              </a:rPr>
              <a:t> excel </a:t>
            </a:r>
            <a:r>
              <a:rPr lang="en-US" dirty="0" err="1" smtClean="0">
                <a:solidFill>
                  <a:srgbClr val="FF0000"/>
                </a:solidFill>
              </a:rPr>
              <a:t>gửi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kèm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để</a:t>
            </a:r>
            <a:r>
              <a:rPr lang="en-US" dirty="0" smtClean="0">
                <a:solidFill>
                  <a:srgbClr val="FF0000"/>
                </a:solidFill>
              </a:rPr>
              <a:t> a </a:t>
            </a:r>
            <a:r>
              <a:rPr lang="en-US" dirty="0" err="1" smtClean="0">
                <a:solidFill>
                  <a:srgbClr val="FF0000"/>
                </a:solidFill>
              </a:rPr>
              <a:t>Quang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kiểm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tra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18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9551" b="975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069185" cy="6483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 PHÁP THI CÔNG NOXH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3882" y="3124554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Biện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pháp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NOXH: -&gt; </a:t>
            </a:r>
            <a:r>
              <a:rPr lang="en-US" dirty="0" err="1" smtClean="0">
                <a:solidFill>
                  <a:srgbClr val="FF0000"/>
                </a:solidFill>
              </a:rPr>
              <a:t>nói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rõ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những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gì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42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TỔNG MẶT BẰNG THI CÔNG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9" y="675990"/>
            <a:ext cx="12047497" cy="46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2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TỔNG MẶT BẰNG THI CÔNG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6" y="937916"/>
            <a:ext cx="11766980" cy="46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59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TỔNG MẶT BẰNG THI CÔNG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51" y="1099852"/>
            <a:ext cx="11835549" cy="458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2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19673" y="1097644"/>
            <a:ext cx="2509080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CT02-1; CT02-2; CT02-3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23531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BẮT ĐẦU: 06-2026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3531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XONG HẦM: 08-2027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23531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CẤT NÓC: 02-2028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298215" y="1097644"/>
            <a:ext cx="2316334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CT01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12819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BẮT ĐẦU: 10-2026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12819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XONG HẦM: 09-2027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12819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CẤT NÓC: 03-2028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273055" y="1097644"/>
            <a:ext cx="2316334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N01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376547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BẮT ĐẦU: 11-2026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376547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XONG HẦM: 01-2028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376547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CẤT NÓC: 12-2028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423531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BÀN GIAO: 07-2028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12819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BÀN GIAO: 07-2028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76547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BÀN GIAO: 02-2029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65363" y="6540759"/>
            <a:ext cx="2085951" cy="31724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0" i="1" dirty="0" err="1">
                <a:solidFill>
                  <a:srgbClr val="FF0000"/>
                </a:solidFill>
              </a:rPr>
              <a:t>Tiến</a:t>
            </a:r>
            <a:r>
              <a:rPr lang="en-US" sz="1200" b="0" i="1" dirty="0">
                <a:solidFill>
                  <a:srgbClr val="FF0000"/>
                </a:solidFill>
              </a:rPr>
              <a:t> </a:t>
            </a:r>
            <a:r>
              <a:rPr lang="en-US" sz="1200" b="0" i="1" dirty="0" err="1">
                <a:solidFill>
                  <a:srgbClr val="FF0000"/>
                </a:solidFill>
              </a:rPr>
              <a:t>độ</a:t>
            </a:r>
            <a:r>
              <a:rPr lang="en-US" sz="1200" b="0" i="1" dirty="0">
                <a:solidFill>
                  <a:srgbClr val="FF0000"/>
                </a:solidFill>
              </a:rPr>
              <a:t> chi </a:t>
            </a:r>
            <a:r>
              <a:rPr lang="en-US" sz="1200" b="0" i="1" dirty="0" err="1">
                <a:solidFill>
                  <a:srgbClr val="FF0000"/>
                </a:solidFill>
              </a:rPr>
              <a:t>tiết</a:t>
            </a:r>
            <a:r>
              <a:rPr lang="en-US" sz="1200" b="0" i="1" dirty="0">
                <a:solidFill>
                  <a:srgbClr val="FF0000"/>
                </a:solidFill>
              </a:rPr>
              <a:t> slice </a:t>
            </a:r>
            <a:r>
              <a:rPr lang="en-US" sz="1200" b="0" i="1" dirty="0" err="1">
                <a:solidFill>
                  <a:srgbClr val="FF0000"/>
                </a:solidFill>
              </a:rPr>
              <a:t>tiếp</a:t>
            </a:r>
            <a:r>
              <a:rPr lang="en-US" sz="1200" b="0" i="1" dirty="0">
                <a:solidFill>
                  <a:srgbClr val="FF0000"/>
                </a:solidFill>
              </a:rPr>
              <a:t> </a:t>
            </a:r>
            <a:r>
              <a:rPr lang="en-US" sz="1200" b="0" i="1" dirty="0" err="1">
                <a:solidFill>
                  <a:srgbClr val="FF0000"/>
                </a:solidFill>
              </a:rPr>
              <a:t>theo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96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3B2E48-839B-E130-EE70-3EB78DDA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7" y="619246"/>
            <a:ext cx="12059369" cy="570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1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0400"/>
            <a:ext cx="1065402" cy="368811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70" y="750567"/>
            <a:ext cx="11216655" cy="365517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558212" y="1171562"/>
            <a:ext cx="578498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N01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002833" y="1171562"/>
            <a:ext cx="578498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CT1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6158205" y="1171562"/>
            <a:ext cx="774440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CT2-1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042053" y="1171562"/>
            <a:ext cx="784709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CT2-2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9793538" y="1167467"/>
            <a:ext cx="778046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CT2-3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532701" y="4787472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CAO ĐỘ HIỆN TRẠNG XUNG QUANH DỰ ÁN: +4.7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532701" y="5203518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CAO ĐỘ BÌNH QUÂN ĐÁY AO: +2.2 -:- +3.1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532701" y="5619564"/>
            <a:ext cx="3969195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CAO ĐỘ ĐỀ XUẤT CỐT SAN NỀN: +3.5 (CAO ĐỘ SÀN B1 TÒA CT2)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5347297" y="6038076"/>
            <a:ext cx="4272564" cy="2331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/>
              <a:t>Kiến</a:t>
            </a:r>
            <a:r>
              <a:rPr lang="en-US" sz="1800" b="1" dirty="0"/>
              <a:t> </a:t>
            </a:r>
            <a:r>
              <a:rPr lang="en-US" sz="1800" b="1" dirty="0" err="1"/>
              <a:t>nghị</a:t>
            </a:r>
            <a:r>
              <a:rPr lang="en-US" sz="1800" b="1" dirty="0"/>
              <a:t>: </a:t>
            </a:r>
            <a:r>
              <a:rPr lang="en-US" sz="1800" b="1" dirty="0" err="1"/>
              <a:t>Lựa</a:t>
            </a:r>
            <a:r>
              <a:rPr lang="en-US" sz="1800" b="1" dirty="0"/>
              <a:t> </a:t>
            </a:r>
            <a:r>
              <a:rPr lang="en-US" sz="1800" b="1" dirty="0" err="1"/>
              <a:t>chọn</a:t>
            </a:r>
            <a:r>
              <a:rPr lang="en-US" sz="1800" b="1" dirty="0"/>
              <a:t> </a:t>
            </a:r>
            <a:r>
              <a:rPr lang="en-US" sz="1800" b="1" dirty="0" err="1"/>
              <a:t>cốt</a:t>
            </a:r>
            <a:r>
              <a:rPr lang="en-US" sz="1800" b="1" dirty="0"/>
              <a:t> san </a:t>
            </a:r>
            <a:r>
              <a:rPr lang="en-US" sz="1800" b="1" dirty="0" err="1"/>
              <a:t>nền</a:t>
            </a:r>
            <a:r>
              <a:rPr lang="en-US" sz="1800" b="1" dirty="0"/>
              <a:t>: +3.50 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6036906" y="2687216"/>
            <a:ext cx="513184" cy="1511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 txBox="1">
            <a:spLocks/>
          </p:cNvSpPr>
          <p:nvPr/>
        </p:nvSpPr>
        <p:spPr>
          <a:xfrm>
            <a:off x="6545425" y="4123113"/>
            <a:ext cx="3579477" cy="5652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/>
              <a:t>Phạm</a:t>
            </a:r>
            <a:r>
              <a:rPr lang="en-US" sz="1800" b="1" dirty="0"/>
              <a:t> vi </a:t>
            </a:r>
            <a:r>
              <a:rPr lang="en-US" sz="1800" b="1" dirty="0" err="1"/>
              <a:t>có</a:t>
            </a:r>
            <a:r>
              <a:rPr lang="en-US" sz="1800" b="1" dirty="0"/>
              <a:t> </a:t>
            </a:r>
            <a:r>
              <a:rPr lang="en-US" sz="1800" b="1" dirty="0" err="1"/>
              <a:t>sẵn</a:t>
            </a:r>
            <a:r>
              <a:rPr lang="en-US" sz="1800" b="1" dirty="0"/>
              <a:t> </a:t>
            </a:r>
            <a:r>
              <a:rPr lang="en-US" sz="1800" b="1" dirty="0" err="1"/>
              <a:t>vật</a:t>
            </a:r>
            <a:r>
              <a:rPr lang="en-US" sz="1800" b="1" dirty="0"/>
              <a:t> </a:t>
            </a:r>
            <a:r>
              <a:rPr lang="en-US" sz="1800" b="1" dirty="0" err="1"/>
              <a:t>liệu</a:t>
            </a:r>
            <a:endParaRPr lang="en-US" sz="1800" b="1" dirty="0"/>
          </a:p>
          <a:p>
            <a:pPr algn="l"/>
            <a:r>
              <a:rPr lang="en-US" sz="1800" b="1" dirty="0" err="1"/>
              <a:t>Thi</a:t>
            </a:r>
            <a:r>
              <a:rPr lang="en-US" sz="1800" b="1" dirty="0"/>
              <a:t> </a:t>
            </a:r>
            <a:r>
              <a:rPr lang="en-US" sz="1800" b="1" dirty="0" err="1"/>
              <a:t>công</a:t>
            </a:r>
            <a:r>
              <a:rPr lang="en-US" sz="1800" b="1" dirty="0"/>
              <a:t> </a:t>
            </a:r>
            <a:r>
              <a:rPr lang="en-US" sz="1800" b="1" dirty="0" err="1"/>
              <a:t>được</a:t>
            </a:r>
            <a:r>
              <a:rPr lang="en-US" sz="1800" b="1" dirty="0"/>
              <a:t> </a:t>
            </a:r>
            <a:r>
              <a:rPr lang="en-US" sz="1800" b="1" dirty="0" err="1"/>
              <a:t>ngay</a:t>
            </a:r>
            <a:r>
              <a:rPr lang="en-US" sz="1800" b="1" dirty="0"/>
              <a:t> </a:t>
            </a:r>
            <a:r>
              <a:rPr lang="en-US" sz="1800" b="1" dirty="0" err="1"/>
              <a:t>cọc</a:t>
            </a:r>
            <a:r>
              <a:rPr lang="en-US" sz="1800" b="1" dirty="0"/>
              <a:t> </a:t>
            </a:r>
            <a:r>
              <a:rPr lang="en-US" sz="1800" b="1" dirty="0" err="1"/>
              <a:t>khoan</a:t>
            </a:r>
            <a:r>
              <a:rPr lang="en-US" sz="1800" b="1" dirty="0"/>
              <a:t> </a:t>
            </a:r>
            <a:r>
              <a:rPr lang="en-US" sz="1800" b="1" dirty="0" err="1"/>
              <a:t>nhồi</a:t>
            </a:r>
            <a:endParaRPr lang="en-US" sz="1800" b="1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HIỆN TRẠNG DỰ ÁN, PHƯƠNG ÁN SAN NỀN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13882" y="3124554"/>
            <a:ext cx="53353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Bảng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đâu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chính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31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028378" cy="368811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650203"/>
            <a:ext cx="11877674" cy="346789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MẶT CẮT LỰA CHỌN CỐT CAO ĐỘ SAN NỀN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53357" y="3162299"/>
            <a:ext cx="1566268" cy="303985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+3.500: SAN NỀN</a:t>
            </a:r>
          </a:p>
        </p:txBody>
      </p:sp>
    </p:spTree>
    <p:extLst>
      <p:ext uri="{BB962C8B-B14F-4D97-AF65-F5344CB8AC3E}">
        <p14:creationId xmlns:p14="http://schemas.microsoft.com/office/powerpoint/2010/main" val="313796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498765" y="2099704"/>
            <a:ext cx="1431748" cy="4009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1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TRÌNH TỰ THI CÔNG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261" y="448747"/>
            <a:ext cx="9013119" cy="31759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261" y="3367221"/>
            <a:ext cx="8810653" cy="3382518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554265" y="5145861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3882" y="3124554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tiến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đoạn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160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TRÌNH TỰ THI CÔNG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70" y="448746"/>
            <a:ext cx="8877425" cy="31570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970" y="3605841"/>
            <a:ext cx="8747507" cy="3169032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712207" y="2027293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3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712207" y="519035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3882" y="3124554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tiến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đoạn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84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TRÌNH TỰ THI CÔNG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712207" y="2027293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5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712207" y="519035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399" y="586350"/>
            <a:ext cx="9149564" cy="3083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399" y="3670300"/>
            <a:ext cx="9268934" cy="318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13882" y="3124554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tiến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đoạn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02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TRÌNH TỰ THI CÔNG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712207" y="2027293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7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712207" y="519035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48746"/>
            <a:ext cx="9258300" cy="3280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728800"/>
            <a:ext cx="9275105" cy="31134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13882" y="3124554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tiến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đoạn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679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TRÌNH TỰ THI CÔNG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775707" y="1252593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9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99" y="1717087"/>
            <a:ext cx="9643633" cy="3271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13882" y="3124554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tiến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đoạn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732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THI CÔNG VĂNG CHỐNG TOÀ CT1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042"/>
            <a:ext cx="6611359" cy="56989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1" y="1003301"/>
            <a:ext cx="5693669" cy="516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14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THI CÔNG VĂNG CHỐNG TOÀ CT2.1, CT2.2, CT2.3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9" y="861704"/>
            <a:ext cx="11968858" cy="49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28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16641" y="563646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2: THI CÔNG TOPDOWN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158703"/>
            <a:ext cx="5702300" cy="53884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300"/>
            <a:ext cx="5685322" cy="52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0441" y="568363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2: THI CÔNG TOPDOWN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93101"/>
            <a:ext cx="6102868" cy="56255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31" y="1201129"/>
            <a:ext cx="5784454" cy="54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80" name="Title 1"/>
          <p:cNvSpPr txBox="1">
            <a:spLocks/>
          </p:cNvSpPr>
          <p:nvPr/>
        </p:nvSpPr>
        <p:spPr>
          <a:xfrm>
            <a:off x="3344437" y="39107"/>
            <a:ext cx="4952276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THIẾT BỊ THI CÔNG CHO CÔNG TÁC THI CÔNG HẦM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3765" y="3767430"/>
            <a:ext cx="5176008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23" y="1475762"/>
            <a:ext cx="7609448" cy="4348256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THIẾT BỊ BỐ TRÍ THI CÔNG PHẦN HẦM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290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1695" y="972796"/>
            <a:ext cx="82318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THIẾT BỊ CHO PHẦN HẦM: </a:t>
            </a:r>
          </a:p>
          <a:p>
            <a:pPr algn="ctr"/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55m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nhồi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1600kvA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90m3/h, 52m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80T	: 01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22kW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Larsen,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THIẾT BỊ CHÍNH THI CÔNG KẾT CẤU HẠNG MỤC MÓNG, HẦM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13882" y="3124554"/>
            <a:ext cx="53353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Bổ</a:t>
            </a:r>
            <a:r>
              <a:rPr lang="en-US" dirty="0" smtClean="0">
                <a:solidFill>
                  <a:srgbClr val="FF0000"/>
                </a:solidFill>
              </a:rPr>
              <a:t> sung (slice) </a:t>
            </a:r>
            <a:r>
              <a:rPr lang="en-US" dirty="0" err="1" smtClean="0">
                <a:solidFill>
                  <a:srgbClr val="FF0000"/>
                </a:solidFill>
              </a:rPr>
              <a:t>mặt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cắt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ngang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tiến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trong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từng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giai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đoạn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mỗi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trí</a:t>
            </a:r>
            <a:r>
              <a:rPr lang="en-US" dirty="0" smtClean="0">
                <a:solidFill>
                  <a:srgbClr val="FF0000"/>
                </a:solidFill>
              </a:rPr>
              <a:t> , </a:t>
            </a:r>
            <a:r>
              <a:rPr lang="en-US" dirty="0" err="1" smtClean="0">
                <a:solidFill>
                  <a:srgbClr val="FF0000"/>
                </a:solidFill>
              </a:rPr>
              <a:t>mỗi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thời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điểm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48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3850</TotalTime>
  <Words>2250</Words>
  <Application>Microsoft Office PowerPoint</Application>
  <PresentationFormat>Widescreen</PresentationFormat>
  <Paragraphs>627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Wingdings</vt:lpstr>
      <vt:lpstr>Office Theme</vt:lpstr>
      <vt:lpstr>BPTC NHÀ Ở XÃ HỘI YÊN SỞ</vt:lpstr>
      <vt:lpstr>BPTC NHÀ Ở XÃ HỘI YÊN SỞ</vt:lpstr>
      <vt:lpstr>PowerPoint Presentation</vt:lpstr>
      <vt:lpstr>BPTC NHÀ Ở XÃ HỘI YÊN SỞ</vt:lpstr>
      <vt:lpstr>BPTC NHÀ Ở XÃ HỘI YÊN SỞ</vt:lpstr>
      <vt:lpstr>PowerPoint Presentation</vt:lpstr>
      <vt:lpstr>BPTC NHÀ Ở XÃ HỘI YÊN SỞ</vt:lpstr>
      <vt:lpstr>PowerPoint Presentation</vt:lpstr>
      <vt:lpstr>BPTC NHÀ Ở XÃ HỘI YÊN SỞ</vt:lpstr>
      <vt:lpstr>PowerPoint Presentation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BPTC NHÀ Ở XÃ HỘI YÊN SỞ</vt:lpstr>
      <vt:lpstr>BPTC NHÀ Ở XÃ HỘI YÊN SỞ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BPTC NHÀ Ở XÃ HỘI YÊN SỞ</dc:title>
  <dc:creator>APC</dc:creator>
  <cp:lastModifiedBy>APC</cp:lastModifiedBy>
  <cp:revision>144</cp:revision>
  <cp:lastPrinted>2025-12-31T06:49:43Z</cp:lastPrinted>
  <dcterms:created xsi:type="dcterms:W3CDTF">2025-10-31T08:11:32Z</dcterms:created>
  <dcterms:modified xsi:type="dcterms:W3CDTF">2026-04-08T07:37:24Z</dcterms:modified>
</cp:coreProperties>
</file>