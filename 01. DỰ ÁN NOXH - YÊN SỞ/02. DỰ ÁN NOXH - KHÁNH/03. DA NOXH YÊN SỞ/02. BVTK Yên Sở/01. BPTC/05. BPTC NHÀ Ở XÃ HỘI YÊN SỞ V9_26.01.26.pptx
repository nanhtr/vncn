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90" r:id="rId4"/>
    <p:sldId id="314" r:id="rId5"/>
    <p:sldId id="277" r:id="rId6"/>
    <p:sldId id="324" r:id="rId7"/>
    <p:sldId id="272" r:id="rId8"/>
    <p:sldId id="298" r:id="rId9"/>
    <p:sldId id="300" r:id="rId10"/>
    <p:sldId id="299" r:id="rId11"/>
    <p:sldId id="313" r:id="rId12"/>
    <p:sldId id="276" r:id="rId13"/>
    <p:sldId id="301" r:id="rId14"/>
    <p:sldId id="302" r:id="rId15"/>
    <p:sldId id="278" r:id="rId16"/>
    <p:sldId id="303" r:id="rId17"/>
    <p:sldId id="304" r:id="rId18"/>
    <p:sldId id="305" r:id="rId19"/>
    <p:sldId id="306" r:id="rId20"/>
    <p:sldId id="262" r:id="rId21"/>
    <p:sldId id="307" r:id="rId22"/>
    <p:sldId id="289" r:id="rId23"/>
    <p:sldId id="258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269" r:id="rId34"/>
    <p:sldId id="293" r:id="rId35"/>
    <p:sldId id="296" r:id="rId36"/>
    <p:sldId id="295" r:id="rId37"/>
    <p:sldId id="297" r:id="rId38"/>
    <p:sldId id="265" r:id="rId39"/>
    <p:sldId id="267" r:id="rId40"/>
    <p:sldId id="259" r:id="rId41"/>
  </p:sldIdLst>
  <p:sldSz cx="12192000" cy="6858000"/>
  <p:notesSz cx="9866313" cy="142954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Vinaconex%20E&amp;C\1-%20Cac%20du%20an\B.%20Thi%20cong\47.NOXH%20Y&#234;n%20S&#7903;\Bi&#7875;u%20&#273;&#7891;%20nh&#226;n%20l&#7921;c%20NOXH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2000" b="1" i="0" baseline="0" dirty="0">
                <a:effectLst/>
              </a:rPr>
              <a:t>BIỂU ĐỒ NHÂN LỰC CHO 03 TÒA NOXH CT02 YÊN SỞ</a:t>
            </a:r>
          </a:p>
        </c:rich>
      </c:tx>
      <c:layout>
        <c:manualLayout>
          <c:xMode val="edge"/>
          <c:yMode val="edge"/>
          <c:x val="0.27187417420264537"/>
          <c:y val="1.1653798129602731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Manpower!$H$6:$AI$6</c:f>
              <c:strCache>
                <c:ptCount val="28"/>
                <c:pt idx="0">
                  <c:v>Tháng 1</c:v>
                </c:pt>
                <c:pt idx="1">
                  <c:v>Tháng 2</c:v>
                </c:pt>
                <c:pt idx="2">
                  <c:v>Tháng 3</c:v>
                </c:pt>
                <c:pt idx="3">
                  <c:v>Tháng 4</c:v>
                </c:pt>
                <c:pt idx="4">
                  <c:v>Tháng 5</c:v>
                </c:pt>
                <c:pt idx="5">
                  <c:v>Tháng 6</c:v>
                </c:pt>
                <c:pt idx="6">
                  <c:v>Tháng 7</c:v>
                </c:pt>
                <c:pt idx="7">
                  <c:v>Tháng 8</c:v>
                </c:pt>
                <c:pt idx="8">
                  <c:v>Tháng 9</c:v>
                </c:pt>
                <c:pt idx="9">
                  <c:v>Tháng 10</c:v>
                </c:pt>
                <c:pt idx="10">
                  <c:v>Tháng 11</c:v>
                </c:pt>
                <c:pt idx="11">
                  <c:v>Tháng 12</c:v>
                </c:pt>
                <c:pt idx="12">
                  <c:v>Tháng 13</c:v>
                </c:pt>
                <c:pt idx="13">
                  <c:v>Tháng 14</c:v>
                </c:pt>
                <c:pt idx="14">
                  <c:v>Tháng 15</c:v>
                </c:pt>
                <c:pt idx="15">
                  <c:v>Tháng 16</c:v>
                </c:pt>
                <c:pt idx="16">
                  <c:v>Tháng 17</c:v>
                </c:pt>
                <c:pt idx="17">
                  <c:v>Tháng 18</c:v>
                </c:pt>
                <c:pt idx="18">
                  <c:v>Tháng 19</c:v>
                </c:pt>
                <c:pt idx="19">
                  <c:v>Tháng 20</c:v>
                </c:pt>
                <c:pt idx="20">
                  <c:v>Tháng 21</c:v>
                </c:pt>
                <c:pt idx="21">
                  <c:v>Tháng 22</c:v>
                </c:pt>
                <c:pt idx="22">
                  <c:v>Tháng 23</c:v>
                </c:pt>
                <c:pt idx="23">
                  <c:v>Tháng 24</c:v>
                </c:pt>
                <c:pt idx="24">
                  <c:v>Tháng 25</c:v>
                </c:pt>
                <c:pt idx="25">
                  <c:v>Tháng 26</c:v>
                </c:pt>
                <c:pt idx="26">
                  <c:v>Tháng 27</c:v>
                </c:pt>
                <c:pt idx="27">
                  <c:v>Tháng 28</c:v>
                </c:pt>
              </c:strCache>
            </c:strRef>
          </c:cat>
          <c:val>
            <c:numRef>
              <c:f>Manpower!$H$150:$AI$150</c:f>
              <c:numCache>
                <c:formatCode>_(* #,##0_);_(* \(#,##0\);_(* "-"??_);_(@_)</c:formatCode>
                <c:ptCount val="28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25</c:v>
                </c:pt>
                <c:pt idx="4">
                  <c:v>25</c:v>
                </c:pt>
                <c:pt idx="5">
                  <c:v>95</c:v>
                </c:pt>
                <c:pt idx="6">
                  <c:v>95</c:v>
                </c:pt>
                <c:pt idx="7">
                  <c:v>155</c:v>
                </c:pt>
                <c:pt idx="8">
                  <c:v>155</c:v>
                </c:pt>
                <c:pt idx="9">
                  <c:v>200</c:v>
                </c:pt>
                <c:pt idx="10">
                  <c:v>200</c:v>
                </c:pt>
                <c:pt idx="11">
                  <c:v>190</c:v>
                </c:pt>
                <c:pt idx="12">
                  <c:v>190</c:v>
                </c:pt>
                <c:pt idx="13">
                  <c:v>240</c:v>
                </c:pt>
                <c:pt idx="14">
                  <c:v>240</c:v>
                </c:pt>
                <c:pt idx="15">
                  <c:v>300</c:v>
                </c:pt>
                <c:pt idx="16">
                  <c:v>300</c:v>
                </c:pt>
                <c:pt idx="17">
                  <c:v>300</c:v>
                </c:pt>
                <c:pt idx="18">
                  <c:v>300</c:v>
                </c:pt>
                <c:pt idx="19">
                  <c:v>260</c:v>
                </c:pt>
                <c:pt idx="20">
                  <c:v>260</c:v>
                </c:pt>
                <c:pt idx="21">
                  <c:v>160</c:v>
                </c:pt>
                <c:pt idx="22">
                  <c:v>160</c:v>
                </c:pt>
                <c:pt idx="23">
                  <c:v>100</c:v>
                </c:pt>
                <c:pt idx="24">
                  <c:v>100</c:v>
                </c:pt>
                <c:pt idx="25">
                  <c:v>20</c:v>
                </c:pt>
                <c:pt idx="26">
                  <c:v>20</c:v>
                </c:pt>
                <c:pt idx="2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D6-4839-AA1F-B372EA76F3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48691520"/>
        <c:axId val="1448693696"/>
      </c:barChart>
      <c:catAx>
        <c:axId val="1448691520"/>
        <c:scaling>
          <c:orientation val="minMax"/>
        </c:scaling>
        <c:delete val="0"/>
        <c:axPos val="b"/>
        <c:numFmt formatCode="d\/m\/yyyy;@" sourceLinked="0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448693696"/>
        <c:crosses val="autoZero"/>
        <c:auto val="1"/>
        <c:lblAlgn val="ctr"/>
        <c:lblOffset val="100"/>
        <c:noMultiLvlLbl val="1"/>
      </c:catAx>
      <c:valAx>
        <c:axId val="1448693696"/>
        <c:scaling>
          <c:orientation val="minMax"/>
        </c:scaling>
        <c:delete val="0"/>
        <c:axPos val="l"/>
        <c:majorGridlines/>
        <c:numFmt formatCode="_(* #,##0_);_(* \(#,##0\);_(* &quot;-&quot;??_);_(@_)" sourceLinked="1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4486915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4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7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9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4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39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3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1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3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9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3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9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F4531-0A2E-4BD3-A7D7-4596FAC3CB4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89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272906" y="116477"/>
            <a:ext cx="3276573" cy="3746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QUAN VỀ DỰ ÁN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40930" y="554897"/>
            <a:ext cx="9607742" cy="514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TÊN DỰ </a:t>
            </a:r>
            <a:r>
              <a:rPr lang="en-US" sz="1500" b="1" dirty="0">
                <a:solidFill>
                  <a:srgbClr val="FF0000"/>
                </a:solidFill>
              </a:rPr>
              <a:t>ÁN: </a:t>
            </a:r>
            <a:r>
              <a:rPr lang="en-US" sz="1500" b="1" dirty="0" smtClean="0">
                <a:solidFill>
                  <a:srgbClr val="FF0000"/>
                </a:solidFill>
              </a:rPr>
              <a:t>  </a:t>
            </a:r>
            <a:r>
              <a:rPr lang="en-US" sz="1500" b="1" dirty="0" smtClean="0">
                <a:solidFill>
                  <a:srgbClr val="0070C0"/>
                </a:solidFill>
              </a:rPr>
              <a:t>DỰ </a:t>
            </a:r>
            <a:r>
              <a:rPr lang="en-US" sz="1500" b="1" dirty="0">
                <a:solidFill>
                  <a:srgbClr val="0070C0"/>
                </a:solidFill>
              </a:rPr>
              <a:t>ÁN NHÀ Ở CHO LỰC LƯỢNG VŨ TRANG CÔNG AN NHÂN DÂN (NHÀ Ở XÃ </a:t>
            </a:r>
            <a:r>
              <a:rPr lang="en-US" sz="1500" b="1" dirty="0" smtClean="0">
                <a:solidFill>
                  <a:srgbClr val="0070C0"/>
                </a:solidFill>
              </a:rPr>
              <a:t>HỘI </a:t>
            </a:r>
            <a:r>
              <a:rPr lang="en-US" sz="1500" b="1" dirty="0">
                <a:solidFill>
                  <a:srgbClr val="0070C0"/>
                </a:solidFill>
              </a:rPr>
              <a:t>CHO CÁN BỘ, CHIẾN SỸ CÔNG AN) TẠI Ô ĐẤT C3-ODK3 VÀ C3-ODK4 THUỘC QUY HOẠCH PHÂN KHU ĐÔ THỊ H2-4, PHƯỜNG YÊN SỞ, THÀNH PHỐ HÀ </a:t>
            </a:r>
            <a:r>
              <a:rPr lang="en-US" sz="1500" b="1" dirty="0" smtClean="0">
                <a:solidFill>
                  <a:srgbClr val="0070C0"/>
                </a:solidFill>
              </a:rPr>
              <a:t>NỘI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40930" y="1130974"/>
            <a:ext cx="6605154" cy="529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CHỦ ĐẦU </a:t>
            </a:r>
            <a:r>
              <a:rPr lang="en-US" sz="1500" b="1" dirty="0">
                <a:solidFill>
                  <a:srgbClr val="FF0000"/>
                </a:solidFill>
              </a:rPr>
              <a:t>TƯ: </a:t>
            </a:r>
            <a:r>
              <a:rPr lang="en-US" sz="1500" b="1" dirty="0" smtClean="0">
                <a:solidFill>
                  <a:srgbClr val="0070C0"/>
                </a:solidFill>
              </a:rPr>
              <a:t>LIÊN DANH CÔNG TY CỔ PHẦN ĐẦU TƯ TÀI CHÍNH VÀ AN NINH CÔNG NGHỆ ITF VÀ CÔNG TY TNHH PHÁT TRIỂN TIỀN PHONG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340930" y="1722348"/>
            <a:ext cx="6605154" cy="331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ĐỊA ĐIỂM XÂY DỰNG</a:t>
            </a:r>
            <a:r>
              <a:rPr lang="en-US" sz="1500" b="1" dirty="0">
                <a:solidFill>
                  <a:srgbClr val="FF0000"/>
                </a:solidFill>
              </a:rPr>
              <a:t>: </a:t>
            </a:r>
            <a:r>
              <a:rPr lang="en-US" sz="1500" b="1" dirty="0">
                <a:solidFill>
                  <a:srgbClr val="0070C0"/>
                </a:solidFill>
              </a:rPr>
              <a:t>Ô ĐẤT C3-ODK3 VÀ C3-ODK4 - PHƯỜNG YÊN SỞ, </a:t>
            </a:r>
            <a:r>
              <a:rPr lang="en-US" sz="1500" b="1" dirty="0" smtClean="0">
                <a:solidFill>
                  <a:srgbClr val="0070C0"/>
                </a:solidFill>
              </a:rPr>
              <a:t>TP HÀ NỘI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340930" y="2115390"/>
            <a:ext cx="6605154" cy="331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QUY MÔ: </a:t>
            </a:r>
            <a:r>
              <a:rPr lang="en-US" sz="1500" b="1" dirty="0" smtClean="0">
                <a:solidFill>
                  <a:srgbClr val="0070C0"/>
                </a:solidFill>
              </a:rPr>
              <a:t>NHÀ THƯƠNG MẠI N01: (4B+38F+R); NƠXH (CT01,CT02): 2B+21F+R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0045539" y="1685354"/>
            <a:ext cx="512733" cy="35079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N01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783444" y="3293991"/>
            <a:ext cx="640972" cy="27001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CT01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7893427" y="3720547"/>
            <a:ext cx="784041" cy="28228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CT02-1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340930" y="2510350"/>
            <a:ext cx="3328862" cy="331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ĐƠN VỊ THI CÔNG PHẦN THÔ: </a:t>
            </a:r>
            <a:r>
              <a:rPr lang="en-US" sz="1500" b="1" dirty="0" smtClean="0">
                <a:solidFill>
                  <a:srgbClr val="0070C0"/>
                </a:solidFill>
              </a:rPr>
              <a:t>BAN XDDD</a:t>
            </a:r>
            <a:endParaRPr lang="en-US" sz="1500" b="1" dirty="0">
              <a:solidFill>
                <a:srgbClr val="0070C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0" y="4729287"/>
            <a:ext cx="3474720" cy="2113368"/>
            <a:chOff x="8363712" y="4052872"/>
            <a:chExt cx="3728288" cy="2367167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63712" y="4052872"/>
              <a:ext cx="3728288" cy="2367167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11106912" y="6047232"/>
              <a:ext cx="985088" cy="360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 smtClean="0">
                  <a:solidFill>
                    <a:schemeClr val="tx1"/>
                  </a:solidFill>
                </a:rPr>
                <a:t>Vị</a:t>
              </a:r>
              <a:r>
                <a:rPr lang="en-US" sz="12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1"/>
                  </a:solidFill>
                </a:rPr>
                <a:t>trí</a:t>
              </a:r>
              <a:r>
                <a:rPr lang="en-US" sz="12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1"/>
                  </a:solidFill>
                </a:rPr>
                <a:t>dự</a:t>
              </a:r>
              <a:r>
                <a:rPr lang="en-US" sz="12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1"/>
                  </a:solidFill>
                </a:rPr>
                <a:t>án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Title 1"/>
          <p:cNvSpPr txBox="1">
            <a:spLocks/>
          </p:cNvSpPr>
          <p:nvPr/>
        </p:nvSpPr>
        <p:spPr>
          <a:xfrm>
            <a:off x="6765438" y="4118119"/>
            <a:ext cx="784041" cy="28228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CT02-2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823046" y="4415420"/>
            <a:ext cx="784041" cy="28228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CT02-3</a:t>
            </a:r>
            <a:endParaRPr lang="en-US" sz="15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19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 smtClean="0"/>
              <a:t>BPTC NHÀ Ở XÃ HỘI YÊN SỞ</a:t>
            </a:r>
            <a:endParaRPr lang="en-US" sz="12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09593" y="114152"/>
            <a:ext cx="3783111" cy="416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FF0000"/>
                </a:solidFill>
              </a:rPr>
              <a:t>VỊ TRÍ DỰ ÁN  - ĐƯỜNG TIẾP CẬN</a:t>
            </a:r>
            <a:endParaRPr lang="en-US" sz="2000" b="1" dirty="0">
              <a:solidFill>
                <a:srgbClr val="FF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80843" y="618682"/>
            <a:ext cx="10519795" cy="6017010"/>
            <a:chOff x="8363712" y="4052872"/>
            <a:chExt cx="3728288" cy="2367167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63712" y="4052872"/>
              <a:ext cx="3728288" cy="2367167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11106912" y="6047232"/>
              <a:ext cx="985088" cy="360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 smtClean="0">
                  <a:solidFill>
                    <a:schemeClr val="tx1"/>
                  </a:solidFill>
                </a:rPr>
                <a:t>Vị</a:t>
              </a:r>
              <a:r>
                <a:rPr lang="en-US" sz="12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1"/>
                  </a:solidFill>
                </a:rPr>
                <a:t>trí</a:t>
              </a:r>
              <a:r>
                <a:rPr lang="en-US" sz="12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1"/>
                  </a:solidFill>
                </a:rPr>
                <a:t>dự</a:t>
              </a:r>
              <a:r>
                <a:rPr lang="en-US" sz="12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1"/>
                  </a:solidFill>
                </a:rPr>
                <a:t>án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Down Arrow 5"/>
          <p:cNvSpPr/>
          <p:nvPr/>
        </p:nvSpPr>
        <p:spPr>
          <a:xfrm rot="20936328">
            <a:off x="8012995" y="1124147"/>
            <a:ext cx="389510" cy="490706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515658" y="646722"/>
            <a:ext cx="1384183" cy="4446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 KẾT NỐI GIAO THÔNG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Down Arrow 19"/>
          <p:cNvSpPr/>
          <p:nvPr/>
        </p:nvSpPr>
        <p:spPr>
          <a:xfrm rot="20936328">
            <a:off x="8853635" y="4573441"/>
            <a:ext cx="176301" cy="3040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 rot="20936328">
            <a:off x="8473489" y="2673325"/>
            <a:ext cx="176301" cy="3040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 rot="5139251">
            <a:off x="8285685" y="3584680"/>
            <a:ext cx="242471" cy="39214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/>
          <p:cNvSpPr/>
          <p:nvPr/>
        </p:nvSpPr>
        <p:spPr>
          <a:xfrm rot="4493784">
            <a:off x="8474377" y="4941855"/>
            <a:ext cx="208820" cy="39214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 rot="5208864">
            <a:off x="7291821" y="3665378"/>
            <a:ext cx="224372" cy="39627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 rot="20936328">
            <a:off x="8610737" y="3366999"/>
            <a:ext cx="176301" cy="3040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 rot="20936328">
            <a:off x="6118881" y="1124148"/>
            <a:ext cx="389510" cy="490706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6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53679" y="2162354"/>
            <a:ext cx="8514334" cy="360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SỬ DỤNG ĐƯỜNG NỘI KHU TÁI ĐỊNH CƯ X2A: ĐƯỜNG NHỎ, ĐI QUA KHU DÂN CƯ ĐÔNG ĐÚC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853679" y="275841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ĐỀ XUẤT: THUÊ ĐƯỜNG QUA BÃI XE TẢI PHÍA TÂY DỰ ÁN ĐỂ LÀM ĐƯỜNG KẾT NỐI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53679" y="335447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HIỆN TRẠNG: - ĐANG LÀ KHU VỰC BÃI XE KHÔNG PHÉP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44263" y="394750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KẾT NỐI TRỰC TIẾP VỚI ĐƯỜNG GOM VÀNH ĐAI 3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844263" y="454053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KHI BẮT ĐẦU DỰ ÁN SẼ TIẾP CẬN ĐỂ ĐÀM PHÁN MƯỢN ĐƯỜNG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VỊ TRÍ DỰ ÁN, ĐƯỜNG TIẾP CẬN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47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 smtClean="0"/>
              <a:t>BPTC NHÀ Ở XÃ HỘI YÊN SỞ</a:t>
            </a:r>
            <a:endParaRPr lang="en-US" sz="1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2435" y="803508"/>
            <a:ext cx="1463486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ĐỊA HÌNH:</a:t>
            </a:r>
            <a:endParaRPr lang="en-US" sz="1500" b="1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328705" y="803508"/>
            <a:ext cx="5488969" cy="5468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 smtClean="0"/>
              <a:t>Địa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hình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xung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quanh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dự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án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bằng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phẳng</a:t>
            </a:r>
            <a:r>
              <a:rPr lang="en-US" sz="1500" b="1" dirty="0" smtClean="0"/>
              <a:t>, </a:t>
            </a:r>
            <a:r>
              <a:rPr lang="en-US" sz="1500" b="1" dirty="0" err="1" smtClean="0"/>
              <a:t>có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cao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độ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trung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bình</a:t>
            </a:r>
            <a:r>
              <a:rPr lang="en-US" sz="1500" b="1" dirty="0" smtClean="0"/>
              <a:t> +4.7m. </a:t>
            </a:r>
            <a:r>
              <a:rPr lang="en-US" sz="1500" b="1" dirty="0" err="1" smtClean="0"/>
              <a:t>Vị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trí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các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tòa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nhà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là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các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ao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tự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nhiên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có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chiều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sâu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nước</a:t>
            </a:r>
            <a:r>
              <a:rPr lang="en-US" sz="1500" b="1" dirty="0" smtClean="0"/>
              <a:t> 1.5 -:- 2.0m</a:t>
            </a:r>
            <a:endParaRPr lang="en-US" sz="15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2435" y="1455121"/>
            <a:ext cx="963614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ĐỊA CHẤT:</a:t>
            </a:r>
            <a:endParaRPr lang="en-US" sz="1500" b="1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328705" y="1528361"/>
            <a:ext cx="6256619" cy="9022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 smtClean="0"/>
              <a:t>Dự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án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tại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Phường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Yên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Sở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có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lớp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đất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sét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pha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dẻo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chảy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chiều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sâu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từ</a:t>
            </a:r>
            <a:r>
              <a:rPr lang="en-US" sz="1500" b="1" dirty="0" smtClean="0"/>
              <a:t> 15.5-27.5m. </a:t>
            </a:r>
            <a:r>
              <a:rPr lang="en-US" sz="1500" b="1" dirty="0" err="1" smtClean="0"/>
              <a:t>Cọc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khoan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nhồi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đặt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vào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lớp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đất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số</a:t>
            </a:r>
            <a:r>
              <a:rPr lang="en-US" sz="1500" b="1" dirty="0" smtClean="0"/>
              <a:t> 6 </a:t>
            </a:r>
            <a:r>
              <a:rPr lang="en-US" sz="1500" b="1" dirty="0" err="1" smtClean="0"/>
              <a:t>sỏi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cuội</a:t>
            </a:r>
            <a:r>
              <a:rPr lang="en-US" sz="1500" b="1" dirty="0" smtClean="0"/>
              <a:t>. </a:t>
            </a:r>
            <a:r>
              <a:rPr lang="en-US" sz="1500" b="1" dirty="0" err="1" smtClean="0"/>
              <a:t>Nền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đất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rất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yếu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nên</a:t>
            </a:r>
            <a:r>
              <a:rPr lang="en-US" sz="1500" b="1" dirty="0" smtClean="0"/>
              <a:t> BPTC </a:t>
            </a:r>
            <a:r>
              <a:rPr lang="en-US" sz="1500" b="1" dirty="0" err="1" smtClean="0"/>
              <a:t>hố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móng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cần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phải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được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thiết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kế</a:t>
            </a:r>
            <a:r>
              <a:rPr lang="en-US" sz="1500" b="1" dirty="0" smtClean="0"/>
              <a:t>, </a:t>
            </a:r>
            <a:r>
              <a:rPr lang="en-US" sz="1500" b="1" dirty="0" err="1" smtClean="0"/>
              <a:t>tính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toán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thẩm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tra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và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thi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công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phối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hợp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chặt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chẽ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giữa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các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bên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liên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quan</a:t>
            </a:r>
            <a:r>
              <a:rPr lang="en-US" sz="1500" b="1" dirty="0" smtClean="0"/>
              <a:t>.</a:t>
            </a:r>
            <a:endParaRPr lang="en-US" sz="1500" b="1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82435" y="2673983"/>
            <a:ext cx="963613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XÃ HỘI:</a:t>
            </a:r>
            <a:endParaRPr lang="en-US" sz="1500" b="1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328705" y="2678149"/>
            <a:ext cx="5986495" cy="6541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 smtClean="0"/>
              <a:t>Mặt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phía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Đông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dự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án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giáp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với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đường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nội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bộ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khu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tái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định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cư</a:t>
            </a:r>
            <a:r>
              <a:rPr lang="en-US" sz="1500" b="1" dirty="0" smtClean="0"/>
              <a:t> X2A </a:t>
            </a:r>
            <a:r>
              <a:rPr lang="en-US" sz="1500" b="1" dirty="0" err="1" smtClean="0"/>
              <a:t>đã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xây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dựng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nhà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liền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kề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từ</a:t>
            </a:r>
            <a:r>
              <a:rPr lang="en-US" sz="1500" b="1" dirty="0" smtClean="0"/>
              <a:t> 3-5 </a:t>
            </a:r>
            <a:r>
              <a:rPr lang="en-US" sz="1500" b="1" dirty="0" err="1" smtClean="0"/>
              <a:t>tầng</a:t>
            </a:r>
            <a:r>
              <a:rPr lang="en-US" sz="1500" b="1" dirty="0" smtClean="0"/>
              <a:t>, </a:t>
            </a:r>
            <a:r>
              <a:rPr lang="en-US" sz="1500" b="1" dirty="0" err="1" smtClean="0"/>
              <a:t>dân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cư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đã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sinh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sống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ổn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định</a:t>
            </a:r>
            <a:r>
              <a:rPr lang="en-US" sz="1500" b="1" dirty="0" smtClean="0"/>
              <a:t>. </a:t>
            </a:r>
            <a:r>
              <a:rPr lang="en-US" sz="1500" b="1" dirty="0" err="1" smtClean="0"/>
              <a:t>Khoảng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cách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từ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ranh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Dự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án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đến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dãy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nhà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liền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kề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nhỏ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nhất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là</a:t>
            </a:r>
            <a:r>
              <a:rPr lang="en-US" sz="1500" b="1" dirty="0" smtClean="0"/>
              <a:t> 15m.</a:t>
            </a:r>
            <a:endParaRPr lang="en-US" sz="1500" b="1" dirty="0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82435" y="3332179"/>
            <a:ext cx="1231837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GIAO THÔNG:</a:t>
            </a:r>
            <a:endParaRPr lang="en-US" sz="1500" b="1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328705" y="3332178"/>
            <a:ext cx="5986495" cy="7588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 smtClean="0"/>
              <a:t>Dự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án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kết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nối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với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đường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vành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đai</a:t>
            </a:r>
            <a:r>
              <a:rPr lang="en-US" sz="1500" b="1" dirty="0" smtClean="0"/>
              <a:t> III </a:t>
            </a:r>
            <a:r>
              <a:rPr lang="en-US" sz="1500" b="1" dirty="0" err="1" smtClean="0"/>
              <a:t>Hà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nội</a:t>
            </a:r>
            <a:r>
              <a:rPr lang="en-US" sz="1500" b="1" dirty="0" smtClean="0"/>
              <a:t> qua </a:t>
            </a:r>
            <a:r>
              <a:rPr lang="en-US" sz="1500" b="1" dirty="0" err="1" smtClean="0"/>
              <a:t>đường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Hưng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Thịnh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vào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khu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tái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định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cư</a:t>
            </a:r>
            <a:r>
              <a:rPr lang="en-US" sz="1500" b="1" dirty="0" smtClean="0"/>
              <a:t> X2A, qua </a:t>
            </a:r>
            <a:r>
              <a:rPr lang="en-US" sz="1500" b="1" dirty="0" err="1" smtClean="0"/>
              <a:t>đường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nội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khu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để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tiếp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cận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dự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án</a:t>
            </a:r>
            <a:r>
              <a:rPr lang="en-US" sz="1500" b="1" dirty="0" smtClean="0"/>
              <a:t>. </a:t>
            </a:r>
            <a:r>
              <a:rPr lang="en-US" sz="1500" b="1" dirty="0" err="1" smtClean="0"/>
              <a:t>Điều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kiện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để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vận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chuyển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thiết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bị</a:t>
            </a:r>
            <a:r>
              <a:rPr lang="en-US" sz="1500" b="1" dirty="0" smtClean="0"/>
              <a:t>, </a:t>
            </a:r>
            <a:r>
              <a:rPr lang="en-US" sz="1500" b="1" dirty="0" err="1" smtClean="0"/>
              <a:t>vật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tư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vào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dự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án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có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nhiều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điểm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không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thuận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lợi</a:t>
            </a:r>
            <a:r>
              <a:rPr lang="en-US" sz="1500" b="1" dirty="0" smtClean="0"/>
              <a:t>. </a:t>
            </a:r>
            <a:endParaRPr lang="en-US" sz="150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886" y="4374776"/>
            <a:ext cx="4267200" cy="24003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b="45792"/>
          <a:stretch/>
        </p:blipFill>
        <p:spPr>
          <a:xfrm>
            <a:off x="9601256" y="4374776"/>
            <a:ext cx="2490744" cy="24003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r="11314"/>
          <a:stretch/>
        </p:blipFill>
        <p:spPr>
          <a:xfrm>
            <a:off x="1289435" y="4374777"/>
            <a:ext cx="3784415" cy="2400300"/>
          </a:xfrm>
          <a:prstGeom prst="rect">
            <a:avLst/>
          </a:prstGeom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ĐIỀU KIỆN ĐỊA HÌNH, ĐỊA CHẤT VÀ BỐI CẢNH XÃ HỘI DỰ ÁN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7857" y="803508"/>
            <a:ext cx="4526894" cy="23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4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 smtClean="0"/>
              <a:t>BPTC NHÀ Ở XÃ HỘI YÊN SỞ</a:t>
            </a:r>
            <a:endParaRPr lang="en-US" sz="12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09594" y="114152"/>
            <a:ext cx="4301346" cy="416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FF0000"/>
                </a:solidFill>
              </a:rPr>
              <a:t>ĐÁNH GIÁ ĐIỀU KIỆN TRIỂN KHAI DỰ ÁN</a:t>
            </a:r>
            <a:endParaRPr lang="en-US" sz="2000" b="1" dirty="0">
              <a:solidFill>
                <a:srgbClr val="FF0000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862305" y="782515"/>
            <a:ext cx="10642340" cy="5331066"/>
            <a:chOff x="862305" y="782515"/>
            <a:chExt cx="10642340" cy="5331066"/>
          </a:xfrm>
        </p:grpSpPr>
        <p:sp>
          <p:nvSpPr>
            <p:cNvPr id="5" name="Title 1"/>
            <p:cNvSpPr txBox="1">
              <a:spLocks/>
            </p:cNvSpPr>
            <p:nvPr/>
          </p:nvSpPr>
          <p:spPr>
            <a:xfrm>
              <a:off x="2390497" y="782515"/>
              <a:ext cx="1119875" cy="33170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 smtClean="0"/>
                <a:t>ĐỊA HÌNH: </a:t>
              </a:r>
              <a:endParaRPr lang="en-US" sz="1500" b="1" dirty="0"/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862305" y="1132879"/>
              <a:ext cx="4372168" cy="21328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 smtClean="0"/>
                <a:t>Thuận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lợi</a:t>
              </a:r>
              <a:r>
                <a:rPr lang="en-US" sz="1500" b="1" dirty="0" smtClean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/>
                <a:t>Địa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hình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bằng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phẳng</a:t>
              </a:r>
              <a:r>
                <a:rPr lang="en-US" sz="1500" b="1" dirty="0" smtClean="0"/>
                <a:t>, </a:t>
              </a:r>
              <a:r>
                <a:rPr lang="en-US" sz="1500" b="1" dirty="0" err="1" smtClean="0"/>
                <a:t>mặt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bằng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đủ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rộng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để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bố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trí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sắp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xếp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công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trường</a:t>
              </a:r>
              <a:endParaRPr lang="en-US" sz="1500" b="1" dirty="0" smtClean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/>
                <a:t>Bờ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đất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đã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hình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thành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lâu</a:t>
              </a:r>
              <a:r>
                <a:rPr lang="en-US" sz="1500" b="1" dirty="0"/>
                <a:t> </a:t>
              </a:r>
              <a:r>
                <a:rPr lang="en-US" sz="1500" b="1" dirty="0" err="1" smtClean="0"/>
                <a:t>tạo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thành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bờ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ngăn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nước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mặt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xâm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nhập</a:t>
              </a:r>
              <a:r>
                <a:rPr lang="en-US" sz="1500" b="1" dirty="0" smtClean="0"/>
                <a:t>, </a:t>
              </a:r>
              <a:r>
                <a:rPr lang="en-US" sz="1500" b="1" dirty="0" err="1" smtClean="0"/>
                <a:t>có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thể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tiếp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cận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với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kênh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của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trạm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bơm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Yên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Sở</a:t>
              </a:r>
              <a:r>
                <a:rPr lang="en-US" sz="1500" b="1" dirty="0" smtClean="0"/>
                <a:t>.</a:t>
              </a:r>
            </a:p>
            <a:p>
              <a:pPr algn="l"/>
              <a:r>
                <a:rPr lang="en-US" sz="1500" b="1" dirty="0" err="1" smtClean="0"/>
                <a:t>Bất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lợi</a:t>
              </a:r>
              <a:r>
                <a:rPr lang="en-US" sz="1500" b="1" dirty="0" smtClean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/>
                <a:t>Ao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tự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nhiên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có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chiều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sâu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thấp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hơn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mặt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bằng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chung</a:t>
              </a:r>
              <a:r>
                <a:rPr lang="en-US" sz="1500" b="1" dirty="0" smtClean="0"/>
                <a:t>: </a:t>
              </a:r>
              <a:r>
                <a:rPr lang="en-US" sz="1500" b="1" dirty="0" err="1" smtClean="0"/>
                <a:t>Phải</a:t>
              </a:r>
              <a:r>
                <a:rPr lang="en-US" sz="1500" b="1" dirty="0" smtClean="0"/>
                <a:t> san </a:t>
              </a:r>
              <a:r>
                <a:rPr lang="en-US" sz="1500" b="1" dirty="0" err="1" smtClean="0"/>
                <a:t>lấp</a:t>
              </a:r>
              <a:r>
                <a:rPr lang="en-US" sz="1500" b="1" dirty="0" smtClean="0"/>
                <a:t>, </a:t>
              </a:r>
              <a:r>
                <a:rPr lang="en-US" sz="1500" b="1" dirty="0" err="1" smtClean="0"/>
                <a:t>cải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tạo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mặt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bằng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trước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khi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thi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công</a:t>
              </a:r>
              <a:endParaRPr lang="en-US" sz="1500" b="1" dirty="0" smtClean="0"/>
            </a:p>
          </p:txBody>
        </p:sp>
        <p:sp>
          <p:nvSpPr>
            <p:cNvPr id="19" name="Title 1"/>
            <p:cNvSpPr txBox="1">
              <a:spLocks/>
            </p:cNvSpPr>
            <p:nvPr/>
          </p:nvSpPr>
          <p:spPr>
            <a:xfrm>
              <a:off x="8704041" y="782515"/>
              <a:ext cx="1094521" cy="33170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 smtClean="0"/>
                <a:t>VỊ TRÍ: </a:t>
              </a:r>
              <a:endParaRPr lang="en-US" sz="1500" b="1" dirty="0"/>
            </a:p>
          </p:txBody>
        </p:sp>
        <p:sp>
          <p:nvSpPr>
            <p:cNvPr id="23" name="Title 1"/>
            <p:cNvSpPr txBox="1">
              <a:spLocks/>
            </p:cNvSpPr>
            <p:nvPr/>
          </p:nvSpPr>
          <p:spPr>
            <a:xfrm>
              <a:off x="6802017" y="1132880"/>
              <a:ext cx="4702628" cy="213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 smtClean="0">
                  <a:solidFill>
                    <a:srgbClr val="FF0000"/>
                  </a:solidFill>
                </a:rPr>
                <a:t>Thuận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lợi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>
                  <a:solidFill>
                    <a:srgbClr val="FF0000"/>
                  </a:solidFill>
                </a:rPr>
                <a:t>Xa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trung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tâm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thành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phố</a:t>
              </a:r>
              <a:endParaRPr lang="en-US" sz="1500" b="1" dirty="0" smtClean="0">
                <a:solidFill>
                  <a:srgbClr val="FF0000"/>
                </a:solidFill>
              </a:endParaRPr>
            </a:p>
            <a:p>
              <a:pPr marL="285750" indent="-285750" algn="l">
                <a:buFontTx/>
                <a:buChar char="-"/>
              </a:pPr>
              <a:r>
                <a:rPr lang="en-US" sz="1500" b="1" dirty="0" smtClean="0">
                  <a:solidFill>
                    <a:srgbClr val="FF0000"/>
                  </a:solidFill>
                </a:rPr>
                <a:t>Ba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mặt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không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giáp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khu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dân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cư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,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giảm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khả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năng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xung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đột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.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>
                  <a:solidFill>
                    <a:srgbClr val="FF0000"/>
                  </a:solidFill>
                </a:rPr>
                <a:t>Gần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VĐIII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Hà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Nội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,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thuận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cho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việc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di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chuyển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và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huy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động</a:t>
              </a:r>
              <a:endParaRPr lang="en-US" sz="1500" b="1" dirty="0" smtClean="0">
                <a:solidFill>
                  <a:srgbClr val="FF0000"/>
                </a:solidFill>
              </a:endParaRPr>
            </a:p>
            <a:p>
              <a:pPr algn="l"/>
              <a:r>
                <a:rPr lang="en-US" sz="1500" b="1" dirty="0" err="1" smtClean="0">
                  <a:solidFill>
                    <a:srgbClr val="FF0000"/>
                  </a:solidFill>
                </a:rPr>
                <a:t>Bất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lợi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>
                  <a:solidFill>
                    <a:srgbClr val="FF0000"/>
                  </a:solidFill>
                </a:rPr>
                <a:t>Mặt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phía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đông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giáp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nhà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dân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ảnh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hưởng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đến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việc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tổ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chức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thi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công</a:t>
              </a:r>
              <a:endParaRPr lang="en-US" sz="1500" b="1" dirty="0" smtClean="0">
                <a:solidFill>
                  <a:srgbClr val="FF0000"/>
                </a:solidFill>
              </a:endParaRP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>
                  <a:solidFill>
                    <a:srgbClr val="FF0000"/>
                  </a:solidFill>
                </a:rPr>
                <a:t>Phương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tiện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,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vật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tư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phải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tiếp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cận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thông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qua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đường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nội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khu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dân</a:t>
              </a:r>
              <a:r>
                <a:rPr lang="en-US" sz="1500" b="1" dirty="0" smtClean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 smtClean="0">
                  <a:solidFill>
                    <a:srgbClr val="FF0000"/>
                  </a:solidFill>
                </a:rPr>
                <a:t>cư</a:t>
              </a:r>
              <a:endParaRPr lang="en-US" sz="1500" b="1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6" name="Title 1"/>
            <p:cNvSpPr txBox="1">
              <a:spLocks/>
            </p:cNvSpPr>
            <p:nvPr/>
          </p:nvSpPr>
          <p:spPr>
            <a:xfrm>
              <a:off x="2390497" y="3630382"/>
              <a:ext cx="1119875" cy="33170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 smtClean="0"/>
                <a:t>XÃ HỘI</a:t>
              </a:r>
              <a:endParaRPr lang="en-US" sz="1500" b="1" dirty="0"/>
            </a:p>
          </p:txBody>
        </p:sp>
        <p:sp>
          <p:nvSpPr>
            <p:cNvPr id="27" name="Title 1"/>
            <p:cNvSpPr txBox="1">
              <a:spLocks/>
            </p:cNvSpPr>
            <p:nvPr/>
          </p:nvSpPr>
          <p:spPr>
            <a:xfrm>
              <a:off x="862305" y="3980746"/>
              <a:ext cx="4372168" cy="21328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 smtClean="0"/>
                <a:t>Thuận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lợi</a:t>
              </a:r>
              <a:r>
                <a:rPr lang="en-US" sz="1500" b="1" dirty="0" smtClean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Không</a:t>
              </a:r>
              <a:r>
                <a:rPr lang="en-US" sz="1500" b="1" dirty="0"/>
                <a:t> </a:t>
              </a:r>
              <a:r>
                <a:rPr lang="en-US" sz="1500" b="1" dirty="0" err="1"/>
                <a:t>gần</a:t>
              </a:r>
              <a:r>
                <a:rPr lang="en-US" sz="1500" b="1" dirty="0"/>
                <a:t> </a:t>
              </a:r>
              <a:r>
                <a:rPr lang="en-US" sz="1500" b="1" dirty="0" err="1"/>
                <a:t>khu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r>
                <a:rPr lang="en-US" sz="1500" b="1" dirty="0"/>
                <a:t> </a:t>
              </a:r>
              <a:r>
                <a:rPr lang="en-US" sz="1500" b="1" dirty="0" err="1"/>
                <a:t>đông</a:t>
              </a:r>
              <a:r>
                <a:rPr lang="en-US" sz="1500" b="1" dirty="0"/>
                <a:t> </a:t>
              </a:r>
              <a:r>
                <a:rPr lang="en-US" sz="1500" b="1" dirty="0" err="1"/>
                <a:t>đúc</a:t>
              </a:r>
              <a:r>
                <a:rPr lang="en-US" sz="1500" b="1" dirty="0"/>
                <a:t> </a:t>
              </a:r>
              <a:r>
                <a:rPr lang="en-US" sz="1500" b="1" dirty="0" err="1"/>
                <a:t>nên</a:t>
              </a:r>
              <a:r>
                <a:rPr lang="en-US" sz="1500" b="1" dirty="0"/>
                <a:t> </a:t>
              </a:r>
              <a:r>
                <a:rPr lang="en-US" sz="1500" b="1" dirty="0" err="1"/>
                <a:t>giảm</a:t>
              </a:r>
              <a:r>
                <a:rPr lang="en-US" sz="1500" b="1" dirty="0"/>
                <a:t> </a:t>
              </a:r>
              <a:r>
                <a:rPr lang="en-US" sz="1500" b="1" dirty="0" err="1"/>
                <a:t>được</a:t>
              </a:r>
              <a:r>
                <a:rPr lang="en-US" sz="1500" b="1" dirty="0"/>
                <a:t> </a:t>
              </a:r>
              <a:r>
                <a:rPr lang="en-US" sz="1500" b="1" dirty="0" err="1"/>
                <a:t>các</a:t>
              </a:r>
              <a:r>
                <a:rPr lang="en-US" sz="1500" b="1" dirty="0"/>
                <a:t> </a:t>
              </a:r>
              <a:r>
                <a:rPr lang="en-US" sz="1500" b="1" dirty="0" err="1"/>
                <a:t>ảnh</a:t>
              </a:r>
              <a:r>
                <a:rPr lang="en-US" sz="1500" b="1" dirty="0"/>
                <a:t> </a:t>
              </a:r>
              <a:r>
                <a:rPr lang="en-US" sz="1500" b="1" dirty="0" err="1"/>
                <a:t>hưởng</a:t>
              </a:r>
              <a:r>
                <a:rPr lang="en-US" sz="1500" b="1" dirty="0"/>
                <a:t> </a:t>
              </a:r>
              <a:r>
                <a:rPr lang="en-US" sz="1500" b="1" dirty="0" err="1"/>
                <a:t>đến</a:t>
              </a:r>
              <a:r>
                <a:rPr lang="en-US" sz="1500" b="1" dirty="0"/>
                <a:t>/</a:t>
              </a:r>
              <a:r>
                <a:rPr lang="en-US" sz="1500" b="1" dirty="0" err="1"/>
                <a:t>từ</a:t>
              </a:r>
              <a:r>
                <a:rPr lang="en-US" sz="1500" b="1" dirty="0"/>
                <a:t> </a:t>
              </a:r>
              <a:r>
                <a:rPr lang="en-US" sz="1500" b="1" dirty="0" err="1"/>
                <a:t>khu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 smtClean="0"/>
                <a:t>3 </a:t>
              </a:r>
              <a:r>
                <a:rPr lang="en-US" sz="1500" b="1" dirty="0" err="1" smtClean="0"/>
                <a:t>mặt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không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giáp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khu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dân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cư</a:t>
              </a:r>
              <a:r>
                <a:rPr lang="en-US" sz="1500" b="1" dirty="0" smtClean="0"/>
                <a:t>, </a:t>
              </a:r>
              <a:r>
                <a:rPr lang="en-US" sz="1500" b="1" dirty="0" err="1" smtClean="0"/>
                <a:t>thuận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lợi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cho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công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tác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bảo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vệ</a:t>
              </a:r>
              <a:r>
                <a:rPr lang="en-US" sz="1500" b="1" dirty="0" smtClean="0"/>
                <a:t>, an </a:t>
              </a:r>
              <a:r>
                <a:rPr lang="en-US" sz="1500" b="1" dirty="0" err="1" smtClean="0"/>
                <a:t>ninh</a:t>
              </a:r>
              <a:r>
                <a:rPr lang="en-US" sz="1500" b="1" dirty="0" smtClean="0"/>
                <a:t> an </a:t>
              </a:r>
              <a:r>
                <a:rPr lang="en-US" sz="1500" b="1" dirty="0" err="1" smtClean="0"/>
                <a:t>toàn</a:t>
              </a:r>
              <a:r>
                <a:rPr lang="en-US" sz="1500" b="1" dirty="0"/>
                <a:t> </a:t>
              </a:r>
              <a:r>
                <a:rPr lang="en-US" sz="1500" b="1" dirty="0" err="1" smtClean="0"/>
                <a:t>khi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thực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hiện</a:t>
              </a:r>
              <a:r>
                <a:rPr lang="en-US" sz="1500" b="1" dirty="0" smtClean="0"/>
                <a:t> DA.</a:t>
              </a:r>
            </a:p>
            <a:p>
              <a:pPr algn="l"/>
              <a:r>
                <a:rPr lang="en-US" sz="1500" b="1" dirty="0" err="1" smtClean="0"/>
                <a:t>Bất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lợi</a:t>
              </a:r>
              <a:r>
                <a:rPr lang="en-US" sz="1500" b="1" dirty="0" smtClean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/>
                <a:t>Hàng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rào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dự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án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trải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dài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khó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kiểm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soát</a:t>
              </a:r>
              <a:r>
                <a:rPr lang="en-US" sz="1500" b="1" dirty="0" smtClean="0"/>
                <a:t>, </a:t>
              </a:r>
              <a:r>
                <a:rPr lang="en-US" sz="1500" b="1" dirty="0" err="1" smtClean="0"/>
                <a:t>cần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tăng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cường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công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tác</a:t>
              </a:r>
              <a:r>
                <a:rPr lang="en-US" sz="1500" b="1" dirty="0" smtClean="0"/>
                <a:t> an </a:t>
              </a:r>
              <a:r>
                <a:rPr lang="en-US" sz="1500" b="1" dirty="0" err="1" smtClean="0"/>
                <a:t>ninh</a:t>
              </a:r>
              <a:endParaRPr lang="en-US" sz="1500" b="1" dirty="0" smtClean="0"/>
            </a:p>
          </p:txBody>
        </p:sp>
        <p:sp>
          <p:nvSpPr>
            <p:cNvPr id="30" name="Title 1"/>
            <p:cNvSpPr txBox="1">
              <a:spLocks/>
            </p:cNvSpPr>
            <p:nvPr/>
          </p:nvSpPr>
          <p:spPr>
            <a:xfrm>
              <a:off x="8657386" y="3630381"/>
              <a:ext cx="1289045" cy="3317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 smtClean="0"/>
                <a:t>GIAO THÔNG: </a:t>
              </a:r>
              <a:endParaRPr lang="en-US" sz="1500" b="1" dirty="0"/>
            </a:p>
          </p:txBody>
        </p:sp>
        <p:sp>
          <p:nvSpPr>
            <p:cNvPr id="31" name="Title 1"/>
            <p:cNvSpPr txBox="1">
              <a:spLocks/>
            </p:cNvSpPr>
            <p:nvPr/>
          </p:nvSpPr>
          <p:spPr>
            <a:xfrm>
              <a:off x="6802017" y="3980746"/>
              <a:ext cx="4702628" cy="21328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 smtClean="0"/>
                <a:t>Thuận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lợi</a:t>
              </a:r>
              <a:r>
                <a:rPr lang="en-US" sz="1500" b="1" dirty="0" smtClean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/>
                <a:t>Dự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án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nằm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ngoài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vành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đai</a:t>
              </a:r>
              <a:r>
                <a:rPr lang="en-US" sz="1500" b="1" dirty="0" smtClean="0"/>
                <a:t> III, </a:t>
              </a:r>
              <a:r>
                <a:rPr lang="en-US" sz="1500" b="1" dirty="0" err="1" smtClean="0"/>
                <a:t>không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bị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hạn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chế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thời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gian</a:t>
              </a:r>
              <a:endParaRPr lang="en-US" sz="1500" b="1" dirty="0" smtClean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/>
                <a:t>Điểm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kết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nối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thuận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lợi</a:t>
              </a:r>
              <a:r>
                <a:rPr lang="en-US" sz="1500" b="1" dirty="0" smtClean="0"/>
                <a:t>.</a:t>
              </a:r>
            </a:p>
            <a:p>
              <a:pPr algn="l"/>
              <a:r>
                <a:rPr lang="en-US" sz="1500" b="1" dirty="0" err="1" smtClean="0"/>
                <a:t>Bất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lợi</a:t>
              </a:r>
              <a:r>
                <a:rPr lang="en-US" sz="1500" b="1" dirty="0" smtClean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/>
                <a:t>Hiện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chỉ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có</a:t>
              </a:r>
              <a:r>
                <a:rPr lang="en-US" sz="1500" b="1" dirty="0" smtClean="0"/>
                <a:t>  </a:t>
              </a:r>
              <a:r>
                <a:rPr lang="en-US" sz="1500" b="1" dirty="0" err="1" smtClean="0"/>
                <a:t>một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đường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tiếp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cận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duy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nhất</a:t>
              </a:r>
              <a:endParaRPr lang="en-US" sz="1500" b="1" dirty="0" smtClean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/>
                <a:t>Phải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đi</a:t>
              </a:r>
              <a:r>
                <a:rPr lang="en-US" sz="1500" b="1" dirty="0" smtClean="0"/>
                <a:t> qua </a:t>
              </a:r>
              <a:r>
                <a:rPr lang="en-US" sz="1500" b="1" dirty="0" err="1" smtClean="0"/>
                <a:t>khu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dân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cư</a:t>
              </a:r>
              <a:r>
                <a:rPr lang="en-US" sz="1500" b="1" dirty="0" smtClean="0"/>
                <a:t>, </a:t>
              </a:r>
              <a:r>
                <a:rPr lang="en-US" sz="1500" b="1" dirty="0" err="1" smtClean="0"/>
                <a:t>khổ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đường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hẹp</a:t>
              </a:r>
              <a:r>
                <a:rPr lang="en-US" sz="1500" b="1" dirty="0" smtClean="0"/>
                <a:t>, </a:t>
              </a:r>
              <a:r>
                <a:rPr lang="en-US" sz="1500" b="1" dirty="0" err="1" smtClean="0"/>
                <a:t>góc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cua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nhỏ</a:t>
              </a:r>
              <a:endParaRPr lang="en-US" sz="1500" b="1" dirty="0" smtClean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 smtClean="0"/>
                <a:t>Thói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quen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chiếm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dụng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đường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công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cộng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của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dân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cư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đã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hình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thành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lâu</a:t>
              </a:r>
              <a:r>
                <a:rPr lang="en-US" sz="1500" b="1" dirty="0" smtClean="0"/>
                <a:t>, </a:t>
              </a:r>
              <a:r>
                <a:rPr lang="en-US" sz="1500" b="1" dirty="0" err="1" smtClean="0"/>
                <a:t>cản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trở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một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phần</a:t>
              </a:r>
              <a:r>
                <a:rPr lang="en-US" sz="1500" b="1" dirty="0" smtClean="0"/>
                <a:t> </a:t>
              </a:r>
              <a:r>
                <a:rPr lang="en-US" sz="1500" b="1" dirty="0" err="1" smtClean="0"/>
                <a:t>việc</a:t>
              </a:r>
              <a:r>
                <a:rPr lang="en-US" sz="1500" b="1" dirty="0" smtClean="0"/>
                <a:t> di </a:t>
              </a:r>
              <a:r>
                <a:rPr lang="en-US" sz="1500" b="1" dirty="0" err="1" smtClean="0"/>
                <a:t>chuyển</a:t>
              </a:r>
              <a:r>
                <a:rPr lang="en-US" sz="1500" b="1" dirty="0" smtClean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687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THÔNG SỐ QUY HOẠCH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74992"/>
              </p:ext>
            </p:extLst>
          </p:nvPr>
        </p:nvGraphicFramePr>
        <p:xfrm>
          <a:off x="382385" y="532005"/>
          <a:ext cx="11421687" cy="6247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3475">
                  <a:extLst>
                    <a:ext uri="{9D8B030D-6E8A-4147-A177-3AD203B41FA5}">
                      <a16:colId xmlns:a16="http://schemas.microsoft.com/office/drawing/2014/main" val="3558147054"/>
                    </a:ext>
                  </a:extLst>
                </a:gridCol>
                <a:gridCol w="2394293">
                  <a:extLst>
                    <a:ext uri="{9D8B030D-6E8A-4147-A177-3AD203B41FA5}">
                      <a16:colId xmlns:a16="http://schemas.microsoft.com/office/drawing/2014/main" val="1959003311"/>
                    </a:ext>
                  </a:extLst>
                </a:gridCol>
                <a:gridCol w="1147156">
                  <a:extLst>
                    <a:ext uri="{9D8B030D-6E8A-4147-A177-3AD203B41FA5}">
                      <a16:colId xmlns:a16="http://schemas.microsoft.com/office/drawing/2014/main" val="1995078797"/>
                    </a:ext>
                  </a:extLst>
                </a:gridCol>
                <a:gridCol w="864524">
                  <a:extLst>
                    <a:ext uri="{9D8B030D-6E8A-4147-A177-3AD203B41FA5}">
                      <a16:colId xmlns:a16="http://schemas.microsoft.com/office/drawing/2014/main" val="3192893466"/>
                    </a:ext>
                  </a:extLst>
                </a:gridCol>
                <a:gridCol w="806334">
                  <a:extLst>
                    <a:ext uri="{9D8B030D-6E8A-4147-A177-3AD203B41FA5}">
                      <a16:colId xmlns:a16="http://schemas.microsoft.com/office/drawing/2014/main" val="168123119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993920600"/>
                    </a:ext>
                  </a:extLst>
                </a:gridCol>
                <a:gridCol w="1238597">
                  <a:extLst>
                    <a:ext uri="{9D8B030D-6E8A-4147-A177-3AD203B41FA5}">
                      <a16:colId xmlns:a16="http://schemas.microsoft.com/office/drawing/2014/main" val="2450110598"/>
                    </a:ext>
                  </a:extLst>
                </a:gridCol>
                <a:gridCol w="1130531">
                  <a:extLst>
                    <a:ext uri="{9D8B030D-6E8A-4147-A177-3AD203B41FA5}">
                      <a16:colId xmlns:a16="http://schemas.microsoft.com/office/drawing/2014/main" val="470718223"/>
                    </a:ext>
                  </a:extLst>
                </a:gridCol>
                <a:gridCol w="630066">
                  <a:extLst>
                    <a:ext uri="{9D8B030D-6E8A-4147-A177-3AD203B41FA5}">
                      <a16:colId xmlns:a16="http://schemas.microsoft.com/office/drawing/2014/main" val="683676050"/>
                    </a:ext>
                  </a:extLst>
                </a:gridCol>
                <a:gridCol w="852902">
                  <a:extLst>
                    <a:ext uri="{9D8B030D-6E8A-4147-A177-3AD203B41FA5}">
                      <a16:colId xmlns:a16="http://schemas.microsoft.com/office/drawing/2014/main" val="2976242662"/>
                    </a:ext>
                  </a:extLst>
                </a:gridCol>
                <a:gridCol w="1010849">
                  <a:extLst>
                    <a:ext uri="{9D8B030D-6E8A-4147-A177-3AD203B41FA5}">
                      <a16:colId xmlns:a16="http://schemas.microsoft.com/office/drawing/2014/main" val="313908607"/>
                    </a:ext>
                  </a:extLst>
                </a:gridCol>
              </a:tblGrid>
              <a:tr h="5156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Hạng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mục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ô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DTXD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MĐXD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Tổng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sàn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 căn hộ dự kiến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Dân số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Tỷ lệ đất ở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sàn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ở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759972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 đường giao thông </a:t>
                      </a:r>
                      <a:endParaRPr lang="vi-V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5140.0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5805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ở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25193.0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9320.6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37.0%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274,406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1,820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5,000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155,504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818201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II.1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ở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xã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hội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20154.5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5851.7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148,800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80.0%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78,000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544033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CT1 (21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02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hầm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5872.8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1422.8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24.23%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35,617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23.3%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998241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hầm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2944.0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5,888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558"/>
                  </a:ext>
                </a:extLst>
              </a:tr>
              <a:tr h="227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đế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1422.8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7785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tháp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2-12,15-21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1422.8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25,610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91486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tháp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13,14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1223.0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2,446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065587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874919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cây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xanh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1174.6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20.00%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32717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sân vườn, giao thông</a:t>
                      </a:r>
                      <a:endParaRPr lang="vi-V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4698.2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532557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CT2 (21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02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hầm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14281.7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4428.9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31.01%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113,183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2,287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56.7%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5563"/>
                  </a:ext>
                </a:extLst>
              </a:tr>
              <a:tr h="178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xây dựng tầng hầm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10094.0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20,188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806468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đế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4428.9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4,429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922075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tháp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2-12,15-21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4428.9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79,720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235786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tháp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13,14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4047.9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8,096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78763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 tum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773850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cây xanh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2856.3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223211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sân vườn, giao thông</a:t>
                      </a:r>
                      <a:endParaRPr lang="vi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11425.4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83311"/>
                  </a:ext>
                </a:extLst>
              </a:tr>
              <a:tr h="1915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II.2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 xây dựng nhà ở thương mại</a:t>
                      </a:r>
                      <a:endParaRPr lang="vi-V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5038.5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35.00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3468.9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68.85%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125,606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2,014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77,504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364461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NO1 (35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04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hầm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5038.5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3468.9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68.85%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125,606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650936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Khu vực tầng hầm (4 tầng hầm)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5038.5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20,154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373884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đế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3194.2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912033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đế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2-3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2678.6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5,357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24866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 đế tầng 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3468.9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3,469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527509"/>
                  </a:ext>
                </a:extLst>
              </a:tr>
              <a:tr h="1963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 tháp 5-35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2985.0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92,536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767096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Tầng tum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895.5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037324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cây xanh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1007.7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029595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 tích sân vườn, giao thông</a:t>
                      </a:r>
                      <a:endParaRPr lang="vi-V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4030.8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020268"/>
                  </a:ext>
                </a:extLst>
              </a:tr>
              <a:tr h="182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Tổng</a:t>
                      </a: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30333.0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9320.6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30.73%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84" marR="6584" marT="65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10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9551" b="9751"/>
          <a:stretch/>
        </p:blipFill>
        <p:spPr>
          <a:xfrm>
            <a:off x="139959" y="0"/>
            <a:ext cx="11930744" cy="6792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 smtClean="0"/>
              <a:t>BPTC NHÀ Ở XÃ HỘI YÊN SỞ</a:t>
            </a:r>
            <a:endParaRPr lang="en-US" sz="12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635858" y="1231041"/>
            <a:ext cx="4655890" cy="423019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50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 CHỨC THỰC HIỆN DỰ ÁN</a:t>
            </a:r>
            <a:endParaRPr lang="en-US" sz="5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00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9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48746"/>
            <a:ext cx="12192000" cy="6409254"/>
          </a:xfrm>
          <a:prstGeom prst="rect">
            <a:avLst/>
          </a:prstGeom>
          <a:effectLst>
            <a:reflection blurRad="635000" stA="0" endPos="58000" dir="5400000" sy="-100000" algn="bl" rotWithShape="0"/>
          </a:effec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5041783" y="959398"/>
            <a:ext cx="1560353" cy="416397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CHỦ ĐẦU TƯ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4454554" y="1679479"/>
            <a:ext cx="2726422" cy="416396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TỔNG THẦU (………..)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>
            <a:stCxn id="19" idx="2"/>
          </p:cNvCxnSpPr>
          <p:nvPr/>
        </p:nvCxnSpPr>
        <p:spPr>
          <a:xfrm>
            <a:off x="5817765" y="2095875"/>
            <a:ext cx="1" cy="4165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5" idx="2"/>
            <a:endCxn id="19" idx="0"/>
          </p:cNvCxnSpPr>
          <p:nvPr/>
        </p:nvCxnSpPr>
        <p:spPr>
          <a:xfrm flipH="1">
            <a:off x="5817765" y="1375795"/>
            <a:ext cx="4195" cy="303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1233528" y="2512375"/>
            <a:ext cx="912488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/>
          <p:cNvSpPr txBox="1">
            <a:spLocks/>
          </p:cNvSpPr>
          <p:nvPr/>
        </p:nvSpPr>
        <p:spPr>
          <a:xfrm>
            <a:off x="586037" y="2900255"/>
            <a:ext cx="1294981" cy="1839524"/>
          </a:xfrm>
          <a:prstGeom prst="rect">
            <a:avLst/>
          </a:prstGeom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MÓNG CỌC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endCxn id="27" idx="0"/>
          </p:cNvCxnSpPr>
          <p:nvPr/>
        </p:nvCxnSpPr>
        <p:spPr>
          <a:xfrm flipH="1">
            <a:off x="1233528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"/>
          <p:cNvSpPr txBox="1">
            <a:spLocks/>
          </p:cNvSpPr>
          <p:nvPr/>
        </p:nvSpPr>
        <p:spPr>
          <a:xfrm>
            <a:off x="2121223" y="2900255"/>
            <a:ext cx="1294981" cy="1839524"/>
          </a:xfrm>
          <a:prstGeom prst="rect">
            <a:avLst/>
          </a:prstGeom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VÒNG VÂY, HỆ VĂNG CHỐNG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/>
          <p:cNvCxnSpPr>
            <a:endCxn id="33" idx="0"/>
          </p:cNvCxnSpPr>
          <p:nvPr/>
        </p:nvCxnSpPr>
        <p:spPr>
          <a:xfrm flipH="1">
            <a:off x="2768714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/>
          <p:cNvSpPr txBox="1">
            <a:spLocks/>
          </p:cNvSpPr>
          <p:nvPr/>
        </p:nvSpPr>
        <p:spPr>
          <a:xfrm>
            <a:off x="3652019" y="2900255"/>
            <a:ext cx="1294981" cy="1839524"/>
          </a:xfrm>
          <a:prstGeom prst="rect">
            <a:avLst/>
          </a:prstGeom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 CUNG CẤP VT, THIẾT BỊ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/>
          <p:cNvCxnSpPr>
            <a:endCxn id="35" idx="0"/>
          </p:cNvCxnSpPr>
          <p:nvPr/>
        </p:nvCxnSpPr>
        <p:spPr>
          <a:xfrm flipH="1">
            <a:off x="4299510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le 1"/>
          <p:cNvSpPr txBox="1">
            <a:spLocks/>
          </p:cNvSpPr>
          <p:nvPr/>
        </p:nvSpPr>
        <p:spPr>
          <a:xfrm>
            <a:off x="5041784" y="2900254"/>
            <a:ext cx="1560352" cy="1839525"/>
          </a:xfrm>
          <a:prstGeom prst="rect">
            <a:avLst/>
          </a:prstGeom>
          <a:solidFill>
            <a:srgbClr val="FFC000"/>
          </a:solidFill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 XDDD THI CÔNG PHẦN THÔ, HẠ TẦNG CẢNH QUAN NGOÀI NHÀ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Arrow Connector 48"/>
          <p:cNvCxnSpPr>
            <a:endCxn id="48" idx="0"/>
          </p:cNvCxnSpPr>
          <p:nvPr/>
        </p:nvCxnSpPr>
        <p:spPr>
          <a:xfrm>
            <a:off x="5821917" y="2512375"/>
            <a:ext cx="43" cy="38787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itle 1"/>
          <p:cNvSpPr txBox="1">
            <a:spLocks/>
          </p:cNvSpPr>
          <p:nvPr/>
        </p:nvSpPr>
        <p:spPr>
          <a:xfrm>
            <a:off x="6683663" y="2900255"/>
            <a:ext cx="1294981" cy="1839524"/>
          </a:xfrm>
          <a:prstGeom prst="rect">
            <a:avLst/>
          </a:prstGeom>
          <a:noFill/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THI CÔNG CƠ ĐIỆN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Arrow Connector 50"/>
          <p:cNvCxnSpPr>
            <a:endCxn id="50" idx="0"/>
          </p:cNvCxnSpPr>
          <p:nvPr/>
        </p:nvCxnSpPr>
        <p:spPr>
          <a:xfrm flipH="1">
            <a:off x="7331154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itle 1"/>
          <p:cNvSpPr txBox="1">
            <a:spLocks/>
          </p:cNvSpPr>
          <p:nvPr/>
        </p:nvSpPr>
        <p:spPr>
          <a:xfrm>
            <a:off x="8197290" y="2900255"/>
            <a:ext cx="1294981" cy="1839524"/>
          </a:xfrm>
          <a:prstGeom prst="rect">
            <a:avLst/>
          </a:prstGeom>
          <a:noFill/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THI CÔNG HOÀN THIỆN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Arrow Connector 54"/>
          <p:cNvCxnSpPr>
            <a:endCxn id="54" idx="0"/>
          </p:cNvCxnSpPr>
          <p:nvPr/>
        </p:nvCxnSpPr>
        <p:spPr>
          <a:xfrm flipH="1">
            <a:off x="8844781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itle 1"/>
          <p:cNvSpPr txBox="1">
            <a:spLocks/>
          </p:cNvSpPr>
          <p:nvPr/>
        </p:nvSpPr>
        <p:spPr>
          <a:xfrm>
            <a:off x="9710917" y="2900255"/>
            <a:ext cx="1294981" cy="1839524"/>
          </a:xfrm>
          <a:prstGeom prst="rect">
            <a:avLst/>
          </a:prstGeom>
          <a:noFill/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KHÁC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Straight Arrow Connector 56"/>
          <p:cNvCxnSpPr>
            <a:endCxn id="56" idx="0"/>
          </p:cNvCxnSpPr>
          <p:nvPr/>
        </p:nvCxnSpPr>
        <p:spPr>
          <a:xfrm flipH="1">
            <a:off x="10358408" y="2512375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PHẠM VI CÔNG VIỆC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94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27789" y="1021573"/>
            <a:ext cx="738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PHẠM VI CÔNG VIỆC: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1407" y="1681850"/>
            <a:ext cx="103068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ngầm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Bê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thép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móng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hầm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hầm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ốp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cọc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nhồi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cừ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thấm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,… ME, PCCC…)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Bê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thép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ướt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ốp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,… ME, PCCC…)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PHẠM VI CÔNG VIỆC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49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SƠ ĐỒ TỔ CHỨC BAN ĐIỀU HÀNH THI CÔNG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57" y="791150"/>
            <a:ext cx="8886506" cy="5122527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452202" y="6081512"/>
            <a:ext cx="8458761" cy="5468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BĐH: 36 </a:t>
            </a:r>
            <a:r>
              <a:rPr lang="en-US" sz="1500" b="1" dirty="0" err="1" smtClean="0"/>
              <a:t>người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gồm</a:t>
            </a:r>
            <a:r>
              <a:rPr lang="en-US" sz="1500" b="1" dirty="0" smtClean="0"/>
              <a:t>: 1 </a:t>
            </a:r>
            <a:r>
              <a:rPr lang="en-US" sz="1500" b="1" dirty="0" err="1" smtClean="0"/>
              <a:t>trưởng</a:t>
            </a:r>
            <a:r>
              <a:rPr lang="en-US" sz="1500" b="1" dirty="0" smtClean="0"/>
              <a:t> ban, 1 </a:t>
            </a:r>
            <a:r>
              <a:rPr lang="en-US" sz="1500" b="1" dirty="0" err="1" smtClean="0"/>
              <a:t>phó</a:t>
            </a:r>
            <a:r>
              <a:rPr lang="en-US" sz="1500" b="1" dirty="0" smtClean="0"/>
              <a:t> ban, 30 </a:t>
            </a:r>
            <a:r>
              <a:rPr lang="en-US" sz="1500" b="1" dirty="0" err="1" smtClean="0"/>
              <a:t>kỹ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sư</a:t>
            </a:r>
            <a:r>
              <a:rPr lang="en-US" sz="1500" b="1" dirty="0" smtClean="0"/>
              <a:t>, 4 </a:t>
            </a:r>
            <a:r>
              <a:rPr lang="en-US" sz="1500" b="1" dirty="0" err="1" smtClean="0"/>
              <a:t>gián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tiếp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không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cần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trình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độ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đại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học</a:t>
            </a:r>
            <a:endParaRPr lang="en-US" sz="1500" b="1" dirty="0" smtClean="0"/>
          </a:p>
          <a:p>
            <a:pPr algn="l"/>
            <a:r>
              <a:rPr lang="en-US" sz="1500" b="1" dirty="0" err="1" smtClean="0"/>
              <a:t>Tổ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cơ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giới</a:t>
            </a:r>
            <a:r>
              <a:rPr lang="en-US" sz="1500" b="1" dirty="0" smtClean="0"/>
              <a:t>: 2 </a:t>
            </a:r>
            <a:r>
              <a:rPr lang="en-US" sz="1500" b="1" dirty="0" err="1" smtClean="0"/>
              <a:t>cẩu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tháp</a:t>
            </a:r>
            <a:r>
              <a:rPr lang="en-US" sz="1500" b="1" dirty="0" smtClean="0"/>
              <a:t>, 4 </a:t>
            </a:r>
            <a:r>
              <a:rPr lang="en-US" sz="1500" b="1" dirty="0" err="1" smtClean="0"/>
              <a:t>vận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thăng</a:t>
            </a:r>
            <a:r>
              <a:rPr lang="en-US" sz="1500" b="1" dirty="0" smtClean="0"/>
              <a:t>, 1 </a:t>
            </a:r>
            <a:r>
              <a:rPr lang="en-US" sz="1500" b="1" dirty="0" err="1" smtClean="0"/>
              <a:t>xúc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cấp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liệu</a:t>
            </a:r>
            <a:r>
              <a:rPr lang="en-US" sz="1500" b="1" dirty="0" smtClean="0"/>
              <a:t>, 2 </a:t>
            </a:r>
            <a:r>
              <a:rPr lang="en-US" sz="1500" b="1" dirty="0" err="1" smtClean="0"/>
              <a:t>xe</a:t>
            </a:r>
            <a:r>
              <a:rPr lang="en-US" sz="1500" b="1" dirty="0" smtClean="0"/>
              <a:t> </a:t>
            </a:r>
            <a:r>
              <a:rPr lang="en-US" sz="1500" b="1" dirty="0" err="1" smtClean="0"/>
              <a:t>nâng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00429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SƠ ĐỒ TỔ CHỨC, PHẠM VI CÔNG VIỆC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C123111-72ED-E12C-969B-F9D7FDF38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515473"/>
              </p:ext>
            </p:extLst>
          </p:nvPr>
        </p:nvGraphicFramePr>
        <p:xfrm>
          <a:off x="1395833" y="497357"/>
          <a:ext cx="984635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67">
                  <a:extLst>
                    <a:ext uri="{9D8B030D-6E8A-4147-A177-3AD203B41FA5}">
                      <a16:colId xmlns:a16="http://schemas.microsoft.com/office/drawing/2014/main" val="4284933443"/>
                    </a:ext>
                  </a:extLst>
                </a:gridCol>
                <a:gridCol w="4090300">
                  <a:extLst>
                    <a:ext uri="{9D8B030D-6E8A-4147-A177-3AD203B41FA5}">
                      <a16:colId xmlns:a16="http://schemas.microsoft.com/office/drawing/2014/main" val="3113884247"/>
                    </a:ext>
                  </a:extLst>
                </a:gridCol>
                <a:gridCol w="1061023">
                  <a:extLst>
                    <a:ext uri="{9D8B030D-6E8A-4147-A177-3AD203B41FA5}">
                      <a16:colId xmlns:a16="http://schemas.microsoft.com/office/drawing/2014/main" val="2477611136"/>
                    </a:ext>
                  </a:extLst>
                </a:gridCol>
                <a:gridCol w="1589330">
                  <a:extLst>
                    <a:ext uri="{9D8B030D-6E8A-4147-A177-3AD203B41FA5}">
                      <a16:colId xmlns:a16="http://schemas.microsoft.com/office/drawing/2014/main" val="4028327814"/>
                    </a:ext>
                  </a:extLst>
                </a:gridCol>
                <a:gridCol w="1389457">
                  <a:extLst>
                    <a:ext uri="{9D8B030D-6E8A-4147-A177-3AD203B41FA5}">
                      <a16:colId xmlns:a16="http://schemas.microsoft.com/office/drawing/2014/main" val="898209170"/>
                    </a:ext>
                  </a:extLst>
                </a:gridCol>
                <a:gridCol w="1135681">
                  <a:extLst>
                    <a:ext uri="{9D8B030D-6E8A-4147-A177-3AD203B41FA5}">
                      <a16:colId xmlns:a16="http://schemas.microsoft.com/office/drawing/2014/main" val="498253896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Mô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Đơn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Số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lượng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Thời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38240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ngầm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dirty="0" err="1"/>
                        <a:t>người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 </a:t>
                      </a:r>
                      <a:r>
                        <a:rPr lang="en-US" dirty="0" err="1"/>
                        <a:t>tháng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65104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thân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người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</a:t>
                      </a:r>
                      <a:r>
                        <a:rPr lang="en-US" dirty="0" err="1"/>
                        <a:t>tháng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65767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hoàn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thiện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người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</a:t>
                      </a:r>
                      <a:r>
                        <a:rPr lang="en-US" dirty="0" err="1"/>
                        <a:t>tháng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30521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lượng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CN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trung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bình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người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2472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lượng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CN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lớn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nhất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người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624038"/>
                  </a:ext>
                </a:extLst>
              </a:tr>
            </a:tbl>
          </a:graphicData>
        </a:graphic>
      </p:graphicFrame>
      <p:graphicFrame>
        <p:nvGraphicFramePr>
          <p:cNvPr id="15" name="Biểu đồ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464824"/>
              </p:ext>
            </p:extLst>
          </p:nvPr>
        </p:nvGraphicFramePr>
        <p:xfrm>
          <a:off x="1395834" y="2722397"/>
          <a:ext cx="9784784" cy="3977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1318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9551" b="9751"/>
          <a:stretch/>
        </p:blipFill>
        <p:spPr>
          <a:xfrm>
            <a:off x="139959" y="0"/>
            <a:ext cx="11930744" cy="6792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 smtClean="0"/>
              <a:t>BPTC NHÀ Ở XÃ HỘI YÊN SỞ</a:t>
            </a:r>
            <a:endParaRPr lang="en-US" sz="12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543580" y="232751"/>
            <a:ext cx="4392406" cy="3089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50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BIỆN PHÁP THI CÔNG CHÍNH</a:t>
            </a:r>
            <a:endParaRPr lang="en-US" sz="5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979803" y="3322040"/>
            <a:ext cx="7751426" cy="113478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5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BIỆN PHÁP THỂ HIỆN BỐ TRÍ CHUNG, BIỆN PHÁP CHỦ ĐẠO ĐỂ THI CÔNG CÁC TÒA CÓ HẦM LIÊN THÔNG GỒM CT02-1, CT02-2, CT02-3 </a:t>
            </a:r>
            <a:endParaRPr lang="en-US" sz="15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5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CÁC TÒA CÒN LẠI GỒM CT01 VÀ N01 SẼ ĐƯỢC TỔ CHỨC THI CÔNG SAU</a:t>
            </a:r>
            <a:endParaRPr lang="en-US" sz="15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42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 smtClean="0"/>
              <a:t>BPTC NHÀ Ở XÃ HỘI YÊN SỞ</a:t>
            </a:r>
            <a:endParaRPr lang="en-US" sz="11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SƠ ĐỒ BỐ TRÍ MẶT BẰNG THI CÔNG GIAI ĐOẠN CỌC NHỒI- KHUNG VÂY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6" y="1316605"/>
            <a:ext cx="12137434" cy="488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3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 smtClean="0"/>
              <a:t>BPTC NHÀ Ở XÃ HỘI YÊN SỞ</a:t>
            </a:r>
            <a:endParaRPr lang="en-US" sz="11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SƠ ĐỒ BỐ TRÍ MẶT BẰNG THI CÔNG GIAI ĐOẠN HẦM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1048611"/>
            <a:ext cx="11897650" cy="466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5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 smtClean="0"/>
              <a:t>BPTC NHÀ Ở XÃ HỘI YÊN SỞ</a:t>
            </a:r>
            <a:endParaRPr lang="en-US" sz="11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19673" y="1097644"/>
            <a:ext cx="2509080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/>
              <a:t>CT02-1; CT02-2; CT02-3</a:t>
            </a:r>
            <a:endParaRPr lang="en-US" sz="1800" b="1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423531" y="1679434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BẮT ĐẦU: 12-01-2026</a:t>
            </a:r>
            <a:endParaRPr lang="en-US" sz="15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23531" y="2257932"/>
            <a:ext cx="269974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XONG HẦM: 05-10-2026</a:t>
            </a:r>
            <a:endParaRPr lang="en-US" sz="1500" b="1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423531" y="2836430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CẤT NÓC: 28-05-2027</a:t>
            </a:r>
            <a:endParaRPr lang="en-US" sz="1500" b="1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298215" y="1097644"/>
            <a:ext cx="2316334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CT01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512819" y="1679434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BẮT ĐẦU: 30-03-2026</a:t>
            </a:r>
            <a:endParaRPr lang="en-US" sz="1500" b="1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512819" y="2257932"/>
            <a:ext cx="269974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XONG HẦM: 25-01-2027</a:t>
            </a:r>
            <a:endParaRPr lang="en-US" sz="1500" b="1" dirty="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512819" y="2836430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CẤT NÓC: 15-01-2028</a:t>
            </a:r>
            <a:endParaRPr lang="en-US" sz="1500" b="1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8273055" y="1097644"/>
            <a:ext cx="2316334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N01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376547" y="1679434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BẮT ĐẦU: 09-04-2026</a:t>
            </a:r>
            <a:endParaRPr lang="en-US" sz="1500" b="1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376547" y="2257932"/>
            <a:ext cx="269974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XONG HẦM: 11-06-2027</a:t>
            </a:r>
            <a:endParaRPr lang="en-US" sz="1500" b="1" dirty="0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376547" y="2836430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CẤT NÓC: 31-05-2028</a:t>
            </a:r>
            <a:endParaRPr lang="en-US" sz="1500" b="1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423531" y="3414928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BÀN GIAO: 23-01-2028</a:t>
            </a:r>
            <a:endParaRPr lang="en-US" sz="1500" b="1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12819" y="3414928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BÀN GIAO: 23-01-2028</a:t>
            </a:r>
            <a:endParaRPr lang="en-US" sz="1500" b="1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76547" y="3414928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BÀN GIAO: 03-10-2028</a:t>
            </a:r>
            <a:endParaRPr lang="en-US" sz="1500" b="1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65363" y="6540759"/>
            <a:ext cx="2085951" cy="31724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0" i="1" dirty="0" err="1" smtClean="0">
                <a:solidFill>
                  <a:srgbClr val="FF0000"/>
                </a:solidFill>
              </a:rPr>
              <a:t>Tiến</a:t>
            </a:r>
            <a:r>
              <a:rPr lang="en-US" sz="1200" b="0" i="1" dirty="0" smtClean="0">
                <a:solidFill>
                  <a:srgbClr val="FF0000"/>
                </a:solidFill>
              </a:rPr>
              <a:t> </a:t>
            </a:r>
            <a:r>
              <a:rPr lang="en-US" sz="1200" b="0" i="1" dirty="0" err="1" smtClean="0">
                <a:solidFill>
                  <a:srgbClr val="FF0000"/>
                </a:solidFill>
              </a:rPr>
              <a:t>độ</a:t>
            </a:r>
            <a:r>
              <a:rPr lang="en-US" sz="1200" b="0" i="1" dirty="0" smtClean="0">
                <a:solidFill>
                  <a:srgbClr val="FF0000"/>
                </a:solidFill>
              </a:rPr>
              <a:t> chi </a:t>
            </a:r>
            <a:r>
              <a:rPr lang="en-US" sz="1200" b="0" i="1" dirty="0" err="1" smtClean="0">
                <a:solidFill>
                  <a:srgbClr val="FF0000"/>
                </a:solidFill>
              </a:rPr>
              <a:t>tiết</a:t>
            </a:r>
            <a:r>
              <a:rPr lang="en-US" sz="1200" b="0" i="1" dirty="0" smtClean="0">
                <a:solidFill>
                  <a:srgbClr val="FF0000"/>
                </a:solidFill>
              </a:rPr>
              <a:t> slice </a:t>
            </a:r>
            <a:r>
              <a:rPr lang="en-US" sz="1200" b="0" i="1" dirty="0" err="1" smtClean="0">
                <a:solidFill>
                  <a:srgbClr val="FF0000"/>
                </a:solidFill>
              </a:rPr>
              <a:t>tiếp</a:t>
            </a:r>
            <a:r>
              <a:rPr lang="en-US" sz="1200" b="0" i="1" dirty="0" smtClean="0">
                <a:solidFill>
                  <a:srgbClr val="FF0000"/>
                </a:solidFill>
              </a:rPr>
              <a:t> </a:t>
            </a:r>
            <a:r>
              <a:rPr lang="en-US" sz="1200" b="0" i="1" dirty="0" err="1" smtClean="0">
                <a:solidFill>
                  <a:srgbClr val="FF0000"/>
                </a:solidFill>
              </a:rPr>
              <a:t>theo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TIẾN ĐỘ THỰC HIỆN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96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 smtClean="0"/>
              <a:t>BPTC NHÀ Ở XÃ HỘI YÊN SỞ</a:t>
            </a:r>
            <a:endParaRPr lang="en-US" sz="11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146" y="640933"/>
            <a:ext cx="9280830" cy="609367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TIẾN ĐỘ THỰC HIỆN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41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799" y="571104"/>
            <a:ext cx="9147468" cy="614742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TIẾN ĐỘ THỰC HIỆN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2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 smtClean="0"/>
              <a:t>BPTC NHÀ Ở XÃ HỘI YÊN SỞ</a:t>
            </a:r>
            <a:endParaRPr lang="en-US" sz="1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2" y="641247"/>
            <a:ext cx="9180784" cy="613851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TIẾN ĐỘ THỰC HIỆN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97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 smtClean="0"/>
              <a:t>BPTC NHÀ Ở XÃ HỘI YÊN SỞ</a:t>
            </a:r>
            <a:endParaRPr lang="en-US" sz="11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TIẾN ĐỘ THỰC HIỆN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679" y="906871"/>
            <a:ext cx="8369300" cy="212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6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0400"/>
            <a:ext cx="1065402" cy="368811"/>
          </a:xfrm>
        </p:spPr>
        <p:txBody>
          <a:bodyPr>
            <a:normAutofit fontScale="90000"/>
          </a:bodyPr>
          <a:lstStyle/>
          <a:p>
            <a:r>
              <a:rPr lang="en-US" sz="1200" dirty="0" smtClean="0"/>
              <a:t>BPTC NHÀ Ở XÃ HỘI YÊN SỞ</a:t>
            </a:r>
            <a:endParaRPr 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01" y="832846"/>
            <a:ext cx="11216655" cy="3655178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558212" y="1171562"/>
            <a:ext cx="578498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/>
              <a:t>N01</a:t>
            </a:r>
            <a:endParaRPr lang="en-US" sz="1800" b="1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002833" y="1171562"/>
            <a:ext cx="578498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/>
              <a:t>N01</a:t>
            </a:r>
            <a:endParaRPr lang="en-US" sz="1800" b="1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6158205" y="1171562"/>
            <a:ext cx="774440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/>
              <a:t>CT2-1</a:t>
            </a:r>
            <a:endParaRPr lang="en-US" sz="1800" b="1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042053" y="1171562"/>
            <a:ext cx="784709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/>
              <a:t>CT2-2</a:t>
            </a:r>
            <a:endParaRPr lang="en-US" sz="1800" b="1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9793538" y="1167467"/>
            <a:ext cx="778046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/>
              <a:t>CT2-3</a:t>
            </a:r>
            <a:endParaRPr lang="en-US" sz="1800" b="1" dirty="0"/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532701" y="4787472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CAO ĐỘ HIỆN TRẠNG XUNG QUANH DỰ ÁN: +4.7</a:t>
            </a:r>
            <a:endParaRPr lang="en-US" sz="1500" b="1" dirty="0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532701" y="5203518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CAO ĐỘ BÌNH QUÂN ĐÁY AO: +2.2 -:- +3.1</a:t>
            </a:r>
            <a:endParaRPr lang="en-US" sz="1500" b="1" dirty="0"/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532701" y="5619564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CAO ĐỘ ĐỀ XUẤT CỐT SAN NỀN: +3.1</a:t>
            </a:r>
            <a:endParaRPr lang="en-US" sz="1500" b="1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532701" y="6038077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KHỐI LƯỢNG VẬT LIỆU MƯỢN: 7.200 m3 </a:t>
            </a:r>
            <a:r>
              <a:rPr lang="en-US" sz="1500" b="1" dirty="0" err="1" smtClean="0"/>
              <a:t>chặt</a:t>
            </a:r>
            <a:endParaRPr lang="en-US" sz="1500" b="1" dirty="0"/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5347297" y="6038076"/>
            <a:ext cx="4272564" cy="2331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err="1" smtClean="0"/>
              <a:t>Kiến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nghị</a:t>
            </a:r>
            <a:r>
              <a:rPr lang="en-US" sz="1800" b="1" dirty="0" smtClean="0"/>
              <a:t>: </a:t>
            </a:r>
            <a:r>
              <a:rPr lang="en-US" sz="1800" b="1" dirty="0" err="1" smtClean="0"/>
              <a:t>Lựa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chọn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cốt</a:t>
            </a:r>
            <a:r>
              <a:rPr lang="en-US" sz="1800" b="1" dirty="0" smtClean="0"/>
              <a:t> san </a:t>
            </a:r>
            <a:r>
              <a:rPr lang="en-US" sz="1800" b="1" dirty="0" err="1" smtClean="0"/>
              <a:t>nền</a:t>
            </a:r>
            <a:r>
              <a:rPr lang="en-US" sz="1800" b="1" dirty="0" smtClean="0"/>
              <a:t>: +3.10 m</a:t>
            </a:r>
            <a:endParaRPr lang="en-US" sz="1800" b="1" dirty="0"/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6036906" y="2687216"/>
            <a:ext cx="513184" cy="1511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/>
          <p:cNvSpPr txBox="1">
            <a:spLocks/>
          </p:cNvSpPr>
          <p:nvPr/>
        </p:nvSpPr>
        <p:spPr>
          <a:xfrm>
            <a:off x="6545425" y="4161116"/>
            <a:ext cx="4272564" cy="6263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err="1" smtClean="0"/>
              <a:t>Phạm</a:t>
            </a:r>
            <a:r>
              <a:rPr lang="en-US" sz="1800" b="1" dirty="0" smtClean="0"/>
              <a:t> vi </a:t>
            </a:r>
            <a:r>
              <a:rPr lang="en-US" sz="1800" b="1" dirty="0" err="1" smtClean="0"/>
              <a:t>có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sẵn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vật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liệu</a:t>
            </a:r>
            <a:r>
              <a:rPr lang="en-US" sz="1800" b="1" dirty="0" smtClean="0"/>
              <a:t>, </a:t>
            </a:r>
            <a:r>
              <a:rPr lang="en-US" sz="1800" b="1" dirty="0" err="1" smtClean="0"/>
              <a:t>hạ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cốt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từ</a:t>
            </a:r>
            <a:r>
              <a:rPr lang="en-US" sz="1800" b="1" dirty="0" smtClean="0"/>
              <a:t> +4.9 </a:t>
            </a:r>
            <a:r>
              <a:rPr lang="en-US" sz="1800" b="1" dirty="0" err="1" smtClean="0"/>
              <a:t>đến</a:t>
            </a:r>
            <a:r>
              <a:rPr lang="en-US" sz="1800" b="1" dirty="0"/>
              <a:t> </a:t>
            </a:r>
            <a:r>
              <a:rPr lang="en-US" sz="1800" b="1" dirty="0" smtClean="0"/>
              <a:t>+3.1 </a:t>
            </a:r>
            <a:r>
              <a:rPr lang="en-US" sz="1800" b="1" dirty="0" err="1" smtClean="0"/>
              <a:t>để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lấy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vật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liệu</a:t>
            </a:r>
            <a:r>
              <a:rPr lang="en-US" sz="1800" b="1" dirty="0" smtClean="0"/>
              <a:t> san </a:t>
            </a:r>
            <a:r>
              <a:rPr lang="en-US" sz="1800" b="1" dirty="0" err="1" smtClean="0"/>
              <a:t>lấp</a:t>
            </a:r>
            <a:endParaRPr lang="en-US" sz="1800" b="1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HIỆN TRẠNG DỰ ÁN, PHƯƠNG ÁN SAN NỀN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31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028378" cy="368811"/>
          </a:xfrm>
        </p:spPr>
        <p:txBody>
          <a:bodyPr>
            <a:normAutofit fontScale="90000"/>
          </a:bodyPr>
          <a:lstStyle/>
          <a:p>
            <a:r>
              <a:rPr lang="en-US" sz="1200" dirty="0" smtClean="0"/>
              <a:t>BPTC NHÀ Ở XÃ HỘI YÊN SỞ</a:t>
            </a:r>
            <a:endParaRPr lang="en-US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650203"/>
            <a:ext cx="11877674" cy="346789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MẶT CẮT LỰA CHỌN CỐT CAO ĐỘ SAN NỀN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53357" y="3162299"/>
            <a:ext cx="1566268" cy="303985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+3.100: SAN NỀN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313796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0400"/>
            <a:ext cx="1065402" cy="368811"/>
          </a:xfrm>
        </p:spPr>
        <p:txBody>
          <a:bodyPr>
            <a:normAutofit fontScale="90000"/>
          </a:bodyPr>
          <a:lstStyle/>
          <a:p>
            <a:r>
              <a:rPr lang="en-US" sz="1200" dirty="0" smtClean="0"/>
              <a:t>BPTC NHÀ Ở XÃ HỘI YÊN SỞ</a:t>
            </a:r>
            <a:endParaRPr lang="en-US"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362" y="569093"/>
            <a:ext cx="8248533" cy="40678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968" y="4636973"/>
            <a:ext cx="5369018" cy="196406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171992" y="5016168"/>
            <a:ext cx="2770869" cy="836682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en-US" sz="1500" b="1" dirty="0" smtClean="0"/>
              <a:t>KHỐI LƯỢNG ĐÀO TẬN DỤNG LẤP: 7.630 M3</a:t>
            </a:r>
          </a:p>
          <a:p>
            <a:pPr marL="285750" indent="-285750" algn="l">
              <a:buFontTx/>
              <a:buChar char="-"/>
            </a:pPr>
            <a:r>
              <a:rPr lang="en-US" sz="1500" b="1" dirty="0" smtClean="0"/>
              <a:t>KHỐI LƯỢNG MUA : 7.184 M3</a:t>
            </a:r>
            <a:endParaRPr lang="en-US" sz="15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SAN NỀN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03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83" y="1413657"/>
            <a:ext cx="11822274" cy="4712824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MẶT BẰNG BỐ TRÍ CHUNG THI CÔNG MÓNG CỌC KHOAN NHỒI, KHUNG VÂY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99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2404554" y="590203"/>
            <a:ext cx="7667581" cy="42808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1: THI CÔNG VĂNG CHỐNG ĐÀO MỞ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2" y="1092008"/>
            <a:ext cx="11865392" cy="545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3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578015" y="708634"/>
            <a:ext cx="7667581" cy="42808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1: THI CÔNG VĂNG CHỐNG ĐÀO MỞ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15" y="1159742"/>
            <a:ext cx="5587135" cy="5198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544" y="1159742"/>
            <a:ext cx="5709866" cy="543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6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69" y="1354666"/>
            <a:ext cx="5612878" cy="51039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830" y="1354666"/>
            <a:ext cx="5607645" cy="510392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578015" y="708634"/>
            <a:ext cx="7667581" cy="42808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1: THI CÔNG VĂNG CHỐNG ĐÀO MỞ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8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415041" y="514348"/>
            <a:ext cx="7667581" cy="5787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2: THI CÔNG TOPDOWN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1" y="1093100"/>
            <a:ext cx="11946449" cy="499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1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16641" y="563646"/>
            <a:ext cx="7667581" cy="5787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2: THI CÔNG TOPDOWN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1158703"/>
            <a:ext cx="5702300" cy="53884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7300"/>
            <a:ext cx="5685322" cy="528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40441" y="568363"/>
            <a:ext cx="7667581" cy="5787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2: THI CÔNG TOPDOWN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93101"/>
            <a:ext cx="6102868" cy="56255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031" y="1201129"/>
            <a:ext cx="5784454" cy="54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6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844282"/>
              </p:ext>
            </p:extLst>
          </p:nvPr>
        </p:nvGraphicFramePr>
        <p:xfrm>
          <a:off x="469901" y="800100"/>
          <a:ext cx="11366498" cy="3740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401">
                  <a:extLst>
                    <a:ext uri="{9D8B030D-6E8A-4147-A177-3AD203B41FA5}">
                      <a16:colId xmlns:a16="http://schemas.microsoft.com/office/drawing/2014/main" val="4057056611"/>
                    </a:ext>
                  </a:extLst>
                </a:gridCol>
                <a:gridCol w="1684498">
                  <a:extLst>
                    <a:ext uri="{9D8B030D-6E8A-4147-A177-3AD203B41FA5}">
                      <a16:colId xmlns:a16="http://schemas.microsoft.com/office/drawing/2014/main" val="3595882705"/>
                    </a:ext>
                  </a:extLst>
                </a:gridCol>
                <a:gridCol w="4521200">
                  <a:extLst>
                    <a:ext uri="{9D8B030D-6E8A-4147-A177-3AD203B41FA5}">
                      <a16:colId xmlns:a16="http://schemas.microsoft.com/office/drawing/2014/main" val="2332764360"/>
                    </a:ext>
                  </a:extLst>
                </a:gridCol>
                <a:gridCol w="4343399">
                  <a:extLst>
                    <a:ext uri="{9D8B030D-6E8A-4147-A177-3AD203B41FA5}">
                      <a16:colId xmlns:a16="http://schemas.microsoft.com/office/drawing/2014/main" val="2611483721"/>
                    </a:ext>
                  </a:extLst>
                </a:gridCol>
              </a:tblGrid>
              <a:tr h="9060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TIÊU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CHÍ SO SÁNH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PA1: ĐÀO MỞ + VĂNG CHỐNG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PA2: SEMI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TOPDOWN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546453"/>
                  </a:ext>
                </a:extLst>
              </a:tr>
              <a:tr h="24086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KỸ THUẬT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b="1" u="sng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Ưu</a:t>
                      </a:r>
                      <a:r>
                        <a:rPr lang="en-US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u="sng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thế</a:t>
                      </a:r>
                      <a:r>
                        <a:rPr lang="en-US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vi-VN" baseline="0" dirty="0" smtClean="0">
                          <a:latin typeface="+mn-lt"/>
                          <a:cs typeface="Arial" panose="020B0604020202020204" pitchFamily="34" charset="0"/>
                        </a:rPr>
                        <a:t>Trình tự thi công đơn giản, linh hoạt</a:t>
                      </a:r>
                      <a:endParaRPr lang="en-US" baseline="0" dirty="0" smtClean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vi-VN" baseline="0" dirty="0" smtClean="0">
                          <a:latin typeface="+mn-lt"/>
                          <a:cs typeface="Arial" panose="020B0604020202020204" pitchFamily="34" charset="0"/>
                        </a:rPr>
                        <a:t>Không phụ thuộc vào tiến độ bê tông</a:t>
                      </a:r>
                      <a:endParaRPr lang="en-US" baseline="0" dirty="0" smtClean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b="1" u="sng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Hạn</a:t>
                      </a:r>
                      <a:r>
                        <a:rPr lang="en-US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u="sng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chế</a:t>
                      </a:r>
                      <a:r>
                        <a:rPr lang="en-US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285750" indent="-285750" algn="l" defTabSz="914400" rtl="0" eaLnBrk="1" latinLnBrk="0" hangingPunct="1">
                        <a:buFontTx/>
                        <a:buChar char="-"/>
                      </a:pPr>
                      <a:r>
                        <a:rPr lang="vi-VN" sz="1800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Hệ văng thép là kết cấu tạm, độ cứng hạn chế</a:t>
                      </a:r>
                      <a:endParaRPr lang="en-US" sz="1800" kern="1200" baseline="0" dirty="0" smtClean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Tx/>
                        <a:buChar char="-"/>
                      </a:pPr>
                      <a:r>
                        <a:rPr lang="vi-VN" sz="1800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Khó kiểm soát biến dạng trong nền đất sét rất yếu</a:t>
                      </a:r>
                      <a:endParaRPr lang="en-US" sz="1800" kern="1200" baseline="0" dirty="0" smtClean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b="1" u="sng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Ưu</a:t>
                      </a:r>
                      <a:r>
                        <a:rPr lang="en-US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u="sng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thế</a:t>
                      </a:r>
                      <a:r>
                        <a:rPr lang="en-US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cứng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chống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lớn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làm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việc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gian</a:t>
                      </a:r>
                      <a:endParaRPr lang="en-US" baseline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Giảm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rõ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rệt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chuyển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lún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đặc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biệt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trong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rất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yếu</a:t>
                      </a:r>
                      <a:endParaRPr lang="en-US" baseline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Dễ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dàng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kiểm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soát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dạng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trong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đất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nền</a:t>
                      </a:r>
                      <a:endParaRPr lang="en-US" baseline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b="1" u="sng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Hạn</a:t>
                      </a:r>
                      <a:r>
                        <a:rPr lang="en-US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u="sng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chế</a:t>
                      </a:r>
                      <a:r>
                        <a:rPr lang="en-US" b="1" u="sng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Tăng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chi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phí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cấu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bổ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sung (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cột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kingpost, tang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tiết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vách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cố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sàn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08092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41482" y="4892118"/>
            <a:ext cx="10807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arial"/>
              </a:rPr>
              <a:t>=&gt; </a:t>
            </a:r>
            <a:r>
              <a:rPr lang="en-US" dirty="0" err="1" smtClean="0">
                <a:latin typeface="Aarial"/>
              </a:rPr>
              <a:t>Phương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án</a:t>
            </a:r>
            <a:r>
              <a:rPr lang="en-US" dirty="0" smtClean="0">
                <a:latin typeface="Aarial"/>
              </a:rPr>
              <a:t> 2 an </a:t>
            </a:r>
            <a:r>
              <a:rPr lang="en-US" dirty="0" err="1" smtClean="0">
                <a:latin typeface="Aarial"/>
              </a:rPr>
              <a:t>toàn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và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kiểm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soát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rủi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ro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tốt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hơn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trong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nền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đất</a:t>
            </a:r>
            <a:r>
              <a:rPr lang="en-US" dirty="0" smtClean="0">
                <a:latin typeface="Aarial"/>
              </a:rPr>
              <a:t> </a:t>
            </a:r>
            <a:r>
              <a:rPr lang="en-US" dirty="0" err="1" smtClean="0">
                <a:latin typeface="Aarial"/>
              </a:rPr>
              <a:t>yếu</a:t>
            </a:r>
            <a:r>
              <a:rPr lang="en-US" dirty="0" smtClean="0">
                <a:latin typeface="Aarial"/>
              </a:rPr>
              <a:t>. </a:t>
            </a:r>
            <a:endParaRPr lang="en-US" dirty="0">
              <a:latin typeface="Aarial"/>
            </a:endParaRPr>
          </a:p>
        </p:txBody>
      </p:sp>
    </p:spTree>
    <p:extLst>
      <p:ext uri="{BB962C8B-B14F-4D97-AF65-F5344CB8AC3E}">
        <p14:creationId xmlns:p14="http://schemas.microsoft.com/office/powerpoint/2010/main" val="280706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823637"/>
              </p:ext>
            </p:extLst>
          </p:nvPr>
        </p:nvGraphicFramePr>
        <p:xfrm>
          <a:off x="598515" y="1305097"/>
          <a:ext cx="10848110" cy="4052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903">
                  <a:extLst>
                    <a:ext uri="{9D8B030D-6E8A-4147-A177-3AD203B41FA5}">
                      <a16:colId xmlns:a16="http://schemas.microsoft.com/office/drawing/2014/main" val="88894643"/>
                    </a:ext>
                  </a:extLst>
                </a:gridCol>
                <a:gridCol w="2759826">
                  <a:extLst>
                    <a:ext uri="{9D8B030D-6E8A-4147-A177-3AD203B41FA5}">
                      <a16:colId xmlns:a16="http://schemas.microsoft.com/office/drawing/2014/main" val="1920059436"/>
                    </a:ext>
                  </a:extLst>
                </a:gridCol>
                <a:gridCol w="3416531">
                  <a:extLst>
                    <a:ext uri="{9D8B030D-6E8A-4147-A177-3AD203B41FA5}">
                      <a16:colId xmlns:a16="http://schemas.microsoft.com/office/drawing/2014/main" val="247583146"/>
                    </a:ext>
                  </a:extLst>
                </a:gridCol>
                <a:gridCol w="3690850">
                  <a:extLst>
                    <a:ext uri="{9D8B030D-6E8A-4147-A177-3AD203B41FA5}">
                      <a16:colId xmlns:a16="http://schemas.microsoft.com/office/drawing/2014/main" val="40661165"/>
                    </a:ext>
                  </a:extLst>
                </a:gridCol>
              </a:tblGrid>
              <a:tr h="6863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STT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NỘI DUNG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PA1: ĐÀO MỞ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PA2: SEMI TOPDOWN+ ĐÀO MỞ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589877"/>
                  </a:ext>
                </a:extLst>
              </a:tr>
              <a:tr h="4694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HIROSE + </a:t>
                      </a:r>
                      <a:r>
                        <a:rPr lang="en-US" sz="1800" b="1" u="none" strike="noStrike" dirty="0" err="1">
                          <a:effectLst/>
                        </a:rPr>
                        <a:t>việt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hùng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đào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đất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HIROSE + </a:t>
                      </a:r>
                      <a:r>
                        <a:rPr lang="en-US" sz="1800" b="1" u="none" strike="noStrike" dirty="0" err="1">
                          <a:effectLst/>
                        </a:rPr>
                        <a:t>việt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hùng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đào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đất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044599"/>
                  </a:ext>
                </a:extLst>
              </a:tr>
              <a:tr h="6123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Cừ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larsen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5,960,240,000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5,960,240,000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161650"/>
                  </a:ext>
                </a:extLst>
              </a:tr>
              <a:tr h="5102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II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Hệ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văng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chống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14,975,021,640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7,597,911,152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67867"/>
                  </a:ext>
                </a:extLst>
              </a:tr>
              <a:tr h="5026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smtClean="0">
                          <a:effectLst/>
                        </a:rPr>
                        <a:t>III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Phần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kết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cấu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bổ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smtClean="0">
                          <a:effectLst/>
                        </a:rPr>
                        <a:t>sung </a:t>
                      </a:r>
                    </a:p>
                    <a:p>
                      <a:pPr algn="l" fontAlgn="ctr"/>
                      <a:r>
                        <a:rPr lang="en-US" sz="1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(</a:t>
                      </a:r>
                      <a:r>
                        <a:rPr lang="en-US" sz="18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tạm</a:t>
                      </a:r>
                      <a:r>
                        <a:rPr lang="en-US" sz="1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800" u="none" strike="noStrike" baseline="0" dirty="0" err="1" smtClean="0">
                          <a:solidFill>
                            <a:srgbClr val="FF0000"/>
                          </a:solidFill>
                          <a:effectLst/>
                        </a:rPr>
                        <a:t>tính</a:t>
                      </a:r>
                      <a:r>
                        <a:rPr lang="en-US" sz="1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chưa</a:t>
                      </a:r>
                      <a:r>
                        <a:rPr lang="en-US" sz="1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800" u="none" strike="noStrike" baseline="0" dirty="0" err="1" smtClean="0">
                          <a:solidFill>
                            <a:srgbClr val="FF0000"/>
                          </a:solidFill>
                          <a:effectLst/>
                        </a:rPr>
                        <a:t>kiểm</a:t>
                      </a:r>
                      <a:r>
                        <a:rPr lang="en-US" sz="1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800" u="none" strike="noStrike" baseline="0" dirty="0" err="1" smtClean="0">
                          <a:solidFill>
                            <a:srgbClr val="FF0000"/>
                          </a:solidFill>
                          <a:effectLst/>
                        </a:rPr>
                        <a:t>soát</a:t>
                      </a:r>
                      <a:r>
                        <a:rPr lang="en-US" sz="1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800" u="none" strike="noStrike" baseline="0" dirty="0" err="1" smtClean="0">
                          <a:solidFill>
                            <a:srgbClr val="FF0000"/>
                          </a:solidFill>
                          <a:effectLst/>
                        </a:rPr>
                        <a:t>hết</a:t>
                      </a:r>
                      <a:r>
                        <a:rPr lang="en-US" sz="18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1,481,125,436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013132"/>
                  </a:ext>
                </a:extLst>
              </a:tr>
              <a:tr h="5519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smtClean="0">
                          <a:effectLst/>
                        </a:rPr>
                        <a:t>IV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Phần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đào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đất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6,556,335,250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6,745,995,250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377740"/>
                  </a:ext>
                </a:extLst>
              </a:tr>
              <a:tr h="38951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TỔNG THÀNH TIỀN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u="none" strike="noStrike" dirty="0">
                          <a:effectLst/>
                        </a:rPr>
                        <a:t>27,491,596,890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u="none" strike="noStrike" dirty="0">
                          <a:effectLst/>
                        </a:rPr>
                        <a:t>21,785,271,838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215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28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PHƯƠNG ÁN THI CÔNG ĐÀO ĐẤT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089061"/>
              </p:ext>
            </p:extLst>
          </p:nvPr>
        </p:nvGraphicFramePr>
        <p:xfrm>
          <a:off x="469901" y="800101"/>
          <a:ext cx="1136649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401">
                  <a:extLst>
                    <a:ext uri="{9D8B030D-6E8A-4147-A177-3AD203B41FA5}">
                      <a16:colId xmlns:a16="http://schemas.microsoft.com/office/drawing/2014/main" val="4057056611"/>
                    </a:ext>
                  </a:extLst>
                </a:gridCol>
                <a:gridCol w="1684498">
                  <a:extLst>
                    <a:ext uri="{9D8B030D-6E8A-4147-A177-3AD203B41FA5}">
                      <a16:colId xmlns:a16="http://schemas.microsoft.com/office/drawing/2014/main" val="3595882705"/>
                    </a:ext>
                  </a:extLst>
                </a:gridCol>
                <a:gridCol w="4521200">
                  <a:extLst>
                    <a:ext uri="{9D8B030D-6E8A-4147-A177-3AD203B41FA5}">
                      <a16:colId xmlns:a16="http://schemas.microsoft.com/office/drawing/2014/main" val="2332764360"/>
                    </a:ext>
                  </a:extLst>
                </a:gridCol>
                <a:gridCol w="4343399">
                  <a:extLst>
                    <a:ext uri="{9D8B030D-6E8A-4147-A177-3AD203B41FA5}">
                      <a16:colId xmlns:a16="http://schemas.microsoft.com/office/drawing/2014/main" val="2611483721"/>
                    </a:ext>
                  </a:extLst>
                </a:gridCol>
              </a:tblGrid>
              <a:tr h="5186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TIÊU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CHÍ SO SÁNH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PA1: ĐÀO MỞ + VĂNG CHỐNG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PA2: TOPDOWN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546453"/>
                  </a:ext>
                </a:extLst>
              </a:tr>
              <a:tr h="4991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TIẾN ĐỘ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kern="1200" baseline="0" dirty="0" err="1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Hoàn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kern="1200" baseline="0" dirty="0" err="1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thiện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kern="1200" baseline="0" dirty="0" err="1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đến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cos +0.00: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kern="1200" baseline="0" dirty="0" err="1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Hoàn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kern="1200" baseline="0" dirty="0" err="1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thiện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kern="1200" baseline="0" dirty="0" err="1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đến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cos +0.00: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baseline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080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03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sp>
        <p:nvSpPr>
          <p:cNvPr id="80" name="Title 1"/>
          <p:cNvSpPr txBox="1">
            <a:spLocks/>
          </p:cNvSpPr>
          <p:nvPr/>
        </p:nvSpPr>
        <p:spPr>
          <a:xfrm>
            <a:off x="3344437" y="39107"/>
            <a:ext cx="4952276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/>
              <a:t>THIẾT BỊ THI CÔNG CHO CÔNG TÁC THI CÔNG HẦM</a:t>
            </a:r>
            <a:endParaRPr lang="en-US" sz="1800" b="1" dirty="0"/>
          </a:p>
        </p:txBody>
      </p:sp>
      <p:sp>
        <p:nvSpPr>
          <p:cNvPr id="7" name="Rectangle 6"/>
          <p:cNvSpPr/>
          <p:nvPr/>
        </p:nvSpPr>
        <p:spPr>
          <a:xfrm>
            <a:off x="5383765" y="3767430"/>
            <a:ext cx="5176008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883" y="1475762"/>
            <a:ext cx="7609448" cy="4348256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THIẾT BỊ BỐ TRÍ THI CÔNG PHẦN HẦM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29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27" y="514349"/>
            <a:ext cx="10673973" cy="610723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MẶT BẰNG BỐ TRÍ THO CÔNG MÓNG, HẦM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9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311695" y="972796"/>
            <a:ext cx="82318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 LƯỢNG THIẾT BỊ CHO PHẦN HẦM: </a:t>
            </a:r>
          </a:p>
          <a:p>
            <a:pPr algn="ctr"/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Cẩu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12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55m	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móng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90m3/h, 70m	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hầm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90m3/h,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52m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hầm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Cẩu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xích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80T	: 01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/3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120m3/h;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đổ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cừ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Larsen,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THIẾT BỊ CHÍNH THI CÔNG KẾT CẤU HẠNG MỤC MÓNG, HẦM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48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76" y="686849"/>
            <a:ext cx="9330612" cy="617115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MẶT BẰNG BỐ TRÍ CHUNG THI CÔNG PHẦN THÂN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72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995811" y="753892"/>
            <a:ext cx="90156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 LƯỢNG THIẾT BỊ CHO PHẦN THÂN: </a:t>
            </a:r>
          </a:p>
          <a:p>
            <a:pPr algn="ctr"/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Cẩu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12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55m		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móng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90m3/h, 70m		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90m3/h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T7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Mái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4.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tĩnh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90m3/h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(min)150m 	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T7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lồng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: 01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/1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lật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T6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T6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8.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0.3m3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T6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THIẾT BỊ CHÍNH THI CÔNG KẾT CẤU HẠNG MỤC PHẦN THÂN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25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79" y="786271"/>
            <a:ext cx="11781190" cy="535447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MẶT CẮT BỐ TRÍ THI CÔNG PHẦN NGẦM, PHẦN THÂN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70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13" y="709870"/>
            <a:ext cx="6510138" cy="59033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895" y="2799184"/>
            <a:ext cx="4337189" cy="37381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51053" y="2642532"/>
            <a:ext cx="1426129" cy="5956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MẶT CẮT BỐ TRÍ CHUNG THIẾT BỊ THI CÔNG PHẦN NGẦM, PHẦN THÂN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69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 smtClean="0"/>
              <a:t>BPTC NHÀ Ở XÃ HỘI YÊN SỞ</a:t>
            </a:r>
            <a:endParaRPr lang="en-US" sz="1200" b="1" dirty="0"/>
          </a:p>
        </p:txBody>
      </p:sp>
      <p:sp>
        <p:nvSpPr>
          <p:cNvPr id="109" name="Title 1"/>
          <p:cNvSpPr txBox="1">
            <a:spLocks/>
          </p:cNvSpPr>
          <p:nvPr/>
        </p:nvSpPr>
        <p:spPr>
          <a:xfrm>
            <a:off x="292429" y="5699348"/>
            <a:ext cx="6225817" cy="30290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/>
              <a:t>  - </a:t>
            </a:r>
            <a:r>
              <a:rPr lang="en-US" sz="1800" b="1" dirty="0" err="1" smtClean="0"/>
              <a:t>Giáo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bao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che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được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lắp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từ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tầng</a:t>
            </a:r>
            <a:r>
              <a:rPr lang="en-US" sz="1800" b="1" dirty="0" smtClean="0"/>
              <a:t> 1 </a:t>
            </a:r>
            <a:r>
              <a:rPr lang="en-US" sz="1800" b="1" dirty="0" err="1" smtClean="0"/>
              <a:t>trở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lên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cho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công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tác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thi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công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kết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cấu</a:t>
            </a:r>
            <a:endParaRPr lang="en-US" sz="1800" b="1" dirty="0"/>
          </a:p>
        </p:txBody>
      </p:sp>
      <p:sp>
        <p:nvSpPr>
          <p:cNvPr id="110" name="Title 1"/>
          <p:cNvSpPr txBox="1">
            <a:spLocks/>
          </p:cNvSpPr>
          <p:nvPr/>
        </p:nvSpPr>
        <p:spPr>
          <a:xfrm>
            <a:off x="292429" y="6094166"/>
            <a:ext cx="7073105" cy="3066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/>
              <a:t>  - </a:t>
            </a:r>
            <a:r>
              <a:rPr lang="en-US" sz="1800" b="1" dirty="0" err="1" smtClean="0"/>
              <a:t>Giáo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bao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che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cho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công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tác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hoàn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thiện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mặt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ngoài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được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lắp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dựng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theo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mỗi</a:t>
            </a:r>
            <a:r>
              <a:rPr lang="en-US" sz="1800" b="1" dirty="0" smtClean="0"/>
              <a:t> 7 </a:t>
            </a:r>
            <a:r>
              <a:rPr lang="en-US" sz="1800" b="1" dirty="0" err="1" smtClean="0"/>
              <a:t>tầng</a:t>
            </a:r>
            <a:endParaRPr lang="en-US" sz="1800" b="1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55804" y="5338487"/>
            <a:ext cx="7009729" cy="30290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smtClean="0"/>
              <a:t>- Giáo bao che được lắp dựng kín chu vi mỗi tòa nhà, trừ phạm vi cẩu tháp và vận thăng</a:t>
            </a:r>
            <a:endParaRPr lang="en-US" sz="1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815666"/>
            <a:ext cx="9412762" cy="458236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9174" y="514349"/>
            <a:ext cx="1300294" cy="3832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BỐ TRÍ CHUNG GIÁO BAO CHE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11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3619</TotalTime>
  <Words>2630</Words>
  <Application>Microsoft Office PowerPoint</Application>
  <PresentationFormat>Widescreen</PresentationFormat>
  <Paragraphs>698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Aarial</vt:lpstr>
      <vt:lpstr>Arial</vt:lpstr>
      <vt:lpstr>Calibri</vt:lpstr>
      <vt:lpstr>Calibri Light</vt:lpstr>
      <vt:lpstr>Times New Roman</vt:lpstr>
      <vt:lpstr>Wingdings</vt:lpstr>
      <vt:lpstr>Office Theme</vt:lpstr>
      <vt:lpstr>BPTC NHÀ Ở XÃ HỘI YÊN SỞ</vt:lpstr>
      <vt:lpstr>BPTC NHÀ Ở XÃ HỘI YÊN SỞ</vt:lpstr>
      <vt:lpstr>PowerPoint Presentation</vt:lpstr>
      <vt:lpstr>BPTC NHÀ Ở XÃ HỘI YÊN SỞ</vt:lpstr>
      <vt:lpstr>BPTC NHÀ Ở XÃ HỘI YÊN SỞ</vt:lpstr>
      <vt:lpstr>PowerPoint Presentation</vt:lpstr>
      <vt:lpstr>BPTC NHÀ Ở XÃ HỘI YÊN SỞ</vt:lpstr>
      <vt:lpstr>PowerPoint Presentation</vt:lpstr>
      <vt:lpstr>BPTC NHÀ Ở XÃ HỘI YÊN SỞ</vt:lpstr>
      <vt:lpstr>PowerPoint Presentation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PowerPoint Presentation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BPTC NHÀ Ở XÃ HỘI YÊN SỞ</dc:title>
  <dc:creator>APC</dc:creator>
  <cp:lastModifiedBy>admin</cp:lastModifiedBy>
  <cp:revision>130</cp:revision>
  <cp:lastPrinted>2025-12-31T06:49:43Z</cp:lastPrinted>
  <dcterms:created xsi:type="dcterms:W3CDTF">2025-10-31T08:11:32Z</dcterms:created>
  <dcterms:modified xsi:type="dcterms:W3CDTF">2026-01-26T07:20:05Z</dcterms:modified>
</cp:coreProperties>
</file>