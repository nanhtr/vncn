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35763" cy="98663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4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0.png"/><Relationship Id="rId7" Type="http://schemas.openxmlformats.org/officeDocument/2006/relationships/image" Target="../media/image47.png"/><Relationship Id="rId12"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55.png"/><Relationship Id="rId5" Type="http://schemas.openxmlformats.org/officeDocument/2006/relationships/image" Target="../media/image7.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20.png"/><Relationship Id="rId5" Type="http://schemas.openxmlformats.org/officeDocument/2006/relationships/image" Target="../media/image52.png"/><Relationship Id="rId10" Type="http://schemas.openxmlformats.org/officeDocument/2006/relationships/image" Target="../media/image61.png"/><Relationship Id="rId4" Type="http://schemas.openxmlformats.org/officeDocument/2006/relationships/image" Target="../media/image57.png"/><Relationship Id="rId9"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57.png"/><Relationship Id="rId9" Type="http://schemas.openxmlformats.org/officeDocument/2006/relationships/image" Target="../media/image67.png"/></Relationships>
</file>

<file path=ppt/slides/_rels/slide8.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7.png"/><Relationship Id="rId3" Type="http://schemas.openxmlformats.org/officeDocument/2006/relationships/image" Target="../media/image70.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5.png"/><Relationship Id="rId5" Type="http://schemas.openxmlformats.org/officeDocument/2006/relationships/image" Target="../media/image71.png"/><Relationship Id="rId10" Type="http://schemas.openxmlformats.org/officeDocument/2006/relationships/image" Target="../media/image74.png"/><Relationship Id="rId4" Type="http://schemas.openxmlformats.org/officeDocument/2006/relationships/image" Target="../media/image7.png"/><Relationship Id="rId9" Type="http://schemas.openxmlformats.org/officeDocument/2006/relationships/image" Target="../media/image64.png"/><Relationship Id="rId14" Type="http://schemas.openxmlformats.org/officeDocument/2006/relationships/image" Target="../media/image7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9.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7.png"/><Relationship Id="rId4" Type="http://schemas.openxmlformats.org/officeDocument/2006/relationships/image" Target="../media/image83.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77.png"/><Relationship Id="rId7" Type="http://schemas.openxmlformats.org/officeDocument/2006/relationships/image" Target="../media/image89.png"/><Relationship Id="rId12"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5.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20.png"/><Relationship Id="rId2" Type="http://schemas.openxmlformats.org/officeDocument/2006/relationships/notesSlide" Target="../notesSlides/notesSlide13.xml"/><Relationship Id="rId16"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107.png"/><Relationship Id="rId5" Type="http://schemas.openxmlformats.org/officeDocument/2006/relationships/image" Target="../media/image102.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88.png"/><Relationship Id="rId9" Type="http://schemas.openxmlformats.org/officeDocument/2006/relationships/image" Target="../media/image105.png"/><Relationship Id="rId1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14.png"/><Relationship Id="rId4" Type="http://schemas.openxmlformats.org/officeDocument/2006/relationships/image" Target="../media/image95.png"/></Relationships>
</file>

<file path=ppt/slides/_rels/slide1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20.png"/><Relationship Id="rId3" Type="http://schemas.openxmlformats.org/officeDocument/2006/relationships/image" Target="../media/image115.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95.png"/><Relationship Id="rId9"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pic>
        <p:nvPicPr>
          <p:cNvPr id="4" name="Image 0" descr="preencoded.png"/>
          <p:cNvPicPr>
            <a:picLocks noChangeAspect="1"/>
          </p:cNvPicPr>
          <p:nvPr/>
        </p:nvPicPr>
        <p:blipFill>
          <a:blip r:embed="rId3"/>
          <a:srcRect l="-200" r="-200"/>
          <a:stretch/>
        </p:blipFill>
        <p:spPr>
          <a:xfrm>
            <a:off x="0" y="0"/>
            <a:ext cx="12191695" cy="75895"/>
          </a:xfrm>
          <a:prstGeom prst="rect">
            <a:avLst/>
          </a:prstGeom>
        </p:spPr>
      </p:pic>
      <p:sp>
        <p:nvSpPr>
          <p:cNvPr id="5" name="Shape 2"/>
          <p:cNvSpPr/>
          <p:nvPr/>
        </p:nvSpPr>
        <p:spPr>
          <a:xfrm>
            <a:off x="10001707" y="-952805"/>
            <a:ext cx="3333902" cy="3333902"/>
          </a:xfrm>
          <a:prstGeom prst="ellipse">
            <a:avLst/>
          </a:prstGeom>
          <a:noFill/>
          <a:ln w="25400">
            <a:solidFill>
              <a:srgbClr val="F7A81B">
                <a:alpha val="15000"/>
              </a:srgbClr>
            </a:solidFill>
            <a:prstDash val="solid"/>
          </a:ln>
        </p:spPr>
        <p:txBody>
          <a:bodyPr/>
          <a:lstStyle/>
          <a:p>
            <a:endParaRPr lang="en-US"/>
          </a:p>
        </p:txBody>
      </p:sp>
      <p:sp>
        <p:nvSpPr>
          <p:cNvPr id="6" name="Shape 3"/>
          <p:cNvSpPr/>
          <p:nvPr/>
        </p:nvSpPr>
        <p:spPr>
          <a:xfrm>
            <a:off x="-952805" y="4762195"/>
            <a:ext cx="2381098" cy="2381098"/>
          </a:xfrm>
          <a:prstGeom prst="ellipse">
            <a:avLst/>
          </a:prstGeom>
          <a:noFill/>
          <a:ln w="25400">
            <a:solidFill>
              <a:srgbClr val="F7A81B">
                <a:alpha val="15000"/>
              </a:srgbClr>
            </a:solidFill>
            <a:prstDash val="solid"/>
          </a:ln>
        </p:spPr>
        <p:txBody>
          <a:bodyPr/>
          <a:lstStyle/>
          <a:p>
            <a:endParaRPr lang="en-US"/>
          </a:p>
        </p:txBody>
      </p:sp>
      <p:sp>
        <p:nvSpPr>
          <p:cNvPr id="7" name="Shape 4"/>
          <p:cNvSpPr/>
          <p:nvPr/>
        </p:nvSpPr>
        <p:spPr>
          <a:xfrm>
            <a:off x="2286000" y="3429000"/>
            <a:ext cx="7619695" cy="1143000"/>
          </a:xfrm>
          <a:prstGeom prst="roundRect">
            <a:avLst>
              <a:gd name="adj" fmla="val 16000"/>
            </a:avLst>
          </a:prstGeom>
          <a:solidFill>
            <a:srgbClr val="F7A81B">
              <a:alpha val="5000"/>
            </a:srgbClr>
          </a:solidFill>
          <a:ln w="12700">
            <a:solidFill>
              <a:srgbClr val="F7A81B"/>
            </a:solidFill>
            <a:prstDash val="solid"/>
          </a:ln>
        </p:spPr>
        <p:txBody>
          <a:bodyPr/>
          <a:lstStyle/>
          <a:p>
            <a:endParaRPr lang="en-US"/>
          </a:p>
        </p:txBody>
      </p:sp>
      <p:sp>
        <p:nvSpPr>
          <p:cNvPr id="8" name="Shape 5"/>
          <p:cNvSpPr/>
          <p:nvPr/>
        </p:nvSpPr>
        <p:spPr>
          <a:xfrm>
            <a:off x="1333195"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9" name="Shape 6"/>
          <p:cNvSpPr/>
          <p:nvPr/>
        </p:nvSpPr>
        <p:spPr>
          <a:xfrm>
            <a:off x="1333195"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0" name="Shape 7"/>
          <p:cNvSpPr/>
          <p:nvPr/>
        </p:nvSpPr>
        <p:spPr>
          <a:xfrm>
            <a:off x="4667098"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1" name="Shape 8"/>
          <p:cNvSpPr/>
          <p:nvPr/>
        </p:nvSpPr>
        <p:spPr>
          <a:xfrm>
            <a:off x="4667098"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2" name="Shape 9"/>
          <p:cNvSpPr/>
          <p:nvPr/>
        </p:nvSpPr>
        <p:spPr>
          <a:xfrm>
            <a:off x="8001000"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3" name="Shape 10"/>
          <p:cNvSpPr/>
          <p:nvPr/>
        </p:nvSpPr>
        <p:spPr>
          <a:xfrm>
            <a:off x="8001000"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4" name="Shape 11"/>
          <p:cNvSpPr/>
          <p:nvPr/>
        </p:nvSpPr>
        <p:spPr>
          <a:xfrm>
            <a:off x="5048402" y="6001207"/>
            <a:ext cx="2095805" cy="381305"/>
          </a:xfrm>
          <a:prstGeom prst="roundRect">
            <a:avLst>
              <a:gd name="adj" fmla="val 239808"/>
            </a:avLst>
          </a:prstGeom>
          <a:solidFill>
            <a:srgbClr val="F7A81B"/>
          </a:solidFill>
          <a:ln w="12700">
            <a:solidFill>
              <a:srgbClr val="FFFFFF">
                <a:alpha val="0"/>
              </a:srgbClr>
            </a:solidFill>
            <a:prstDash val="solid"/>
          </a:ln>
        </p:spPr>
        <p:txBody>
          <a:bodyPr/>
          <a:lstStyle/>
          <a:p>
            <a:endParaRPr lang="en-US"/>
          </a:p>
        </p:txBody>
      </p:sp>
      <p:pic>
        <p:nvPicPr>
          <p:cNvPr id="15" name="Image 1" descr="preencoded.png"/>
          <p:cNvPicPr>
            <a:picLocks noChangeAspect="1"/>
          </p:cNvPicPr>
          <p:nvPr/>
        </p:nvPicPr>
        <p:blipFill>
          <a:blip r:embed="rId4"/>
          <a:srcRect/>
          <a:stretch/>
        </p:blipFill>
        <p:spPr>
          <a:xfrm>
            <a:off x="4126523" y="274320"/>
            <a:ext cx="4489692" cy="772668"/>
          </a:xfrm>
          <a:prstGeom prst="rect">
            <a:avLst/>
          </a:prstGeom>
        </p:spPr>
      </p:pic>
      <p:sp>
        <p:nvSpPr>
          <p:cNvPr id="16" name="Text 12"/>
          <p:cNvSpPr txBox="1"/>
          <p:nvPr/>
        </p:nvSpPr>
        <p:spPr>
          <a:xfrm>
            <a:off x="857707" y="1429207"/>
            <a:ext cx="10478110" cy="1095451"/>
          </a:xfrm>
          <a:prstGeom prst="rect">
            <a:avLst/>
          </a:prstGeom>
          <a:noFill/>
          <a:ln/>
        </p:spPr>
        <p:txBody>
          <a:bodyPr wrap="square" lIns="0" tIns="0" rIns="0" bIns="0" rtlCol="0" anchor="ctr"/>
          <a:lstStyle/>
          <a:p>
            <a:pPr marL="0" indent="0" algn="ctr">
              <a:buNone/>
            </a:pPr>
            <a:r>
              <a:rPr lang="en-US" sz="3900" b="1" dirty="0">
                <a:solidFill>
                  <a:srgbClr val="808080"/>
                </a:solidFill>
                <a:latin typeface="Montserrat" pitchFamily="34" charset="0"/>
                <a:ea typeface="Montserrat" pitchFamily="34" charset="-122"/>
                <a:cs typeface="Montserrat" pitchFamily="34" charset="-120"/>
              </a:rPr>
              <a:t>BÁO CÁO DỰ ÁN NHÀ Ở XÃ HỘI</a:t>
            </a:r>
            <a:endParaRPr lang="en-US" sz="3900" dirty="0"/>
          </a:p>
          <a:p>
            <a:pPr marL="0" indent="0" algn="ctr">
              <a:buNone/>
            </a:pPr>
            <a:r>
              <a:rPr lang="en-US" sz="3900" b="1" dirty="0">
                <a:solidFill>
                  <a:srgbClr val="808080"/>
                </a:solidFill>
                <a:latin typeface="Montserrat" pitchFamily="34" charset="0"/>
                <a:ea typeface="Montserrat" pitchFamily="34" charset="-122"/>
                <a:cs typeface="Montserrat" pitchFamily="34" charset="-120"/>
              </a:rPr>
              <a:t>YÊN SỞ</a:t>
            </a:r>
            <a:endParaRPr lang="en-US" sz="3900" dirty="0"/>
          </a:p>
        </p:txBody>
      </p:sp>
      <p:sp>
        <p:nvSpPr>
          <p:cNvPr id="17" name="Text 13"/>
          <p:cNvSpPr txBox="1"/>
          <p:nvPr/>
        </p:nvSpPr>
        <p:spPr>
          <a:xfrm>
            <a:off x="857707" y="2708453"/>
            <a:ext cx="10478110" cy="362102"/>
          </a:xfrm>
          <a:prstGeom prst="rect">
            <a:avLst/>
          </a:prstGeom>
          <a:noFill/>
          <a:ln/>
        </p:spPr>
        <p:txBody>
          <a:bodyPr wrap="square" lIns="0" tIns="0" rIns="0" bIns="0" rtlCol="0" anchor="ctr"/>
          <a:lstStyle/>
          <a:p>
            <a:pPr marL="0" indent="0" algn="ctr">
              <a:buNone/>
            </a:pPr>
            <a:r>
              <a:rPr lang="en-US" sz="2100" dirty="0">
                <a:solidFill>
                  <a:srgbClr val="808080"/>
                </a:solidFill>
                <a:latin typeface="Open Sans" pitchFamily="34" charset="0"/>
                <a:ea typeface="Open Sans" pitchFamily="34" charset="-122"/>
                <a:cs typeface="Open Sans" pitchFamily="34" charset="-120"/>
              </a:rPr>
              <a:t>Kế hoạch Triển khai &amp; Khởi công ngày 25/05/2026</a:t>
            </a:r>
            <a:endParaRPr lang="en-US" sz="2100" dirty="0"/>
          </a:p>
        </p:txBody>
      </p:sp>
      <p:sp>
        <p:nvSpPr>
          <p:cNvPr id="18" name="Text 14"/>
          <p:cNvSpPr txBox="1"/>
          <p:nvPr/>
        </p:nvSpPr>
        <p:spPr>
          <a:xfrm>
            <a:off x="3834994" y="3666744"/>
            <a:ext cx="588050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Mục tiêu: Khởi công động thổ đúng tiến độ</a:t>
            </a:r>
            <a:endParaRPr lang="en-US" sz="1800" dirty="0"/>
          </a:p>
        </p:txBody>
      </p:sp>
      <p:sp>
        <p:nvSpPr>
          <p:cNvPr id="19" name="Text 15"/>
          <p:cNvSpPr txBox="1"/>
          <p:nvPr/>
        </p:nvSpPr>
        <p:spPr>
          <a:xfrm>
            <a:off x="2476195" y="4076395"/>
            <a:ext cx="7239305" cy="228600"/>
          </a:xfrm>
          <a:prstGeom prst="rect">
            <a:avLst/>
          </a:prstGeom>
          <a:noFill/>
          <a:ln/>
        </p:spPr>
        <p:txBody>
          <a:bodyPr wrap="square" lIns="0" tIns="0" rIns="0" bIns="0" rtlCol="0" anchor="ctr"/>
          <a:lstStyle/>
          <a:p>
            <a:pPr marL="0" indent="0" algn="ctr">
              <a:buNone/>
            </a:pPr>
            <a:r>
              <a:rPr lang="en-US" sz="1300" dirty="0">
                <a:solidFill>
                  <a:srgbClr val="808080"/>
                </a:solidFill>
                <a:latin typeface="Open Sans" pitchFamily="34" charset="0"/>
                <a:ea typeface="Open Sans" pitchFamily="34" charset="-122"/>
                <a:cs typeface="Open Sans" pitchFamily="34" charset="-120"/>
              </a:rPr>
              <a:t>Tổng diện tích: 148,800 m² | 1,022 căn hộ | 24 tháng thi công</a:t>
            </a:r>
            <a:endParaRPr lang="en-US" sz="1300" dirty="0"/>
          </a:p>
        </p:txBody>
      </p:sp>
      <p:pic>
        <p:nvPicPr>
          <p:cNvPr id="20" name="Image 2" descr="preencoded.png"/>
          <p:cNvPicPr>
            <a:picLocks noChangeAspect="1"/>
          </p:cNvPicPr>
          <p:nvPr/>
        </p:nvPicPr>
        <p:blipFill>
          <a:blip r:embed="rId5"/>
          <a:srcRect/>
          <a:stretch/>
        </p:blipFill>
        <p:spPr>
          <a:xfrm>
            <a:off x="3530498" y="3715207"/>
            <a:ext cx="228600" cy="228600"/>
          </a:xfrm>
          <a:prstGeom prst="rect">
            <a:avLst/>
          </a:prstGeom>
        </p:spPr>
      </p:pic>
      <p:sp>
        <p:nvSpPr>
          <p:cNvPr id="21" name="Text 16"/>
          <p:cNvSpPr txBox="1"/>
          <p:nvPr/>
        </p:nvSpPr>
        <p:spPr>
          <a:xfrm>
            <a:off x="157185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Tổng Chi phí</a:t>
            </a:r>
            <a:endParaRPr lang="en-US" sz="1000" dirty="0"/>
          </a:p>
        </p:txBody>
      </p:sp>
      <p:sp>
        <p:nvSpPr>
          <p:cNvPr id="22" name="Text 17"/>
          <p:cNvSpPr txBox="1"/>
          <p:nvPr/>
        </p:nvSpPr>
        <p:spPr>
          <a:xfrm>
            <a:off x="1571854"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1448 tỷ VNĐ</a:t>
            </a:r>
            <a:endParaRPr lang="en-US" sz="1800" dirty="0"/>
          </a:p>
        </p:txBody>
      </p:sp>
      <p:sp>
        <p:nvSpPr>
          <p:cNvPr id="23" name="Text 18"/>
          <p:cNvSpPr txBox="1"/>
          <p:nvPr/>
        </p:nvSpPr>
        <p:spPr>
          <a:xfrm>
            <a:off x="4905756"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Doanh thu dự kiến</a:t>
            </a:r>
            <a:endParaRPr lang="en-US" sz="1000" dirty="0"/>
          </a:p>
        </p:txBody>
      </p:sp>
      <p:sp>
        <p:nvSpPr>
          <p:cNvPr id="24" name="Text 19"/>
          <p:cNvSpPr txBox="1"/>
          <p:nvPr/>
        </p:nvSpPr>
        <p:spPr>
          <a:xfrm>
            <a:off x="4905756"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1565 tỷ VNĐ</a:t>
            </a:r>
            <a:endParaRPr lang="en-US" sz="1800" dirty="0"/>
          </a:p>
        </p:txBody>
      </p:sp>
      <p:sp>
        <p:nvSpPr>
          <p:cNvPr id="25" name="Text 20"/>
          <p:cNvSpPr txBox="1"/>
          <p:nvPr/>
        </p:nvSpPr>
        <p:spPr>
          <a:xfrm>
            <a:off x="823874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26" name="Text 21"/>
          <p:cNvSpPr txBox="1"/>
          <p:nvPr/>
        </p:nvSpPr>
        <p:spPr>
          <a:xfrm>
            <a:off x="8238744" y="5305349"/>
            <a:ext cx="283372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117 tỷ VNĐ </a:t>
            </a:r>
            <a:r>
              <a:rPr lang="en-US" sz="1200" b="1" dirty="0">
                <a:solidFill>
                  <a:srgbClr val="808080"/>
                </a:solidFill>
                <a:latin typeface="Open Sans" pitchFamily="34" charset="0"/>
                <a:ea typeface="Open Sans" pitchFamily="34" charset="-122"/>
                <a:cs typeface="Open Sans" pitchFamily="34" charset="-120"/>
              </a:rPr>
              <a:t>(7.5%)</a:t>
            </a:r>
            <a:endParaRPr lang="en-US" sz="1800" dirty="0"/>
          </a:p>
        </p:txBody>
      </p:sp>
      <p:sp>
        <p:nvSpPr>
          <p:cNvPr id="27" name="Text 22"/>
          <p:cNvSpPr txBox="1"/>
          <p:nvPr/>
        </p:nvSpPr>
        <p:spPr>
          <a:xfrm>
            <a:off x="5565953" y="6086246"/>
            <a:ext cx="1578254" cy="210312"/>
          </a:xfrm>
          <a:prstGeom prst="rect">
            <a:avLst/>
          </a:prstGeom>
          <a:noFill/>
          <a:ln/>
        </p:spPr>
        <p:txBody>
          <a:bodyPr wrap="square" lIns="0" tIns="0" rIns="0" bIns="0" rtlCol="0" anchor="ctr"/>
          <a:lstStyle/>
          <a:p>
            <a:pPr marL="0" indent="0" algn="l">
              <a:buNone/>
            </a:pPr>
            <a:r>
              <a:rPr lang="en-US" sz="1200" b="1" dirty="0" err="1">
                <a:solidFill>
                  <a:srgbClr val="FFFFFF"/>
                </a:solidFill>
                <a:latin typeface="Open Sans" pitchFamily="34" charset="0"/>
                <a:ea typeface="Open Sans" pitchFamily="34" charset="-122"/>
                <a:cs typeface="Open Sans" pitchFamily="34" charset="-120"/>
              </a:rPr>
              <a:t>Ngày</a:t>
            </a:r>
            <a:r>
              <a:rPr lang="en-US" sz="1200" b="1" dirty="0">
                <a:solidFill>
                  <a:srgbClr val="FFFFFF"/>
                </a:solidFill>
                <a:latin typeface="Open Sans" pitchFamily="34" charset="0"/>
                <a:ea typeface="Open Sans" pitchFamily="34" charset="-122"/>
                <a:cs typeface="Open Sans" pitchFamily="34" charset="-120"/>
              </a:rPr>
              <a:t> 08/05/2026</a:t>
            </a:r>
            <a:endParaRPr lang="en-US" sz="1200" dirty="0"/>
          </a:p>
        </p:txBody>
      </p:sp>
      <p:pic>
        <p:nvPicPr>
          <p:cNvPr id="28" name="Image 3" descr="preencoded.png"/>
          <p:cNvPicPr>
            <a:picLocks noChangeAspect="1"/>
          </p:cNvPicPr>
          <p:nvPr/>
        </p:nvPicPr>
        <p:blipFill>
          <a:blip r:embed="rId6"/>
          <a:srcRect t="-43" b="-43"/>
          <a:stretch/>
        </p:blipFill>
        <p:spPr>
          <a:xfrm>
            <a:off x="5374843" y="6115507"/>
            <a:ext cx="133502" cy="152705"/>
          </a:xfrm>
          <a:prstGeom prst="rect">
            <a:avLst/>
          </a:prstGeom>
        </p:spPr>
      </p:pic>
      <p:sp>
        <p:nvSpPr>
          <p:cNvPr id="29" name="Text 23"/>
          <p:cNvSpPr txBox="1"/>
          <p:nvPr/>
        </p:nvSpPr>
        <p:spPr>
          <a:xfrm>
            <a:off x="3238805" y="6524244"/>
            <a:ext cx="5715000" cy="181051"/>
          </a:xfrm>
          <a:prstGeom prst="rect">
            <a:avLst/>
          </a:prstGeom>
          <a:noFill/>
          <a:ln/>
        </p:spPr>
        <p:txBody>
          <a:bodyPr wrap="square" lIns="0" tIns="0" rIns="0" bIns="0" rtlCol="0" anchor="ctr"/>
          <a:lstStyle/>
          <a:p>
            <a:pPr marL="0" indent="0" algn="ctr">
              <a:buNone/>
            </a:pPr>
            <a:r>
              <a:rPr lang="en-US" sz="1000" b="1" kern="0" spc="113" dirty="0">
                <a:solidFill>
                  <a:srgbClr val="808080"/>
                </a:solidFill>
                <a:latin typeface="Open Sans" pitchFamily="34" charset="0"/>
                <a:ea typeface="Open Sans" pitchFamily="34" charset="-122"/>
                <a:cs typeface="Open Sans" pitchFamily="34" charset="-120"/>
              </a:rPr>
              <a:t>Ban Xây dựng Dân dụng | VNCN E&amp;C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761695"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7" name="Image 0" descr="preencoded.png"/>
          <p:cNvPicPr>
            <a:picLocks noChangeAspect="1"/>
          </p:cNvPicPr>
          <p:nvPr/>
        </p:nvPicPr>
        <p:blipFill>
          <a:blip r:embed="rId3"/>
          <a:srcRect l="-2083" r="-2083"/>
          <a:stretch/>
        </p:blipFill>
        <p:spPr>
          <a:xfrm>
            <a:off x="990295" y="2333549"/>
            <a:ext cx="4686300" cy="9144"/>
          </a:xfrm>
          <a:prstGeom prst="rect">
            <a:avLst/>
          </a:prstGeom>
        </p:spPr>
      </p:pic>
      <p:pic>
        <p:nvPicPr>
          <p:cNvPr id="8" name="Image 1" descr="preencoded.png"/>
          <p:cNvPicPr>
            <a:picLocks noChangeAspect="1"/>
          </p:cNvPicPr>
          <p:nvPr/>
        </p:nvPicPr>
        <p:blipFill>
          <a:blip r:embed="rId3"/>
          <a:srcRect l="-2083" r="-2083"/>
          <a:stretch/>
        </p:blipFill>
        <p:spPr>
          <a:xfrm>
            <a:off x="990295" y="3105302"/>
            <a:ext cx="4686300" cy="9144"/>
          </a:xfrm>
          <a:prstGeom prst="rect">
            <a:avLst/>
          </a:prstGeom>
        </p:spPr>
      </p:pic>
      <p:pic>
        <p:nvPicPr>
          <p:cNvPr id="9" name="Image 2" descr="preencoded.png"/>
          <p:cNvPicPr>
            <a:picLocks noChangeAspect="1"/>
          </p:cNvPicPr>
          <p:nvPr/>
        </p:nvPicPr>
        <p:blipFill>
          <a:blip r:embed="rId3"/>
          <a:srcRect l="-2083" r="-2083"/>
          <a:stretch/>
        </p:blipFill>
        <p:spPr>
          <a:xfrm>
            <a:off x="990295" y="3877056"/>
            <a:ext cx="4686300" cy="9144"/>
          </a:xfrm>
          <a:prstGeom prst="rect">
            <a:avLst/>
          </a:prstGeom>
        </p:spPr>
      </p:pic>
      <p:pic>
        <p:nvPicPr>
          <p:cNvPr id="10" name="Image 3" descr="preencoded.png"/>
          <p:cNvPicPr>
            <a:picLocks noChangeAspect="1"/>
          </p:cNvPicPr>
          <p:nvPr/>
        </p:nvPicPr>
        <p:blipFill>
          <a:blip r:embed="rId3"/>
          <a:srcRect l="-2083" r="-2083"/>
          <a:stretch/>
        </p:blipFill>
        <p:spPr>
          <a:xfrm>
            <a:off x="990295" y="4647895"/>
            <a:ext cx="4686300" cy="9144"/>
          </a:xfrm>
          <a:prstGeom prst="rect">
            <a:avLst/>
          </a:prstGeom>
        </p:spPr>
      </p:pic>
      <p:sp>
        <p:nvSpPr>
          <p:cNvPr id="11" name="Shape 5"/>
          <p:cNvSpPr/>
          <p:nvPr/>
        </p:nvSpPr>
        <p:spPr>
          <a:xfrm>
            <a:off x="6286500"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12" name="Image 4" descr="preencoded.png"/>
          <p:cNvPicPr>
            <a:picLocks noChangeAspect="1"/>
          </p:cNvPicPr>
          <p:nvPr/>
        </p:nvPicPr>
        <p:blipFill>
          <a:blip r:embed="rId3"/>
          <a:srcRect l="-2083" r="-2083"/>
          <a:stretch/>
        </p:blipFill>
        <p:spPr>
          <a:xfrm>
            <a:off x="6515100" y="2333549"/>
            <a:ext cx="4686300" cy="9144"/>
          </a:xfrm>
          <a:prstGeom prst="rect">
            <a:avLst/>
          </a:prstGeom>
        </p:spPr>
      </p:pic>
      <p:pic>
        <p:nvPicPr>
          <p:cNvPr id="13" name="Image 5" descr="preencoded.png"/>
          <p:cNvPicPr>
            <a:picLocks noChangeAspect="1"/>
          </p:cNvPicPr>
          <p:nvPr/>
        </p:nvPicPr>
        <p:blipFill>
          <a:blip r:embed="rId3"/>
          <a:srcRect l="-2083" r="-2083"/>
          <a:stretch/>
        </p:blipFill>
        <p:spPr>
          <a:xfrm>
            <a:off x="6515100" y="3105302"/>
            <a:ext cx="4686300" cy="9144"/>
          </a:xfrm>
          <a:prstGeom prst="rect">
            <a:avLst/>
          </a:prstGeom>
        </p:spPr>
      </p:pic>
      <p:pic>
        <p:nvPicPr>
          <p:cNvPr id="14" name="Image 6" descr="preencoded.png"/>
          <p:cNvPicPr>
            <a:picLocks noChangeAspect="1"/>
          </p:cNvPicPr>
          <p:nvPr/>
        </p:nvPicPr>
        <p:blipFill>
          <a:blip r:embed="rId3"/>
          <a:srcRect l="-2083" r="-2083"/>
          <a:stretch/>
        </p:blipFill>
        <p:spPr>
          <a:xfrm>
            <a:off x="6515100" y="3877056"/>
            <a:ext cx="4686300" cy="9144"/>
          </a:xfrm>
          <a:prstGeom prst="rect">
            <a:avLst/>
          </a:prstGeom>
        </p:spPr>
      </p:pic>
      <p:pic>
        <p:nvPicPr>
          <p:cNvPr id="15" name="Image 7" descr="preencoded.png"/>
          <p:cNvPicPr>
            <a:picLocks noChangeAspect="1"/>
          </p:cNvPicPr>
          <p:nvPr/>
        </p:nvPicPr>
        <p:blipFill>
          <a:blip r:embed="rId3"/>
          <a:srcRect l="-2083" r="-2083"/>
          <a:stretch/>
        </p:blipFill>
        <p:spPr>
          <a:xfrm>
            <a:off x="6515100" y="4647895"/>
            <a:ext cx="4686300" cy="9144"/>
          </a:xfrm>
          <a:prstGeom prst="rect">
            <a:avLst/>
          </a:prstGeom>
        </p:spPr>
      </p:pic>
      <p:sp>
        <p:nvSpPr>
          <p:cNvPr id="16" name="Shape 6"/>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7" name="Image 8" descr="preencoded.png"/>
          <p:cNvPicPr>
            <a:picLocks noChangeAspect="1"/>
          </p:cNvPicPr>
          <p:nvPr/>
        </p:nvPicPr>
        <p:blipFill>
          <a:blip r:embed="rId4"/>
          <a:srcRect l="-1282" r="-1282"/>
          <a:stretch/>
        </p:blipFill>
        <p:spPr>
          <a:xfrm>
            <a:off x="843077" y="286207"/>
            <a:ext cx="219456" cy="190195"/>
          </a:xfrm>
          <a:prstGeom prst="rect">
            <a:avLst/>
          </a:prstGeom>
        </p:spPr>
      </p:pic>
      <p:sp>
        <p:nvSpPr>
          <p:cNvPr id="18" name="Text 7"/>
          <p:cNvSpPr txBox="1"/>
          <p:nvPr/>
        </p:nvSpPr>
        <p:spPr>
          <a:xfrm>
            <a:off x="1285646" y="237744"/>
            <a:ext cx="3810305"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MỤC LỤC BÁO CÁO</a:t>
            </a:r>
            <a:endParaRPr lang="en-US" sz="1800" dirty="0"/>
          </a:p>
        </p:txBody>
      </p:sp>
      <p:sp>
        <p:nvSpPr>
          <p:cNvPr id="19" name="Text 8"/>
          <p:cNvSpPr txBox="1"/>
          <p:nvPr/>
        </p:nvSpPr>
        <p:spPr>
          <a:xfrm>
            <a:off x="10354666" y="286207"/>
            <a:ext cx="1316736" cy="181051"/>
          </a:xfrm>
          <a:prstGeom prst="rect">
            <a:avLst/>
          </a:prstGeom>
          <a:noFill/>
          <a:ln/>
        </p:spPr>
        <p:txBody>
          <a:bodyPr wrap="square" lIns="0" tIns="0" rIns="0" bIns="0" rtlCol="0" anchor="ctr"/>
          <a:lstStyle/>
          <a:p>
            <a:pPr marL="0" indent="0" algn="l">
              <a:buNone/>
            </a:pPr>
            <a:r>
              <a:rPr lang="en-US" sz="1000" b="1" dirty="0" err="1">
                <a:solidFill>
                  <a:srgbClr val="808080"/>
                </a:solidFill>
                <a:latin typeface="Open Sans" pitchFamily="34" charset="0"/>
                <a:ea typeface="Open Sans" pitchFamily="34" charset="-122"/>
                <a:cs typeface="Open Sans" pitchFamily="34" charset="-120"/>
              </a:rPr>
              <a:t>Ngày</a:t>
            </a:r>
            <a:r>
              <a:rPr lang="en-US" sz="1000" b="1"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0" name="Image 9" descr="preencoded.png"/>
          <p:cNvPicPr>
            <a:picLocks noChangeAspect="1"/>
          </p:cNvPicPr>
          <p:nvPr/>
        </p:nvPicPr>
        <p:blipFill>
          <a:blip r:embed="rId5"/>
          <a:srcRect t="-1100" b="-1100"/>
          <a:stretch/>
        </p:blipFill>
        <p:spPr>
          <a:xfrm>
            <a:off x="10163556" y="311810"/>
            <a:ext cx="114300" cy="133502"/>
          </a:xfrm>
          <a:prstGeom prst="rect">
            <a:avLst/>
          </a:prstGeom>
        </p:spPr>
      </p:pic>
      <p:sp>
        <p:nvSpPr>
          <p:cNvPr id="21" name="Text 9"/>
          <p:cNvSpPr txBox="1"/>
          <p:nvPr/>
        </p:nvSpPr>
        <p:spPr>
          <a:xfrm>
            <a:off x="1276502" y="1276502"/>
            <a:ext cx="4400093"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1: Tổng quan &amp; Điều kiện</a:t>
            </a:r>
            <a:endParaRPr lang="en-US" sz="1500" dirty="0"/>
          </a:p>
        </p:txBody>
      </p:sp>
      <p:pic>
        <p:nvPicPr>
          <p:cNvPr id="22" name="Image 10" descr="preencoded.png"/>
          <p:cNvPicPr>
            <a:picLocks noChangeAspect="1"/>
          </p:cNvPicPr>
          <p:nvPr/>
        </p:nvPicPr>
        <p:blipFill>
          <a:blip r:embed="rId6"/>
          <a:srcRect/>
          <a:stretch/>
        </p:blipFill>
        <p:spPr>
          <a:xfrm>
            <a:off x="990295" y="1295705"/>
            <a:ext cx="190195" cy="190195"/>
          </a:xfrm>
          <a:prstGeom prst="rect">
            <a:avLst/>
          </a:prstGeom>
        </p:spPr>
      </p:pic>
      <p:sp>
        <p:nvSpPr>
          <p:cNvPr id="23" name="Shape 10"/>
          <p:cNvSpPr/>
          <p:nvPr/>
        </p:nvSpPr>
        <p:spPr>
          <a:xfrm>
            <a:off x="990295"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24" name="Text 11"/>
          <p:cNvSpPr/>
          <p:nvPr/>
        </p:nvSpPr>
        <p:spPr>
          <a:xfrm>
            <a:off x="990295"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a:t>
            </a:r>
            <a:endParaRPr lang="en-US" sz="1000" dirty="0"/>
          </a:p>
        </p:txBody>
      </p:sp>
      <p:sp>
        <p:nvSpPr>
          <p:cNvPr id="25" name="Text 12"/>
          <p:cNvSpPr txBox="1"/>
          <p:nvPr/>
        </p:nvSpPr>
        <p:spPr>
          <a:xfrm>
            <a:off x="1438351"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Tổng quan dự án</a:t>
            </a:r>
            <a:endParaRPr lang="en-US" sz="1200" dirty="0"/>
          </a:p>
        </p:txBody>
      </p:sp>
      <p:sp>
        <p:nvSpPr>
          <p:cNvPr id="26" name="Text 13"/>
          <p:cNvSpPr txBox="1"/>
          <p:nvPr/>
        </p:nvSpPr>
        <p:spPr>
          <a:xfrm>
            <a:off x="1438351"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 mô, vị trí, các tòa nhà CT1, CT2-1,2,3, N01</a:t>
            </a:r>
            <a:endParaRPr lang="en-US" sz="900" dirty="0"/>
          </a:p>
        </p:txBody>
      </p:sp>
      <p:sp>
        <p:nvSpPr>
          <p:cNvPr id="27" name="Shape 14"/>
          <p:cNvSpPr/>
          <p:nvPr/>
        </p:nvSpPr>
        <p:spPr>
          <a:xfrm>
            <a:off x="5391302"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28" name="Image 11" descr="preencoded.png"/>
          <p:cNvPicPr>
            <a:picLocks noChangeAspect="1"/>
          </p:cNvPicPr>
          <p:nvPr/>
        </p:nvPicPr>
        <p:blipFill>
          <a:blip r:embed="rId7"/>
          <a:srcRect l="-1358" r="-1358"/>
          <a:stretch/>
        </p:blipFill>
        <p:spPr>
          <a:xfrm>
            <a:off x="5477256" y="1852574"/>
            <a:ext cx="95098" cy="123444"/>
          </a:xfrm>
          <a:prstGeom prst="rect">
            <a:avLst/>
          </a:prstGeom>
        </p:spPr>
      </p:pic>
      <p:sp>
        <p:nvSpPr>
          <p:cNvPr id="29" name="Shape 15"/>
          <p:cNvSpPr/>
          <p:nvPr/>
        </p:nvSpPr>
        <p:spPr>
          <a:xfrm>
            <a:off x="990295"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0" name="Text 16"/>
          <p:cNvSpPr/>
          <p:nvPr/>
        </p:nvSpPr>
        <p:spPr>
          <a:xfrm>
            <a:off x="990295"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2</a:t>
            </a:r>
            <a:endParaRPr lang="en-US" sz="1000" dirty="0"/>
          </a:p>
        </p:txBody>
      </p:sp>
      <p:sp>
        <p:nvSpPr>
          <p:cNvPr id="31" name="Text 17"/>
          <p:cNvSpPr txBox="1"/>
          <p:nvPr/>
        </p:nvSpPr>
        <p:spPr>
          <a:xfrm>
            <a:off x="1438351"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Điều kiện khởi công 25/5/2026</a:t>
            </a:r>
            <a:endParaRPr lang="en-US" sz="1200" dirty="0"/>
          </a:p>
        </p:txBody>
      </p:sp>
      <p:sp>
        <p:nvSpPr>
          <p:cNvPr id="32" name="Text 18"/>
          <p:cNvSpPr txBox="1"/>
          <p:nvPr/>
        </p:nvSpPr>
        <p:spPr>
          <a:xfrm>
            <a:off x="1438351"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việc cần làm ngay, vấn đề cần giải quyết</a:t>
            </a:r>
            <a:endParaRPr lang="en-US" sz="900" dirty="0"/>
          </a:p>
        </p:txBody>
      </p:sp>
      <p:sp>
        <p:nvSpPr>
          <p:cNvPr id="33" name="Shape 19"/>
          <p:cNvSpPr/>
          <p:nvPr/>
        </p:nvSpPr>
        <p:spPr>
          <a:xfrm>
            <a:off x="5391302"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12" descr="preencoded.png"/>
          <p:cNvPicPr>
            <a:picLocks noChangeAspect="1"/>
          </p:cNvPicPr>
          <p:nvPr/>
        </p:nvPicPr>
        <p:blipFill>
          <a:blip r:embed="rId8"/>
          <a:srcRect/>
          <a:stretch/>
        </p:blipFill>
        <p:spPr>
          <a:xfrm>
            <a:off x="5462626" y="2624328"/>
            <a:ext cx="123444" cy="123444"/>
          </a:xfrm>
          <a:prstGeom prst="rect">
            <a:avLst/>
          </a:prstGeom>
        </p:spPr>
      </p:pic>
      <p:sp>
        <p:nvSpPr>
          <p:cNvPr id="35" name="Shape 20"/>
          <p:cNvSpPr/>
          <p:nvPr/>
        </p:nvSpPr>
        <p:spPr>
          <a:xfrm>
            <a:off x="990295"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6" name="Text 21"/>
          <p:cNvSpPr/>
          <p:nvPr/>
        </p:nvSpPr>
        <p:spPr>
          <a:xfrm>
            <a:off x="990295"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3</a:t>
            </a:r>
            <a:endParaRPr lang="en-US" sz="1000" dirty="0"/>
          </a:p>
        </p:txBody>
      </p:sp>
      <p:sp>
        <p:nvSpPr>
          <p:cNvPr id="37" name="Text 22"/>
          <p:cNvSpPr txBox="1"/>
          <p:nvPr/>
        </p:nvSpPr>
        <p:spPr>
          <a:xfrm>
            <a:off x="1438351"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tài chính</a:t>
            </a:r>
            <a:endParaRPr lang="en-US" sz="1200" dirty="0"/>
          </a:p>
        </p:txBody>
      </p:sp>
      <p:sp>
        <p:nvSpPr>
          <p:cNvPr id="38" name="Text 23"/>
          <p:cNvSpPr txBox="1"/>
          <p:nvPr/>
        </p:nvSpPr>
        <p:spPr>
          <a:xfrm>
            <a:off x="1438351"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Chi phí 472.08 tỷ, doanh thu 519.21 tỷ</a:t>
            </a:r>
            <a:endParaRPr lang="en-US" sz="900" dirty="0"/>
          </a:p>
        </p:txBody>
      </p:sp>
      <p:sp>
        <p:nvSpPr>
          <p:cNvPr id="39" name="Shape 24"/>
          <p:cNvSpPr/>
          <p:nvPr/>
        </p:nvSpPr>
        <p:spPr>
          <a:xfrm>
            <a:off x="5391302"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0" name="Image 13" descr="preencoded.png"/>
          <p:cNvPicPr>
            <a:picLocks noChangeAspect="1"/>
          </p:cNvPicPr>
          <p:nvPr/>
        </p:nvPicPr>
        <p:blipFill>
          <a:blip r:embed="rId9"/>
          <a:srcRect/>
          <a:stretch/>
        </p:blipFill>
        <p:spPr>
          <a:xfrm>
            <a:off x="5462626" y="3396082"/>
            <a:ext cx="123444" cy="123444"/>
          </a:xfrm>
          <a:prstGeom prst="rect">
            <a:avLst/>
          </a:prstGeom>
        </p:spPr>
      </p:pic>
      <p:sp>
        <p:nvSpPr>
          <p:cNvPr id="41" name="Shape 25"/>
          <p:cNvSpPr/>
          <p:nvPr/>
        </p:nvSpPr>
        <p:spPr>
          <a:xfrm>
            <a:off x="990295"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2" name="Text 26"/>
          <p:cNvSpPr/>
          <p:nvPr/>
        </p:nvSpPr>
        <p:spPr>
          <a:xfrm>
            <a:off x="990295"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4</a:t>
            </a:r>
            <a:endParaRPr lang="en-US" sz="1000" dirty="0"/>
          </a:p>
        </p:txBody>
      </p:sp>
      <p:sp>
        <p:nvSpPr>
          <p:cNvPr id="43" name="Text 27"/>
          <p:cNvSpPr txBox="1"/>
          <p:nvPr/>
        </p:nvSpPr>
        <p:spPr>
          <a:xfrm>
            <a:off x="1438351"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So sánh BPTC PA1 vs PA2</a:t>
            </a:r>
            <a:endParaRPr lang="en-US" sz="1200" dirty="0"/>
          </a:p>
        </p:txBody>
      </p:sp>
      <p:sp>
        <p:nvSpPr>
          <p:cNvPr id="44" name="Text 28"/>
          <p:cNvSpPr txBox="1"/>
          <p:nvPr/>
        </p:nvSpPr>
        <p:spPr>
          <a:xfrm>
            <a:off x="1438351"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PA1 đào mở tiết kiệm 1.84 tỷ</a:t>
            </a:r>
            <a:endParaRPr lang="en-US" sz="900" dirty="0"/>
          </a:p>
        </p:txBody>
      </p:sp>
      <p:sp>
        <p:nvSpPr>
          <p:cNvPr id="45" name="Shape 29"/>
          <p:cNvSpPr/>
          <p:nvPr/>
        </p:nvSpPr>
        <p:spPr>
          <a:xfrm>
            <a:off x="5391302"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6" name="Image 14" descr="preencoded.png"/>
          <p:cNvPicPr>
            <a:picLocks noChangeAspect="1"/>
          </p:cNvPicPr>
          <p:nvPr/>
        </p:nvPicPr>
        <p:blipFill>
          <a:blip r:embed="rId10"/>
          <a:srcRect t="-524" b="-524"/>
          <a:stretch/>
        </p:blipFill>
        <p:spPr>
          <a:xfrm>
            <a:off x="5447995" y="4166921"/>
            <a:ext cx="152705" cy="123444"/>
          </a:xfrm>
          <a:prstGeom prst="rect">
            <a:avLst/>
          </a:prstGeom>
        </p:spPr>
      </p:pic>
      <p:sp>
        <p:nvSpPr>
          <p:cNvPr id="47" name="Shape 30"/>
          <p:cNvSpPr/>
          <p:nvPr/>
        </p:nvSpPr>
        <p:spPr>
          <a:xfrm>
            <a:off x="990295"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8" name="Text 31"/>
          <p:cNvSpPr/>
          <p:nvPr/>
        </p:nvSpPr>
        <p:spPr>
          <a:xfrm>
            <a:off x="990295"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5</a:t>
            </a:r>
            <a:endParaRPr lang="en-US" sz="1000" dirty="0"/>
          </a:p>
        </p:txBody>
      </p:sp>
      <p:sp>
        <p:nvSpPr>
          <p:cNvPr id="49" name="Text 32"/>
          <p:cNvSpPr txBox="1"/>
          <p:nvPr/>
        </p:nvSpPr>
        <p:spPr>
          <a:xfrm>
            <a:off x="1438351"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Chiến lược phân gói thầu</a:t>
            </a:r>
            <a:endParaRPr lang="en-US" sz="1200" dirty="0"/>
          </a:p>
        </p:txBody>
      </p:sp>
      <p:sp>
        <p:nvSpPr>
          <p:cNvPr id="50" name="Text 33"/>
          <p:cNvSpPr txBox="1"/>
          <p:nvPr/>
        </p:nvSpPr>
        <p:spPr>
          <a:xfrm>
            <a:off x="1438351"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ECC 68.3%, thuê thầu phụ 31.7%</a:t>
            </a:r>
            <a:endParaRPr lang="en-US" sz="900" dirty="0"/>
          </a:p>
        </p:txBody>
      </p:sp>
      <p:sp>
        <p:nvSpPr>
          <p:cNvPr id="51" name="Shape 34"/>
          <p:cNvSpPr/>
          <p:nvPr/>
        </p:nvSpPr>
        <p:spPr>
          <a:xfrm>
            <a:off x="5391302"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52" name="Image 15" descr="preencoded.png"/>
          <p:cNvPicPr>
            <a:picLocks noChangeAspect="1"/>
          </p:cNvPicPr>
          <p:nvPr/>
        </p:nvPicPr>
        <p:blipFill>
          <a:blip r:embed="rId11"/>
          <a:srcRect/>
          <a:stretch/>
        </p:blipFill>
        <p:spPr>
          <a:xfrm>
            <a:off x="5462626" y="4938674"/>
            <a:ext cx="123444" cy="123444"/>
          </a:xfrm>
          <a:prstGeom prst="rect">
            <a:avLst/>
          </a:prstGeom>
        </p:spPr>
      </p:pic>
      <p:sp>
        <p:nvSpPr>
          <p:cNvPr id="53" name="Text 35"/>
          <p:cNvSpPr txBox="1"/>
          <p:nvPr/>
        </p:nvSpPr>
        <p:spPr>
          <a:xfrm>
            <a:off x="6848856" y="1276502"/>
            <a:ext cx="4352544"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2: Triển khai &amp; Kiến nghị</a:t>
            </a:r>
            <a:endParaRPr lang="en-US" sz="1500" dirty="0"/>
          </a:p>
        </p:txBody>
      </p:sp>
      <p:pic>
        <p:nvPicPr>
          <p:cNvPr id="54" name="Image 16" descr="preencoded.png"/>
          <p:cNvPicPr>
            <a:picLocks noChangeAspect="1"/>
          </p:cNvPicPr>
          <p:nvPr/>
        </p:nvPicPr>
        <p:blipFill>
          <a:blip r:embed="rId12"/>
          <a:srcRect/>
          <a:stretch/>
        </p:blipFill>
        <p:spPr>
          <a:xfrm>
            <a:off x="6515100" y="1295705"/>
            <a:ext cx="237744" cy="190195"/>
          </a:xfrm>
          <a:prstGeom prst="rect">
            <a:avLst/>
          </a:prstGeom>
        </p:spPr>
      </p:pic>
      <p:sp>
        <p:nvSpPr>
          <p:cNvPr id="55" name="Shape 36"/>
          <p:cNvSpPr/>
          <p:nvPr/>
        </p:nvSpPr>
        <p:spPr>
          <a:xfrm>
            <a:off x="6515100"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56" name="Text 37"/>
          <p:cNvSpPr/>
          <p:nvPr/>
        </p:nvSpPr>
        <p:spPr>
          <a:xfrm>
            <a:off x="6515100"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6</a:t>
            </a:r>
            <a:endParaRPr lang="en-US" sz="1000" dirty="0"/>
          </a:p>
        </p:txBody>
      </p:sp>
      <p:sp>
        <p:nvSpPr>
          <p:cNvPr id="57" name="Text 38"/>
          <p:cNvSpPr txBox="1"/>
          <p:nvPr/>
        </p:nvSpPr>
        <p:spPr>
          <a:xfrm>
            <a:off x="6963156"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 hoạch thành lập ECC</a:t>
            </a:r>
            <a:endParaRPr lang="en-US" sz="1200" dirty="0"/>
          </a:p>
        </p:txBody>
      </p:sp>
      <p:sp>
        <p:nvSpPr>
          <p:cNvPr id="58" name="Text 39"/>
          <p:cNvSpPr txBox="1"/>
          <p:nvPr/>
        </p:nvSpPr>
        <p:spPr>
          <a:xfrm>
            <a:off x="6963156"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Mục tiêu, phạm vi, lợi ích</a:t>
            </a:r>
            <a:endParaRPr lang="en-US" sz="900" dirty="0"/>
          </a:p>
        </p:txBody>
      </p:sp>
      <p:sp>
        <p:nvSpPr>
          <p:cNvPr id="59" name="Shape 40"/>
          <p:cNvSpPr/>
          <p:nvPr/>
        </p:nvSpPr>
        <p:spPr>
          <a:xfrm>
            <a:off x="10916107"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7" descr="preencoded.png"/>
          <p:cNvPicPr>
            <a:picLocks noChangeAspect="1"/>
          </p:cNvPicPr>
          <p:nvPr/>
        </p:nvPicPr>
        <p:blipFill>
          <a:blip r:embed="rId13"/>
          <a:srcRect t="-524" b="-524"/>
          <a:stretch/>
        </p:blipFill>
        <p:spPr>
          <a:xfrm>
            <a:off x="10972800" y="1852574"/>
            <a:ext cx="152705" cy="123444"/>
          </a:xfrm>
          <a:prstGeom prst="rect">
            <a:avLst/>
          </a:prstGeom>
        </p:spPr>
      </p:pic>
      <p:sp>
        <p:nvSpPr>
          <p:cNvPr id="61" name="Shape 41"/>
          <p:cNvSpPr/>
          <p:nvPr/>
        </p:nvSpPr>
        <p:spPr>
          <a:xfrm>
            <a:off x="6515100"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2" name="Text 42"/>
          <p:cNvSpPr/>
          <p:nvPr/>
        </p:nvSpPr>
        <p:spPr>
          <a:xfrm>
            <a:off x="6515100"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7</a:t>
            </a:r>
            <a:endParaRPr lang="en-US" sz="1000" dirty="0"/>
          </a:p>
        </p:txBody>
      </p:sp>
      <p:sp>
        <p:nvSpPr>
          <p:cNvPr id="63" name="Text 43"/>
          <p:cNvSpPr txBox="1"/>
          <p:nvPr/>
        </p:nvSpPr>
        <p:spPr>
          <a:xfrm>
            <a:off x="6963156"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Tiến độ tổng thể</a:t>
            </a:r>
            <a:endParaRPr lang="en-US" sz="1200" dirty="0"/>
          </a:p>
        </p:txBody>
      </p:sp>
      <p:sp>
        <p:nvSpPr>
          <p:cNvPr id="64" name="Text 44"/>
          <p:cNvSpPr txBox="1"/>
          <p:nvPr/>
        </p:nvSpPr>
        <p:spPr>
          <a:xfrm>
            <a:off x="6963156"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CT2 (6/2026-7/2028), CT1 (1/2027-9/2028)</a:t>
            </a:r>
            <a:endParaRPr lang="en-US" sz="900" dirty="0"/>
          </a:p>
        </p:txBody>
      </p:sp>
      <p:sp>
        <p:nvSpPr>
          <p:cNvPr id="65" name="Shape 45"/>
          <p:cNvSpPr/>
          <p:nvPr/>
        </p:nvSpPr>
        <p:spPr>
          <a:xfrm>
            <a:off x="10916107"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8" descr="preencoded.png"/>
          <p:cNvPicPr>
            <a:picLocks noChangeAspect="1"/>
          </p:cNvPicPr>
          <p:nvPr/>
        </p:nvPicPr>
        <p:blipFill>
          <a:blip r:embed="rId14"/>
          <a:srcRect t="-1359" b="-1359"/>
          <a:stretch/>
        </p:blipFill>
        <p:spPr>
          <a:xfrm>
            <a:off x="10996574" y="2624328"/>
            <a:ext cx="105156" cy="123444"/>
          </a:xfrm>
          <a:prstGeom prst="rect">
            <a:avLst/>
          </a:prstGeom>
        </p:spPr>
      </p:pic>
      <p:sp>
        <p:nvSpPr>
          <p:cNvPr id="67" name="Shape 46"/>
          <p:cNvSpPr/>
          <p:nvPr/>
        </p:nvSpPr>
        <p:spPr>
          <a:xfrm>
            <a:off x="6515100"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8" name="Text 47"/>
          <p:cNvSpPr/>
          <p:nvPr/>
        </p:nvSpPr>
        <p:spPr>
          <a:xfrm>
            <a:off x="6515100"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8</a:t>
            </a:r>
            <a:endParaRPr lang="en-US" sz="1000" dirty="0"/>
          </a:p>
        </p:txBody>
      </p:sp>
      <p:sp>
        <p:nvSpPr>
          <p:cNvPr id="69" name="Text 48"/>
          <p:cNvSpPr txBox="1"/>
          <p:nvPr/>
        </p:nvSpPr>
        <p:spPr>
          <a:xfrm>
            <a:off x="6963156"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rủi ro</a:t>
            </a:r>
            <a:endParaRPr lang="en-US" sz="1200" dirty="0"/>
          </a:p>
        </p:txBody>
      </p:sp>
      <p:sp>
        <p:nvSpPr>
          <p:cNvPr id="70" name="Text 49"/>
          <p:cNvSpPr txBox="1"/>
          <p:nvPr/>
        </p:nvSpPr>
        <p:spPr>
          <a:xfrm>
            <a:off x="6963156"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GPMB, thiết kế, giao thông</a:t>
            </a:r>
            <a:endParaRPr lang="en-US" sz="900" dirty="0"/>
          </a:p>
        </p:txBody>
      </p:sp>
      <p:sp>
        <p:nvSpPr>
          <p:cNvPr id="71" name="Shape 50"/>
          <p:cNvSpPr/>
          <p:nvPr/>
        </p:nvSpPr>
        <p:spPr>
          <a:xfrm>
            <a:off x="10916107"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9" descr="preencoded.png"/>
          <p:cNvPicPr>
            <a:picLocks noChangeAspect="1"/>
          </p:cNvPicPr>
          <p:nvPr/>
        </p:nvPicPr>
        <p:blipFill>
          <a:blip r:embed="rId15"/>
          <a:srcRect/>
          <a:stretch/>
        </p:blipFill>
        <p:spPr>
          <a:xfrm>
            <a:off x="10987430" y="3396082"/>
            <a:ext cx="123444" cy="123444"/>
          </a:xfrm>
          <a:prstGeom prst="rect">
            <a:avLst/>
          </a:prstGeom>
        </p:spPr>
      </p:pic>
      <p:sp>
        <p:nvSpPr>
          <p:cNvPr id="73" name="Shape 51"/>
          <p:cNvSpPr/>
          <p:nvPr/>
        </p:nvSpPr>
        <p:spPr>
          <a:xfrm>
            <a:off x="6515100"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74" name="Text 52"/>
          <p:cNvSpPr/>
          <p:nvPr/>
        </p:nvSpPr>
        <p:spPr>
          <a:xfrm>
            <a:off x="6515100"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9</a:t>
            </a:r>
            <a:endParaRPr lang="en-US" sz="1000" dirty="0"/>
          </a:p>
        </p:txBody>
      </p:sp>
      <p:sp>
        <p:nvSpPr>
          <p:cNvPr id="75" name="Text 53"/>
          <p:cNvSpPr txBox="1"/>
          <p:nvPr/>
        </p:nvSpPr>
        <p:spPr>
          <a:xfrm>
            <a:off x="6963156"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Kiến nghị hành động</a:t>
            </a:r>
            <a:endParaRPr lang="en-US" sz="1200" dirty="0"/>
          </a:p>
        </p:txBody>
      </p:sp>
      <p:sp>
        <p:nvSpPr>
          <p:cNvPr id="76" name="Text 54"/>
          <p:cNvSpPr txBox="1"/>
          <p:nvPr/>
        </p:nvSpPr>
        <p:spPr>
          <a:xfrm>
            <a:off x="6963156"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8-10 hành động ưu tiên</a:t>
            </a:r>
            <a:endParaRPr lang="en-US" sz="900" dirty="0"/>
          </a:p>
        </p:txBody>
      </p:sp>
      <p:sp>
        <p:nvSpPr>
          <p:cNvPr id="77" name="Shape 55"/>
          <p:cNvSpPr/>
          <p:nvPr/>
        </p:nvSpPr>
        <p:spPr>
          <a:xfrm>
            <a:off x="10916107"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20" descr="preencoded.png"/>
          <p:cNvPicPr>
            <a:picLocks noChangeAspect="1"/>
          </p:cNvPicPr>
          <p:nvPr/>
        </p:nvPicPr>
        <p:blipFill>
          <a:blip r:embed="rId16"/>
          <a:srcRect/>
          <a:stretch/>
        </p:blipFill>
        <p:spPr>
          <a:xfrm>
            <a:off x="10987430" y="4166921"/>
            <a:ext cx="123444" cy="123444"/>
          </a:xfrm>
          <a:prstGeom prst="rect">
            <a:avLst/>
          </a:prstGeom>
        </p:spPr>
      </p:pic>
      <p:sp>
        <p:nvSpPr>
          <p:cNvPr id="79" name="Shape 56"/>
          <p:cNvSpPr/>
          <p:nvPr/>
        </p:nvSpPr>
        <p:spPr>
          <a:xfrm>
            <a:off x="6515100"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80" name="Text 57"/>
          <p:cNvSpPr/>
          <p:nvPr/>
        </p:nvSpPr>
        <p:spPr>
          <a:xfrm>
            <a:off x="6515100"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10</a:t>
            </a:r>
            <a:endParaRPr lang="en-US" sz="1000" dirty="0"/>
          </a:p>
        </p:txBody>
      </p:sp>
      <p:sp>
        <p:nvSpPr>
          <p:cNvPr id="81" name="Text 58"/>
          <p:cNvSpPr txBox="1"/>
          <p:nvPr/>
        </p:nvSpPr>
        <p:spPr>
          <a:xfrm>
            <a:off x="6963156"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Kết luận</a:t>
            </a:r>
            <a:endParaRPr lang="en-US" sz="1200" dirty="0"/>
          </a:p>
        </p:txBody>
      </p:sp>
      <p:sp>
        <p:nvSpPr>
          <p:cNvPr id="82" name="Text 59"/>
          <p:cNvSpPr txBox="1"/>
          <p:nvPr/>
        </p:nvSpPr>
        <p:spPr>
          <a:xfrm>
            <a:off x="6963156"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Quyết định và bước tiếp theo</a:t>
            </a:r>
            <a:endParaRPr lang="en-US" sz="900" dirty="0"/>
          </a:p>
        </p:txBody>
      </p:sp>
      <p:sp>
        <p:nvSpPr>
          <p:cNvPr id="83" name="Shape 60"/>
          <p:cNvSpPr/>
          <p:nvPr/>
        </p:nvSpPr>
        <p:spPr>
          <a:xfrm>
            <a:off x="10916107"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84" name="Image 21" descr="preencoded.png"/>
          <p:cNvPicPr>
            <a:picLocks noChangeAspect="1"/>
          </p:cNvPicPr>
          <p:nvPr/>
        </p:nvPicPr>
        <p:blipFill>
          <a:blip r:embed="rId17"/>
          <a:srcRect/>
          <a:stretch/>
        </p:blipFill>
        <p:spPr>
          <a:xfrm>
            <a:off x="10987430" y="4938674"/>
            <a:ext cx="123444" cy="123444"/>
          </a:xfrm>
          <a:prstGeom prst="rect">
            <a:avLst/>
          </a:prstGeom>
        </p:spPr>
      </p:pic>
      <p:sp>
        <p:nvSpPr>
          <p:cNvPr id="85" name="Text 61"/>
          <p:cNvSpPr txBox="1"/>
          <p:nvPr/>
        </p:nvSpPr>
        <p:spPr>
          <a:xfrm>
            <a:off x="951890" y="6429146"/>
            <a:ext cx="26673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6" name="Image 22" descr="preencoded.png"/>
          <p:cNvPicPr>
            <a:picLocks noChangeAspect="1"/>
          </p:cNvPicPr>
          <p:nvPr/>
        </p:nvPicPr>
        <p:blipFill>
          <a:blip r:embed="rId18"/>
          <a:srcRect l="-1358" r="-1358"/>
          <a:stretch/>
        </p:blipFill>
        <p:spPr>
          <a:xfrm>
            <a:off x="761695" y="6454750"/>
            <a:ext cx="95098" cy="123444"/>
          </a:xfrm>
          <a:prstGeom prst="rect">
            <a:avLst/>
          </a:prstGeom>
        </p:spPr>
      </p:pic>
      <p:sp>
        <p:nvSpPr>
          <p:cNvPr id="87" name="Text 62"/>
          <p:cNvSpPr txBox="1"/>
          <p:nvPr/>
        </p:nvSpPr>
        <p:spPr>
          <a:xfrm>
            <a:off x="10668305" y="6429146"/>
            <a:ext cx="762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FFFFF"/>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571500" y="952805"/>
            <a:ext cx="5400446" cy="2876702"/>
          </a:xfrm>
          <a:prstGeom prst="roundRect">
            <a:avLst>
              <a:gd name="adj" fmla="val 2526"/>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571500" y="4095598"/>
            <a:ext cx="5400446" cy="2115007"/>
          </a:xfrm>
          <a:prstGeom prst="roundRect">
            <a:avLst>
              <a:gd name="adj" fmla="val 467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400446" cy="2400300"/>
          </a:xfrm>
          <a:prstGeom prst="roundRect">
            <a:avLst>
              <a:gd name="adj" fmla="val 3628"/>
            </a:avLst>
          </a:prstGeom>
          <a:solidFill>
            <a:srgbClr val="F8F9FA"/>
          </a:solidFill>
          <a:ln w="12700">
            <a:solidFill>
              <a:srgbClr val="E2E8F0"/>
            </a:solidFill>
            <a:prstDash val="solid"/>
          </a:ln>
        </p:spPr>
        <p:txBody>
          <a:bodyPr/>
          <a:lstStyle/>
          <a:p>
            <a:endParaRPr lang="en-US"/>
          </a:p>
        </p:txBody>
      </p:sp>
      <p:sp>
        <p:nvSpPr>
          <p:cNvPr id="9" name="Shape 7"/>
          <p:cNvSpPr/>
          <p:nvPr/>
        </p:nvSpPr>
        <p:spPr>
          <a:xfrm>
            <a:off x="6238951" y="3619195"/>
            <a:ext cx="5400446" cy="2590495"/>
          </a:xfrm>
          <a:prstGeom prst="roundRect">
            <a:avLst>
              <a:gd name="adj" fmla="val 3115"/>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881482" y="286207"/>
            <a:ext cx="142646" cy="190195"/>
          </a:xfrm>
          <a:prstGeom prst="rect">
            <a:avLst/>
          </a:prstGeom>
        </p:spPr>
      </p:pic>
      <p:sp>
        <p:nvSpPr>
          <p:cNvPr id="12" name="Text 9"/>
          <p:cNvSpPr txBox="1"/>
          <p:nvPr/>
        </p:nvSpPr>
        <p:spPr>
          <a:xfrm>
            <a:off x="1285646" y="237744"/>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TỔNG QUAN DỰ ÁN NOXH YÊN SỞ</a:t>
            </a:r>
            <a:endParaRPr lang="en-US" sz="1800" dirty="0"/>
          </a:p>
        </p:txBody>
      </p:sp>
      <p:sp>
        <p:nvSpPr>
          <p:cNvPr id="13" name="Text 10"/>
          <p:cNvSpPr txBox="1"/>
          <p:nvPr/>
        </p:nvSpPr>
        <p:spPr>
          <a:xfrm>
            <a:off x="9715500" y="286207"/>
            <a:ext cx="1715414"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 </a:t>
            </a:r>
            <a:endParaRPr lang="en-US" sz="1000" dirty="0"/>
          </a:p>
        </p:txBody>
      </p:sp>
      <p:pic>
        <p:nvPicPr>
          <p:cNvPr id="14" name="Image 1" descr="preencoded.png"/>
          <p:cNvPicPr>
            <a:picLocks noChangeAspect="1"/>
          </p:cNvPicPr>
          <p:nvPr/>
        </p:nvPicPr>
        <p:blipFill>
          <a:blip r:embed="rId4"/>
          <a:srcRect t="-1100" b="-1100"/>
          <a:stretch/>
        </p:blipFill>
        <p:spPr>
          <a:xfrm>
            <a:off x="9525305" y="309982"/>
            <a:ext cx="114300" cy="133502"/>
          </a:xfrm>
          <a:prstGeom prst="rect">
            <a:avLst/>
          </a:prstGeom>
        </p:spPr>
      </p:pic>
      <p:sp>
        <p:nvSpPr>
          <p:cNvPr id="15" name="Text 11"/>
          <p:cNvSpPr txBox="1"/>
          <p:nvPr/>
        </p:nvSpPr>
        <p:spPr>
          <a:xfrm>
            <a:off x="1009498" y="1143000"/>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Thông tin dự án </a:t>
            </a:r>
            <a:endParaRPr lang="en-US" sz="1200" dirty="0"/>
          </a:p>
        </p:txBody>
      </p:sp>
      <p:pic>
        <p:nvPicPr>
          <p:cNvPr id="16" name="Image 2" descr="preencoded.png"/>
          <p:cNvPicPr>
            <a:picLocks noChangeAspect="1"/>
          </p:cNvPicPr>
          <p:nvPr/>
        </p:nvPicPr>
        <p:blipFill>
          <a:blip r:embed="rId5"/>
          <a:srcRect/>
          <a:stretch/>
        </p:blipFill>
        <p:spPr>
          <a:xfrm>
            <a:off x="761695" y="1157630"/>
            <a:ext cx="152705" cy="152705"/>
          </a:xfrm>
          <a:prstGeom prst="rect">
            <a:avLst/>
          </a:prstGeom>
        </p:spPr>
      </p:pic>
      <p:sp>
        <p:nvSpPr>
          <p:cNvPr id="17" name="Shape 12"/>
          <p:cNvSpPr/>
          <p:nvPr/>
        </p:nvSpPr>
        <p:spPr>
          <a:xfrm>
            <a:off x="761695"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18" name="Shape 13"/>
          <p:cNvSpPr/>
          <p:nvPr/>
        </p:nvSpPr>
        <p:spPr>
          <a:xfrm>
            <a:off x="866851"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9" name="Image 3" descr="preencoded.png"/>
          <p:cNvPicPr>
            <a:picLocks noChangeAspect="1"/>
          </p:cNvPicPr>
          <p:nvPr/>
        </p:nvPicPr>
        <p:blipFill>
          <a:blip r:embed="rId6"/>
          <a:srcRect l="-2512" r="-2512"/>
          <a:stretch/>
        </p:blipFill>
        <p:spPr>
          <a:xfrm>
            <a:off x="966521" y="1729130"/>
            <a:ext cx="105156" cy="133502"/>
          </a:xfrm>
          <a:prstGeom prst="rect">
            <a:avLst/>
          </a:prstGeom>
        </p:spPr>
      </p:pic>
      <p:sp>
        <p:nvSpPr>
          <p:cNvPr id="20" name="Text 14"/>
          <p:cNvSpPr txBox="1"/>
          <p:nvPr/>
        </p:nvSpPr>
        <p:spPr>
          <a:xfrm>
            <a:off x="1266444"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Vị trí</a:t>
            </a:r>
            <a:endParaRPr lang="en-US" sz="800" dirty="0"/>
          </a:p>
        </p:txBody>
      </p:sp>
      <p:sp>
        <p:nvSpPr>
          <p:cNvPr id="21" name="Text 15"/>
          <p:cNvSpPr txBox="1"/>
          <p:nvPr/>
        </p:nvSpPr>
        <p:spPr>
          <a:xfrm>
            <a:off x="1266444"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Phường Yên Sở, Hà Nội</a:t>
            </a:r>
            <a:endParaRPr lang="en-US" sz="900" dirty="0"/>
          </a:p>
        </p:txBody>
      </p:sp>
      <p:sp>
        <p:nvSpPr>
          <p:cNvPr id="22" name="Shape 16"/>
          <p:cNvSpPr/>
          <p:nvPr/>
        </p:nvSpPr>
        <p:spPr>
          <a:xfrm>
            <a:off x="3319272"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3" name="Shape 17"/>
          <p:cNvSpPr/>
          <p:nvPr/>
        </p:nvSpPr>
        <p:spPr>
          <a:xfrm>
            <a:off x="3424428"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4" name="Image 4" descr="preencoded.png"/>
          <p:cNvPicPr>
            <a:picLocks noChangeAspect="1"/>
          </p:cNvPicPr>
          <p:nvPr/>
        </p:nvPicPr>
        <p:blipFill>
          <a:blip r:embed="rId7"/>
          <a:srcRect/>
          <a:stretch/>
        </p:blipFill>
        <p:spPr>
          <a:xfrm>
            <a:off x="3510382" y="1729130"/>
            <a:ext cx="133502" cy="133502"/>
          </a:xfrm>
          <a:prstGeom prst="rect">
            <a:avLst/>
          </a:prstGeom>
        </p:spPr>
      </p:pic>
      <p:sp>
        <p:nvSpPr>
          <p:cNvPr id="25" name="Text 18"/>
          <p:cNvSpPr txBox="1"/>
          <p:nvPr/>
        </p:nvSpPr>
        <p:spPr>
          <a:xfrm>
            <a:off x="3824021"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Diện tích</a:t>
            </a:r>
            <a:endParaRPr lang="en-US" sz="800" dirty="0"/>
          </a:p>
        </p:txBody>
      </p:sp>
      <p:sp>
        <p:nvSpPr>
          <p:cNvPr id="26" name="Text 19"/>
          <p:cNvSpPr txBox="1"/>
          <p:nvPr/>
        </p:nvSpPr>
        <p:spPr>
          <a:xfrm>
            <a:off x="3824021"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148,800 m²</a:t>
            </a:r>
            <a:endParaRPr lang="en-US" sz="900" dirty="0"/>
          </a:p>
        </p:txBody>
      </p:sp>
      <p:sp>
        <p:nvSpPr>
          <p:cNvPr id="27" name="Shape 20"/>
          <p:cNvSpPr/>
          <p:nvPr/>
        </p:nvSpPr>
        <p:spPr>
          <a:xfrm>
            <a:off x="761695"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8" name="Shape 21"/>
          <p:cNvSpPr/>
          <p:nvPr/>
        </p:nvSpPr>
        <p:spPr>
          <a:xfrm>
            <a:off x="866851"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9" name="Image 5" descr="preencoded.png"/>
          <p:cNvPicPr>
            <a:picLocks noChangeAspect="1"/>
          </p:cNvPicPr>
          <p:nvPr/>
        </p:nvPicPr>
        <p:blipFill>
          <a:blip r:embed="rId8"/>
          <a:srcRect l="-837" r="-837"/>
          <a:stretch/>
        </p:blipFill>
        <p:spPr>
          <a:xfrm>
            <a:off x="942746" y="2385670"/>
            <a:ext cx="152705" cy="133502"/>
          </a:xfrm>
          <a:prstGeom prst="rect">
            <a:avLst/>
          </a:prstGeom>
        </p:spPr>
      </p:pic>
      <p:sp>
        <p:nvSpPr>
          <p:cNvPr id="30" name="Text 22"/>
          <p:cNvSpPr txBox="1"/>
          <p:nvPr/>
        </p:nvSpPr>
        <p:spPr>
          <a:xfrm>
            <a:off x="1266444"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Số căn hộ</a:t>
            </a:r>
            <a:endParaRPr lang="en-US" sz="800" dirty="0"/>
          </a:p>
        </p:txBody>
      </p:sp>
      <p:sp>
        <p:nvSpPr>
          <p:cNvPr id="31" name="Text 23"/>
          <p:cNvSpPr txBox="1"/>
          <p:nvPr/>
        </p:nvSpPr>
        <p:spPr>
          <a:xfrm>
            <a:off x="1266444"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1,022 căn</a:t>
            </a:r>
            <a:endParaRPr lang="en-US" sz="900" dirty="0"/>
          </a:p>
        </p:txBody>
      </p:sp>
      <p:sp>
        <p:nvSpPr>
          <p:cNvPr id="32" name="Shape 24"/>
          <p:cNvSpPr/>
          <p:nvPr/>
        </p:nvSpPr>
        <p:spPr>
          <a:xfrm>
            <a:off x="3319272"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33" name="Shape 25"/>
          <p:cNvSpPr/>
          <p:nvPr/>
        </p:nvSpPr>
        <p:spPr>
          <a:xfrm>
            <a:off x="3424428"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6" descr="preencoded.png"/>
          <p:cNvPicPr>
            <a:picLocks noChangeAspect="1"/>
          </p:cNvPicPr>
          <p:nvPr/>
        </p:nvPicPr>
        <p:blipFill>
          <a:blip r:embed="rId9"/>
          <a:srcRect/>
          <a:stretch/>
        </p:blipFill>
        <p:spPr>
          <a:xfrm>
            <a:off x="3510382" y="2385670"/>
            <a:ext cx="133502" cy="133502"/>
          </a:xfrm>
          <a:prstGeom prst="rect">
            <a:avLst/>
          </a:prstGeom>
        </p:spPr>
      </p:pic>
      <p:sp>
        <p:nvSpPr>
          <p:cNvPr id="35" name="Text 26"/>
          <p:cNvSpPr txBox="1"/>
          <p:nvPr/>
        </p:nvSpPr>
        <p:spPr>
          <a:xfrm>
            <a:off x="3824021"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Thời gian</a:t>
            </a:r>
            <a:endParaRPr lang="en-US" sz="800" dirty="0"/>
          </a:p>
        </p:txBody>
      </p:sp>
      <p:sp>
        <p:nvSpPr>
          <p:cNvPr id="36" name="Text 27"/>
          <p:cNvSpPr txBox="1"/>
          <p:nvPr/>
        </p:nvSpPr>
        <p:spPr>
          <a:xfrm>
            <a:off x="3824021"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27 tháng</a:t>
            </a:r>
            <a:endParaRPr lang="en-US" sz="900" dirty="0"/>
          </a:p>
        </p:txBody>
      </p:sp>
      <p:sp>
        <p:nvSpPr>
          <p:cNvPr id="37" name="Shape 28"/>
          <p:cNvSpPr/>
          <p:nvPr/>
        </p:nvSpPr>
        <p:spPr>
          <a:xfrm>
            <a:off x="761695" y="2857500"/>
            <a:ext cx="5000854" cy="809244"/>
          </a:xfrm>
          <a:prstGeom prst="roundRect">
            <a:avLst>
              <a:gd name="adj" fmla="val 21270"/>
            </a:avLst>
          </a:prstGeom>
          <a:solidFill>
            <a:srgbClr val="F7A81B">
              <a:alpha val="10000"/>
            </a:srgbClr>
          </a:solidFill>
          <a:ln w="12700">
            <a:solidFill>
              <a:srgbClr val="F7A81B">
                <a:alpha val="30000"/>
              </a:srgbClr>
            </a:solidFill>
            <a:prstDash val="solid"/>
          </a:ln>
        </p:spPr>
        <p:txBody>
          <a:bodyPr/>
          <a:lstStyle/>
          <a:p>
            <a:endParaRPr lang="en-US"/>
          </a:p>
        </p:txBody>
      </p:sp>
      <p:sp>
        <p:nvSpPr>
          <p:cNvPr id="38" name="Text 29"/>
          <p:cNvSpPr txBox="1"/>
          <p:nvPr/>
        </p:nvSpPr>
        <p:spPr>
          <a:xfrm>
            <a:off x="1054303" y="2980944"/>
            <a:ext cx="458480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Đặc điểm địa chất</a:t>
            </a:r>
            <a:endParaRPr lang="en-US" sz="1000" dirty="0"/>
          </a:p>
        </p:txBody>
      </p:sp>
      <p:sp>
        <p:nvSpPr>
          <p:cNvPr id="39" name="Text 30"/>
          <p:cNvSpPr txBox="1"/>
          <p:nvPr/>
        </p:nvSpPr>
        <p:spPr>
          <a:xfrm>
            <a:off x="886054" y="3219602"/>
            <a:ext cx="4753051" cy="3246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Phần ngầm nằm trong lớp đất sét pha trạng thái dẻo chảy (chiều dày từ đáy ao đến 27.5m), ảnh hưởng nhiều đến công tác thi công kết cấu phần ngầm.</a:t>
            </a:r>
            <a:endParaRPr lang="en-US" sz="900" dirty="0"/>
          </a:p>
        </p:txBody>
      </p:sp>
      <p:pic>
        <p:nvPicPr>
          <p:cNvPr id="40" name="Image 7" descr="preencoded.png"/>
          <p:cNvPicPr>
            <a:picLocks noChangeAspect="1"/>
          </p:cNvPicPr>
          <p:nvPr/>
        </p:nvPicPr>
        <p:blipFill>
          <a:blip r:embed="rId10"/>
          <a:srcRect/>
          <a:stretch/>
        </p:blipFill>
        <p:spPr>
          <a:xfrm>
            <a:off x="886054" y="3007462"/>
            <a:ext cx="133502" cy="133502"/>
          </a:xfrm>
          <a:prstGeom prst="rect">
            <a:avLst/>
          </a:prstGeom>
        </p:spPr>
      </p:pic>
      <p:sp>
        <p:nvSpPr>
          <p:cNvPr id="41" name="Text 31"/>
          <p:cNvSpPr txBox="1"/>
          <p:nvPr/>
        </p:nvSpPr>
        <p:spPr>
          <a:xfrm>
            <a:off x="1028700" y="4286707"/>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Cơ cấu chi phí </a:t>
            </a:r>
            <a:endParaRPr lang="en-US" sz="1200" dirty="0"/>
          </a:p>
        </p:txBody>
      </p:sp>
      <p:pic>
        <p:nvPicPr>
          <p:cNvPr id="42" name="Image 8" descr="preencoded.png"/>
          <p:cNvPicPr>
            <a:picLocks noChangeAspect="1"/>
          </p:cNvPicPr>
          <p:nvPr/>
        </p:nvPicPr>
        <p:blipFill>
          <a:blip r:embed="rId11"/>
          <a:srcRect l="-33" r="-33"/>
          <a:stretch/>
        </p:blipFill>
        <p:spPr>
          <a:xfrm>
            <a:off x="761695" y="4300423"/>
            <a:ext cx="171907" cy="152705"/>
          </a:xfrm>
          <a:prstGeom prst="rect">
            <a:avLst/>
          </a:prstGeom>
        </p:spPr>
      </p:pic>
      <p:pic>
        <p:nvPicPr>
          <p:cNvPr id="43" name="Image 9" descr="preencoded.png"/>
          <p:cNvPicPr>
            <a:picLocks noChangeAspect="1"/>
          </p:cNvPicPr>
          <p:nvPr/>
        </p:nvPicPr>
        <p:blipFill>
          <a:blip r:embed="rId12"/>
          <a:srcRect l="-16" r="-16"/>
          <a:stretch/>
        </p:blipFill>
        <p:spPr>
          <a:xfrm>
            <a:off x="761695" y="4619549"/>
            <a:ext cx="5000854" cy="1380744"/>
          </a:xfrm>
          <a:prstGeom prst="rect">
            <a:avLst/>
          </a:prstGeom>
        </p:spPr>
      </p:pic>
      <p:sp>
        <p:nvSpPr>
          <p:cNvPr id="44" name="Text 32"/>
          <p:cNvSpPr txBox="1"/>
          <p:nvPr/>
        </p:nvSpPr>
        <p:spPr>
          <a:xfrm>
            <a:off x="6696151" y="1143000"/>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Các tòa nhà trong dự án </a:t>
            </a:r>
            <a:endParaRPr lang="en-US" sz="1200" dirty="0"/>
          </a:p>
        </p:txBody>
      </p:sp>
      <p:pic>
        <p:nvPicPr>
          <p:cNvPr id="45" name="Image 10" descr="preencoded.png"/>
          <p:cNvPicPr>
            <a:picLocks noChangeAspect="1"/>
          </p:cNvPicPr>
          <p:nvPr/>
        </p:nvPicPr>
        <p:blipFill>
          <a:blip r:embed="rId13"/>
          <a:srcRect l="-33" r="-33"/>
          <a:stretch/>
        </p:blipFill>
        <p:spPr>
          <a:xfrm>
            <a:off x="6429146" y="1157630"/>
            <a:ext cx="171907" cy="152705"/>
          </a:xfrm>
          <a:prstGeom prst="rect">
            <a:avLst/>
          </a:prstGeom>
        </p:spPr>
      </p:pic>
      <p:sp>
        <p:nvSpPr>
          <p:cNvPr id="46" name="Shape 33"/>
          <p:cNvSpPr/>
          <p:nvPr/>
        </p:nvSpPr>
        <p:spPr>
          <a:xfrm>
            <a:off x="6429146"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47" name="Text 34"/>
          <p:cNvSpPr txBox="1"/>
          <p:nvPr/>
        </p:nvSpPr>
        <p:spPr>
          <a:xfrm>
            <a:off x="6486754"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CT1</a:t>
            </a:r>
            <a:endParaRPr lang="en-US" sz="1300" dirty="0"/>
          </a:p>
        </p:txBody>
      </p:sp>
      <p:sp>
        <p:nvSpPr>
          <p:cNvPr id="48" name="Text 35"/>
          <p:cNvSpPr txBox="1"/>
          <p:nvPr/>
        </p:nvSpPr>
        <p:spPr>
          <a:xfrm>
            <a:off x="6486754"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49" name="Shape 36"/>
          <p:cNvSpPr/>
          <p:nvPr/>
        </p:nvSpPr>
        <p:spPr>
          <a:xfrm>
            <a:off x="8134502"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0" name="Text 37"/>
          <p:cNvSpPr txBox="1"/>
          <p:nvPr/>
        </p:nvSpPr>
        <p:spPr>
          <a:xfrm>
            <a:off x="8191195"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CT2-1</a:t>
            </a:r>
            <a:endParaRPr lang="en-US" sz="1300" dirty="0"/>
          </a:p>
        </p:txBody>
      </p:sp>
      <p:sp>
        <p:nvSpPr>
          <p:cNvPr id="51" name="Text 38"/>
          <p:cNvSpPr txBox="1"/>
          <p:nvPr/>
        </p:nvSpPr>
        <p:spPr>
          <a:xfrm>
            <a:off x="8191195"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2" name="Shape 39"/>
          <p:cNvSpPr/>
          <p:nvPr/>
        </p:nvSpPr>
        <p:spPr>
          <a:xfrm>
            <a:off x="9838944"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3" name="Text 40"/>
          <p:cNvSpPr txBox="1"/>
          <p:nvPr/>
        </p:nvSpPr>
        <p:spPr>
          <a:xfrm>
            <a:off x="9896551"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CT2-2</a:t>
            </a:r>
            <a:endParaRPr lang="en-US" sz="1300" dirty="0"/>
          </a:p>
        </p:txBody>
      </p:sp>
      <p:sp>
        <p:nvSpPr>
          <p:cNvPr id="54" name="Text 41"/>
          <p:cNvSpPr txBox="1"/>
          <p:nvPr/>
        </p:nvSpPr>
        <p:spPr>
          <a:xfrm>
            <a:off x="9896551"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5" name="Shape 42"/>
          <p:cNvSpPr/>
          <p:nvPr/>
        </p:nvSpPr>
        <p:spPr>
          <a:xfrm>
            <a:off x="6429146"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6" name="Text 43"/>
          <p:cNvSpPr txBox="1"/>
          <p:nvPr/>
        </p:nvSpPr>
        <p:spPr>
          <a:xfrm>
            <a:off x="6486754" y="2505456"/>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CT2-3</a:t>
            </a:r>
            <a:endParaRPr lang="en-US" sz="1300" dirty="0"/>
          </a:p>
        </p:txBody>
      </p:sp>
      <p:sp>
        <p:nvSpPr>
          <p:cNvPr id="57" name="Text 44"/>
          <p:cNvSpPr txBox="1"/>
          <p:nvPr/>
        </p:nvSpPr>
        <p:spPr>
          <a:xfrm>
            <a:off x="6486754" y="2771546"/>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8" name="Shape 45"/>
          <p:cNvSpPr/>
          <p:nvPr/>
        </p:nvSpPr>
        <p:spPr>
          <a:xfrm>
            <a:off x="8134502"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9" name="Text 46"/>
          <p:cNvSpPr txBox="1"/>
          <p:nvPr/>
        </p:nvSpPr>
        <p:spPr>
          <a:xfrm>
            <a:off x="8191195" y="2505456"/>
            <a:ext cx="1476756" cy="228600"/>
          </a:xfrm>
          <a:prstGeom prst="rect">
            <a:avLst/>
          </a:prstGeom>
          <a:noFill/>
          <a:ln/>
        </p:spPr>
        <p:txBody>
          <a:bodyPr wrap="square" lIns="0" tIns="0" rIns="0" bIns="0" rtlCol="0" anchor="ctr"/>
          <a:lstStyle/>
          <a:p>
            <a:pPr marL="0" indent="0" algn="ctr">
              <a:buNone/>
            </a:pPr>
            <a:r>
              <a:rPr lang="en-US" sz="1300" b="1" dirty="0">
                <a:solidFill>
                  <a:srgbClr val="808080"/>
                </a:solidFill>
                <a:latin typeface="Open Sans" pitchFamily="34" charset="0"/>
                <a:ea typeface="Open Sans" pitchFamily="34" charset="-122"/>
                <a:cs typeface="Open Sans" pitchFamily="34" charset="-120"/>
              </a:rPr>
              <a:t>N01</a:t>
            </a:r>
            <a:endParaRPr lang="en-US" sz="1300" dirty="0"/>
          </a:p>
        </p:txBody>
      </p:sp>
      <p:sp>
        <p:nvSpPr>
          <p:cNvPr id="60" name="Text 47"/>
          <p:cNvSpPr txBox="1"/>
          <p:nvPr/>
        </p:nvSpPr>
        <p:spPr>
          <a:xfrm>
            <a:off x="8191195" y="2771546"/>
            <a:ext cx="1476756"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35 tầng + 4 hầm</a:t>
            </a:r>
            <a:endParaRPr lang="en-US" sz="800" dirty="0"/>
          </a:p>
        </p:txBody>
      </p:sp>
      <p:sp>
        <p:nvSpPr>
          <p:cNvPr id="61" name="Text 48"/>
          <p:cNvSpPr txBox="1"/>
          <p:nvPr/>
        </p:nvSpPr>
        <p:spPr>
          <a:xfrm>
            <a:off x="6676949" y="3810305"/>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Ràng buộc &amp; Vấn đề </a:t>
            </a:r>
            <a:endParaRPr lang="en-US" sz="1200" dirty="0"/>
          </a:p>
        </p:txBody>
      </p:sp>
      <p:pic>
        <p:nvPicPr>
          <p:cNvPr id="62" name="Image 11" descr="preencoded.png"/>
          <p:cNvPicPr>
            <a:picLocks noChangeAspect="1"/>
          </p:cNvPicPr>
          <p:nvPr/>
        </p:nvPicPr>
        <p:blipFill>
          <a:blip r:embed="rId14"/>
          <a:srcRect/>
          <a:stretch/>
        </p:blipFill>
        <p:spPr>
          <a:xfrm>
            <a:off x="6429146" y="3824021"/>
            <a:ext cx="152705" cy="152705"/>
          </a:xfrm>
          <a:prstGeom prst="rect">
            <a:avLst/>
          </a:prstGeom>
        </p:spPr>
      </p:pic>
      <p:sp>
        <p:nvSpPr>
          <p:cNvPr id="63" name="Shape 49"/>
          <p:cNvSpPr/>
          <p:nvPr/>
        </p:nvSpPr>
        <p:spPr>
          <a:xfrm>
            <a:off x="6429146" y="419069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64" name="Shape 50"/>
          <p:cNvSpPr/>
          <p:nvPr/>
        </p:nvSpPr>
        <p:spPr>
          <a:xfrm>
            <a:off x="6429146" y="419069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65" name="Shape 51"/>
          <p:cNvSpPr/>
          <p:nvPr/>
        </p:nvSpPr>
        <p:spPr>
          <a:xfrm>
            <a:off x="6562649" y="431505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2" descr="preencoded.png"/>
          <p:cNvPicPr>
            <a:picLocks noChangeAspect="1"/>
          </p:cNvPicPr>
          <p:nvPr/>
        </p:nvPicPr>
        <p:blipFill>
          <a:blip r:embed="rId15"/>
          <a:srcRect l="-837" r="-837"/>
          <a:stretch/>
        </p:blipFill>
        <p:spPr>
          <a:xfrm>
            <a:off x="6638544" y="4401007"/>
            <a:ext cx="152705" cy="133502"/>
          </a:xfrm>
          <a:prstGeom prst="rect">
            <a:avLst/>
          </a:prstGeom>
        </p:spPr>
      </p:pic>
      <p:sp>
        <p:nvSpPr>
          <p:cNvPr id="67" name="Text 52"/>
          <p:cNvSpPr txBox="1"/>
          <p:nvPr/>
        </p:nvSpPr>
        <p:spPr>
          <a:xfrm>
            <a:off x="6981444" y="4295851"/>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Giao thông</a:t>
            </a:r>
            <a:endParaRPr lang="en-US" sz="900" dirty="0"/>
          </a:p>
        </p:txBody>
      </p:sp>
      <p:sp>
        <p:nvSpPr>
          <p:cNvPr id="68" name="Text 53"/>
          <p:cNvSpPr txBox="1"/>
          <p:nvPr/>
        </p:nvSpPr>
        <p:spPr>
          <a:xfrm>
            <a:off x="6981444" y="4476902"/>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Chỉ có 1 hướng tiếp cận từ đường Đỗ Mười</a:t>
            </a:r>
            <a:endParaRPr lang="en-US" sz="900" dirty="0"/>
          </a:p>
        </p:txBody>
      </p:sp>
      <p:sp>
        <p:nvSpPr>
          <p:cNvPr id="69" name="Shape 54"/>
          <p:cNvSpPr/>
          <p:nvPr/>
        </p:nvSpPr>
        <p:spPr>
          <a:xfrm>
            <a:off x="6429146" y="483900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0" name="Shape 55"/>
          <p:cNvSpPr/>
          <p:nvPr/>
        </p:nvSpPr>
        <p:spPr>
          <a:xfrm>
            <a:off x="6429146" y="483900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1" name="Shape 56"/>
          <p:cNvSpPr/>
          <p:nvPr/>
        </p:nvSpPr>
        <p:spPr>
          <a:xfrm>
            <a:off x="6562649" y="4962449"/>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3" descr="preencoded.png"/>
          <p:cNvPicPr>
            <a:picLocks noChangeAspect="1"/>
          </p:cNvPicPr>
          <p:nvPr/>
        </p:nvPicPr>
        <p:blipFill>
          <a:blip r:embed="rId16"/>
          <a:srcRect t="-1100" b="-1100"/>
          <a:stretch/>
        </p:blipFill>
        <p:spPr>
          <a:xfrm>
            <a:off x="6657746" y="5048402"/>
            <a:ext cx="114300" cy="133502"/>
          </a:xfrm>
          <a:prstGeom prst="rect">
            <a:avLst/>
          </a:prstGeom>
        </p:spPr>
      </p:pic>
      <p:sp>
        <p:nvSpPr>
          <p:cNvPr id="73" name="Text 57"/>
          <p:cNvSpPr txBox="1"/>
          <p:nvPr/>
        </p:nvSpPr>
        <p:spPr>
          <a:xfrm>
            <a:off x="6981444" y="494324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Điện nước</a:t>
            </a:r>
            <a:endParaRPr lang="en-US" sz="900" dirty="0"/>
          </a:p>
        </p:txBody>
      </p:sp>
      <p:sp>
        <p:nvSpPr>
          <p:cNvPr id="74" name="Text 58"/>
          <p:cNvSpPr txBox="1"/>
          <p:nvPr/>
        </p:nvSpPr>
        <p:spPr>
          <a:xfrm>
            <a:off x="6981444" y="5124298"/>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điện 3 pha cho thi công</a:t>
            </a:r>
            <a:endParaRPr lang="en-US" sz="900" dirty="0"/>
          </a:p>
        </p:txBody>
      </p:sp>
      <p:sp>
        <p:nvSpPr>
          <p:cNvPr id="75" name="Shape 59"/>
          <p:cNvSpPr/>
          <p:nvPr/>
        </p:nvSpPr>
        <p:spPr>
          <a:xfrm>
            <a:off x="6429146" y="5486400"/>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6" name="Shape 60"/>
          <p:cNvSpPr/>
          <p:nvPr/>
        </p:nvSpPr>
        <p:spPr>
          <a:xfrm>
            <a:off x="6429146" y="5486400"/>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7" name="Shape 61"/>
          <p:cNvSpPr/>
          <p:nvPr/>
        </p:nvSpPr>
        <p:spPr>
          <a:xfrm>
            <a:off x="6562649" y="560984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14" descr="preencoded.png"/>
          <p:cNvPicPr>
            <a:picLocks noChangeAspect="1"/>
          </p:cNvPicPr>
          <p:nvPr/>
        </p:nvPicPr>
        <p:blipFill>
          <a:blip r:embed="rId17"/>
          <a:srcRect l="-1507" r="-1507"/>
          <a:stretch/>
        </p:blipFill>
        <p:spPr>
          <a:xfrm>
            <a:off x="6629400" y="5695798"/>
            <a:ext cx="171907" cy="133502"/>
          </a:xfrm>
          <a:prstGeom prst="rect">
            <a:avLst/>
          </a:prstGeom>
        </p:spPr>
      </p:pic>
      <p:sp>
        <p:nvSpPr>
          <p:cNvPr id="79" name="Text 62"/>
          <p:cNvSpPr txBox="1"/>
          <p:nvPr/>
        </p:nvSpPr>
        <p:spPr>
          <a:xfrm>
            <a:off x="6981444" y="559155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Dân cư</a:t>
            </a:r>
            <a:endParaRPr lang="en-US" sz="900" dirty="0"/>
          </a:p>
        </p:txBody>
      </p:sp>
      <p:sp>
        <p:nvSpPr>
          <p:cNvPr id="80" name="Text 63"/>
          <p:cNvSpPr txBox="1"/>
          <p:nvPr/>
        </p:nvSpPr>
        <p:spPr>
          <a:xfrm>
            <a:off x="6981444" y="5772607"/>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đã đông đúc, cách ranh 14.5-17m</a:t>
            </a:r>
            <a:endParaRPr lang="en-US" sz="900" dirty="0"/>
          </a:p>
        </p:txBody>
      </p:sp>
      <p:sp>
        <p:nvSpPr>
          <p:cNvPr id="81" name="Text 64"/>
          <p:cNvSpPr txBox="1"/>
          <p:nvPr/>
        </p:nvSpPr>
        <p:spPr>
          <a:xfrm>
            <a:off x="933602" y="6429146"/>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82" name="Image 15" descr="preencoded.png"/>
          <p:cNvPicPr>
            <a:picLocks noChangeAspect="1"/>
          </p:cNvPicPr>
          <p:nvPr/>
        </p:nvPicPr>
        <p:blipFill>
          <a:blip r:embed="rId18"/>
          <a:srcRect l="-1358" r="-1358"/>
          <a:stretch/>
        </p:blipFill>
        <p:spPr>
          <a:xfrm>
            <a:off x="761695" y="6452921"/>
            <a:ext cx="95098" cy="123444"/>
          </a:xfrm>
          <a:prstGeom prst="rect">
            <a:avLst/>
          </a:prstGeom>
        </p:spPr>
      </p:pic>
      <p:sp>
        <p:nvSpPr>
          <p:cNvPr id="83" name="Text 65"/>
          <p:cNvSpPr txBox="1"/>
          <p:nvPr/>
        </p:nvSpPr>
        <p:spPr>
          <a:xfrm>
            <a:off x="10001707" y="6429146"/>
            <a:ext cx="1429207"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9620402" y="95098"/>
            <a:ext cx="952805" cy="476402"/>
          </a:xfrm>
          <a:prstGeom prst="roundRect">
            <a:avLst>
              <a:gd name="adj" fmla="val 61420"/>
            </a:avLst>
          </a:prstGeom>
          <a:solidFill>
            <a:srgbClr val="F7A81B"/>
          </a:solidFill>
          <a:ln w="12700">
            <a:solidFill>
              <a:srgbClr val="FFFFFF">
                <a:alpha val="0"/>
              </a:srgbClr>
            </a:solidFill>
            <a:prstDash val="solid"/>
          </a:ln>
        </p:spPr>
        <p:txBody>
          <a:bodyPr/>
          <a:lstStyle/>
          <a:p>
            <a:endParaRPr lang="en-US"/>
          </a:p>
        </p:txBody>
      </p:sp>
      <p:sp>
        <p:nvSpPr>
          <p:cNvPr id="7" name="Shape 5"/>
          <p:cNvSpPr/>
          <p:nvPr/>
        </p:nvSpPr>
        <p:spPr>
          <a:xfrm>
            <a:off x="3813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42675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81537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8"/>
          <p:cNvSpPr/>
          <p:nvPr/>
        </p:nvSpPr>
        <p:spPr>
          <a:xfrm>
            <a:off x="571500" y="161849"/>
            <a:ext cx="342900" cy="342900"/>
          </a:xfrm>
          <a:prstGeom prst="roundRect">
            <a:avLst>
              <a:gd name="adj" fmla="val 118519"/>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657454" y="247802"/>
            <a:ext cx="171907" cy="171907"/>
          </a:xfrm>
          <a:prstGeom prst="rect">
            <a:avLst/>
          </a:prstGeom>
        </p:spPr>
      </p:pic>
      <p:sp>
        <p:nvSpPr>
          <p:cNvPr id="12" name="Text 9"/>
          <p:cNvSpPr txBox="1"/>
          <p:nvPr/>
        </p:nvSpPr>
        <p:spPr>
          <a:xfrm>
            <a:off x="1047902" y="204826"/>
            <a:ext cx="3882542" cy="257861"/>
          </a:xfrm>
          <a:prstGeom prst="rect">
            <a:avLst/>
          </a:prstGeom>
          <a:noFill/>
          <a:ln/>
        </p:spPr>
        <p:txBody>
          <a:bodyPr wrap="square" lIns="0" tIns="0" rIns="0" bIns="0" rtlCol="0" anchor="ctr"/>
          <a:lstStyle/>
          <a:p>
            <a:pPr marL="0" indent="0" algn="l">
              <a:buNone/>
            </a:pPr>
            <a:r>
              <a:rPr lang="en-US" sz="1600" b="1" dirty="0">
                <a:solidFill>
                  <a:srgbClr val="4A5568"/>
                </a:solidFill>
                <a:latin typeface="Montserrat" pitchFamily="34" charset="0"/>
                <a:ea typeface="Montserrat" pitchFamily="34" charset="-122"/>
                <a:cs typeface="Montserrat" pitchFamily="34" charset="-120"/>
              </a:rPr>
              <a:t>ĐIỀU KIỆN KHỞI CÔNG 25/5/2026</a:t>
            </a:r>
            <a:endParaRPr lang="en-US" sz="1600" dirty="0"/>
          </a:p>
        </p:txBody>
      </p:sp>
      <p:sp>
        <p:nvSpPr>
          <p:cNvPr id="13" name="Text 10"/>
          <p:cNvSpPr txBox="1"/>
          <p:nvPr/>
        </p:nvSpPr>
        <p:spPr>
          <a:xfrm>
            <a:off x="9658807" y="147218"/>
            <a:ext cx="876910" cy="22860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14</a:t>
            </a:r>
            <a:endParaRPr lang="en-US" sz="1800" dirty="0"/>
          </a:p>
        </p:txBody>
      </p:sp>
      <p:sp>
        <p:nvSpPr>
          <p:cNvPr id="14" name="Text 11"/>
          <p:cNvSpPr txBox="1"/>
          <p:nvPr/>
        </p:nvSpPr>
        <p:spPr>
          <a:xfrm>
            <a:off x="9658807" y="375818"/>
            <a:ext cx="876910" cy="143561"/>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Open Sans" pitchFamily="34" charset="0"/>
                <a:ea typeface="Open Sans" pitchFamily="34" charset="-122"/>
                <a:cs typeface="Open Sans" pitchFamily="34" charset="-120"/>
              </a:rPr>
              <a:t>ngày còn lại</a:t>
            </a:r>
            <a:endParaRPr lang="en-US" sz="800" dirty="0"/>
          </a:p>
        </p:txBody>
      </p:sp>
      <p:sp>
        <p:nvSpPr>
          <p:cNvPr id="15" name="Text 12"/>
          <p:cNvSpPr txBox="1"/>
          <p:nvPr/>
        </p:nvSpPr>
        <p:spPr>
          <a:xfrm>
            <a:off x="10868558" y="237744"/>
            <a:ext cx="942746" cy="191110"/>
          </a:xfrm>
          <a:prstGeom prst="rect">
            <a:avLst/>
          </a:prstGeom>
          <a:noFill/>
          <a:ln/>
        </p:spPr>
        <p:txBody>
          <a:bodyPr wrap="square" lIns="0" tIns="0" rIns="0" bIns="0" rtlCol="0" anchor="ctr"/>
          <a:lstStyle/>
          <a:p>
            <a:pPr marL="0" indent="0" algn="l">
              <a:buNone/>
            </a:pPr>
            <a:r>
              <a:rPr lang="en-US" sz="1100" b="1" dirty="0">
                <a:solidFill>
                  <a:srgbClr val="4A5568"/>
                </a:solidFill>
                <a:latin typeface="Open Sans" pitchFamily="34" charset="0"/>
                <a:ea typeface="Open Sans" pitchFamily="34" charset="-122"/>
                <a:cs typeface="Open Sans" pitchFamily="34" charset="-120"/>
              </a:rPr>
              <a:t>25/05/2026</a:t>
            </a:r>
            <a:endParaRPr lang="en-US" sz="1100" dirty="0"/>
          </a:p>
        </p:txBody>
      </p:sp>
      <p:pic>
        <p:nvPicPr>
          <p:cNvPr id="16" name="Image 1" descr="preencoded.png"/>
          <p:cNvPicPr>
            <a:picLocks noChangeAspect="1"/>
          </p:cNvPicPr>
          <p:nvPr/>
        </p:nvPicPr>
        <p:blipFill>
          <a:blip r:embed="rId4"/>
          <a:srcRect t="-556" b="-556"/>
          <a:stretch/>
        </p:blipFill>
        <p:spPr>
          <a:xfrm>
            <a:off x="10668305" y="265176"/>
            <a:ext cx="123444" cy="142646"/>
          </a:xfrm>
          <a:prstGeom prst="rect">
            <a:avLst/>
          </a:prstGeom>
        </p:spPr>
      </p:pic>
      <p:sp>
        <p:nvSpPr>
          <p:cNvPr id="17" name="Shape 13"/>
          <p:cNvSpPr/>
          <p:nvPr/>
        </p:nvSpPr>
        <p:spPr>
          <a:xfrm>
            <a:off x="5715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8" name="Image 2" descr="preencoded.png"/>
          <p:cNvPicPr>
            <a:picLocks noChangeAspect="1"/>
          </p:cNvPicPr>
          <p:nvPr/>
        </p:nvPicPr>
        <p:blipFill>
          <a:blip r:embed="rId5"/>
          <a:srcRect/>
          <a:stretch/>
        </p:blipFill>
        <p:spPr>
          <a:xfrm>
            <a:off x="647395" y="1080821"/>
            <a:ext cx="152705" cy="152705"/>
          </a:xfrm>
          <a:prstGeom prst="rect">
            <a:avLst/>
          </a:prstGeom>
        </p:spPr>
      </p:pic>
      <p:sp>
        <p:nvSpPr>
          <p:cNvPr id="19" name="Text 14"/>
          <p:cNvSpPr txBox="1"/>
          <p:nvPr/>
        </p:nvSpPr>
        <p:spPr>
          <a:xfrm>
            <a:off x="972007" y="1067105"/>
            <a:ext cx="2352751"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Công việc cần làm ngay</a:t>
            </a:r>
            <a:endParaRPr lang="en-US" sz="1200" dirty="0"/>
          </a:p>
        </p:txBody>
      </p:sp>
      <p:sp>
        <p:nvSpPr>
          <p:cNvPr id="20" name="Shape 15"/>
          <p:cNvSpPr/>
          <p:nvPr/>
        </p:nvSpPr>
        <p:spPr>
          <a:xfrm>
            <a:off x="3417113" y="1037844"/>
            <a:ext cx="437998"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21" name="Text 16"/>
          <p:cNvSpPr/>
          <p:nvPr/>
        </p:nvSpPr>
        <p:spPr>
          <a:xfrm>
            <a:off x="3417113" y="1037844"/>
            <a:ext cx="438912"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8/10</a:t>
            </a:r>
            <a:endParaRPr lang="en-US" sz="900" dirty="0"/>
          </a:p>
        </p:txBody>
      </p:sp>
      <p:sp>
        <p:nvSpPr>
          <p:cNvPr id="22" name="Shape 17"/>
          <p:cNvSpPr/>
          <p:nvPr/>
        </p:nvSpPr>
        <p:spPr>
          <a:xfrm>
            <a:off x="5715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23" name="Shape 18"/>
          <p:cNvSpPr/>
          <p:nvPr/>
        </p:nvSpPr>
        <p:spPr>
          <a:xfrm>
            <a:off x="5715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24" name="Shape 19"/>
          <p:cNvSpPr/>
          <p:nvPr/>
        </p:nvSpPr>
        <p:spPr>
          <a:xfrm>
            <a:off x="724205" y="1762049"/>
            <a:ext cx="190195" cy="190195"/>
          </a:xfrm>
          <a:prstGeom prst="roundRect">
            <a:avLst>
              <a:gd name="adj" fmla="val 192308"/>
            </a:avLst>
          </a:prstGeom>
          <a:solidFill>
            <a:srgbClr val="808080"/>
          </a:solidFill>
          <a:ln w="25400">
            <a:solidFill>
              <a:srgbClr val="808080"/>
            </a:solidFill>
            <a:prstDash val="solid"/>
          </a:ln>
        </p:spPr>
        <p:txBody>
          <a:bodyPr/>
          <a:lstStyle/>
          <a:p>
            <a:endParaRPr lang="en-US"/>
          </a:p>
        </p:txBody>
      </p:sp>
      <p:pic>
        <p:nvPicPr>
          <p:cNvPr id="25" name="Image 3" descr="preencoded.png"/>
          <p:cNvPicPr>
            <a:picLocks noChangeAspect="1"/>
          </p:cNvPicPr>
          <p:nvPr/>
        </p:nvPicPr>
        <p:blipFill>
          <a:blip r:embed="rId6"/>
          <a:srcRect l="-1677" r="-1677"/>
          <a:stretch/>
        </p:blipFill>
        <p:spPr>
          <a:xfrm>
            <a:off x="771754" y="1805026"/>
            <a:ext cx="95098" cy="105156"/>
          </a:xfrm>
          <a:prstGeom prst="rect">
            <a:avLst/>
          </a:prstGeom>
        </p:spPr>
      </p:pic>
      <p:sp>
        <p:nvSpPr>
          <p:cNvPr id="26" name="Text 20"/>
          <p:cNvSpPr txBox="1"/>
          <p:nvPr/>
        </p:nvSpPr>
        <p:spPr>
          <a:xfrm>
            <a:off x="1028700" y="1742846"/>
            <a:ext cx="175747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San gạt mặt bằng CT02-1</a:t>
            </a:r>
            <a:endParaRPr lang="en-US" sz="900" dirty="0"/>
          </a:p>
        </p:txBody>
      </p:sp>
      <p:sp>
        <p:nvSpPr>
          <p:cNvPr id="27" name="Shape 21"/>
          <p:cNvSpPr/>
          <p:nvPr/>
        </p:nvSpPr>
        <p:spPr>
          <a:xfrm>
            <a:off x="2558491"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28" name="Text 22"/>
          <p:cNvSpPr/>
          <p:nvPr/>
        </p:nvSpPr>
        <p:spPr>
          <a:xfrm>
            <a:off x="2558491"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29" name="Text 23"/>
          <p:cNvSpPr txBox="1"/>
          <p:nvPr/>
        </p:nvSpPr>
        <p:spPr>
          <a:xfrm>
            <a:off x="10287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Vét bùn, tạo rãnh thoát nước, phơi nền</a:t>
            </a:r>
            <a:endParaRPr lang="en-US" sz="900" dirty="0"/>
          </a:p>
        </p:txBody>
      </p:sp>
      <p:pic>
        <p:nvPicPr>
          <p:cNvPr id="30" name="Image 4" descr="preencoded.png"/>
          <p:cNvPicPr>
            <a:picLocks noChangeAspect="1"/>
          </p:cNvPicPr>
          <p:nvPr/>
        </p:nvPicPr>
        <p:blipFill>
          <a:blip r:embed="rId7"/>
          <a:srcRect/>
          <a:stretch/>
        </p:blipFill>
        <p:spPr>
          <a:xfrm>
            <a:off x="1028700" y="2137867"/>
            <a:ext cx="105156" cy="105156"/>
          </a:xfrm>
          <a:prstGeom prst="rect">
            <a:avLst/>
          </a:prstGeom>
        </p:spPr>
      </p:pic>
      <p:sp>
        <p:nvSpPr>
          <p:cNvPr id="31" name="Text 24"/>
          <p:cNvSpPr txBox="1"/>
          <p:nvPr/>
        </p:nvSpPr>
        <p:spPr>
          <a:xfrm>
            <a:off x="1171346" y="211866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32" name="Shape 25"/>
          <p:cNvSpPr/>
          <p:nvPr/>
        </p:nvSpPr>
        <p:spPr>
          <a:xfrm>
            <a:off x="5715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33" name="Shape 26"/>
          <p:cNvSpPr/>
          <p:nvPr/>
        </p:nvSpPr>
        <p:spPr>
          <a:xfrm>
            <a:off x="5715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34" name="Shape 27"/>
          <p:cNvSpPr/>
          <p:nvPr/>
        </p:nvSpPr>
        <p:spPr>
          <a:xfrm>
            <a:off x="724205" y="2572207"/>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35" name="Text 28"/>
          <p:cNvSpPr txBox="1"/>
          <p:nvPr/>
        </p:nvSpPr>
        <p:spPr>
          <a:xfrm>
            <a:off x="1028700" y="2553005"/>
            <a:ext cx="2108606"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Lắp dựng hàng rào phía Đông</a:t>
            </a:r>
            <a:endParaRPr lang="en-US" sz="900" dirty="0"/>
          </a:p>
        </p:txBody>
      </p:sp>
      <p:sp>
        <p:nvSpPr>
          <p:cNvPr id="36" name="Shape 29"/>
          <p:cNvSpPr/>
          <p:nvPr/>
        </p:nvSpPr>
        <p:spPr>
          <a:xfrm>
            <a:off x="2850185"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37" name="Text 30"/>
          <p:cNvSpPr/>
          <p:nvPr/>
        </p:nvSpPr>
        <p:spPr>
          <a:xfrm>
            <a:off x="2850185"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8" name="Text 31"/>
          <p:cNvSpPr txBox="1"/>
          <p:nvPr/>
        </p:nvSpPr>
        <p:spPr>
          <a:xfrm>
            <a:off x="1028700" y="2752344"/>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Giáp khu dân cư X2A, đảm bảo an toàn</a:t>
            </a:r>
            <a:endParaRPr lang="en-US" sz="900" dirty="0"/>
          </a:p>
        </p:txBody>
      </p:sp>
      <p:pic>
        <p:nvPicPr>
          <p:cNvPr id="39" name="Image 5" descr="preencoded.png"/>
          <p:cNvPicPr>
            <a:picLocks noChangeAspect="1"/>
          </p:cNvPicPr>
          <p:nvPr/>
        </p:nvPicPr>
        <p:blipFill>
          <a:blip r:embed="rId7"/>
          <a:srcRect/>
          <a:stretch/>
        </p:blipFill>
        <p:spPr>
          <a:xfrm>
            <a:off x="1028700" y="2947111"/>
            <a:ext cx="105156" cy="105156"/>
          </a:xfrm>
          <a:prstGeom prst="rect">
            <a:avLst/>
          </a:prstGeom>
        </p:spPr>
      </p:pic>
      <p:sp>
        <p:nvSpPr>
          <p:cNvPr id="40" name="Text 32"/>
          <p:cNvSpPr txBox="1"/>
          <p:nvPr/>
        </p:nvSpPr>
        <p:spPr>
          <a:xfrm>
            <a:off x="1171346" y="2927909"/>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1-2 ngày</a:t>
            </a:r>
            <a:endParaRPr lang="en-US" sz="800" dirty="0"/>
          </a:p>
        </p:txBody>
      </p:sp>
      <p:sp>
        <p:nvSpPr>
          <p:cNvPr id="41" name="Shape 33"/>
          <p:cNvSpPr/>
          <p:nvPr/>
        </p:nvSpPr>
        <p:spPr>
          <a:xfrm>
            <a:off x="5715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42" name="Shape 34"/>
          <p:cNvSpPr/>
          <p:nvPr/>
        </p:nvSpPr>
        <p:spPr>
          <a:xfrm>
            <a:off x="5715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43" name="Shape 35"/>
          <p:cNvSpPr/>
          <p:nvPr/>
        </p:nvSpPr>
        <p:spPr>
          <a:xfrm>
            <a:off x="7242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44" name="Text 36"/>
          <p:cNvSpPr txBox="1"/>
          <p:nvPr/>
        </p:nvSpPr>
        <p:spPr>
          <a:xfrm>
            <a:off x="1028700" y="3362249"/>
            <a:ext cx="2301545"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Hợp đồng đơn vị tổ chức sự kiện</a:t>
            </a:r>
            <a:endParaRPr lang="en-US" sz="900" dirty="0"/>
          </a:p>
        </p:txBody>
      </p:sp>
      <p:sp>
        <p:nvSpPr>
          <p:cNvPr id="45" name="Shape 37"/>
          <p:cNvSpPr/>
          <p:nvPr/>
        </p:nvSpPr>
        <p:spPr>
          <a:xfrm>
            <a:off x="301752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46" name="Text 38"/>
          <p:cNvSpPr/>
          <p:nvPr/>
        </p:nvSpPr>
        <p:spPr>
          <a:xfrm>
            <a:off x="3017520"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47" name="Text 39"/>
          <p:cNvSpPr txBox="1"/>
          <p:nvPr/>
        </p:nvSpPr>
        <p:spPr>
          <a:xfrm>
            <a:off x="10287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Chuẩn bị hậu cần lễ khởi công</a:t>
            </a:r>
            <a:endParaRPr lang="en-US" sz="900" dirty="0"/>
          </a:p>
        </p:txBody>
      </p:sp>
      <p:pic>
        <p:nvPicPr>
          <p:cNvPr id="48" name="Image 6" descr="preencoded.png"/>
          <p:cNvPicPr>
            <a:picLocks noChangeAspect="1"/>
          </p:cNvPicPr>
          <p:nvPr/>
        </p:nvPicPr>
        <p:blipFill>
          <a:blip r:embed="rId7"/>
          <a:srcRect/>
          <a:stretch/>
        </p:blipFill>
        <p:spPr>
          <a:xfrm>
            <a:off x="1028700" y="3756355"/>
            <a:ext cx="105156" cy="105156"/>
          </a:xfrm>
          <a:prstGeom prst="rect">
            <a:avLst/>
          </a:prstGeom>
        </p:spPr>
      </p:pic>
      <p:sp>
        <p:nvSpPr>
          <p:cNvPr id="49" name="Text 40"/>
          <p:cNvSpPr txBox="1"/>
          <p:nvPr/>
        </p:nvSpPr>
        <p:spPr>
          <a:xfrm>
            <a:off x="1171346" y="3738067"/>
            <a:ext cx="426110"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 ngày</a:t>
            </a:r>
            <a:endParaRPr lang="en-US" sz="800" dirty="0"/>
          </a:p>
        </p:txBody>
      </p:sp>
      <p:sp>
        <p:nvSpPr>
          <p:cNvPr id="50" name="Shape 41"/>
          <p:cNvSpPr/>
          <p:nvPr/>
        </p:nvSpPr>
        <p:spPr>
          <a:xfrm>
            <a:off x="5715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51" name="Shape 42"/>
          <p:cNvSpPr/>
          <p:nvPr/>
        </p:nvSpPr>
        <p:spPr>
          <a:xfrm>
            <a:off x="5715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52" name="Shape 43"/>
          <p:cNvSpPr/>
          <p:nvPr/>
        </p:nvSpPr>
        <p:spPr>
          <a:xfrm>
            <a:off x="7242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53" name="Text 44"/>
          <p:cNvSpPr txBox="1"/>
          <p:nvPr/>
        </p:nvSpPr>
        <p:spPr>
          <a:xfrm>
            <a:off x="1028700" y="4172407"/>
            <a:ext cx="207477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lập nguồn điện thi công</a:t>
            </a:r>
            <a:endParaRPr lang="en-US" sz="900" dirty="0"/>
          </a:p>
        </p:txBody>
      </p:sp>
      <p:sp>
        <p:nvSpPr>
          <p:cNvPr id="54" name="Shape 45"/>
          <p:cNvSpPr/>
          <p:nvPr/>
        </p:nvSpPr>
        <p:spPr>
          <a:xfrm>
            <a:off x="2822753" y="4181551"/>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55" name="Text 46"/>
          <p:cNvSpPr/>
          <p:nvPr/>
        </p:nvSpPr>
        <p:spPr>
          <a:xfrm>
            <a:off x="2822753" y="4181551"/>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56" name="Text 47"/>
          <p:cNvSpPr txBox="1"/>
          <p:nvPr/>
        </p:nvSpPr>
        <p:spPr>
          <a:xfrm>
            <a:off x="10287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Trạm biến áp 1600kVA, điện 3 pha</a:t>
            </a:r>
            <a:endParaRPr lang="en-US" sz="900" dirty="0"/>
          </a:p>
        </p:txBody>
      </p:sp>
      <p:pic>
        <p:nvPicPr>
          <p:cNvPr id="57" name="Image 7" descr="preencoded.png"/>
          <p:cNvPicPr>
            <a:picLocks noChangeAspect="1"/>
          </p:cNvPicPr>
          <p:nvPr/>
        </p:nvPicPr>
        <p:blipFill>
          <a:blip r:embed="rId7"/>
          <a:srcRect/>
          <a:stretch/>
        </p:blipFill>
        <p:spPr>
          <a:xfrm>
            <a:off x="1028700" y="4566514"/>
            <a:ext cx="105156" cy="105156"/>
          </a:xfrm>
          <a:prstGeom prst="rect">
            <a:avLst/>
          </a:prstGeom>
        </p:spPr>
      </p:pic>
      <p:sp>
        <p:nvSpPr>
          <p:cNvPr id="58" name="Text 48"/>
          <p:cNvSpPr txBox="1"/>
          <p:nvPr/>
        </p:nvSpPr>
        <p:spPr>
          <a:xfrm>
            <a:off x="1171346" y="4547311"/>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5-7 ngày</a:t>
            </a:r>
            <a:endParaRPr lang="en-US" sz="800" dirty="0"/>
          </a:p>
        </p:txBody>
      </p:sp>
      <p:sp>
        <p:nvSpPr>
          <p:cNvPr id="59" name="Shape 49"/>
          <p:cNvSpPr/>
          <p:nvPr/>
        </p:nvSpPr>
        <p:spPr>
          <a:xfrm>
            <a:off x="571500" y="4858207"/>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60" name="Shape 50"/>
          <p:cNvSpPr/>
          <p:nvPr/>
        </p:nvSpPr>
        <p:spPr>
          <a:xfrm>
            <a:off x="571500" y="4858207"/>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61" name="Shape 51"/>
          <p:cNvSpPr/>
          <p:nvPr/>
        </p:nvSpPr>
        <p:spPr>
          <a:xfrm>
            <a:off x="724205" y="5000854"/>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62" name="Text 52"/>
          <p:cNvSpPr txBox="1"/>
          <p:nvPr/>
        </p:nvSpPr>
        <p:spPr>
          <a:xfrm>
            <a:off x="1028700" y="4981651"/>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Xây dựng lán trại công nhân</a:t>
            </a:r>
            <a:endParaRPr lang="en-US" sz="900" dirty="0"/>
          </a:p>
        </p:txBody>
      </p:sp>
      <p:sp>
        <p:nvSpPr>
          <p:cNvPr id="63" name="Shape 53"/>
          <p:cNvSpPr/>
          <p:nvPr/>
        </p:nvSpPr>
        <p:spPr>
          <a:xfrm>
            <a:off x="2760574" y="4990795"/>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64" name="Text 54"/>
          <p:cNvSpPr/>
          <p:nvPr/>
        </p:nvSpPr>
        <p:spPr>
          <a:xfrm>
            <a:off x="2760574" y="4990795"/>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65" name="Text 55"/>
          <p:cNvSpPr txBox="1"/>
          <p:nvPr/>
        </p:nvSpPr>
        <p:spPr>
          <a:xfrm>
            <a:off x="1028700" y="5181905"/>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Văn phòng điều hành, nhà ở tạm</a:t>
            </a:r>
            <a:endParaRPr lang="en-US" sz="900" dirty="0"/>
          </a:p>
        </p:txBody>
      </p:sp>
      <p:pic>
        <p:nvPicPr>
          <p:cNvPr id="66" name="Image 8" descr="preencoded.png"/>
          <p:cNvPicPr>
            <a:picLocks noChangeAspect="1"/>
          </p:cNvPicPr>
          <p:nvPr/>
        </p:nvPicPr>
        <p:blipFill>
          <a:blip r:embed="rId7"/>
          <a:srcRect/>
          <a:stretch/>
        </p:blipFill>
        <p:spPr>
          <a:xfrm>
            <a:off x="1028700" y="5375758"/>
            <a:ext cx="105156" cy="105156"/>
          </a:xfrm>
          <a:prstGeom prst="rect">
            <a:avLst/>
          </a:prstGeom>
        </p:spPr>
      </p:pic>
      <p:sp>
        <p:nvSpPr>
          <p:cNvPr id="67" name="Text 56"/>
          <p:cNvSpPr txBox="1"/>
          <p:nvPr/>
        </p:nvSpPr>
        <p:spPr>
          <a:xfrm>
            <a:off x="1171346" y="535655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3-4 ngày</a:t>
            </a:r>
            <a:endParaRPr lang="en-US" sz="800" dirty="0"/>
          </a:p>
        </p:txBody>
      </p:sp>
      <p:sp>
        <p:nvSpPr>
          <p:cNvPr id="68" name="Shape 57"/>
          <p:cNvSpPr/>
          <p:nvPr/>
        </p:nvSpPr>
        <p:spPr>
          <a:xfrm>
            <a:off x="44577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9" name="Image 9" descr="preencoded.png"/>
          <p:cNvPicPr>
            <a:picLocks noChangeAspect="1"/>
          </p:cNvPicPr>
          <p:nvPr/>
        </p:nvPicPr>
        <p:blipFill>
          <a:blip r:embed="rId8"/>
          <a:srcRect/>
          <a:stretch/>
        </p:blipFill>
        <p:spPr>
          <a:xfrm>
            <a:off x="4533595" y="1080821"/>
            <a:ext cx="152705" cy="152705"/>
          </a:xfrm>
          <a:prstGeom prst="rect">
            <a:avLst/>
          </a:prstGeom>
        </p:spPr>
      </p:pic>
      <p:sp>
        <p:nvSpPr>
          <p:cNvPr id="70" name="Text 58"/>
          <p:cNvSpPr txBox="1"/>
          <p:nvPr/>
        </p:nvSpPr>
        <p:spPr>
          <a:xfrm>
            <a:off x="4858207" y="1067105"/>
            <a:ext cx="2419502"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Vấn đề cần giải quyết</a:t>
            </a:r>
            <a:endParaRPr lang="en-US" sz="1200" dirty="0"/>
          </a:p>
        </p:txBody>
      </p:sp>
      <p:sp>
        <p:nvSpPr>
          <p:cNvPr id="71" name="Shape 59"/>
          <p:cNvSpPr/>
          <p:nvPr/>
        </p:nvSpPr>
        <p:spPr>
          <a:xfrm>
            <a:off x="7368235" y="1037844"/>
            <a:ext cx="371246"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72" name="Text 60"/>
          <p:cNvSpPr/>
          <p:nvPr/>
        </p:nvSpPr>
        <p:spPr>
          <a:xfrm>
            <a:off x="7368235" y="1037844"/>
            <a:ext cx="372161"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4/6</a:t>
            </a:r>
            <a:endParaRPr lang="en-US" sz="900" dirty="0"/>
          </a:p>
        </p:txBody>
      </p:sp>
      <p:sp>
        <p:nvSpPr>
          <p:cNvPr id="73" name="Shape 61"/>
          <p:cNvSpPr/>
          <p:nvPr/>
        </p:nvSpPr>
        <p:spPr>
          <a:xfrm>
            <a:off x="4457700" y="1619402"/>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74" name="Shape 62"/>
          <p:cNvSpPr/>
          <p:nvPr/>
        </p:nvSpPr>
        <p:spPr>
          <a:xfrm>
            <a:off x="4457700" y="1619402"/>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75" name="Shape 63"/>
          <p:cNvSpPr/>
          <p:nvPr/>
        </p:nvSpPr>
        <p:spPr>
          <a:xfrm>
            <a:off x="4610405" y="1762049"/>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76" name="Text 64"/>
          <p:cNvSpPr txBox="1"/>
          <p:nvPr/>
        </p:nvSpPr>
        <p:spPr>
          <a:xfrm>
            <a:off x="4914900" y="1742846"/>
            <a:ext cx="1828800"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GPMB chủ ao chưa đồng ý</a:t>
            </a:r>
            <a:endParaRPr lang="en-US" sz="900" dirty="0"/>
          </a:p>
        </p:txBody>
      </p:sp>
      <p:sp>
        <p:nvSpPr>
          <p:cNvPr id="77" name="Shape 65"/>
          <p:cNvSpPr/>
          <p:nvPr/>
        </p:nvSpPr>
        <p:spPr>
          <a:xfrm>
            <a:off x="652790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78" name="Text 66"/>
          <p:cNvSpPr/>
          <p:nvPr/>
        </p:nvSpPr>
        <p:spPr>
          <a:xfrm>
            <a:off x="652790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9" name="Text 67"/>
          <p:cNvSpPr txBox="1"/>
          <p:nvPr/>
        </p:nvSpPr>
        <p:spPr>
          <a:xfrm>
            <a:off x="49149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đền bù hỗ trợ tài sản trên đất</a:t>
            </a:r>
            <a:endParaRPr lang="en-US" sz="900" dirty="0"/>
          </a:p>
        </p:txBody>
      </p:sp>
      <p:pic>
        <p:nvPicPr>
          <p:cNvPr id="80" name="Image 10" descr="preencoded.png"/>
          <p:cNvPicPr>
            <a:picLocks noChangeAspect="1"/>
          </p:cNvPicPr>
          <p:nvPr/>
        </p:nvPicPr>
        <p:blipFill>
          <a:blip r:embed="rId9"/>
          <a:srcRect/>
          <a:stretch/>
        </p:blipFill>
        <p:spPr>
          <a:xfrm>
            <a:off x="4914900" y="2137867"/>
            <a:ext cx="105156" cy="105156"/>
          </a:xfrm>
          <a:prstGeom prst="rect">
            <a:avLst/>
          </a:prstGeom>
        </p:spPr>
      </p:pic>
      <p:sp>
        <p:nvSpPr>
          <p:cNvPr id="81" name="Text 68"/>
          <p:cNvSpPr txBox="1"/>
          <p:nvPr/>
        </p:nvSpPr>
        <p:spPr>
          <a:xfrm>
            <a:off x="5057546" y="2118665"/>
            <a:ext cx="987552"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Cần xử lý ngay</a:t>
            </a:r>
            <a:endParaRPr lang="en-US" sz="800" dirty="0"/>
          </a:p>
        </p:txBody>
      </p:sp>
      <p:sp>
        <p:nvSpPr>
          <p:cNvPr id="82" name="Shape 69"/>
          <p:cNvSpPr/>
          <p:nvPr/>
        </p:nvSpPr>
        <p:spPr>
          <a:xfrm>
            <a:off x="4457700" y="2428646"/>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83" name="Shape 70"/>
          <p:cNvSpPr/>
          <p:nvPr/>
        </p:nvSpPr>
        <p:spPr>
          <a:xfrm>
            <a:off x="4457700" y="2428646"/>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84" name="Shape 71"/>
          <p:cNvSpPr/>
          <p:nvPr/>
        </p:nvSpPr>
        <p:spPr>
          <a:xfrm>
            <a:off x="4610405" y="2572207"/>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85" name="Text 72"/>
          <p:cNvSpPr txBox="1"/>
          <p:nvPr/>
        </p:nvSpPr>
        <p:spPr>
          <a:xfrm>
            <a:off x="4914900" y="2553005"/>
            <a:ext cx="16888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Đường vào chưa liên hệ</a:t>
            </a:r>
            <a:endParaRPr lang="en-US" sz="900" dirty="0"/>
          </a:p>
        </p:txBody>
      </p:sp>
      <p:sp>
        <p:nvSpPr>
          <p:cNvPr id="86" name="Shape 73"/>
          <p:cNvSpPr/>
          <p:nvPr/>
        </p:nvSpPr>
        <p:spPr>
          <a:xfrm>
            <a:off x="6389827"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87" name="Text 74"/>
          <p:cNvSpPr/>
          <p:nvPr/>
        </p:nvSpPr>
        <p:spPr>
          <a:xfrm>
            <a:off x="6389827"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88" name="Text 75"/>
          <p:cNvSpPr txBox="1"/>
          <p:nvPr/>
        </p:nvSpPr>
        <p:spPr>
          <a:xfrm>
            <a:off x="4914900" y="2752344"/>
            <a:ext cx="320863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liên hệ chính quyền về đường từ Vành đai 3</a:t>
            </a:r>
            <a:endParaRPr lang="en-US" sz="900" dirty="0"/>
          </a:p>
        </p:txBody>
      </p:sp>
      <p:pic>
        <p:nvPicPr>
          <p:cNvPr id="89" name="Image 11" descr="preencoded.png"/>
          <p:cNvPicPr>
            <a:picLocks noChangeAspect="1"/>
          </p:cNvPicPr>
          <p:nvPr/>
        </p:nvPicPr>
        <p:blipFill>
          <a:blip r:embed="rId10"/>
          <a:srcRect/>
          <a:stretch/>
        </p:blipFill>
        <p:spPr>
          <a:xfrm>
            <a:off x="4914900" y="2947111"/>
            <a:ext cx="105156" cy="105156"/>
          </a:xfrm>
          <a:prstGeom prst="rect">
            <a:avLst/>
          </a:prstGeom>
        </p:spPr>
      </p:pic>
      <p:sp>
        <p:nvSpPr>
          <p:cNvPr id="90" name="Text 76"/>
          <p:cNvSpPr txBox="1"/>
          <p:nvPr/>
        </p:nvSpPr>
        <p:spPr>
          <a:xfrm>
            <a:off x="5057546" y="2927909"/>
            <a:ext cx="566014"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3-5 ngày</a:t>
            </a:r>
            <a:endParaRPr lang="en-US" sz="800" dirty="0"/>
          </a:p>
        </p:txBody>
      </p:sp>
      <p:sp>
        <p:nvSpPr>
          <p:cNvPr id="91" name="Shape 77"/>
          <p:cNvSpPr/>
          <p:nvPr/>
        </p:nvSpPr>
        <p:spPr>
          <a:xfrm>
            <a:off x="44577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92" name="Shape 78"/>
          <p:cNvSpPr/>
          <p:nvPr/>
        </p:nvSpPr>
        <p:spPr>
          <a:xfrm>
            <a:off x="44577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93" name="Shape 79"/>
          <p:cNvSpPr/>
          <p:nvPr/>
        </p:nvSpPr>
        <p:spPr>
          <a:xfrm>
            <a:off x="46104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94" name="Text 80"/>
          <p:cNvSpPr txBox="1"/>
          <p:nvPr/>
        </p:nvSpPr>
        <p:spPr>
          <a:xfrm>
            <a:off x="4914900" y="3362249"/>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Bãi tập kết chưa thỏa thuận</a:t>
            </a:r>
            <a:endParaRPr lang="en-US" sz="900" dirty="0"/>
          </a:p>
        </p:txBody>
      </p:sp>
      <p:sp>
        <p:nvSpPr>
          <p:cNvPr id="95" name="Shape 81"/>
          <p:cNvSpPr/>
          <p:nvPr/>
        </p:nvSpPr>
        <p:spPr>
          <a:xfrm>
            <a:off x="6642202"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96" name="Text 82"/>
          <p:cNvSpPr/>
          <p:nvPr/>
        </p:nvSpPr>
        <p:spPr>
          <a:xfrm>
            <a:off x="6642202"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97" name="Text 83"/>
          <p:cNvSpPr txBox="1"/>
          <p:nvPr/>
        </p:nvSpPr>
        <p:spPr>
          <a:xfrm>
            <a:off x="49149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thỏa thuận với quận về 50m đường</a:t>
            </a:r>
            <a:endParaRPr lang="en-US" sz="900" dirty="0"/>
          </a:p>
        </p:txBody>
      </p:sp>
      <p:pic>
        <p:nvPicPr>
          <p:cNvPr id="98" name="Image 12" descr="preencoded.png"/>
          <p:cNvPicPr>
            <a:picLocks noChangeAspect="1"/>
          </p:cNvPicPr>
          <p:nvPr/>
        </p:nvPicPr>
        <p:blipFill>
          <a:blip r:embed="rId7"/>
          <a:srcRect/>
          <a:stretch/>
        </p:blipFill>
        <p:spPr>
          <a:xfrm>
            <a:off x="4914900" y="3756355"/>
            <a:ext cx="105156" cy="105156"/>
          </a:xfrm>
          <a:prstGeom prst="rect">
            <a:avLst/>
          </a:prstGeom>
        </p:spPr>
      </p:pic>
      <p:sp>
        <p:nvSpPr>
          <p:cNvPr id="99" name="Text 84"/>
          <p:cNvSpPr txBox="1"/>
          <p:nvPr/>
        </p:nvSpPr>
        <p:spPr>
          <a:xfrm>
            <a:off x="5057546" y="3738067"/>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100" name="Shape 85"/>
          <p:cNvSpPr/>
          <p:nvPr/>
        </p:nvSpPr>
        <p:spPr>
          <a:xfrm>
            <a:off x="44577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01" name="Shape 86"/>
          <p:cNvSpPr/>
          <p:nvPr/>
        </p:nvSpPr>
        <p:spPr>
          <a:xfrm>
            <a:off x="44577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02" name="Shape 87"/>
          <p:cNvSpPr/>
          <p:nvPr/>
        </p:nvSpPr>
        <p:spPr>
          <a:xfrm>
            <a:off x="46104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103" name="Text 88"/>
          <p:cNvSpPr txBox="1"/>
          <p:nvPr/>
        </p:nvSpPr>
        <p:spPr>
          <a:xfrm>
            <a:off x="4914900" y="4172407"/>
            <a:ext cx="178033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kế chưa hoàn thiện</a:t>
            </a:r>
            <a:endParaRPr lang="en-US" sz="900" dirty="0"/>
          </a:p>
        </p:txBody>
      </p:sp>
      <p:sp>
        <p:nvSpPr>
          <p:cNvPr id="104" name="Shape 89"/>
          <p:cNvSpPr/>
          <p:nvPr/>
        </p:nvSpPr>
        <p:spPr>
          <a:xfrm>
            <a:off x="6463894"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05" name="Text 90"/>
          <p:cNvSpPr/>
          <p:nvPr/>
        </p:nvSpPr>
        <p:spPr>
          <a:xfrm>
            <a:off x="6463894" y="4181551"/>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06" name="Text 91"/>
          <p:cNvSpPr txBox="1"/>
          <p:nvPr/>
        </p:nvSpPr>
        <p:spPr>
          <a:xfrm>
            <a:off x="49149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Bản vẽ kết cấu, kiến trúc còn sơ bộ</a:t>
            </a:r>
            <a:endParaRPr lang="en-US" sz="900" dirty="0"/>
          </a:p>
        </p:txBody>
      </p:sp>
      <p:pic>
        <p:nvPicPr>
          <p:cNvPr id="107" name="Image 13" descr="preencoded.png"/>
          <p:cNvPicPr>
            <a:picLocks noChangeAspect="1"/>
          </p:cNvPicPr>
          <p:nvPr/>
        </p:nvPicPr>
        <p:blipFill>
          <a:blip r:embed="rId7"/>
          <a:srcRect/>
          <a:stretch/>
        </p:blipFill>
        <p:spPr>
          <a:xfrm>
            <a:off x="4914900" y="4566514"/>
            <a:ext cx="105156" cy="105156"/>
          </a:xfrm>
          <a:prstGeom prst="rect">
            <a:avLst/>
          </a:prstGeom>
        </p:spPr>
      </p:pic>
      <p:sp>
        <p:nvSpPr>
          <p:cNvPr id="108" name="Text 92"/>
          <p:cNvSpPr txBox="1"/>
          <p:nvPr/>
        </p:nvSpPr>
        <p:spPr>
          <a:xfrm>
            <a:off x="5057546" y="4547311"/>
            <a:ext cx="924458"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cập nhật</a:t>
            </a:r>
            <a:endParaRPr lang="en-US" sz="800" dirty="0"/>
          </a:p>
        </p:txBody>
      </p:sp>
      <p:sp>
        <p:nvSpPr>
          <p:cNvPr id="109" name="Shape 93"/>
          <p:cNvSpPr/>
          <p:nvPr/>
        </p:nvSpPr>
        <p:spPr>
          <a:xfrm>
            <a:off x="4457700" y="4953305"/>
            <a:ext cx="3276295" cy="1143000"/>
          </a:xfrm>
          <a:prstGeom prst="roundRect">
            <a:avLst>
              <a:gd name="adj" fmla="val 10667"/>
            </a:avLst>
          </a:prstGeom>
          <a:solidFill>
            <a:srgbClr val="808080">
              <a:alpha val="5000"/>
            </a:srgbClr>
          </a:solidFill>
          <a:ln w="12700">
            <a:solidFill>
              <a:srgbClr val="808080">
                <a:alpha val="20000"/>
              </a:srgbClr>
            </a:solidFill>
            <a:prstDash val="solid"/>
          </a:ln>
        </p:spPr>
        <p:txBody>
          <a:bodyPr/>
          <a:lstStyle/>
          <a:p>
            <a:endParaRPr lang="en-US"/>
          </a:p>
        </p:txBody>
      </p:sp>
      <p:pic>
        <p:nvPicPr>
          <p:cNvPr id="110" name="Image 14" descr="preencoded.png"/>
          <p:cNvPicPr>
            <a:picLocks noChangeAspect="1"/>
          </p:cNvPicPr>
          <p:nvPr/>
        </p:nvPicPr>
        <p:blipFill>
          <a:blip r:embed="rId11"/>
          <a:srcRect/>
          <a:stretch/>
        </p:blipFill>
        <p:spPr>
          <a:xfrm>
            <a:off x="4581144" y="5100523"/>
            <a:ext cx="123444" cy="123444"/>
          </a:xfrm>
          <a:prstGeom prst="rect">
            <a:avLst/>
          </a:prstGeom>
        </p:spPr>
      </p:pic>
      <p:sp>
        <p:nvSpPr>
          <p:cNvPr id="111" name="Text 94"/>
          <p:cNvSpPr txBox="1"/>
          <p:nvPr/>
        </p:nvSpPr>
        <p:spPr>
          <a:xfrm>
            <a:off x="4762195" y="5076749"/>
            <a:ext cx="1642262" cy="171907"/>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Biện pháp kiểm soát</a:t>
            </a:r>
            <a:endParaRPr lang="en-US" sz="900" dirty="0"/>
          </a:p>
        </p:txBody>
      </p:sp>
      <p:pic>
        <p:nvPicPr>
          <p:cNvPr id="112" name="Image 15" descr="preencoded.png"/>
          <p:cNvPicPr>
            <a:picLocks noChangeAspect="1"/>
          </p:cNvPicPr>
          <p:nvPr/>
        </p:nvPicPr>
        <p:blipFill>
          <a:blip r:embed="rId12"/>
          <a:srcRect/>
          <a:stretch/>
        </p:blipFill>
        <p:spPr>
          <a:xfrm>
            <a:off x="4581144" y="5348326"/>
            <a:ext cx="95098" cy="95098"/>
          </a:xfrm>
          <a:prstGeom prst="rect">
            <a:avLst/>
          </a:prstGeom>
        </p:spPr>
      </p:pic>
      <p:sp>
        <p:nvSpPr>
          <p:cNvPr id="113" name="Text 95"/>
          <p:cNvSpPr txBox="1"/>
          <p:nvPr/>
        </p:nvSpPr>
        <p:spPr>
          <a:xfrm>
            <a:off x="4733849" y="5324551"/>
            <a:ext cx="1357884"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Auto bơm chống ngập</a:t>
            </a:r>
            <a:endParaRPr lang="en-US" sz="800" dirty="0"/>
          </a:p>
        </p:txBody>
      </p:sp>
      <p:pic>
        <p:nvPicPr>
          <p:cNvPr id="114" name="Image 16" descr="preencoded.png"/>
          <p:cNvPicPr>
            <a:picLocks noChangeAspect="1"/>
          </p:cNvPicPr>
          <p:nvPr/>
        </p:nvPicPr>
        <p:blipFill>
          <a:blip r:embed="rId12"/>
          <a:srcRect/>
          <a:stretch/>
        </p:blipFill>
        <p:spPr>
          <a:xfrm>
            <a:off x="6124651" y="5348326"/>
            <a:ext cx="95098" cy="95098"/>
          </a:xfrm>
          <a:prstGeom prst="rect">
            <a:avLst/>
          </a:prstGeom>
        </p:spPr>
      </p:pic>
      <p:sp>
        <p:nvSpPr>
          <p:cNvPr id="115" name="Text 96"/>
          <p:cNvSpPr txBox="1"/>
          <p:nvPr/>
        </p:nvSpPr>
        <p:spPr>
          <a:xfrm>
            <a:off x="6277356" y="5324551"/>
            <a:ext cx="918972"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Giám sát 24/7</a:t>
            </a:r>
            <a:endParaRPr lang="en-US" sz="800" dirty="0"/>
          </a:p>
        </p:txBody>
      </p:sp>
      <p:pic>
        <p:nvPicPr>
          <p:cNvPr id="116" name="Image 17" descr="preencoded.png"/>
          <p:cNvPicPr>
            <a:picLocks noChangeAspect="1"/>
          </p:cNvPicPr>
          <p:nvPr/>
        </p:nvPicPr>
        <p:blipFill>
          <a:blip r:embed="rId12"/>
          <a:srcRect/>
          <a:stretch/>
        </p:blipFill>
        <p:spPr>
          <a:xfrm>
            <a:off x="4581144" y="5548579"/>
            <a:ext cx="95098" cy="95098"/>
          </a:xfrm>
          <a:prstGeom prst="rect">
            <a:avLst/>
          </a:prstGeom>
        </p:spPr>
      </p:pic>
      <p:sp>
        <p:nvSpPr>
          <p:cNvPr id="117" name="Text 97"/>
          <p:cNvSpPr txBox="1"/>
          <p:nvPr/>
        </p:nvSpPr>
        <p:spPr>
          <a:xfrm>
            <a:off x="4733849" y="5524805"/>
            <a:ext cx="1208837"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Hệ thống cảnh báo</a:t>
            </a:r>
            <a:endParaRPr lang="en-US" sz="800" dirty="0"/>
          </a:p>
        </p:txBody>
      </p:sp>
      <p:pic>
        <p:nvPicPr>
          <p:cNvPr id="118" name="Image 18" descr="preencoded.png"/>
          <p:cNvPicPr>
            <a:picLocks noChangeAspect="1"/>
          </p:cNvPicPr>
          <p:nvPr/>
        </p:nvPicPr>
        <p:blipFill>
          <a:blip r:embed="rId12"/>
          <a:srcRect/>
          <a:stretch/>
        </p:blipFill>
        <p:spPr>
          <a:xfrm>
            <a:off x="6124651" y="5548579"/>
            <a:ext cx="95098" cy="95098"/>
          </a:xfrm>
          <a:prstGeom prst="rect">
            <a:avLst/>
          </a:prstGeom>
        </p:spPr>
      </p:pic>
      <p:sp>
        <p:nvSpPr>
          <p:cNvPr id="119" name="Text 98"/>
          <p:cNvSpPr txBox="1"/>
          <p:nvPr/>
        </p:nvSpPr>
        <p:spPr>
          <a:xfrm>
            <a:off x="6277356" y="5524805"/>
            <a:ext cx="1283818"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Đội phản ứng nhanh</a:t>
            </a:r>
            <a:endParaRPr lang="en-US" sz="800" dirty="0"/>
          </a:p>
        </p:txBody>
      </p:sp>
      <p:sp>
        <p:nvSpPr>
          <p:cNvPr id="120" name="Shape 99"/>
          <p:cNvSpPr/>
          <p:nvPr/>
        </p:nvSpPr>
        <p:spPr>
          <a:xfrm>
            <a:off x="8343900" y="1004926"/>
            <a:ext cx="304495" cy="304495"/>
          </a:xfrm>
          <a:prstGeom prst="roundRect">
            <a:avLst>
              <a:gd name="adj" fmla="val 112613"/>
            </a:avLst>
          </a:prstGeom>
          <a:solidFill>
            <a:srgbClr val="808080">
              <a:alpha val="10000"/>
            </a:srgbClr>
          </a:solidFill>
          <a:ln w="12700">
            <a:solidFill>
              <a:srgbClr val="FFFFFF">
                <a:alpha val="0"/>
              </a:srgbClr>
            </a:solidFill>
            <a:prstDash val="solid"/>
          </a:ln>
        </p:spPr>
        <p:txBody>
          <a:bodyPr/>
          <a:lstStyle/>
          <a:p>
            <a:endParaRPr lang="en-US"/>
          </a:p>
        </p:txBody>
      </p:sp>
      <p:pic>
        <p:nvPicPr>
          <p:cNvPr id="121" name="Image 19" descr="preencoded.png"/>
          <p:cNvPicPr>
            <a:picLocks noChangeAspect="1"/>
          </p:cNvPicPr>
          <p:nvPr/>
        </p:nvPicPr>
        <p:blipFill>
          <a:blip r:embed="rId13"/>
          <a:srcRect t="-180" b="-180"/>
          <a:stretch/>
        </p:blipFill>
        <p:spPr>
          <a:xfrm>
            <a:off x="8401507" y="1080821"/>
            <a:ext cx="190195" cy="152705"/>
          </a:xfrm>
          <a:prstGeom prst="rect">
            <a:avLst/>
          </a:prstGeom>
        </p:spPr>
      </p:pic>
      <p:sp>
        <p:nvSpPr>
          <p:cNvPr id="122" name="Text 100"/>
          <p:cNvSpPr txBox="1"/>
          <p:nvPr/>
        </p:nvSpPr>
        <p:spPr>
          <a:xfrm>
            <a:off x="8744407" y="1067105"/>
            <a:ext cx="2257654"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Kiểm soát &amp; Giám sát</a:t>
            </a:r>
            <a:endParaRPr lang="en-US" sz="1200" dirty="0"/>
          </a:p>
        </p:txBody>
      </p:sp>
      <p:sp>
        <p:nvSpPr>
          <p:cNvPr id="123" name="Shape 101"/>
          <p:cNvSpPr/>
          <p:nvPr/>
        </p:nvSpPr>
        <p:spPr>
          <a:xfrm>
            <a:off x="11093501" y="1037844"/>
            <a:ext cx="533095" cy="237744"/>
          </a:xfrm>
          <a:prstGeom prst="roundRect">
            <a:avLst>
              <a:gd name="adj" fmla="val 369231"/>
            </a:avLst>
          </a:prstGeom>
          <a:solidFill>
            <a:srgbClr val="808080">
              <a:alpha val="10000"/>
            </a:srgbClr>
          </a:solidFill>
          <a:ln w="12700">
            <a:solidFill>
              <a:srgbClr val="FFFFFF">
                <a:alpha val="0"/>
              </a:srgbClr>
            </a:solidFill>
            <a:prstDash val="solid"/>
          </a:ln>
        </p:spPr>
        <p:txBody>
          <a:bodyPr/>
          <a:lstStyle/>
          <a:p>
            <a:endParaRPr lang="en-US"/>
          </a:p>
        </p:txBody>
      </p:sp>
      <p:sp>
        <p:nvSpPr>
          <p:cNvPr id="124" name="Text 102"/>
          <p:cNvSpPr/>
          <p:nvPr/>
        </p:nvSpPr>
        <p:spPr>
          <a:xfrm>
            <a:off x="11093501" y="1037844"/>
            <a:ext cx="53401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Active</a:t>
            </a:r>
            <a:endParaRPr lang="en-US" sz="900" dirty="0"/>
          </a:p>
        </p:txBody>
      </p:sp>
      <p:sp>
        <p:nvSpPr>
          <p:cNvPr id="125" name="Shape 103"/>
          <p:cNvSpPr/>
          <p:nvPr/>
        </p:nvSpPr>
        <p:spPr>
          <a:xfrm>
            <a:off x="83439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26" name="Shape 104"/>
          <p:cNvSpPr/>
          <p:nvPr/>
        </p:nvSpPr>
        <p:spPr>
          <a:xfrm>
            <a:off x="83439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27" name="Text 105"/>
          <p:cNvSpPr txBox="1"/>
          <p:nvPr/>
        </p:nvSpPr>
        <p:spPr>
          <a:xfrm>
            <a:off x="8496605" y="1742846"/>
            <a:ext cx="182971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Hệ thống bơm chống ngập</a:t>
            </a:r>
            <a:endParaRPr lang="en-US" sz="900" dirty="0"/>
          </a:p>
        </p:txBody>
      </p:sp>
      <p:sp>
        <p:nvSpPr>
          <p:cNvPr id="128" name="Shape 106"/>
          <p:cNvSpPr/>
          <p:nvPr/>
        </p:nvSpPr>
        <p:spPr>
          <a:xfrm>
            <a:off x="1013155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29" name="Text 107"/>
          <p:cNvSpPr/>
          <p:nvPr/>
        </p:nvSpPr>
        <p:spPr>
          <a:xfrm>
            <a:off x="1013155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0" name="Text 108"/>
          <p:cNvSpPr txBox="1"/>
          <p:nvPr/>
        </p:nvSpPr>
        <p:spPr>
          <a:xfrm>
            <a:off x="8496605" y="1943100"/>
            <a:ext cx="340614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Thiết lập hệ thống bơm tự động cho toàn mặt bằng</a:t>
            </a:r>
            <a:endParaRPr lang="en-US" sz="900" dirty="0"/>
          </a:p>
        </p:txBody>
      </p:sp>
      <p:pic>
        <p:nvPicPr>
          <p:cNvPr id="131" name="Image 20" descr="preencoded.png"/>
          <p:cNvPicPr>
            <a:picLocks noChangeAspect="1"/>
          </p:cNvPicPr>
          <p:nvPr/>
        </p:nvPicPr>
        <p:blipFill>
          <a:blip r:embed="rId14"/>
          <a:srcRect/>
          <a:stretch/>
        </p:blipFill>
        <p:spPr>
          <a:xfrm>
            <a:off x="8496605" y="2137867"/>
            <a:ext cx="105156" cy="105156"/>
          </a:xfrm>
          <a:prstGeom prst="rect">
            <a:avLst/>
          </a:prstGeom>
        </p:spPr>
      </p:pic>
      <p:sp>
        <p:nvSpPr>
          <p:cNvPr id="132" name="Text 109"/>
          <p:cNvSpPr txBox="1"/>
          <p:nvPr/>
        </p:nvSpPr>
        <p:spPr>
          <a:xfrm>
            <a:off x="8639251" y="2118665"/>
            <a:ext cx="911657"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triển khai</a:t>
            </a:r>
            <a:endParaRPr lang="en-US" sz="800" dirty="0"/>
          </a:p>
        </p:txBody>
      </p:sp>
      <p:sp>
        <p:nvSpPr>
          <p:cNvPr id="133" name="Shape 110"/>
          <p:cNvSpPr/>
          <p:nvPr/>
        </p:nvSpPr>
        <p:spPr>
          <a:xfrm>
            <a:off x="83439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34" name="Shape 111"/>
          <p:cNvSpPr/>
          <p:nvPr/>
        </p:nvSpPr>
        <p:spPr>
          <a:xfrm>
            <a:off x="83439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35" name="Text 112"/>
          <p:cNvSpPr txBox="1"/>
          <p:nvPr/>
        </p:nvSpPr>
        <p:spPr>
          <a:xfrm>
            <a:off x="8496605" y="2553005"/>
            <a:ext cx="14602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Theo dõi địa chất</a:t>
            </a:r>
            <a:endParaRPr lang="en-US" sz="900" dirty="0"/>
          </a:p>
        </p:txBody>
      </p:sp>
      <p:sp>
        <p:nvSpPr>
          <p:cNvPr id="136" name="Shape 113"/>
          <p:cNvSpPr/>
          <p:nvPr/>
        </p:nvSpPr>
        <p:spPr>
          <a:xfrm>
            <a:off x="9578340"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37" name="Text 114"/>
          <p:cNvSpPr/>
          <p:nvPr/>
        </p:nvSpPr>
        <p:spPr>
          <a:xfrm>
            <a:off x="9578340"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8" name="Text 115"/>
          <p:cNvSpPr txBox="1"/>
          <p:nvPr/>
        </p:nvSpPr>
        <p:spPr>
          <a:xfrm>
            <a:off x="8496605" y="2752344"/>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Giám sát lún, biến dạng liên tục</a:t>
            </a:r>
            <a:endParaRPr lang="en-US" sz="900" dirty="0"/>
          </a:p>
        </p:txBody>
      </p:sp>
      <p:pic>
        <p:nvPicPr>
          <p:cNvPr id="139" name="Image 21" descr="preencoded.png"/>
          <p:cNvPicPr>
            <a:picLocks noChangeAspect="1"/>
          </p:cNvPicPr>
          <p:nvPr/>
        </p:nvPicPr>
        <p:blipFill>
          <a:blip r:embed="rId14"/>
          <a:srcRect/>
          <a:stretch/>
        </p:blipFill>
        <p:spPr>
          <a:xfrm>
            <a:off x="8496605" y="2947111"/>
            <a:ext cx="105156" cy="105156"/>
          </a:xfrm>
          <a:prstGeom prst="rect">
            <a:avLst/>
          </a:prstGeom>
        </p:spPr>
      </p:pic>
      <p:sp>
        <p:nvSpPr>
          <p:cNvPr id="140" name="Text 116"/>
          <p:cNvSpPr txBox="1"/>
          <p:nvPr/>
        </p:nvSpPr>
        <p:spPr>
          <a:xfrm>
            <a:off x="8639251" y="2927909"/>
            <a:ext cx="999439"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hoạt động</a:t>
            </a:r>
            <a:endParaRPr lang="en-US" sz="800" dirty="0"/>
          </a:p>
        </p:txBody>
      </p:sp>
      <p:sp>
        <p:nvSpPr>
          <p:cNvPr id="141" name="Shape 117"/>
          <p:cNvSpPr/>
          <p:nvPr/>
        </p:nvSpPr>
        <p:spPr>
          <a:xfrm>
            <a:off x="83439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42" name="Shape 118"/>
          <p:cNvSpPr/>
          <p:nvPr/>
        </p:nvSpPr>
        <p:spPr>
          <a:xfrm>
            <a:off x="83439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43" name="Text 119"/>
          <p:cNvSpPr txBox="1"/>
          <p:nvPr/>
        </p:nvSpPr>
        <p:spPr>
          <a:xfrm>
            <a:off x="8496605" y="3362249"/>
            <a:ext cx="155265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Quản lý giao thông</a:t>
            </a:r>
            <a:endParaRPr lang="en-US" sz="900" dirty="0"/>
          </a:p>
        </p:txBody>
      </p:sp>
      <p:sp>
        <p:nvSpPr>
          <p:cNvPr id="144" name="Shape 120"/>
          <p:cNvSpPr/>
          <p:nvPr/>
        </p:nvSpPr>
        <p:spPr>
          <a:xfrm>
            <a:off x="967801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45" name="Text 121"/>
          <p:cNvSpPr/>
          <p:nvPr/>
        </p:nvSpPr>
        <p:spPr>
          <a:xfrm>
            <a:off x="9678010"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46" name="Text 122"/>
          <p:cNvSpPr txBox="1"/>
          <p:nvPr/>
        </p:nvSpPr>
        <p:spPr>
          <a:xfrm>
            <a:off x="8496605" y="3562502"/>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Phân luồng xe, kiểm soát tải trọng</a:t>
            </a:r>
            <a:endParaRPr lang="en-US" sz="900" dirty="0"/>
          </a:p>
        </p:txBody>
      </p:sp>
      <p:pic>
        <p:nvPicPr>
          <p:cNvPr id="147" name="Image 22" descr="preencoded.png"/>
          <p:cNvPicPr>
            <a:picLocks noChangeAspect="1"/>
          </p:cNvPicPr>
          <p:nvPr/>
        </p:nvPicPr>
        <p:blipFill>
          <a:blip r:embed="rId14"/>
          <a:srcRect/>
          <a:stretch/>
        </p:blipFill>
        <p:spPr>
          <a:xfrm>
            <a:off x="8496605" y="3756355"/>
            <a:ext cx="105156" cy="105156"/>
          </a:xfrm>
          <a:prstGeom prst="rect">
            <a:avLst/>
          </a:prstGeom>
        </p:spPr>
      </p:pic>
      <p:sp>
        <p:nvSpPr>
          <p:cNvPr id="148" name="Text 123"/>
          <p:cNvSpPr txBox="1"/>
          <p:nvPr/>
        </p:nvSpPr>
        <p:spPr>
          <a:xfrm>
            <a:off x="8639251" y="3738067"/>
            <a:ext cx="1056132"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triển khai</a:t>
            </a:r>
            <a:endParaRPr lang="en-US" sz="800" dirty="0"/>
          </a:p>
        </p:txBody>
      </p:sp>
      <p:sp>
        <p:nvSpPr>
          <p:cNvPr id="149" name="Shape 124"/>
          <p:cNvSpPr/>
          <p:nvPr/>
        </p:nvSpPr>
        <p:spPr>
          <a:xfrm>
            <a:off x="83439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50" name="Shape 125"/>
          <p:cNvSpPr/>
          <p:nvPr/>
        </p:nvSpPr>
        <p:spPr>
          <a:xfrm>
            <a:off x="83439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51" name="Text 126"/>
          <p:cNvSpPr txBox="1"/>
          <p:nvPr/>
        </p:nvSpPr>
        <p:spPr>
          <a:xfrm>
            <a:off x="8496605" y="4172407"/>
            <a:ext cx="1381658"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An toàn lao động</a:t>
            </a:r>
            <a:endParaRPr lang="en-US" sz="900" dirty="0"/>
          </a:p>
        </p:txBody>
      </p:sp>
      <p:sp>
        <p:nvSpPr>
          <p:cNvPr id="152" name="Shape 127"/>
          <p:cNvSpPr/>
          <p:nvPr/>
        </p:nvSpPr>
        <p:spPr>
          <a:xfrm>
            <a:off x="9568282"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53" name="Text 128"/>
          <p:cNvSpPr/>
          <p:nvPr/>
        </p:nvSpPr>
        <p:spPr>
          <a:xfrm>
            <a:off x="9568282" y="4181551"/>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54" name="Text 129"/>
          <p:cNvSpPr txBox="1"/>
          <p:nvPr/>
        </p:nvSpPr>
        <p:spPr>
          <a:xfrm>
            <a:off x="8496605" y="4371746"/>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Đào tạo HSE, trang bị PPE</a:t>
            </a:r>
            <a:endParaRPr lang="en-US" sz="900" dirty="0"/>
          </a:p>
        </p:txBody>
      </p:sp>
      <p:pic>
        <p:nvPicPr>
          <p:cNvPr id="155" name="Image 23" descr="preencoded.png"/>
          <p:cNvPicPr>
            <a:picLocks noChangeAspect="1"/>
          </p:cNvPicPr>
          <p:nvPr/>
        </p:nvPicPr>
        <p:blipFill>
          <a:blip r:embed="rId14"/>
          <a:srcRect/>
          <a:stretch/>
        </p:blipFill>
        <p:spPr>
          <a:xfrm>
            <a:off x="8496605" y="4566514"/>
            <a:ext cx="105156" cy="105156"/>
          </a:xfrm>
          <a:prstGeom prst="rect">
            <a:avLst/>
          </a:prstGeom>
        </p:spPr>
      </p:pic>
      <p:sp>
        <p:nvSpPr>
          <p:cNvPr id="156" name="Text 130"/>
          <p:cNvSpPr txBox="1"/>
          <p:nvPr/>
        </p:nvSpPr>
        <p:spPr>
          <a:xfrm>
            <a:off x="8639251" y="4547311"/>
            <a:ext cx="928116"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hoàn thành</a:t>
            </a:r>
            <a:endParaRPr lang="en-US" sz="800" dirty="0"/>
          </a:p>
        </p:txBody>
      </p:sp>
      <p:sp>
        <p:nvSpPr>
          <p:cNvPr id="157" name="Shape 131"/>
          <p:cNvSpPr/>
          <p:nvPr/>
        </p:nvSpPr>
        <p:spPr>
          <a:xfrm>
            <a:off x="8343900" y="4953305"/>
            <a:ext cx="3276295" cy="1143000"/>
          </a:xfrm>
          <a:prstGeom prst="roundRect">
            <a:avLst>
              <a:gd name="adj" fmla="val 10667"/>
            </a:avLst>
          </a:prstGeom>
          <a:solidFill>
            <a:srgbClr val="F7A81B">
              <a:alpha val="10000"/>
            </a:srgbClr>
          </a:solidFill>
          <a:ln w="12700">
            <a:solidFill>
              <a:srgbClr val="F7A81B">
                <a:alpha val="30000"/>
              </a:srgbClr>
            </a:solidFill>
            <a:prstDash val="solid"/>
          </a:ln>
        </p:spPr>
        <p:txBody>
          <a:bodyPr/>
          <a:lstStyle/>
          <a:p>
            <a:endParaRPr lang="en-US"/>
          </a:p>
        </p:txBody>
      </p:sp>
      <p:pic>
        <p:nvPicPr>
          <p:cNvPr id="158" name="Image 24" descr="preencoded.png"/>
          <p:cNvPicPr>
            <a:picLocks noChangeAspect="1"/>
          </p:cNvPicPr>
          <p:nvPr/>
        </p:nvPicPr>
        <p:blipFill>
          <a:blip r:embed="rId15"/>
          <a:srcRect/>
          <a:stretch/>
        </p:blipFill>
        <p:spPr>
          <a:xfrm>
            <a:off x="8467344" y="5100523"/>
            <a:ext cx="123444" cy="123444"/>
          </a:xfrm>
          <a:prstGeom prst="rect">
            <a:avLst/>
          </a:prstGeom>
        </p:spPr>
      </p:pic>
      <p:sp>
        <p:nvSpPr>
          <p:cNvPr id="159" name="Text 132"/>
          <p:cNvSpPr txBox="1"/>
          <p:nvPr/>
        </p:nvSpPr>
        <p:spPr>
          <a:xfrm>
            <a:off x="8648395" y="5076749"/>
            <a:ext cx="1383487"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Lưu ý quan trọng</a:t>
            </a:r>
            <a:endParaRPr lang="en-US" sz="900" dirty="0"/>
          </a:p>
        </p:txBody>
      </p:sp>
      <p:sp>
        <p:nvSpPr>
          <p:cNvPr id="160" name="Text 133"/>
          <p:cNvSpPr txBox="1"/>
          <p:nvPr/>
        </p:nvSpPr>
        <p:spPr>
          <a:xfrm>
            <a:off x="8467344" y="5305349"/>
            <a:ext cx="3029407" cy="324612"/>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Cần hoàn thành các công việc trước 25/5/2026 để đảm bảo khởi công đúng tiến độ</a:t>
            </a:r>
            <a:endParaRPr lang="en-US" sz="900" dirty="0"/>
          </a:p>
        </p:txBody>
      </p:sp>
      <p:pic>
        <p:nvPicPr>
          <p:cNvPr id="161" name="Image 25" descr="preencoded.png"/>
          <p:cNvPicPr>
            <a:picLocks noChangeAspect="1"/>
          </p:cNvPicPr>
          <p:nvPr/>
        </p:nvPicPr>
        <p:blipFill>
          <a:blip r:embed="rId16"/>
          <a:srcRect l="-1358" r="-1358"/>
          <a:stretch/>
        </p:blipFill>
        <p:spPr>
          <a:xfrm>
            <a:off x="381305" y="6491326"/>
            <a:ext cx="95098" cy="123444"/>
          </a:xfrm>
          <a:prstGeom prst="rect">
            <a:avLst/>
          </a:prstGeom>
        </p:spPr>
      </p:pic>
      <p:sp>
        <p:nvSpPr>
          <p:cNvPr id="162" name="Text 134"/>
          <p:cNvSpPr txBox="1"/>
          <p:nvPr/>
        </p:nvSpPr>
        <p:spPr>
          <a:xfrm>
            <a:off x="552298" y="6439205"/>
            <a:ext cx="2000707" cy="228600"/>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163" name="Text 135"/>
          <p:cNvSpPr txBox="1"/>
          <p:nvPr/>
        </p:nvSpPr>
        <p:spPr>
          <a:xfrm>
            <a:off x="9977933" y="6467551"/>
            <a:ext cx="837590" cy="171907"/>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Trang 4/12</a:t>
            </a:r>
            <a:endParaRPr lang="en-US" sz="900" dirty="0"/>
          </a:p>
        </p:txBody>
      </p:sp>
      <p:pic>
        <p:nvPicPr>
          <p:cNvPr id="164" name="Image 26" descr="preencoded.png"/>
          <p:cNvPicPr>
            <a:picLocks noChangeAspect="1"/>
          </p:cNvPicPr>
          <p:nvPr/>
        </p:nvPicPr>
        <p:blipFill>
          <a:blip r:embed="rId17"/>
          <a:srcRect/>
          <a:stretch/>
        </p:blipFill>
        <p:spPr>
          <a:xfrm>
            <a:off x="10741457" y="6505956"/>
            <a:ext cx="95098" cy="95098"/>
          </a:xfrm>
          <a:prstGeom prst="rect">
            <a:avLst/>
          </a:prstGeom>
        </p:spPr>
      </p:pic>
      <p:sp>
        <p:nvSpPr>
          <p:cNvPr id="165" name="Text 136"/>
          <p:cNvSpPr txBox="1"/>
          <p:nvPr/>
        </p:nvSpPr>
        <p:spPr>
          <a:xfrm>
            <a:off x="10894162" y="6467551"/>
            <a:ext cx="1290218"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Đang triển khai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24689" y="0"/>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5591556" cy="3066898"/>
          </a:xfrm>
          <a:prstGeom prst="roundRect">
            <a:avLst>
              <a:gd name="adj" fmla="val 2222"/>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381305" y="4238244"/>
            <a:ext cx="5591556" cy="2066544"/>
          </a:xfrm>
          <a:prstGeom prst="roundRect">
            <a:avLst>
              <a:gd name="adj" fmla="val 489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591556" cy="3353105"/>
          </a:xfrm>
          <a:prstGeom prst="roundRect">
            <a:avLst>
              <a:gd name="adj" fmla="val 1859"/>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571500"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3238805"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571500"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3238805"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71500" y="3524098"/>
            <a:ext cx="5229454" cy="381305"/>
          </a:xfrm>
          <a:prstGeom prst="roundRect">
            <a:avLst>
              <a:gd name="adj" fmla="val 47962"/>
            </a:avLst>
          </a:prstGeom>
          <a:solidFill>
            <a:srgbClr val="F7A81B">
              <a:alpha val="10000"/>
            </a:srgbClr>
          </a:solidFill>
          <a:ln/>
        </p:spPr>
        <p:txBody>
          <a:bodyPr/>
          <a:lstStyle/>
          <a:p>
            <a:endParaRPr lang="en-US"/>
          </a:p>
        </p:txBody>
      </p:sp>
      <p:sp>
        <p:nvSpPr>
          <p:cNvPr id="15" name="Shape 13"/>
          <p:cNvSpPr/>
          <p:nvPr/>
        </p:nvSpPr>
        <p:spPr>
          <a:xfrm>
            <a:off x="571500" y="3524098"/>
            <a:ext cx="38405" cy="381305"/>
          </a:xfrm>
          <a:prstGeom prst="roundRect">
            <a:avLst>
              <a:gd name="adj" fmla="val 476188"/>
            </a:avLst>
          </a:prstGeom>
          <a:solidFill>
            <a:srgbClr val="F7A81B"/>
          </a:solidFill>
          <a:ln w="12700">
            <a:solidFill>
              <a:srgbClr val="F7A81B">
                <a:alpha val="0"/>
              </a:srgbClr>
            </a:solidFill>
            <a:prstDash val="solid"/>
          </a:ln>
        </p:spPr>
        <p:txBody>
          <a:bodyPr/>
          <a:lstStyle/>
          <a:p>
            <a:endParaRPr lang="en-US"/>
          </a:p>
        </p:txBody>
      </p:sp>
      <p:sp>
        <p:nvSpPr>
          <p:cNvPr id="16" name="Shape 14"/>
          <p:cNvSpPr/>
          <p:nvPr/>
        </p:nvSpPr>
        <p:spPr>
          <a:xfrm>
            <a:off x="6429146"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dirty="0"/>
          </a:p>
        </p:txBody>
      </p:sp>
      <p:sp>
        <p:nvSpPr>
          <p:cNvPr id="17" name="Shape 15"/>
          <p:cNvSpPr/>
          <p:nvPr/>
        </p:nvSpPr>
        <p:spPr>
          <a:xfrm>
            <a:off x="8191195"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sp>
        <p:nvSpPr>
          <p:cNvPr id="18" name="Shape 16"/>
          <p:cNvSpPr/>
          <p:nvPr/>
        </p:nvSpPr>
        <p:spPr>
          <a:xfrm>
            <a:off x="9953244"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pic>
        <p:nvPicPr>
          <p:cNvPr id="19" name="Image 0" descr="preencoded.png"/>
          <p:cNvPicPr>
            <a:picLocks noChangeAspect="1"/>
          </p:cNvPicPr>
          <p:nvPr/>
        </p:nvPicPr>
        <p:blipFill>
          <a:blip r:embed="rId3"/>
          <a:srcRect l="-200" r="-200"/>
          <a:stretch/>
        </p:blipFill>
        <p:spPr>
          <a:xfrm>
            <a:off x="6429146" y="6001207"/>
            <a:ext cx="5191049" cy="75895"/>
          </a:xfrm>
          <a:prstGeom prst="rect">
            <a:avLst/>
          </a:prstGeom>
        </p:spPr>
      </p:pic>
      <p:sp>
        <p:nvSpPr>
          <p:cNvPr id="21" name="Shape 17"/>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2" name="Image 2" descr="preencoded.png"/>
          <p:cNvPicPr>
            <a:picLocks noChangeAspect="1"/>
          </p:cNvPicPr>
          <p:nvPr/>
        </p:nvPicPr>
        <p:blipFill>
          <a:blip r:embed="rId4"/>
          <a:srcRect/>
          <a:stretch/>
        </p:blipFill>
        <p:spPr>
          <a:xfrm>
            <a:off x="476402" y="237744"/>
            <a:ext cx="190195" cy="190195"/>
          </a:xfrm>
          <a:prstGeom prst="rect">
            <a:avLst/>
          </a:prstGeom>
        </p:spPr>
      </p:pic>
      <p:sp>
        <p:nvSpPr>
          <p:cNvPr id="23" name="Text 18"/>
          <p:cNvSpPr txBox="1"/>
          <p:nvPr/>
        </p:nvSpPr>
        <p:spPr>
          <a:xfrm>
            <a:off x="905256" y="190195"/>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DASHBOARD TÀI CHÍNH - NOXH YÊN SỞ</a:t>
            </a:r>
            <a:endParaRPr lang="en-US" sz="1800" dirty="0"/>
          </a:p>
        </p:txBody>
      </p:sp>
      <p:sp>
        <p:nvSpPr>
          <p:cNvPr id="24" name="Text 19"/>
          <p:cNvSpPr txBox="1"/>
          <p:nvPr/>
        </p:nvSpPr>
        <p:spPr>
          <a:xfrm>
            <a:off x="10735970" y="237744"/>
            <a:ext cx="1431036" cy="181051"/>
          </a:xfrm>
          <a:prstGeom prst="rect">
            <a:avLst/>
          </a:prstGeom>
          <a:noFill/>
          <a:ln/>
        </p:spPr>
        <p:txBody>
          <a:bodyPr wrap="square" lIns="0" tIns="0" rIns="0" bIns="0" rtlCol="0" anchor="ctr"/>
          <a:lstStyle/>
          <a:p>
            <a:pPr marL="0" indent="0" algn="l">
              <a:buNone/>
            </a:pPr>
            <a:r>
              <a:rPr lang="en-US" sz="1000" b="1" dirty="0" err="1">
                <a:solidFill>
                  <a:srgbClr val="808080"/>
                </a:solidFill>
                <a:latin typeface="Open Sans" pitchFamily="34" charset="0"/>
                <a:ea typeface="Open Sans" pitchFamily="34" charset="-122"/>
                <a:cs typeface="Open Sans" pitchFamily="34" charset="-120"/>
              </a:rPr>
              <a:t>Ngày</a:t>
            </a:r>
            <a:r>
              <a:rPr lang="en-US" sz="1000" b="1"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5" name="Image 3" descr="preencoded.png"/>
          <p:cNvPicPr>
            <a:picLocks noChangeAspect="1"/>
          </p:cNvPicPr>
          <p:nvPr/>
        </p:nvPicPr>
        <p:blipFill>
          <a:blip r:embed="rId5"/>
          <a:srcRect t="-1100" b="-1100"/>
          <a:stretch/>
        </p:blipFill>
        <p:spPr>
          <a:xfrm>
            <a:off x="10544861" y="264262"/>
            <a:ext cx="114300" cy="133502"/>
          </a:xfrm>
          <a:prstGeom prst="rect">
            <a:avLst/>
          </a:prstGeom>
        </p:spPr>
      </p:pic>
      <p:sp>
        <p:nvSpPr>
          <p:cNvPr id="26" name="Text 20"/>
          <p:cNvSpPr txBox="1"/>
          <p:nvPr/>
        </p:nvSpPr>
        <p:spPr>
          <a:xfrm>
            <a:off x="838505" y="1123798"/>
            <a:ext cx="4924958"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Chỉ số tài chính chính</a:t>
            </a:r>
            <a:endParaRPr lang="en-US" sz="1200" dirty="0"/>
          </a:p>
        </p:txBody>
      </p:sp>
      <p:pic>
        <p:nvPicPr>
          <p:cNvPr id="27" name="Image 4" descr="preencoded.png"/>
          <p:cNvPicPr>
            <a:picLocks noChangeAspect="1"/>
          </p:cNvPicPr>
          <p:nvPr/>
        </p:nvPicPr>
        <p:blipFill>
          <a:blip r:embed="rId6"/>
          <a:srcRect l="-33" r="-33"/>
          <a:stretch/>
        </p:blipFill>
        <p:spPr>
          <a:xfrm>
            <a:off x="571500" y="1133856"/>
            <a:ext cx="171907" cy="152705"/>
          </a:xfrm>
          <a:prstGeom prst="rect">
            <a:avLst/>
          </a:prstGeom>
        </p:spPr>
      </p:pic>
      <p:sp>
        <p:nvSpPr>
          <p:cNvPr id="28" name="Text 21"/>
          <p:cNvSpPr txBox="1"/>
          <p:nvPr/>
        </p:nvSpPr>
        <p:spPr>
          <a:xfrm>
            <a:off x="571500"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1448</a:t>
            </a:r>
            <a:endParaRPr lang="en-US" sz="1900" dirty="0"/>
          </a:p>
        </p:txBody>
      </p:sp>
      <p:sp>
        <p:nvSpPr>
          <p:cNvPr id="29" name="Text 22"/>
          <p:cNvSpPr txBox="1"/>
          <p:nvPr/>
        </p:nvSpPr>
        <p:spPr>
          <a:xfrm>
            <a:off x="571500"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Tổng chi phí (tỷ)</a:t>
            </a:r>
            <a:endParaRPr lang="en-US" sz="900" dirty="0"/>
          </a:p>
        </p:txBody>
      </p:sp>
      <p:sp>
        <p:nvSpPr>
          <p:cNvPr id="30" name="Text 23"/>
          <p:cNvSpPr txBox="1"/>
          <p:nvPr/>
        </p:nvSpPr>
        <p:spPr>
          <a:xfrm>
            <a:off x="3238805"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1565</a:t>
            </a:r>
            <a:endParaRPr lang="en-US" sz="1900" dirty="0"/>
          </a:p>
        </p:txBody>
      </p:sp>
      <p:sp>
        <p:nvSpPr>
          <p:cNvPr id="31" name="Text 24"/>
          <p:cNvSpPr txBox="1"/>
          <p:nvPr/>
        </p:nvSpPr>
        <p:spPr>
          <a:xfrm>
            <a:off x="3238805"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Doanh thu (tỷ)</a:t>
            </a:r>
            <a:endParaRPr lang="en-US" sz="900" dirty="0"/>
          </a:p>
        </p:txBody>
      </p:sp>
      <p:sp>
        <p:nvSpPr>
          <p:cNvPr id="32" name="Text 25"/>
          <p:cNvSpPr txBox="1"/>
          <p:nvPr/>
        </p:nvSpPr>
        <p:spPr>
          <a:xfrm>
            <a:off x="571500"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117</a:t>
            </a:r>
            <a:endParaRPr lang="en-US" sz="1900" dirty="0"/>
          </a:p>
        </p:txBody>
      </p:sp>
      <p:sp>
        <p:nvSpPr>
          <p:cNvPr id="33" name="Text 26"/>
          <p:cNvSpPr txBox="1"/>
          <p:nvPr/>
        </p:nvSpPr>
        <p:spPr>
          <a:xfrm>
            <a:off x="571500"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Lợi nhuận (tỷ)</a:t>
            </a:r>
            <a:endParaRPr lang="en-US" sz="900" dirty="0"/>
          </a:p>
        </p:txBody>
      </p:sp>
      <p:sp>
        <p:nvSpPr>
          <p:cNvPr id="34" name="Text 27"/>
          <p:cNvSpPr txBox="1"/>
          <p:nvPr/>
        </p:nvSpPr>
        <p:spPr>
          <a:xfrm>
            <a:off x="3238805"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7.5%</a:t>
            </a:r>
            <a:endParaRPr lang="en-US" sz="1900" dirty="0"/>
          </a:p>
        </p:txBody>
      </p:sp>
      <p:sp>
        <p:nvSpPr>
          <p:cNvPr id="35" name="Text 28"/>
          <p:cNvSpPr txBox="1"/>
          <p:nvPr/>
        </p:nvSpPr>
        <p:spPr>
          <a:xfrm>
            <a:off x="3238805"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Tỷ suất LN</a:t>
            </a:r>
            <a:endParaRPr lang="en-US" sz="900" dirty="0"/>
          </a:p>
        </p:txBody>
      </p:sp>
      <p:sp>
        <p:nvSpPr>
          <p:cNvPr id="36" name="Text 29"/>
          <p:cNvSpPr txBox="1"/>
          <p:nvPr/>
        </p:nvSpPr>
        <p:spPr>
          <a:xfrm>
            <a:off x="870509" y="3554273"/>
            <a:ext cx="4796942" cy="324612"/>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 Phân tích tài chính:</a:t>
            </a:r>
            <a:r>
              <a:rPr lang="en-US" sz="900" dirty="0">
                <a:solidFill>
                  <a:srgbClr val="808080"/>
                </a:solidFill>
                <a:latin typeface="Open Sans" pitchFamily="34" charset="0"/>
                <a:ea typeface="Open Sans" pitchFamily="34" charset="-122"/>
                <a:cs typeface="Open Sans" pitchFamily="34" charset="-120"/>
              </a:rPr>
              <a:t> Dự án có tỷ suất lợi </a:t>
            </a:r>
            <a:r>
              <a:rPr lang="en-US" sz="900" dirty="0" err="1">
                <a:solidFill>
                  <a:srgbClr val="808080"/>
                </a:solidFill>
                <a:latin typeface="Open Sans" pitchFamily="34" charset="0"/>
                <a:ea typeface="Open Sans" pitchFamily="34" charset="-122"/>
                <a:cs typeface="Open Sans" pitchFamily="34" charset="-120"/>
              </a:rPr>
              <a:t>nhuận</a:t>
            </a:r>
            <a:r>
              <a:rPr lang="en-US" sz="900" dirty="0">
                <a:solidFill>
                  <a:srgbClr val="808080"/>
                </a:solidFill>
                <a:latin typeface="Open Sans" pitchFamily="34" charset="0"/>
                <a:ea typeface="Open Sans" pitchFamily="34" charset="-122"/>
                <a:cs typeface="Open Sans" pitchFamily="34" charset="-120"/>
              </a:rPr>
              <a:t> 7.5%</a:t>
            </a:r>
            <a:endParaRPr lang="en-US" sz="900" dirty="0"/>
          </a:p>
        </p:txBody>
      </p:sp>
      <p:pic>
        <p:nvPicPr>
          <p:cNvPr id="37" name="Image 5" descr="preencoded.png"/>
          <p:cNvPicPr>
            <a:picLocks noChangeAspect="1"/>
          </p:cNvPicPr>
          <p:nvPr/>
        </p:nvPicPr>
        <p:blipFill>
          <a:blip r:embed="rId7"/>
          <a:srcRect/>
          <a:stretch/>
        </p:blipFill>
        <p:spPr>
          <a:xfrm>
            <a:off x="714146" y="3568903"/>
            <a:ext cx="123444" cy="123444"/>
          </a:xfrm>
          <a:prstGeom prst="rect">
            <a:avLst/>
          </a:prstGeom>
        </p:spPr>
      </p:pic>
      <p:sp>
        <p:nvSpPr>
          <p:cNvPr id="38" name="Text 30"/>
          <p:cNvSpPr txBox="1"/>
          <p:nvPr/>
        </p:nvSpPr>
        <p:spPr>
          <a:xfrm>
            <a:off x="819302" y="4429354"/>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Phân bổ chi phí theo hạng mục</a:t>
            </a:r>
            <a:endParaRPr lang="en-US" sz="1200" dirty="0"/>
          </a:p>
        </p:txBody>
      </p:sp>
      <p:pic>
        <p:nvPicPr>
          <p:cNvPr id="39" name="Image 6" descr="preencoded.png"/>
          <p:cNvPicPr>
            <a:picLocks noChangeAspect="1"/>
          </p:cNvPicPr>
          <p:nvPr/>
        </p:nvPicPr>
        <p:blipFill>
          <a:blip r:embed="rId8"/>
          <a:srcRect/>
          <a:stretch/>
        </p:blipFill>
        <p:spPr>
          <a:xfrm>
            <a:off x="571500" y="4438498"/>
            <a:ext cx="152705" cy="152705"/>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2217200731"/>
              </p:ext>
            </p:extLst>
          </p:nvPr>
        </p:nvGraphicFramePr>
        <p:xfrm>
          <a:off x="571500" y="4809744"/>
          <a:ext cx="5191048" cy="1267360"/>
        </p:xfrm>
        <a:graphic>
          <a:graphicData uri="http://schemas.openxmlformats.org/drawingml/2006/table">
            <a:tbl>
              <a:tblPr/>
              <a:tblGrid>
                <a:gridCol w="2299716">
                  <a:extLst>
                    <a:ext uri="{9D8B030D-6E8A-4147-A177-3AD203B41FA5}">
                      <a16:colId xmlns:a16="http://schemas.microsoft.com/office/drawing/2014/main" val="20000"/>
                    </a:ext>
                  </a:extLst>
                </a:gridCol>
                <a:gridCol w="1582826">
                  <a:extLst>
                    <a:ext uri="{9D8B030D-6E8A-4147-A177-3AD203B41FA5}">
                      <a16:colId xmlns:a16="http://schemas.microsoft.com/office/drawing/2014/main" val="20001"/>
                    </a:ext>
                  </a:extLst>
                </a:gridCol>
                <a:gridCol w="1308506">
                  <a:extLst>
                    <a:ext uri="{9D8B030D-6E8A-4147-A177-3AD203B41FA5}">
                      <a16:colId xmlns:a16="http://schemas.microsoft.com/office/drawing/2014/main" val="20002"/>
                    </a:ext>
                  </a:extLst>
                </a:gridCol>
              </a:tblGrid>
              <a:tr h="316840">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Hạng mục</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Chi phí (tỷ)</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Tỷ trọng</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316840">
                <a:tc>
                  <a:txBody>
                    <a:bodyPr/>
                    <a:lstStyle/>
                    <a:p>
                      <a:pPr marL="0" indent="0">
                        <a:buNone/>
                      </a:pPr>
                      <a:r>
                        <a:rPr lang="en-US" sz="975" b="1" dirty="0">
                          <a:solidFill>
                            <a:srgbClr val="808080"/>
                          </a:solidFill>
                          <a:latin typeface="Open Sans" pitchFamily="34" charset="0"/>
                          <a:ea typeface="Open Sans" pitchFamily="34" charset="-122"/>
                          <a:cs typeface="Open Sans" pitchFamily="34" charset="-120"/>
                        </a:rPr>
                        <a:t>Phần ngầm</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308</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21%</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Phần thân</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314</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22%</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Hoàn thiện &amp; </a:t>
                      </a:r>
                      <a:r>
                        <a:rPr lang="en-US" sz="975" dirty="0" err="1">
                          <a:solidFill>
                            <a:srgbClr val="808080"/>
                          </a:solidFill>
                          <a:latin typeface="Open Sans" pitchFamily="34" charset="0"/>
                          <a:ea typeface="Open Sans" pitchFamily="34" charset="-122"/>
                          <a:cs typeface="Open Sans" pitchFamily="34" charset="-120"/>
                        </a:rPr>
                        <a:t>Cơ</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điện</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thiết</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bị</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826</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57%</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 31"/>
          <p:cNvSpPr txBox="1"/>
          <p:nvPr/>
        </p:nvSpPr>
        <p:spPr>
          <a:xfrm>
            <a:off x="6676949" y="1123798"/>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Biểu đồ tỷ lệ lợi nhuận</a:t>
            </a:r>
            <a:endParaRPr lang="en-US" sz="1200" dirty="0"/>
          </a:p>
        </p:txBody>
      </p:sp>
      <p:pic>
        <p:nvPicPr>
          <p:cNvPr id="42" name="Image 7" descr="preencoded.png"/>
          <p:cNvPicPr>
            <a:picLocks noChangeAspect="1"/>
          </p:cNvPicPr>
          <p:nvPr/>
        </p:nvPicPr>
        <p:blipFill>
          <a:blip r:embed="rId9"/>
          <a:srcRect/>
          <a:stretch/>
        </p:blipFill>
        <p:spPr>
          <a:xfrm>
            <a:off x="6429146" y="1133856"/>
            <a:ext cx="152705" cy="152705"/>
          </a:xfrm>
          <a:prstGeom prst="rect">
            <a:avLst/>
          </a:prstGeom>
        </p:spPr>
      </p:pic>
      <p:pic>
        <p:nvPicPr>
          <p:cNvPr id="43" name="Image 8" descr="preencoded.png"/>
          <p:cNvPicPr>
            <a:picLocks noChangeAspect="1"/>
          </p:cNvPicPr>
          <p:nvPr/>
        </p:nvPicPr>
        <p:blipFill>
          <a:blip r:embed="rId10"/>
          <a:srcRect/>
          <a:stretch/>
        </p:blipFill>
        <p:spPr>
          <a:xfrm>
            <a:off x="7972654" y="1524305"/>
            <a:ext cx="2095805" cy="2095805"/>
          </a:xfrm>
          <a:prstGeom prst="rect">
            <a:avLst/>
          </a:prstGeom>
        </p:spPr>
      </p:pic>
      <p:pic>
        <p:nvPicPr>
          <p:cNvPr id="44" name="Image 9" descr="preencoded.png"/>
          <p:cNvPicPr>
            <a:picLocks noChangeAspect="1"/>
          </p:cNvPicPr>
          <p:nvPr/>
        </p:nvPicPr>
        <p:blipFill>
          <a:blip r:embed="rId11"/>
          <a:srcRect/>
          <a:stretch/>
        </p:blipFill>
        <p:spPr>
          <a:xfrm>
            <a:off x="8210398" y="1762049"/>
            <a:ext cx="1619402" cy="1619402"/>
          </a:xfrm>
          <a:prstGeom prst="rect">
            <a:avLst/>
          </a:prstGeom>
        </p:spPr>
      </p:pic>
      <p:sp>
        <p:nvSpPr>
          <p:cNvPr id="45" name="Text 32"/>
          <p:cNvSpPr txBox="1"/>
          <p:nvPr/>
        </p:nvSpPr>
        <p:spPr>
          <a:xfrm>
            <a:off x="8522208" y="2286000"/>
            <a:ext cx="1143000" cy="342900"/>
          </a:xfrm>
          <a:prstGeom prst="rect">
            <a:avLst/>
          </a:prstGeom>
          <a:noFill/>
          <a:ln/>
        </p:spPr>
        <p:txBody>
          <a:bodyPr wrap="square" lIns="0" tIns="0" rIns="0" bIns="0" rtlCol="0" anchor="ctr"/>
          <a:lstStyle/>
          <a:p>
            <a:pPr marL="0" indent="0" algn="l">
              <a:buNone/>
            </a:pPr>
            <a:r>
              <a:rPr lang="en-US" sz="2700" b="1" dirty="0">
                <a:solidFill>
                  <a:srgbClr val="F7A81B"/>
                </a:solidFill>
                <a:latin typeface="Open Sans" pitchFamily="34" charset="0"/>
                <a:ea typeface="Open Sans" pitchFamily="34" charset="-122"/>
                <a:cs typeface="Open Sans" pitchFamily="34" charset="-120"/>
              </a:rPr>
              <a:t>7.5%</a:t>
            </a:r>
            <a:endParaRPr lang="en-US" sz="2700" dirty="0"/>
          </a:p>
        </p:txBody>
      </p:sp>
      <p:sp>
        <p:nvSpPr>
          <p:cNvPr id="46" name="Text 33"/>
          <p:cNvSpPr txBox="1"/>
          <p:nvPr/>
        </p:nvSpPr>
        <p:spPr>
          <a:xfrm>
            <a:off x="8696858" y="2676449"/>
            <a:ext cx="84124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47" name="Text 34"/>
          <p:cNvSpPr txBox="1"/>
          <p:nvPr/>
        </p:nvSpPr>
        <p:spPr>
          <a:xfrm>
            <a:off x="7972654" y="3762756"/>
            <a:ext cx="2095805" cy="257861"/>
          </a:xfrm>
          <a:prstGeom prst="rect">
            <a:avLst/>
          </a:prstGeom>
          <a:noFill/>
          <a:ln/>
        </p:spPr>
        <p:txBody>
          <a:bodyPr wrap="square" lIns="0" tIns="0" rIns="0" bIns="0" rtlCol="0" anchor="ctr"/>
          <a:lstStyle/>
          <a:p>
            <a:pPr marL="0" indent="0" algn="ctr">
              <a:buNone/>
            </a:pPr>
            <a:r>
              <a:rPr lang="en-US" sz="1500" b="1" dirty="0">
                <a:solidFill>
                  <a:srgbClr val="808080"/>
                </a:solidFill>
                <a:latin typeface="Open Sans" pitchFamily="34" charset="0"/>
                <a:ea typeface="Open Sans" pitchFamily="34" charset="-122"/>
                <a:cs typeface="Open Sans" pitchFamily="34" charset="-120"/>
              </a:rPr>
              <a:t>117 tỷ VNĐ</a:t>
            </a:r>
            <a:endParaRPr lang="en-US" sz="1500" dirty="0"/>
          </a:p>
        </p:txBody>
      </p:sp>
      <p:sp>
        <p:nvSpPr>
          <p:cNvPr id="48" name="Text 35"/>
          <p:cNvSpPr txBox="1"/>
          <p:nvPr/>
        </p:nvSpPr>
        <p:spPr>
          <a:xfrm>
            <a:off x="6696151" y="4714646"/>
            <a:ext cx="4924958" cy="181051"/>
          </a:xfrm>
          <a:prstGeom prst="rect">
            <a:avLst/>
          </a:prstGeom>
          <a:noFill/>
          <a:ln/>
        </p:spPr>
        <p:txBody>
          <a:bodyPr wrap="square" lIns="0" tIns="0" rIns="0" bIns="0" rtlCol="0" anchor="ctr"/>
          <a:lstStyle/>
          <a:p>
            <a:pPr marL="0" indent="0" algn="l">
              <a:buNone/>
            </a:pPr>
            <a:endParaRPr lang="en-US" sz="1200" dirty="0"/>
          </a:p>
        </p:txBody>
      </p:sp>
      <p:sp>
        <p:nvSpPr>
          <p:cNvPr id="50" name="Text 36"/>
          <p:cNvSpPr txBox="1"/>
          <p:nvPr/>
        </p:nvSpPr>
        <p:spPr>
          <a:xfrm>
            <a:off x="6429146" y="5191049"/>
            <a:ext cx="1666951" cy="257861"/>
          </a:xfrm>
          <a:prstGeom prst="rect">
            <a:avLst/>
          </a:prstGeom>
          <a:noFill/>
          <a:ln/>
        </p:spPr>
        <p:txBody>
          <a:bodyPr wrap="square" lIns="0" tIns="0" rIns="0" bIns="0" rtlCol="0" anchor="ctr"/>
          <a:lstStyle/>
          <a:p>
            <a:pPr marL="0" indent="0" algn="ctr">
              <a:buNone/>
            </a:pPr>
            <a:endParaRPr lang="en-US" sz="1600" dirty="0"/>
          </a:p>
        </p:txBody>
      </p:sp>
      <p:sp>
        <p:nvSpPr>
          <p:cNvPr id="51" name="Text 37"/>
          <p:cNvSpPr txBox="1"/>
          <p:nvPr/>
        </p:nvSpPr>
        <p:spPr>
          <a:xfrm>
            <a:off x="6429146"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2" name="Text 38"/>
          <p:cNvSpPr txBox="1"/>
          <p:nvPr/>
        </p:nvSpPr>
        <p:spPr>
          <a:xfrm>
            <a:off x="8191195"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24</a:t>
            </a:r>
            <a:endParaRPr lang="en-US" sz="1600" dirty="0"/>
          </a:p>
        </p:txBody>
      </p:sp>
      <p:sp>
        <p:nvSpPr>
          <p:cNvPr id="53" name="Text 39"/>
          <p:cNvSpPr txBox="1"/>
          <p:nvPr/>
        </p:nvSpPr>
        <p:spPr>
          <a:xfrm>
            <a:off x="8191195"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Tháng thi công</a:t>
            </a:r>
            <a:endParaRPr lang="en-US" sz="900" dirty="0"/>
          </a:p>
        </p:txBody>
      </p:sp>
      <p:sp>
        <p:nvSpPr>
          <p:cNvPr id="55" name="Text 41"/>
          <p:cNvSpPr txBox="1"/>
          <p:nvPr/>
        </p:nvSpPr>
        <p:spPr>
          <a:xfrm>
            <a:off x="9953244"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6" name="Text 42"/>
          <p:cNvSpPr txBox="1"/>
          <p:nvPr/>
        </p:nvSpPr>
        <p:spPr>
          <a:xfrm>
            <a:off x="6429146" y="6124651"/>
            <a:ext cx="1388974" cy="143561"/>
          </a:xfrm>
          <a:prstGeom prst="rect">
            <a:avLst/>
          </a:prstGeom>
          <a:noFill/>
          <a:ln/>
        </p:spPr>
        <p:txBody>
          <a:bodyPr wrap="square" lIns="0" tIns="0" rIns="0" bIns="0" rtlCol="0" anchor="ctr"/>
          <a:lstStyle/>
          <a:p>
            <a:pPr marL="0" indent="0" algn="l">
              <a:buNone/>
            </a:pPr>
            <a:endParaRPr lang="en-US" sz="800" dirty="0"/>
          </a:p>
        </p:txBody>
      </p:sp>
      <p:sp>
        <p:nvSpPr>
          <p:cNvPr id="58" name="Text 44"/>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9" name="Image 11" descr="preencoded.png"/>
          <p:cNvPicPr>
            <a:picLocks noChangeAspect="1"/>
          </p:cNvPicPr>
          <p:nvPr/>
        </p:nvPicPr>
        <p:blipFill>
          <a:blip r:embed="rId12"/>
          <a:srcRect l="-1358" r="-1358"/>
          <a:stretch/>
        </p:blipFill>
        <p:spPr>
          <a:xfrm>
            <a:off x="381305" y="6549847"/>
            <a:ext cx="95098" cy="123444"/>
          </a:xfrm>
          <a:prstGeom prst="rect">
            <a:avLst/>
          </a:prstGeom>
        </p:spPr>
      </p:pic>
      <p:sp>
        <p:nvSpPr>
          <p:cNvPr id="60" name="Text 45"/>
          <p:cNvSpPr txBox="1"/>
          <p:nvPr/>
        </p:nvSpPr>
        <p:spPr>
          <a:xfrm>
            <a:off x="10858500" y="6524244"/>
            <a:ext cx="952805" cy="171907"/>
          </a:xfrm>
          <a:prstGeom prst="rect">
            <a:avLst/>
          </a:prstGeom>
          <a:noFill/>
          <a:ln/>
        </p:spPr>
        <p:txBody>
          <a:bodyPr wrap="square" lIns="0" tIns="0" rIns="0" bIns="0" rtlCol="0" anchor="ctr"/>
          <a:lstStyle/>
          <a:p>
            <a:pPr marL="0" indent="0" algn="r">
              <a:buNone/>
            </a:pPr>
            <a:r>
              <a:rPr lang="en-US" sz="900" b="1" dirty="0">
                <a:solidFill>
                  <a:srgbClr val="808080"/>
                </a:solidFill>
                <a:latin typeface="Open Sans" pitchFamily="34" charset="0"/>
                <a:ea typeface="Open Sans" pitchFamily="34" charset="-122"/>
                <a:cs typeface="Open Sans" pitchFamily="34" charset="-120"/>
              </a:rPr>
              <a:t>Trang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5591556" cy="3685946"/>
          </a:xfrm>
          <a:prstGeom prst="roundRect">
            <a:avLst>
              <a:gd name="adj" fmla="val 1538"/>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381305" y="4619549"/>
            <a:ext cx="5591556" cy="1733702"/>
          </a:xfrm>
          <a:prstGeom prst="roundRect">
            <a:avLst>
              <a:gd name="adj" fmla="val 6955"/>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191402" y="857707"/>
            <a:ext cx="5639105"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571500" y="3857854"/>
            <a:ext cx="5210251"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0" name="Shape 8"/>
          <p:cNvSpPr/>
          <p:nvPr/>
        </p:nvSpPr>
        <p:spPr>
          <a:xfrm>
            <a:off x="571500" y="5095951"/>
            <a:ext cx="5229454" cy="1133856"/>
          </a:xfrm>
          <a:prstGeom prst="roundRect">
            <a:avLst>
              <a:gd name="adj" fmla="val 10843"/>
            </a:avLst>
          </a:prstGeom>
          <a:solidFill>
            <a:srgbClr val="F7A81B">
              <a:alpha val="5000"/>
            </a:srgbClr>
          </a:solidFill>
          <a:ln w="25400">
            <a:solidFill>
              <a:srgbClr val="F7A81B"/>
            </a:solidFill>
            <a:prstDash val="solid"/>
          </a:ln>
        </p:spPr>
        <p:txBody>
          <a:bodyPr/>
          <a:lstStyle/>
          <a:p>
            <a:endParaRPr lang="en-US"/>
          </a:p>
        </p:txBody>
      </p:sp>
      <p:sp>
        <p:nvSpPr>
          <p:cNvPr id="11" name="Shape 9"/>
          <p:cNvSpPr/>
          <p:nvPr/>
        </p:nvSpPr>
        <p:spPr>
          <a:xfrm>
            <a:off x="6381598" y="1524305"/>
            <a:ext cx="5277002" cy="714146"/>
          </a:xfrm>
          <a:prstGeom prst="roundRect">
            <a:avLst>
              <a:gd name="adj" fmla="val 20487"/>
            </a:avLst>
          </a:prstGeom>
          <a:solidFill>
            <a:srgbClr val="FAFAFA"/>
          </a:solidFill>
          <a:ln/>
        </p:spPr>
        <p:txBody>
          <a:bodyPr/>
          <a:lstStyle/>
          <a:p>
            <a:endParaRPr lang="en-US"/>
          </a:p>
        </p:txBody>
      </p:sp>
      <p:sp>
        <p:nvSpPr>
          <p:cNvPr id="12" name="Shape 10"/>
          <p:cNvSpPr/>
          <p:nvPr/>
        </p:nvSpPr>
        <p:spPr>
          <a:xfrm>
            <a:off x="6381598" y="15243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3" name="Shape 11"/>
          <p:cNvSpPr/>
          <p:nvPr/>
        </p:nvSpPr>
        <p:spPr>
          <a:xfrm>
            <a:off x="6381598" y="2381098"/>
            <a:ext cx="5277002" cy="714146"/>
          </a:xfrm>
          <a:prstGeom prst="roundRect">
            <a:avLst>
              <a:gd name="adj" fmla="val 20487"/>
            </a:avLst>
          </a:prstGeom>
          <a:solidFill>
            <a:srgbClr val="FAFAFA"/>
          </a:solidFill>
          <a:ln/>
        </p:spPr>
        <p:txBody>
          <a:bodyPr/>
          <a:lstStyle/>
          <a:p>
            <a:endParaRPr lang="en-US"/>
          </a:p>
        </p:txBody>
      </p:sp>
      <p:sp>
        <p:nvSpPr>
          <p:cNvPr id="14" name="Shape 12"/>
          <p:cNvSpPr/>
          <p:nvPr/>
        </p:nvSpPr>
        <p:spPr>
          <a:xfrm>
            <a:off x="6381598" y="2381098"/>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5" name="Shape 13"/>
          <p:cNvSpPr/>
          <p:nvPr/>
        </p:nvSpPr>
        <p:spPr>
          <a:xfrm>
            <a:off x="6381598" y="3238805"/>
            <a:ext cx="5277002" cy="714146"/>
          </a:xfrm>
          <a:prstGeom prst="roundRect">
            <a:avLst>
              <a:gd name="adj" fmla="val 20487"/>
            </a:avLst>
          </a:prstGeom>
          <a:solidFill>
            <a:srgbClr val="FAFAFA"/>
          </a:solidFill>
          <a:ln/>
        </p:spPr>
        <p:txBody>
          <a:bodyPr/>
          <a:lstStyle/>
          <a:p>
            <a:endParaRPr lang="en-US"/>
          </a:p>
        </p:txBody>
      </p:sp>
      <p:sp>
        <p:nvSpPr>
          <p:cNvPr id="16" name="Shape 14"/>
          <p:cNvSpPr/>
          <p:nvPr/>
        </p:nvSpPr>
        <p:spPr>
          <a:xfrm>
            <a:off x="6381598" y="32388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7" name="Shape 15"/>
          <p:cNvSpPr/>
          <p:nvPr/>
        </p:nvSpPr>
        <p:spPr>
          <a:xfrm>
            <a:off x="6381598" y="4143146"/>
            <a:ext cx="5257800" cy="2066544"/>
          </a:xfrm>
          <a:prstGeom prst="roundRect">
            <a:avLst>
              <a:gd name="adj" fmla="val 3263"/>
            </a:avLst>
          </a:prstGeom>
          <a:solidFill>
            <a:srgbClr val="F7A81B">
              <a:alpha val="5000"/>
            </a:srgbClr>
          </a:solidFill>
          <a:ln w="12700">
            <a:solidFill>
              <a:srgbClr val="F7A81B">
                <a:alpha val="30000"/>
              </a:srgbClr>
            </a:solidFill>
            <a:prstDash val="solid"/>
          </a:ln>
        </p:spPr>
        <p:txBody>
          <a:bodyPr/>
          <a:lstStyle/>
          <a:p>
            <a:endParaRPr lang="en-US"/>
          </a:p>
        </p:txBody>
      </p:sp>
      <p:sp>
        <p:nvSpPr>
          <p:cNvPr id="18" name="Shape 16"/>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9" name="Image 0" descr="preencoded.png"/>
          <p:cNvPicPr>
            <a:picLocks noChangeAspect="1"/>
          </p:cNvPicPr>
          <p:nvPr/>
        </p:nvPicPr>
        <p:blipFill>
          <a:blip r:embed="rId3"/>
          <a:srcRect/>
          <a:stretch/>
        </p:blipFill>
        <p:spPr>
          <a:xfrm>
            <a:off x="452628" y="237744"/>
            <a:ext cx="237744" cy="190195"/>
          </a:xfrm>
          <a:prstGeom prst="rect">
            <a:avLst/>
          </a:prstGeom>
        </p:spPr>
      </p:pic>
      <p:sp>
        <p:nvSpPr>
          <p:cNvPr id="20" name="Text 17"/>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SO SÁNH BPTC - PA1 vs PA2</a:t>
            </a:r>
            <a:endParaRPr lang="en-US" sz="1800" dirty="0"/>
          </a:p>
        </p:txBody>
      </p:sp>
      <p:sp>
        <p:nvSpPr>
          <p:cNvPr id="21" name="Text 18"/>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2"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23" name="Text 19"/>
          <p:cNvSpPr txBox="1"/>
          <p:nvPr/>
        </p:nvSpPr>
        <p:spPr>
          <a:xfrm>
            <a:off x="819302" y="1000354"/>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So sánh chi tiết PA1 vs PA2</a:t>
            </a:r>
            <a:endParaRPr lang="en-US" sz="1300" dirty="0"/>
          </a:p>
        </p:txBody>
      </p:sp>
      <p:pic>
        <p:nvPicPr>
          <p:cNvPr id="24" name="Image 2" descr="preencoded.png"/>
          <p:cNvPicPr>
            <a:picLocks noChangeAspect="1"/>
          </p:cNvPicPr>
          <p:nvPr/>
        </p:nvPicPr>
        <p:blipFill>
          <a:blip r:embed="rId5"/>
          <a:srcRect/>
          <a:stretch/>
        </p:blipFill>
        <p:spPr>
          <a:xfrm>
            <a:off x="571500" y="1028700"/>
            <a:ext cx="152705" cy="152705"/>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 y="1333195"/>
          <a:ext cx="5191049" cy="2276855"/>
        </p:xfrm>
        <a:graphic>
          <a:graphicData uri="http://schemas.openxmlformats.org/drawingml/2006/table">
            <a:tbl>
              <a:tblPr/>
              <a:tblGrid>
                <a:gridCol w="1557223">
                  <a:extLst>
                    <a:ext uri="{9D8B030D-6E8A-4147-A177-3AD203B41FA5}">
                      <a16:colId xmlns:a16="http://schemas.microsoft.com/office/drawing/2014/main" val="20000"/>
                    </a:ext>
                  </a:extLst>
                </a:gridCol>
                <a:gridCol w="1816913">
                  <a:extLst>
                    <a:ext uri="{9D8B030D-6E8A-4147-A177-3AD203B41FA5}">
                      <a16:colId xmlns:a16="http://schemas.microsoft.com/office/drawing/2014/main" val="20001"/>
                    </a:ext>
                  </a:extLst>
                </a:gridCol>
                <a:gridCol w="1816913">
                  <a:extLst>
                    <a:ext uri="{9D8B030D-6E8A-4147-A177-3AD203B41FA5}">
                      <a16:colId xmlns:a16="http://schemas.microsoft.com/office/drawing/2014/main" val="20002"/>
                    </a:ext>
                  </a:extLst>
                </a:gridCol>
              </a:tblGrid>
              <a:tr h="325265">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Chỉ tiêu</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F7A81B"/>
                          </a:solidFill>
                          <a:latin typeface="Open Sans" pitchFamily="34" charset="0"/>
                          <a:ea typeface="Open Sans" pitchFamily="34" charset="-122"/>
                          <a:cs typeface="Open Sans" pitchFamily="34" charset="-120"/>
                        </a:rPr>
                        <a:t>PA1 - Đào mở</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PA2 - Semi topdown</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(VNĐ)</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35,821,839,062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37,664,824,427</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extLst>
                  <a:ext uri="{0D108BD9-81ED-4DB2-BD59-A6C34878D82A}">
                    <a16:rowId xmlns:a16="http://schemas.microsoft.com/office/drawing/2014/main" val="10001"/>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Thời gian (ngày)</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270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330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2"/>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Cừ Larsen</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11,187,020,000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13,008,980,000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3"/>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Hệ văng chống</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24,634,819,062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17,692,804,752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4"/>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phát sinh</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6,963,039,675</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5"/>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Tổng chi phí</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extLst>
                  <a:ext uri="{0D108BD9-81ED-4DB2-BD59-A6C34878D82A}">
                    <a16:rowId xmlns:a16="http://schemas.microsoft.com/office/drawing/2014/main" val="10006"/>
                  </a:ext>
                </a:extLst>
              </a:tr>
            </a:tbl>
          </a:graphicData>
        </a:graphic>
      </p:graphicFrame>
      <p:sp>
        <p:nvSpPr>
          <p:cNvPr id="26" name="Text 20"/>
          <p:cNvSpPr txBox="1"/>
          <p:nvPr/>
        </p:nvSpPr>
        <p:spPr>
          <a:xfrm>
            <a:off x="571500" y="3924605"/>
            <a:ext cx="5191963" cy="228600"/>
          </a:xfrm>
          <a:prstGeom prst="rect">
            <a:avLst/>
          </a:prstGeom>
          <a:noFill/>
          <a:ln/>
        </p:spPr>
        <p:txBody>
          <a:bodyPr wrap="square" lIns="0" tIns="0" rIns="0" bIns="0" rtlCol="0" anchor="ctr"/>
          <a:lstStyle/>
          <a:p>
            <a:pPr marL="0" indent="0" algn="ctr">
              <a:buNone/>
            </a:pPr>
            <a:r>
              <a:rPr lang="en-US" sz="1500" b="1" dirty="0">
                <a:solidFill>
                  <a:srgbClr val="F7A81B"/>
                </a:solidFill>
                <a:latin typeface="Open Sans" pitchFamily="34" charset="0"/>
                <a:ea typeface="Open Sans" pitchFamily="34" charset="-122"/>
                <a:cs typeface="Open Sans" pitchFamily="34" charset="-120"/>
              </a:rPr>
              <a:t>1.84 tỷ VNĐ</a:t>
            </a:r>
            <a:endParaRPr lang="en-US" sz="1500" dirty="0"/>
          </a:p>
        </p:txBody>
      </p:sp>
      <p:sp>
        <p:nvSpPr>
          <p:cNvPr id="27" name="Text 21"/>
          <p:cNvSpPr txBox="1"/>
          <p:nvPr/>
        </p:nvSpPr>
        <p:spPr>
          <a:xfrm>
            <a:off x="571500" y="4153205"/>
            <a:ext cx="5191963" cy="171907"/>
          </a:xfrm>
          <a:prstGeom prst="rect">
            <a:avLst/>
          </a:prstGeom>
          <a:noFill/>
          <a:ln/>
        </p:spPr>
        <p:txBody>
          <a:bodyPr wrap="square" lIns="0" tIns="0" rIns="0" bIns="0" rtlCol="0" anchor="ctr"/>
          <a:lstStyle/>
          <a:p>
            <a:pPr marL="0" indent="0" algn="ctr">
              <a:buNone/>
            </a:pPr>
            <a:r>
              <a:rPr lang="en-US" sz="900" dirty="0">
                <a:solidFill>
                  <a:srgbClr val="808080"/>
                </a:solidFill>
                <a:latin typeface="Open Sans" pitchFamily="34" charset="0"/>
                <a:ea typeface="Open Sans" pitchFamily="34" charset="-122"/>
                <a:cs typeface="Open Sans" pitchFamily="34" charset="-120"/>
              </a:rPr>
              <a:t>Tiết kiệm khi chọn PA1</a:t>
            </a:r>
            <a:endParaRPr lang="en-US" sz="900" dirty="0"/>
          </a:p>
        </p:txBody>
      </p:sp>
      <p:sp>
        <p:nvSpPr>
          <p:cNvPr id="28" name="Text 22"/>
          <p:cNvSpPr txBox="1"/>
          <p:nvPr/>
        </p:nvSpPr>
        <p:spPr>
          <a:xfrm>
            <a:off x="819302" y="4762195"/>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Kiến nghị lựa chọn</a:t>
            </a:r>
            <a:endParaRPr lang="en-US" sz="1300" dirty="0"/>
          </a:p>
        </p:txBody>
      </p:sp>
      <p:pic>
        <p:nvPicPr>
          <p:cNvPr id="29" name="Image 3" descr="preencoded.png"/>
          <p:cNvPicPr>
            <a:picLocks noChangeAspect="1"/>
          </p:cNvPicPr>
          <p:nvPr/>
        </p:nvPicPr>
        <p:blipFill>
          <a:blip r:embed="rId6"/>
          <a:srcRect/>
          <a:stretch/>
        </p:blipFill>
        <p:spPr>
          <a:xfrm>
            <a:off x="571500" y="4791456"/>
            <a:ext cx="152705" cy="152705"/>
          </a:xfrm>
          <a:prstGeom prst="rect">
            <a:avLst/>
          </a:prstGeom>
        </p:spPr>
      </p:pic>
      <p:sp>
        <p:nvSpPr>
          <p:cNvPr id="30" name="Text 23"/>
          <p:cNvSpPr txBox="1"/>
          <p:nvPr/>
        </p:nvSpPr>
        <p:spPr>
          <a:xfrm>
            <a:off x="951890" y="5219395"/>
            <a:ext cx="4668012"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Đề xuất: PA1 - Đào mở</a:t>
            </a:r>
            <a:endParaRPr lang="en-US" sz="1100" dirty="0"/>
          </a:p>
        </p:txBody>
      </p:sp>
      <p:pic>
        <p:nvPicPr>
          <p:cNvPr id="31" name="Image 4" descr="preencoded.png"/>
          <p:cNvPicPr>
            <a:picLocks noChangeAspect="1"/>
          </p:cNvPicPr>
          <p:nvPr/>
        </p:nvPicPr>
        <p:blipFill>
          <a:blip r:embed="rId7"/>
          <a:srcRect l="-428" r="-428"/>
          <a:stretch/>
        </p:blipFill>
        <p:spPr>
          <a:xfrm>
            <a:off x="714146" y="5243170"/>
            <a:ext cx="161849" cy="142646"/>
          </a:xfrm>
          <a:prstGeom prst="rect">
            <a:avLst/>
          </a:prstGeom>
        </p:spPr>
      </p:pic>
      <p:sp>
        <p:nvSpPr>
          <p:cNvPr id="32" name="Text 24"/>
          <p:cNvSpPr txBox="1"/>
          <p:nvPr/>
        </p:nvSpPr>
        <p:spPr>
          <a:xfrm>
            <a:off x="714146" y="5467198"/>
            <a:ext cx="4905756" cy="514807"/>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Dựa trên phân tích chi phí và thời gian, PA1 có lợi thế rõ ràng với tiết kiệm 1.84 tỷ VNĐ và nhanh hơn 60 ngày. Phương pháp này phù hợp với điều kiện mặt bằng và giảm thiểu rủi ro kỹ thuật.</a:t>
            </a:r>
            <a:endParaRPr lang="en-US" sz="900" dirty="0"/>
          </a:p>
        </p:txBody>
      </p:sp>
      <p:sp>
        <p:nvSpPr>
          <p:cNvPr id="33" name="Text 25"/>
          <p:cNvSpPr txBox="1"/>
          <p:nvPr/>
        </p:nvSpPr>
        <p:spPr>
          <a:xfrm>
            <a:off x="6629400" y="1047902"/>
            <a:ext cx="49917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Phân tích rủi ro &amp; Biện pháp giảm thiểu</a:t>
            </a:r>
            <a:endParaRPr lang="en-US" sz="1300" dirty="0"/>
          </a:p>
        </p:txBody>
      </p:sp>
      <p:pic>
        <p:nvPicPr>
          <p:cNvPr id="34" name="Image 5" descr="preencoded.png"/>
          <p:cNvPicPr>
            <a:picLocks noChangeAspect="1"/>
          </p:cNvPicPr>
          <p:nvPr/>
        </p:nvPicPr>
        <p:blipFill>
          <a:blip r:embed="rId8"/>
          <a:srcRect/>
          <a:stretch/>
        </p:blipFill>
        <p:spPr>
          <a:xfrm>
            <a:off x="6381598" y="1076249"/>
            <a:ext cx="152705" cy="152705"/>
          </a:xfrm>
          <a:prstGeom prst="rect">
            <a:avLst/>
          </a:prstGeom>
        </p:spPr>
      </p:pic>
      <p:pic>
        <p:nvPicPr>
          <p:cNvPr id="35" name="Image 6" descr="preencoded.png"/>
          <p:cNvPicPr>
            <a:picLocks noChangeAspect="1"/>
          </p:cNvPicPr>
          <p:nvPr/>
        </p:nvPicPr>
        <p:blipFill>
          <a:blip r:embed="rId9"/>
          <a:srcRect/>
          <a:stretch/>
        </p:blipFill>
        <p:spPr>
          <a:xfrm>
            <a:off x="6524244" y="1666951"/>
            <a:ext cx="133502" cy="133502"/>
          </a:xfrm>
          <a:prstGeom prst="rect">
            <a:avLst/>
          </a:prstGeom>
        </p:spPr>
      </p:pic>
      <p:sp>
        <p:nvSpPr>
          <p:cNvPr id="36" name="Text 26"/>
          <p:cNvSpPr txBox="1"/>
          <p:nvPr/>
        </p:nvSpPr>
        <p:spPr>
          <a:xfrm>
            <a:off x="6772046" y="1638605"/>
            <a:ext cx="3924605"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kỹ thuật</a:t>
            </a:r>
            <a:endParaRPr lang="en-US" sz="1000" dirty="0"/>
          </a:p>
        </p:txBody>
      </p:sp>
      <p:sp>
        <p:nvSpPr>
          <p:cNvPr id="37" name="Text 27"/>
          <p:cNvSpPr txBox="1"/>
          <p:nvPr/>
        </p:nvSpPr>
        <p:spPr>
          <a:xfrm>
            <a:off x="6772046" y="1857146"/>
            <a:ext cx="4610405"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Lớp đất sét pha trạng thái dẻo chảy, ảnh hưởng đến thi công kết cấu</a:t>
            </a:r>
            <a:endParaRPr lang="en-US" sz="900" dirty="0"/>
          </a:p>
        </p:txBody>
      </p:sp>
      <p:pic>
        <p:nvPicPr>
          <p:cNvPr id="38" name="Image 7" descr="preencoded.png"/>
          <p:cNvPicPr>
            <a:picLocks noChangeAspect="1"/>
          </p:cNvPicPr>
          <p:nvPr/>
        </p:nvPicPr>
        <p:blipFill>
          <a:blip r:embed="rId9"/>
          <a:srcRect/>
          <a:stretch/>
        </p:blipFill>
        <p:spPr>
          <a:xfrm>
            <a:off x="6524244" y="2523744"/>
            <a:ext cx="133502" cy="133502"/>
          </a:xfrm>
          <a:prstGeom prst="rect">
            <a:avLst/>
          </a:prstGeom>
        </p:spPr>
      </p:pic>
      <p:sp>
        <p:nvSpPr>
          <p:cNvPr id="39" name="Text 28"/>
          <p:cNvSpPr txBox="1"/>
          <p:nvPr/>
        </p:nvSpPr>
        <p:spPr>
          <a:xfrm>
            <a:off x="6772046" y="2495398"/>
            <a:ext cx="3296412"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tiến độ</a:t>
            </a:r>
            <a:endParaRPr lang="en-US" sz="1000" dirty="0"/>
          </a:p>
        </p:txBody>
      </p:sp>
      <p:sp>
        <p:nvSpPr>
          <p:cNvPr id="40" name="Text 29"/>
          <p:cNvSpPr txBox="1"/>
          <p:nvPr/>
        </p:nvSpPr>
        <p:spPr>
          <a:xfrm>
            <a:off x="6772046" y="2714854"/>
            <a:ext cx="3904488"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Thời tiết, thiếu nhân công, vật tư có thể làm chậm tiến độ</a:t>
            </a:r>
            <a:endParaRPr lang="en-US" sz="900" dirty="0"/>
          </a:p>
        </p:txBody>
      </p:sp>
      <p:pic>
        <p:nvPicPr>
          <p:cNvPr id="41" name="Image 8" descr="preencoded.png"/>
          <p:cNvPicPr>
            <a:picLocks noChangeAspect="1"/>
          </p:cNvPicPr>
          <p:nvPr/>
        </p:nvPicPr>
        <p:blipFill>
          <a:blip r:embed="rId9"/>
          <a:srcRect/>
          <a:stretch/>
        </p:blipFill>
        <p:spPr>
          <a:xfrm>
            <a:off x="6524244" y="3381451"/>
            <a:ext cx="133502" cy="133502"/>
          </a:xfrm>
          <a:prstGeom prst="rect">
            <a:avLst/>
          </a:prstGeom>
        </p:spPr>
      </p:pic>
      <p:sp>
        <p:nvSpPr>
          <p:cNvPr id="42" name="Text 30"/>
          <p:cNvSpPr txBox="1"/>
          <p:nvPr/>
        </p:nvSpPr>
        <p:spPr>
          <a:xfrm>
            <a:off x="6772046" y="3353105"/>
            <a:ext cx="3057754"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an toàn</a:t>
            </a:r>
            <a:endParaRPr lang="en-US" sz="1000" dirty="0"/>
          </a:p>
        </p:txBody>
      </p:sp>
      <p:sp>
        <p:nvSpPr>
          <p:cNvPr id="43" name="Text 31"/>
          <p:cNvSpPr txBox="1"/>
          <p:nvPr/>
        </p:nvSpPr>
        <p:spPr>
          <a:xfrm>
            <a:off x="6772046" y="3571646"/>
            <a:ext cx="3631082"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tác văng chống, cừ larsen cần giám sát chặt chẽ</a:t>
            </a:r>
            <a:endParaRPr lang="en-US" sz="900" dirty="0"/>
          </a:p>
        </p:txBody>
      </p:sp>
      <p:sp>
        <p:nvSpPr>
          <p:cNvPr id="44" name="Text 32"/>
          <p:cNvSpPr txBox="1"/>
          <p:nvPr/>
        </p:nvSpPr>
        <p:spPr>
          <a:xfrm>
            <a:off x="6828739" y="4286707"/>
            <a:ext cx="4602175"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Biện pháp giảm thiểu</a:t>
            </a:r>
            <a:endParaRPr lang="en-US" sz="1100" dirty="0"/>
          </a:p>
        </p:txBody>
      </p:sp>
      <p:sp>
        <p:nvSpPr>
          <p:cNvPr id="45" name="Text 33"/>
          <p:cNvSpPr txBox="1"/>
          <p:nvPr/>
        </p:nvSpPr>
        <p:spPr>
          <a:xfrm>
            <a:off x="6572707" y="4572000"/>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Hệ văng chống:</a:t>
            </a:r>
            <a:r>
              <a:rPr lang="en-US" sz="900" dirty="0">
                <a:solidFill>
                  <a:srgbClr val="555555"/>
                </a:solidFill>
                <a:latin typeface="Open Sans" pitchFamily="34" charset="0"/>
                <a:ea typeface="Open Sans" pitchFamily="34" charset="-122"/>
                <a:cs typeface="Open Sans" pitchFamily="34" charset="-120"/>
              </a:rPr>
              <a:t> Thiết kế chắc chắn, quan trắc liên tục biến dạng</a:t>
            </a:r>
            <a:endParaRPr lang="en-US" sz="900" dirty="0"/>
          </a:p>
        </p:txBody>
      </p:sp>
      <p:sp>
        <p:nvSpPr>
          <p:cNvPr id="46" name="Text 34"/>
          <p:cNvSpPr txBox="1"/>
          <p:nvPr/>
        </p:nvSpPr>
        <p:spPr>
          <a:xfrm>
            <a:off x="6572707" y="4812487"/>
            <a:ext cx="4858207" cy="372161"/>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Nước ngầm:</a:t>
            </a:r>
            <a:r>
              <a:rPr lang="en-US" sz="900" dirty="0">
                <a:solidFill>
                  <a:srgbClr val="555555"/>
                </a:solidFill>
                <a:latin typeface="Open Sans" pitchFamily="34" charset="0"/>
                <a:ea typeface="Open Sans" pitchFamily="34" charset="-122"/>
                <a:cs typeface="Open Sans" pitchFamily="34" charset="-120"/>
              </a:rPr>
              <a:t> Chia nhỏ giai đoạn đào, QA/QC chống thấm kỹ, thiết lập hệ thống bơm tự động</a:t>
            </a:r>
            <a:endParaRPr lang="en-US" sz="900" dirty="0"/>
          </a:p>
        </p:txBody>
      </p:sp>
      <p:sp>
        <p:nvSpPr>
          <p:cNvPr id="47" name="Text 35"/>
          <p:cNvSpPr txBox="1"/>
          <p:nvPr/>
        </p:nvSpPr>
        <p:spPr>
          <a:xfrm>
            <a:off x="6572707" y="5234940"/>
            <a:ext cx="55440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Công trình lân cận:</a:t>
            </a:r>
            <a:r>
              <a:rPr lang="en-US" sz="900" dirty="0">
                <a:solidFill>
                  <a:srgbClr val="555555"/>
                </a:solidFill>
                <a:latin typeface="Open Sans" pitchFamily="34" charset="0"/>
                <a:ea typeface="Open Sans" pitchFamily="34" charset="-122"/>
                <a:cs typeface="Open Sans" pitchFamily="34" charset="-120"/>
              </a:rPr>
              <a:t> Quan trắc độ lún/chuyển dịch; chuẩn bị sẵn giằng chống dự phòng</a:t>
            </a:r>
            <a:endParaRPr lang="en-US" sz="900" dirty="0"/>
          </a:p>
        </p:txBody>
      </p:sp>
      <p:sp>
        <p:nvSpPr>
          <p:cNvPr id="48" name="Text 36"/>
          <p:cNvSpPr txBox="1"/>
          <p:nvPr/>
        </p:nvSpPr>
        <p:spPr>
          <a:xfrm>
            <a:off x="6572707" y="5475427"/>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Thời tiết:</a:t>
            </a:r>
            <a:r>
              <a:rPr lang="en-US" sz="900" dirty="0">
                <a:solidFill>
                  <a:srgbClr val="555555"/>
                </a:solidFill>
                <a:latin typeface="Open Sans" pitchFamily="34" charset="0"/>
                <a:ea typeface="Open Sans" pitchFamily="34" charset="-122"/>
                <a:cs typeface="Open Sans" pitchFamily="34" charset="-120"/>
              </a:rPr>
              <a:t> Tận dụng các cửa sổ thời tiết thuận lợi, che chắn hố móng</a:t>
            </a:r>
            <a:endParaRPr lang="en-US" sz="900" dirty="0"/>
          </a:p>
        </p:txBody>
      </p:sp>
      <p:pic>
        <p:nvPicPr>
          <p:cNvPr id="49" name="Image 9" descr="preencoded.png"/>
          <p:cNvPicPr>
            <a:picLocks noChangeAspect="1"/>
          </p:cNvPicPr>
          <p:nvPr/>
        </p:nvPicPr>
        <p:blipFill>
          <a:blip r:embed="rId10"/>
          <a:srcRect/>
          <a:stretch/>
        </p:blipFill>
        <p:spPr>
          <a:xfrm>
            <a:off x="6572707" y="4313225"/>
            <a:ext cx="142646" cy="142646"/>
          </a:xfrm>
          <a:prstGeom prst="rect">
            <a:avLst/>
          </a:prstGeom>
        </p:spPr>
      </p:pic>
      <p:sp>
        <p:nvSpPr>
          <p:cNvPr id="50" name="Text 3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1" name="Image 10" descr="preencoded.png"/>
          <p:cNvPicPr>
            <a:picLocks noChangeAspect="1"/>
          </p:cNvPicPr>
          <p:nvPr/>
        </p:nvPicPr>
        <p:blipFill>
          <a:blip r:embed="rId11"/>
          <a:srcRect l="-1358" r="-1358"/>
          <a:stretch/>
        </p:blipFill>
        <p:spPr>
          <a:xfrm>
            <a:off x="381305" y="6549847"/>
            <a:ext cx="95098" cy="123444"/>
          </a:xfrm>
          <a:prstGeom prst="rect">
            <a:avLst/>
          </a:prstGeom>
        </p:spPr>
      </p:pic>
      <p:sp>
        <p:nvSpPr>
          <p:cNvPr id="52" name="Text 3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381305" y="857707"/>
            <a:ext cx="5591556" cy="5495544"/>
          </a:xfrm>
          <a:prstGeom prst="roundRect">
            <a:avLst>
              <a:gd name="adj" fmla="val 923"/>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571500" y="5191049"/>
            <a:ext cx="5210251" cy="1019556"/>
          </a:xfrm>
          <a:prstGeom prst="roundRect">
            <a:avLst>
              <a:gd name="adj" fmla="val 16764"/>
            </a:avLst>
          </a:prstGeom>
          <a:solidFill>
            <a:srgbClr val="F7A81B">
              <a:alpha val="5000"/>
            </a:srgbClr>
          </a:solidFill>
          <a:ln w="12700">
            <a:solidFill>
              <a:srgbClr val="F7A81B">
                <a:alpha val="30000"/>
              </a:srgbClr>
            </a:solidFill>
            <a:prstDash val="solid"/>
          </a:ln>
        </p:spPr>
        <p:txBody>
          <a:bodyPr/>
          <a:lstStyle/>
          <a:p>
            <a:endParaRPr lang="en-US"/>
          </a:p>
        </p:txBody>
      </p:sp>
      <p:sp>
        <p:nvSpPr>
          <p:cNvPr id="8" name="Shape 6"/>
          <p:cNvSpPr/>
          <p:nvPr/>
        </p:nvSpPr>
        <p:spPr>
          <a:xfrm>
            <a:off x="6238951" y="857707"/>
            <a:ext cx="5591556" cy="3353105"/>
          </a:xfrm>
          <a:prstGeom prst="roundRect">
            <a:avLst>
              <a:gd name="adj" fmla="val 2479"/>
            </a:avLst>
          </a:prstGeom>
          <a:solidFill>
            <a:srgbClr val="F8FAFC"/>
          </a:solidFill>
          <a:ln w="12700">
            <a:solidFill>
              <a:srgbClr val="E2E8F0"/>
            </a:solidFill>
            <a:prstDash val="solid"/>
          </a:ln>
        </p:spPr>
        <p:txBody>
          <a:bodyPr/>
          <a:lstStyle/>
          <a:p>
            <a:endParaRPr lang="en-US"/>
          </a:p>
        </p:txBody>
      </p:sp>
      <p:sp>
        <p:nvSpPr>
          <p:cNvPr id="9" name="Shape 7"/>
          <p:cNvSpPr/>
          <p:nvPr/>
        </p:nvSpPr>
        <p:spPr>
          <a:xfrm>
            <a:off x="9286646"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10524744"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6238951" y="4429354"/>
            <a:ext cx="5591556" cy="1923898"/>
          </a:xfrm>
          <a:prstGeom prst="roundRect">
            <a:avLst>
              <a:gd name="adj" fmla="val 7529"/>
            </a:avLst>
          </a:prstGeom>
          <a:solidFill>
            <a:srgbClr val="F8FAFC"/>
          </a:solidFill>
          <a:ln w="12700">
            <a:solidFill>
              <a:srgbClr val="E2E8F0"/>
            </a:solidFill>
            <a:prstDash val="solid"/>
          </a:ln>
        </p:spPr>
        <p:txBody>
          <a:bodyPr/>
          <a:lstStyle/>
          <a:p>
            <a:endParaRPr lang="en-US"/>
          </a:p>
        </p:txBody>
      </p:sp>
      <p:sp>
        <p:nvSpPr>
          <p:cNvPr id="12" name="Shape 10"/>
          <p:cNvSpPr/>
          <p:nvPr/>
        </p:nvSpPr>
        <p:spPr>
          <a:xfrm>
            <a:off x="0" y="6572707"/>
            <a:ext cx="12191695" cy="295351"/>
          </a:xfrm>
          <a:prstGeom prst="rect">
            <a:avLst/>
          </a:prstGeom>
          <a:solidFill>
            <a:srgbClr val="FFFFFF"/>
          </a:solidFill>
          <a:ln/>
        </p:spPr>
        <p:txBody>
          <a:bodyPr/>
          <a:lstStyle/>
          <a:p>
            <a:endParaRPr lang="en-US"/>
          </a:p>
        </p:txBody>
      </p:sp>
      <p:sp>
        <p:nvSpPr>
          <p:cNvPr id="13" name="Shape 11"/>
          <p:cNvSpPr/>
          <p:nvPr/>
        </p:nvSpPr>
        <p:spPr>
          <a:xfrm>
            <a:off x="0" y="6572707"/>
            <a:ext cx="1219169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4" name="Shape 1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5" name="Image 0" descr="preencoded.png"/>
          <p:cNvPicPr>
            <a:picLocks noChangeAspect="1"/>
          </p:cNvPicPr>
          <p:nvPr/>
        </p:nvPicPr>
        <p:blipFill>
          <a:blip r:embed="rId3"/>
          <a:srcRect/>
          <a:stretch/>
        </p:blipFill>
        <p:spPr>
          <a:xfrm>
            <a:off x="476402" y="237744"/>
            <a:ext cx="190195" cy="190195"/>
          </a:xfrm>
          <a:prstGeom prst="rect">
            <a:avLst/>
          </a:prstGeom>
        </p:spPr>
      </p:pic>
      <p:sp>
        <p:nvSpPr>
          <p:cNvPr id="16" name="Text 13"/>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kern="0" spc="38" dirty="0">
                <a:solidFill>
                  <a:srgbClr val="808080"/>
                </a:solidFill>
                <a:latin typeface="Montserrat" pitchFamily="34" charset="0"/>
                <a:ea typeface="Montserrat" pitchFamily="34" charset="-122"/>
                <a:cs typeface="Montserrat" pitchFamily="34" charset="-120"/>
              </a:rPr>
              <a:t>CHIẾN LƯỢC PHÂN GÓI THẦU</a:t>
            </a:r>
            <a:endParaRPr lang="en-US" sz="1800" dirty="0"/>
          </a:p>
        </p:txBody>
      </p:sp>
      <p:sp>
        <p:nvSpPr>
          <p:cNvPr id="17" name="Text 14"/>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18"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19" name="Text 15"/>
          <p:cNvSpPr txBox="1"/>
          <p:nvPr/>
        </p:nvSpPr>
        <p:spPr>
          <a:xfrm>
            <a:off x="838505" y="1047902"/>
            <a:ext cx="492495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Phân chia gói thầu chi tiết</a:t>
            </a:r>
            <a:endParaRPr lang="en-US" sz="1300" dirty="0"/>
          </a:p>
        </p:txBody>
      </p:sp>
      <p:pic>
        <p:nvPicPr>
          <p:cNvPr id="20" name="Image 2" descr="preencoded.png"/>
          <p:cNvPicPr>
            <a:picLocks noChangeAspect="1"/>
          </p:cNvPicPr>
          <p:nvPr/>
        </p:nvPicPr>
        <p:blipFill>
          <a:blip r:embed="rId5"/>
          <a:srcRect/>
          <a:stretch/>
        </p:blipFill>
        <p:spPr>
          <a:xfrm>
            <a:off x="571500" y="1059790"/>
            <a:ext cx="171907" cy="171907"/>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876792017"/>
              </p:ext>
            </p:extLst>
          </p:nvPr>
        </p:nvGraphicFramePr>
        <p:xfrm>
          <a:off x="571500" y="1524305"/>
          <a:ext cx="5191963" cy="3267153"/>
        </p:xfrm>
        <a:graphic>
          <a:graphicData uri="http://schemas.openxmlformats.org/drawingml/2006/table">
            <a:tbl>
              <a:tblPr/>
              <a:tblGrid>
                <a:gridCol w="934517">
                  <a:extLst>
                    <a:ext uri="{9D8B030D-6E8A-4147-A177-3AD203B41FA5}">
                      <a16:colId xmlns:a16="http://schemas.microsoft.com/office/drawing/2014/main" val="20000"/>
                    </a:ext>
                  </a:extLst>
                </a:gridCol>
                <a:gridCol w="1401775">
                  <a:extLst>
                    <a:ext uri="{9D8B030D-6E8A-4147-A177-3AD203B41FA5}">
                      <a16:colId xmlns:a16="http://schemas.microsoft.com/office/drawing/2014/main" val="20001"/>
                    </a:ext>
                  </a:extLst>
                </a:gridCol>
                <a:gridCol w="779069">
                  <a:extLst>
                    <a:ext uri="{9D8B030D-6E8A-4147-A177-3AD203B41FA5}">
                      <a16:colId xmlns:a16="http://schemas.microsoft.com/office/drawing/2014/main" val="20002"/>
                    </a:ext>
                  </a:extLst>
                </a:gridCol>
                <a:gridCol w="1037844">
                  <a:extLst>
                    <a:ext uri="{9D8B030D-6E8A-4147-A177-3AD203B41FA5}">
                      <a16:colId xmlns:a16="http://schemas.microsoft.com/office/drawing/2014/main" val="20003"/>
                    </a:ext>
                  </a:extLst>
                </a:gridCol>
                <a:gridCol w="1038758">
                  <a:extLst>
                    <a:ext uri="{9D8B030D-6E8A-4147-A177-3AD203B41FA5}">
                      <a16:colId xmlns:a16="http://schemas.microsoft.com/office/drawing/2014/main" val="20004"/>
                    </a:ext>
                  </a:extLst>
                </a:gridCol>
              </a:tblGrid>
              <a:tr h="363017">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extLst>
                  <a:ext uri="{0D108BD9-81ED-4DB2-BD59-A6C34878D82A}">
                    <a16:rowId xmlns:a16="http://schemas.microsoft.com/office/drawing/2014/main" val="10000"/>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2"/>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4"/>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6"/>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8"/>
                  </a:ext>
                </a:extLst>
              </a:tr>
            </a:tbl>
          </a:graphicData>
        </a:graphic>
      </p:graphicFrame>
      <p:sp>
        <p:nvSpPr>
          <p:cNvPr id="22" name="Text 16"/>
          <p:cNvSpPr txBox="1"/>
          <p:nvPr/>
        </p:nvSpPr>
        <p:spPr>
          <a:xfrm>
            <a:off x="923544" y="5286146"/>
            <a:ext cx="4696358"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Tổng quan phân chia</a:t>
            </a:r>
            <a:endParaRPr lang="en-US" sz="1000" dirty="0"/>
          </a:p>
        </p:txBody>
      </p:sp>
      <p:pic>
        <p:nvPicPr>
          <p:cNvPr id="23" name="Image 3" descr="preencoded.png"/>
          <p:cNvPicPr>
            <a:picLocks noChangeAspect="1"/>
          </p:cNvPicPr>
          <p:nvPr/>
        </p:nvPicPr>
        <p:blipFill>
          <a:blip r:embed="rId6"/>
          <a:srcRect/>
          <a:stretch/>
        </p:blipFill>
        <p:spPr>
          <a:xfrm>
            <a:off x="714146" y="5312664"/>
            <a:ext cx="133502" cy="133502"/>
          </a:xfrm>
          <a:prstGeom prst="rect">
            <a:avLst/>
          </a:prstGeom>
        </p:spPr>
      </p:pic>
      <p:sp>
        <p:nvSpPr>
          <p:cNvPr id="24" name="Text 17"/>
          <p:cNvSpPr txBox="1"/>
          <p:nvPr/>
        </p:nvSpPr>
        <p:spPr>
          <a:xfrm>
            <a:off x="714146" y="5572354"/>
            <a:ext cx="1519733"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a:t>
            </a:r>
            <a:endParaRPr lang="en-US" sz="900" dirty="0"/>
          </a:p>
        </p:txBody>
      </p:sp>
      <p:sp>
        <p:nvSpPr>
          <p:cNvPr id="25" name="Text 18"/>
          <p:cNvSpPr txBox="1"/>
          <p:nvPr/>
        </p:nvSpPr>
        <p:spPr>
          <a:xfrm>
            <a:off x="4669841" y="5572354"/>
            <a:ext cx="1371600"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67% (859.37 tỷ)</a:t>
            </a:r>
            <a:endParaRPr lang="en-US" sz="900" dirty="0"/>
          </a:p>
        </p:txBody>
      </p:sp>
      <p:sp>
        <p:nvSpPr>
          <p:cNvPr id="26" name="Text 19"/>
          <p:cNvSpPr txBox="1"/>
          <p:nvPr/>
        </p:nvSpPr>
        <p:spPr>
          <a:xfrm>
            <a:off x="714146" y="5838444"/>
            <a:ext cx="1173175"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thi</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công</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a:t>
            </a:r>
            <a:endParaRPr lang="en-US" sz="900" dirty="0"/>
          </a:p>
        </p:txBody>
      </p:sp>
      <p:sp>
        <p:nvSpPr>
          <p:cNvPr id="27" name="Text 20"/>
          <p:cNvSpPr txBox="1"/>
          <p:nvPr/>
        </p:nvSpPr>
        <p:spPr>
          <a:xfrm>
            <a:off x="4669841" y="5838444"/>
            <a:ext cx="1371600"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33% (408.1 tỷ)</a:t>
            </a:r>
            <a:endParaRPr lang="en-US" sz="900" dirty="0"/>
          </a:p>
        </p:txBody>
      </p:sp>
      <p:sp>
        <p:nvSpPr>
          <p:cNvPr id="28" name="Text 21"/>
          <p:cNvSpPr txBox="1"/>
          <p:nvPr/>
        </p:nvSpPr>
        <p:spPr>
          <a:xfrm>
            <a:off x="6715354" y="1047902"/>
            <a:ext cx="4905756"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Tỷ lệ phân chia gói thầu</a:t>
            </a:r>
            <a:endParaRPr lang="en-US" sz="1300" dirty="0"/>
          </a:p>
        </p:txBody>
      </p:sp>
      <p:pic>
        <p:nvPicPr>
          <p:cNvPr id="29" name="Image 4" descr="preencoded.png"/>
          <p:cNvPicPr>
            <a:picLocks noChangeAspect="1"/>
          </p:cNvPicPr>
          <p:nvPr/>
        </p:nvPicPr>
        <p:blipFill>
          <a:blip r:embed="rId7"/>
          <a:srcRect t="-842" b="-842"/>
          <a:stretch/>
        </p:blipFill>
        <p:spPr>
          <a:xfrm>
            <a:off x="6429146" y="1059790"/>
            <a:ext cx="190195" cy="171907"/>
          </a:xfrm>
          <a:prstGeom prst="rect">
            <a:avLst/>
          </a:prstGeom>
        </p:spPr>
      </p:pic>
      <p:pic>
        <p:nvPicPr>
          <p:cNvPr id="30" name="Image 5" descr="preencoded.png"/>
          <p:cNvPicPr>
            <a:picLocks noChangeAspect="1"/>
          </p:cNvPicPr>
          <p:nvPr/>
        </p:nvPicPr>
        <p:blipFill>
          <a:blip r:embed="rId8"/>
          <a:srcRect t="-6" b="-6"/>
          <a:stretch/>
        </p:blipFill>
        <p:spPr>
          <a:xfrm>
            <a:off x="6572707" y="1524305"/>
            <a:ext cx="2476195" cy="2286000"/>
          </a:xfrm>
          <a:prstGeom prst="rect">
            <a:avLst/>
          </a:prstGeom>
        </p:spPr>
      </p:pic>
      <p:sp>
        <p:nvSpPr>
          <p:cNvPr id="31" name="Shape 22"/>
          <p:cNvSpPr/>
          <p:nvPr/>
        </p:nvSpPr>
        <p:spPr>
          <a:xfrm>
            <a:off x="9334195" y="1733702"/>
            <a:ext cx="133502" cy="133502"/>
          </a:xfrm>
          <a:prstGeom prst="roundRect">
            <a:avLst>
              <a:gd name="adj" fmla="val 293543"/>
            </a:avLst>
          </a:prstGeom>
          <a:solidFill>
            <a:srgbClr val="F7A81B"/>
          </a:solidFill>
          <a:ln w="12700">
            <a:solidFill>
              <a:srgbClr val="FFFFFF">
                <a:alpha val="0"/>
              </a:srgbClr>
            </a:solidFill>
            <a:prstDash val="solid"/>
          </a:ln>
        </p:spPr>
        <p:txBody>
          <a:bodyPr/>
          <a:lstStyle/>
          <a:p>
            <a:endParaRPr lang="en-US"/>
          </a:p>
        </p:txBody>
      </p:sp>
      <p:sp>
        <p:nvSpPr>
          <p:cNvPr id="32" name="Text 23"/>
          <p:cNvSpPr txBox="1"/>
          <p:nvPr/>
        </p:nvSpPr>
        <p:spPr>
          <a:xfrm>
            <a:off x="9562795" y="1714500"/>
            <a:ext cx="1553566"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 (67%)</a:t>
            </a:r>
            <a:endParaRPr lang="en-US" sz="900" dirty="0"/>
          </a:p>
        </p:txBody>
      </p:sp>
      <p:sp>
        <p:nvSpPr>
          <p:cNvPr id="33" name="Shape 24"/>
          <p:cNvSpPr/>
          <p:nvPr/>
        </p:nvSpPr>
        <p:spPr>
          <a:xfrm>
            <a:off x="9334195" y="2018995"/>
            <a:ext cx="133502" cy="133502"/>
          </a:xfrm>
          <a:prstGeom prst="roundRect">
            <a:avLst>
              <a:gd name="adj" fmla="val 293543"/>
            </a:avLst>
          </a:prstGeom>
          <a:solidFill>
            <a:srgbClr val="808080"/>
          </a:solidFill>
          <a:ln w="12700">
            <a:solidFill>
              <a:srgbClr val="FFFFFF">
                <a:alpha val="0"/>
              </a:srgbClr>
            </a:solidFill>
            <a:prstDash val="solid"/>
          </a:ln>
        </p:spPr>
        <p:txBody>
          <a:bodyPr/>
          <a:lstStyle/>
          <a:p>
            <a:endParaRPr lang="en-US"/>
          </a:p>
        </p:txBody>
      </p:sp>
      <p:sp>
        <p:nvSpPr>
          <p:cNvPr id="34" name="Text 25"/>
          <p:cNvSpPr txBox="1"/>
          <p:nvPr/>
        </p:nvSpPr>
        <p:spPr>
          <a:xfrm>
            <a:off x="9562795" y="2000707"/>
            <a:ext cx="1553566"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 (33%)</a:t>
            </a:r>
            <a:endParaRPr lang="en-US" sz="900" dirty="0"/>
          </a:p>
        </p:txBody>
      </p:sp>
      <p:sp>
        <p:nvSpPr>
          <p:cNvPr id="35" name="Text 26"/>
          <p:cNvSpPr txBox="1"/>
          <p:nvPr/>
        </p:nvSpPr>
        <p:spPr>
          <a:xfrm>
            <a:off x="9286646" y="2686507"/>
            <a:ext cx="1143000" cy="286207"/>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68.3%</a:t>
            </a:r>
            <a:endParaRPr lang="en-US" sz="1600" dirty="0"/>
          </a:p>
        </p:txBody>
      </p:sp>
      <p:sp>
        <p:nvSpPr>
          <p:cNvPr id="36" name="Text 27"/>
          <p:cNvSpPr txBox="1"/>
          <p:nvPr/>
        </p:nvSpPr>
        <p:spPr>
          <a:xfrm>
            <a:off x="9286646"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Trực tiếp</a:t>
            </a:r>
            <a:endParaRPr lang="en-US" sz="800" dirty="0"/>
          </a:p>
        </p:txBody>
      </p:sp>
      <p:sp>
        <p:nvSpPr>
          <p:cNvPr id="37" name="Text 28"/>
          <p:cNvSpPr txBox="1"/>
          <p:nvPr/>
        </p:nvSpPr>
        <p:spPr>
          <a:xfrm>
            <a:off x="10524744" y="2686507"/>
            <a:ext cx="1143000" cy="286207"/>
          </a:xfrm>
          <a:prstGeom prst="rect">
            <a:avLst/>
          </a:prstGeom>
          <a:noFill/>
          <a:ln/>
        </p:spPr>
        <p:txBody>
          <a:bodyPr wrap="square" lIns="0" tIns="0" rIns="0" bIns="0" rtlCol="0" anchor="ctr"/>
          <a:lstStyle/>
          <a:p>
            <a:pPr marL="0" indent="0" algn="ctr">
              <a:buNone/>
            </a:pPr>
            <a:r>
              <a:rPr lang="en-US" sz="1600" b="1" dirty="0">
                <a:solidFill>
                  <a:srgbClr val="808080"/>
                </a:solidFill>
                <a:latin typeface="Open Sans" pitchFamily="34" charset="0"/>
                <a:ea typeface="Open Sans" pitchFamily="34" charset="-122"/>
                <a:cs typeface="Open Sans" pitchFamily="34" charset="-120"/>
              </a:rPr>
              <a:t>31.7%</a:t>
            </a:r>
            <a:endParaRPr lang="en-US" sz="1600" dirty="0"/>
          </a:p>
        </p:txBody>
      </p:sp>
      <p:sp>
        <p:nvSpPr>
          <p:cNvPr id="38" name="Text 29"/>
          <p:cNvSpPr txBox="1"/>
          <p:nvPr/>
        </p:nvSpPr>
        <p:spPr>
          <a:xfrm>
            <a:off x="10524744"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Thầu phụ</a:t>
            </a:r>
            <a:endParaRPr lang="en-US" sz="800" dirty="0"/>
          </a:p>
        </p:txBody>
      </p:sp>
      <p:sp>
        <p:nvSpPr>
          <p:cNvPr id="39" name="Text 30"/>
          <p:cNvSpPr txBox="1"/>
          <p:nvPr/>
        </p:nvSpPr>
        <p:spPr>
          <a:xfrm>
            <a:off x="6743700" y="4619549"/>
            <a:ext cx="48774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Mô hình triển khai</a:t>
            </a:r>
            <a:endParaRPr lang="en-US" sz="1300" dirty="0"/>
          </a:p>
        </p:txBody>
      </p:sp>
      <p:pic>
        <p:nvPicPr>
          <p:cNvPr id="40" name="Image 6" descr="preencoded.png"/>
          <p:cNvPicPr>
            <a:picLocks noChangeAspect="1"/>
          </p:cNvPicPr>
          <p:nvPr/>
        </p:nvPicPr>
        <p:blipFill>
          <a:blip r:embed="rId9"/>
          <a:srcRect l="-1064" r="-1064"/>
          <a:stretch/>
        </p:blipFill>
        <p:spPr>
          <a:xfrm>
            <a:off x="6429146" y="4631436"/>
            <a:ext cx="219456" cy="171907"/>
          </a:xfrm>
          <a:prstGeom prst="rect">
            <a:avLst/>
          </a:prstGeom>
        </p:spPr>
      </p:pic>
      <p:sp>
        <p:nvSpPr>
          <p:cNvPr id="41" name="Text 31"/>
          <p:cNvSpPr txBox="1"/>
          <p:nvPr/>
        </p:nvSpPr>
        <p:spPr>
          <a:xfrm>
            <a:off x="6524244"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Chủ đầu tư</a:t>
            </a:r>
            <a:endParaRPr lang="en-US" sz="900" dirty="0"/>
          </a:p>
        </p:txBody>
      </p:sp>
      <p:sp>
        <p:nvSpPr>
          <p:cNvPr id="42" name="Text 32"/>
          <p:cNvSpPr txBox="1"/>
          <p:nvPr/>
        </p:nvSpPr>
        <p:spPr>
          <a:xfrm>
            <a:off x="6524244"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Liên danh ITF &amp; Tiền Phong</a:t>
            </a:r>
            <a:endParaRPr lang="en-US" sz="1000" dirty="0"/>
          </a:p>
        </p:txBody>
      </p:sp>
      <p:sp>
        <p:nvSpPr>
          <p:cNvPr id="43" name="Text 33"/>
          <p:cNvSpPr txBox="1"/>
          <p:nvPr/>
        </p:nvSpPr>
        <p:spPr>
          <a:xfrm>
            <a:off x="9191549"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Tổng thầu</a:t>
            </a:r>
            <a:endParaRPr lang="en-US" sz="900" dirty="0"/>
          </a:p>
        </p:txBody>
      </p:sp>
      <p:sp>
        <p:nvSpPr>
          <p:cNvPr id="44" name="Text 34"/>
          <p:cNvSpPr txBox="1"/>
          <p:nvPr/>
        </p:nvSpPr>
        <p:spPr>
          <a:xfrm>
            <a:off x="9191549"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VNCN E&amp;C</a:t>
            </a:r>
            <a:endParaRPr lang="en-US" sz="1000" dirty="0"/>
          </a:p>
        </p:txBody>
      </p:sp>
      <p:sp>
        <p:nvSpPr>
          <p:cNvPr id="45" name="Text 35"/>
          <p:cNvSpPr txBox="1"/>
          <p:nvPr/>
        </p:nvSpPr>
        <p:spPr>
          <a:xfrm>
            <a:off x="6524244"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Ban XD</a:t>
            </a:r>
            <a:endParaRPr lang="en-US" sz="900" dirty="0"/>
          </a:p>
        </p:txBody>
      </p:sp>
      <p:sp>
        <p:nvSpPr>
          <p:cNvPr id="46" name="Text 36"/>
          <p:cNvSpPr txBox="1"/>
          <p:nvPr/>
        </p:nvSpPr>
        <p:spPr>
          <a:xfrm>
            <a:off x="6524244" y="59344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Thi công phần thô</a:t>
            </a:r>
            <a:endParaRPr lang="en-US" sz="1000" dirty="0"/>
          </a:p>
        </p:txBody>
      </p:sp>
      <p:sp>
        <p:nvSpPr>
          <p:cNvPr id="47" name="Text 37"/>
          <p:cNvSpPr txBox="1"/>
          <p:nvPr/>
        </p:nvSpPr>
        <p:spPr>
          <a:xfrm>
            <a:off x="9191549"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ECC</a:t>
            </a:r>
            <a:endParaRPr lang="en-US" sz="900" dirty="0"/>
          </a:p>
        </p:txBody>
      </p:sp>
      <p:sp>
        <p:nvSpPr>
          <p:cNvPr id="48" name="Text 38"/>
          <p:cNvSpPr txBox="1"/>
          <p:nvPr/>
        </p:nvSpPr>
        <p:spPr>
          <a:xfrm>
            <a:off x="9191549" y="5934456"/>
            <a:ext cx="238201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Công ty thi công trực tiếp</a:t>
            </a:r>
            <a:endParaRPr lang="en-US" sz="1000" dirty="0"/>
          </a:p>
        </p:txBody>
      </p:sp>
      <p:sp>
        <p:nvSpPr>
          <p:cNvPr id="49" name="Text 39"/>
          <p:cNvSpPr txBox="1"/>
          <p:nvPr/>
        </p:nvSpPr>
        <p:spPr>
          <a:xfrm>
            <a:off x="543154" y="6629400"/>
            <a:ext cx="3648456"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0" name="Image 7" descr="preencoded.png"/>
          <p:cNvPicPr>
            <a:picLocks noChangeAspect="1"/>
          </p:cNvPicPr>
          <p:nvPr/>
        </p:nvPicPr>
        <p:blipFill>
          <a:blip r:embed="rId10"/>
          <a:srcRect l="-133" r="-133"/>
          <a:stretch/>
        </p:blipFill>
        <p:spPr>
          <a:xfrm>
            <a:off x="381305" y="6653174"/>
            <a:ext cx="85954" cy="114300"/>
          </a:xfrm>
          <a:prstGeom prst="rect">
            <a:avLst/>
          </a:prstGeom>
        </p:spPr>
      </p:pic>
      <p:sp>
        <p:nvSpPr>
          <p:cNvPr id="51" name="Text 40"/>
          <p:cNvSpPr txBox="1"/>
          <p:nvPr/>
        </p:nvSpPr>
        <p:spPr>
          <a:xfrm>
            <a:off x="10477195" y="6629400"/>
            <a:ext cx="1334110" cy="162763"/>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7/12</a:t>
            </a:r>
            <a:endParaRPr lang="en-US" sz="900" dirty="0"/>
          </a:p>
        </p:txBody>
      </p:sp>
      <p:pic>
        <p:nvPicPr>
          <p:cNvPr id="52" name="Picture 51">
            <a:extLst>
              <a:ext uri="{FF2B5EF4-FFF2-40B4-BE49-F238E27FC236}">
                <a16:creationId xmlns:a16="http://schemas.microsoft.com/office/drawing/2014/main" id="{10887C7C-C4C7-BFE4-0E35-9AC4FBB63771}"/>
              </a:ext>
            </a:extLst>
          </p:cNvPr>
          <p:cNvPicPr>
            <a:picLocks noChangeAspect="1"/>
          </p:cNvPicPr>
          <p:nvPr/>
        </p:nvPicPr>
        <p:blipFill>
          <a:blip r:embed="rId11"/>
          <a:stretch>
            <a:fillRect/>
          </a:stretch>
        </p:blipFill>
        <p:spPr>
          <a:xfrm>
            <a:off x="381305" y="1517599"/>
            <a:ext cx="5591556" cy="3518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471830" y="200254"/>
            <a:ext cx="200254" cy="267005"/>
          </a:xfrm>
          <a:prstGeom prst="rect">
            <a:avLst/>
          </a:prstGeom>
        </p:spPr>
      </p:pic>
      <p:sp>
        <p:nvSpPr>
          <p:cNvPr id="7" name="Text 4"/>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THÀNH LẬP CÔNG TY ECC</a:t>
            </a:r>
            <a:endParaRPr lang="en-US" sz="1800" dirty="0"/>
          </a:p>
        </p:txBody>
      </p:sp>
      <p:sp>
        <p:nvSpPr>
          <p:cNvPr id="8" name="Text 5"/>
          <p:cNvSpPr txBox="1"/>
          <p:nvPr/>
        </p:nvSpPr>
        <p:spPr>
          <a:xfrm>
            <a:off x="10477195" y="237744"/>
            <a:ext cx="133411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9" name="Image 1" descr="preencoded.png"/>
          <p:cNvPicPr>
            <a:picLocks noChangeAspect="1"/>
          </p:cNvPicPr>
          <p:nvPr/>
        </p:nvPicPr>
        <p:blipFill>
          <a:blip r:embed="rId4"/>
          <a:srcRect t="-1100" b="-1100"/>
          <a:stretch/>
        </p:blipFill>
        <p:spPr>
          <a:xfrm>
            <a:off x="10287000" y="261518"/>
            <a:ext cx="114300" cy="133502"/>
          </a:xfrm>
          <a:prstGeom prst="rect">
            <a:avLst/>
          </a:prstGeom>
        </p:spPr>
      </p:pic>
      <p:sp>
        <p:nvSpPr>
          <p:cNvPr id="10" name="Shape 6"/>
          <p:cNvSpPr/>
          <p:nvPr/>
        </p:nvSpPr>
        <p:spPr>
          <a:xfrm>
            <a:off x="381305" y="857707"/>
            <a:ext cx="5572354"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Text 7"/>
          <p:cNvSpPr txBox="1"/>
          <p:nvPr/>
        </p:nvSpPr>
        <p:spPr>
          <a:xfrm>
            <a:off x="857707" y="1086307"/>
            <a:ext cx="486735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Mục tiêu thành lập ECC</a:t>
            </a:r>
            <a:endParaRPr lang="en-US" sz="1300" dirty="0"/>
          </a:p>
        </p:txBody>
      </p:sp>
      <p:pic>
        <p:nvPicPr>
          <p:cNvPr id="12" name="Image 2" descr="preencoded.png"/>
          <p:cNvPicPr>
            <a:picLocks noChangeAspect="1"/>
          </p:cNvPicPr>
          <p:nvPr/>
        </p:nvPicPr>
        <p:blipFill>
          <a:blip r:embed="rId5"/>
          <a:srcRect/>
          <a:stretch/>
        </p:blipFill>
        <p:spPr>
          <a:xfrm>
            <a:off x="609905" y="1114654"/>
            <a:ext cx="152705" cy="152705"/>
          </a:xfrm>
          <a:prstGeom prst="rect">
            <a:avLst/>
          </a:prstGeom>
        </p:spPr>
      </p:pic>
      <p:sp>
        <p:nvSpPr>
          <p:cNvPr id="13" name="Shape 8"/>
          <p:cNvSpPr/>
          <p:nvPr/>
        </p:nvSpPr>
        <p:spPr>
          <a:xfrm>
            <a:off x="6099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4" name="Image 3" descr="preencoded.png"/>
          <p:cNvPicPr>
            <a:picLocks noChangeAspect="1"/>
          </p:cNvPicPr>
          <p:nvPr/>
        </p:nvPicPr>
        <p:blipFill>
          <a:blip r:embed="rId6"/>
          <a:srcRect/>
          <a:stretch/>
        </p:blipFill>
        <p:spPr>
          <a:xfrm>
            <a:off x="1276502" y="1723644"/>
            <a:ext cx="228600" cy="228600"/>
          </a:xfrm>
          <a:prstGeom prst="rect">
            <a:avLst/>
          </a:prstGeom>
        </p:spPr>
      </p:pic>
      <p:sp>
        <p:nvSpPr>
          <p:cNvPr id="15" name="Text 9"/>
          <p:cNvSpPr txBox="1"/>
          <p:nvPr/>
        </p:nvSpPr>
        <p:spPr>
          <a:xfrm>
            <a:off x="532181" y="2095805"/>
            <a:ext cx="1726387"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Kiểm soát chất lượng</a:t>
            </a:r>
            <a:endParaRPr lang="en-US" sz="900" dirty="0"/>
          </a:p>
        </p:txBody>
      </p:sp>
      <p:sp>
        <p:nvSpPr>
          <p:cNvPr id="16" name="Shape 10"/>
          <p:cNvSpPr/>
          <p:nvPr/>
        </p:nvSpPr>
        <p:spPr>
          <a:xfrm>
            <a:off x="2381098"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7" name="Image 4" descr="preencoded.png"/>
          <p:cNvPicPr>
            <a:picLocks noChangeAspect="1"/>
          </p:cNvPicPr>
          <p:nvPr/>
        </p:nvPicPr>
        <p:blipFill>
          <a:blip r:embed="rId7"/>
          <a:srcRect/>
          <a:stretch/>
        </p:blipFill>
        <p:spPr>
          <a:xfrm>
            <a:off x="3047695" y="1723644"/>
            <a:ext cx="228600" cy="228600"/>
          </a:xfrm>
          <a:prstGeom prst="rect">
            <a:avLst/>
          </a:prstGeom>
        </p:spPr>
      </p:pic>
      <p:sp>
        <p:nvSpPr>
          <p:cNvPr id="18" name="Text 11"/>
          <p:cNvSpPr txBox="1"/>
          <p:nvPr/>
        </p:nvSpPr>
        <p:spPr>
          <a:xfrm>
            <a:off x="2476195" y="2095805"/>
            <a:ext cx="1381658"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Tăng lợi nhuận</a:t>
            </a:r>
            <a:endParaRPr lang="en-US" sz="900" dirty="0"/>
          </a:p>
        </p:txBody>
      </p:sp>
      <p:sp>
        <p:nvSpPr>
          <p:cNvPr id="19" name="Shape 12"/>
          <p:cNvSpPr/>
          <p:nvPr/>
        </p:nvSpPr>
        <p:spPr>
          <a:xfrm>
            <a:off x="41532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20" name="Image 5" descr="preencoded.png"/>
          <p:cNvPicPr>
            <a:picLocks noChangeAspect="1"/>
          </p:cNvPicPr>
          <p:nvPr/>
        </p:nvPicPr>
        <p:blipFill>
          <a:blip r:embed="rId8"/>
          <a:srcRect l="-80" r="-80"/>
          <a:stretch/>
        </p:blipFill>
        <p:spPr>
          <a:xfrm>
            <a:off x="4791456" y="1723644"/>
            <a:ext cx="286207" cy="228600"/>
          </a:xfrm>
          <a:prstGeom prst="rect">
            <a:avLst/>
          </a:prstGeom>
        </p:spPr>
      </p:pic>
      <p:sp>
        <p:nvSpPr>
          <p:cNvPr id="21" name="Text 13"/>
          <p:cNvSpPr txBox="1"/>
          <p:nvPr/>
        </p:nvSpPr>
        <p:spPr>
          <a:xfrm>
            <a:off x="4248302" y="2095805"/>
            <a:ext cx="1381658" cy="305410"/>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Giảm phụ thuộc thầu phụ</a:t>
            </a:r>
            <a:endParaRPr lang="en-US" sz="900" dirty="0"/>
          </a:p>
        </p:txBody>
      </p:sp>
      <p:sp>
        <p:nvSpPr>
          <p:cNvPr id="22" name="Shape 14"/>
          <p:cNvSpPr/>
          <p:nvPr/>
        </p:nvSpPr>
        <p:spPr>
          <a:xfrm>
            <a:off x="609905" y="2743200"/>
            <a:ext cx="5115154" cy="714146"/>
          </a:xfrm>
          <a:prstGeom prst="roundRect">
            <a:avLst>
              <a:gd name="adj" fmla="val 34144"/>
            </a:avLst>
          </a:prstGeom>
          <a:solidFill>
            <a:srgbClr val="F7A81B">
              <a:alpha val="10000"/>
            </a:srgbClr>
          </a:solidFill>
          <a:ln w="12700">
            <a:solidFill>
              <a:srgbClr val="F7A81B">
                <a:alpha val="30000"/>
              </a:srgbClr>
            </a:solidFill>
            <a:prstDash val="solid"/>
          </a:ln>
        </p:spPr>
        <p:txBody>
          <a:bodyPr/>
          <a:lstStyle/>
          <a:p>
            <a:endParaRPr lang="en-US"/>
          </a:p>
        </p:txBody>
      </p:sp>
      <p:sp>
        <p:nvSpPr>
          <p:cNvPr id="23" name="Text 15"/>
          <p:cNvSpPr txBox="1"/>
          <p:nvPr/>
        </p:nvSpPr>
        <p:spPr>
          <a:xfrm>
            <a:off x="971093" y="2809951"/>
            <a:ext cx="4601261"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Phạm vi công việc</a:t>
            </a:r>
            <a:endParaRPr lang="en-US" sz="1000" dirty="0"/>
          </a:p>
        </p:txBody>
      </p:sp>
      <p:pic>
        <p:nvPicPr>
          <p:cNvPr id="24" name="Image 6" descr="preencoded.png"/>
          <p:cNvPicPr>
            <a:picLocks noChangeAspect="1"/>
          </p:cNvPicPr>
          <p:nvPr/>
        </p:nvPicPr>
        <p:blipFill>
          <a:blip r:embed="rId9"/>
          <a:srcRect/>
          <a:stretch/>
        </p:blipFill>
        <p:spPr>
          <a:xfrm>
            <a:off x="761695" y="2833726"/>
            <a:ext cx="133502" cy="133502"/>
          </a:xfrm>
          <a:prstGeom prst="rect">
            <a:avLst/>
          </a:prstGeom>
        </p:spPr>
      </p:pic>
      <p:sp>
        <p:nvSpPr>
          <p:cNvPr id="25" name="Text 16"/>
          <p:cNvSpPr txBox="1"/>
          <p:nvPr/>
        </p:nvSpPr>
        <p:spPr>
          <a:xfrm>
            <a:off x="761695" y="3029407"/>
            <a:ext cx="5241341"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BTCT móng, hầm, thân + hoàn thiện ướt (xây trát, ốp, lát, sơn, bả...)</a:t>
            </a:r>
            <a:endParaRPr lang="en-US" sz="900" dirty="0"/>
          </a:p>
        </p:txBody>
      </p:sp>
      <p:sp>
        <p:nvSpPr>
          <p:cNvPr id="26" name="Shape 17"/>
          <p:cNvSpPr/>
          <p:nvPr/>
        </p:nvSpPr>
        <p:spPr>
          <a:xfrm>
            <a:off x="381305" y="3857854"/>
            <a:ext cx="5572354"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7" name="Text 18"/>
          <p:cNvSpPr txBox="1"/>
          <p:nvPr/>
        </p:nvSpPr>
        <p:spPr>
          <a:xfrm>
            <a:off x="876910" y="4048049"/>
            <a:ext cx="4848149"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Sơ đồ tổ chức</a:t>
            </a:r>
            <a:endParaRPr lang="en-US" sz="1300" dirty="0"/>
          </a:p>
        </p:txBody>
      </p:sp>
      <p:pic>
        <p:nvPicPr>
          <p:cNvPr id="28" name="Image 7" descr="preencoded.png"/>
          <p:cNvPicPr>
            <a:picLocks noChangeAspect="1"/>
          </p:cNvPicPr>
          <p:nvPr/>
        </p:nvPicPr>
        <p:blipFill>
          <a:blip r:embed="rId10"/>
          <a:srcRect l="-33" r="-33"/>
          <a:stretch/>
        </p:blipFill>
        <p:spPr>
          <a:xfrm>
            <a:off x="609905" y="4076395"/>
            <a:ext cx="171907" cy="152705"/>
          </a:xfrm>
          <a:prstGeom prst="rect">
            <a:avLst/>
          </a:prstGeom>
        </p:spPr>
      </p:pic>
      <p:sp>
        <p:nvSpPr>
          <p:cNvPr id="29" name="Shape 19"/>
          <p:cNvSpPr/>
          <p:nvPr/>
        </p:nvSpPr>
        <p:spPr>
          <a:xfrm>
            <a:off x="2447849" y="4429354"/>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0" name="Text 20"/>
          <p:cNvSpPr txBox="1"/>
          <p:nvPr/>
        </p:nvSpPr>
        <p:spPr>
          <a:xfrm>
            <a:off x="2542946" y="4505249"/>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PMO</a:t>
            </a:r>
            <a:endParaRPr lang="en-US" sz="900" dirty="0"/>
          </a:p>
        </p:txBody>
      </p:sp>
      <p:sp>
        <p:nvSpPr>
          <p:cNvPr id="31" name="Text 21"/>
          <p:cNvSpPr txBox="1"/>
          <p:nvPr/>
        </p:nvSpPr>
        <p:spPr>
          <a:xfrm>
            <a:off x="2542946" y="4677156"/>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Quản lý dự án</a:t>
            </a:r>
            <a:endParaRPr lang="en-US" sz="800" dirty="0"/>
          </a:p>
        </p:txBody>
      </p:sp>
      <p:sp>
        <p:nvSpPr>
          <p:cNvPr id="32" name="Shape 22"/>
          <p:cNvSpPr/>
          <p:nvPr/>
        </p:nvSpPr>
        <p:spPr>
          <a:xfrm>
            <a:off x="609905"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3" name="Text 23"/>
          <p:cNvSpPr txBox="1"/>
          <p:nvPr/>
        </p:nvSpPr>
        <p:spPr>
          <a:xfrm>
            <a:off x="705002"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Site Teams</a:t>
            </a:r>
            <a:endParaRPr lang="en-US" sz="900" dirty="0"/>
          </a:p>
        </p:txBody>
      </p:sp>
      <p:sp>
        <p:nvSpPr>
          <p:cNvPr id="34" name="Text 24"/>
          <p:cNvSpPr txBox="1"/>
          <p:nvPr/>
        </p:nvSpPr>
        <p:spPr>
          <a:xfrm>
            <a:off x="705002"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 công</a:t>
            </a:r>
            <a:endParaRPr lang="en-US" sz="800" dirty="0"/>
          </a:p>
        </p:txBody>
      </p:sp>
      <p:sp>
        <p:nvSpPr>
          <p:cNvPr id="35" name="Shape 25"/>
          <p:cNvSpPr/>
          <p:nvPr/>
        </p:nvSpPr>
        <p:spPr>
          <a:xfrm>
            <a:off x="2447849"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6" name="Text 26"/>
          <p:cNvSpPr txBox="1"/>
          <p:nvPr/>
        </p:nvSpPr>
        <p:spPr>
          <a:xfrm>
            <a:off x="2542946"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QS</a:t>
            </a:r>
            <a:endParaRPr lang="en-US" sz="900" dirty="0"/>
          </a:p>
        </p:txBody>
      </p:sp>
      <p:sp>
        <p:nvSpPr>
          <p:cNvPr id="37" name="Text 27"/>
          <p:cNvSpPr txBox="1"/>
          <p:nvPr/>
        </p:nvSpPr>
        <p:spPr>
          <a:xfrm>
            <a:off x="2542946"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Quantity Surveyor</a:t>
            </a:r>
            <a:endParaRPr lang="en-US" sz="800" dirty="0"/>
          </a:p>
        </p:txBody>
      </p:sp>
      <p:sp>
        <p:nvSpPr>
          <p:cNvPr id="38" name="Shape 28"/>
          <p:cNvSpPr/>
          <p:nvPr/>
        </p:nvSpPr>
        <p:spPr>
          <a:xfrm>
            <a:off x="4295851"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9" name="Text 29"/>
          <p:cNvSpPr txBox="1"/>
          <p:nvPr/>
        </p:nvSpPr>
        <p:spPr>
          <a:xfrm>
            <a:off x="4390949"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HSE/QAQC</a:t>
            </a:r>
            <a:endParaRPr lang="en-US" sz="900" dirty="0"/>
          </a:p>
        </p:txBody>
      </p:sp>
      <p:sp>
        <p:nvSpPr>
          <p:cNvPr id="40" name="Text 30"/>
          <p:cNvSpPr txBox="1"/>
          <p:nvPr/>
        </p:nvSpPr>
        <p:spPr>
          <a:xfrm>
            <a:off x="4288536" y="5296205"/>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An toàn &amp; Chất lượng</a:t>
            </a:r>
            <a:endParaRPr lang="en-US" sz="800" dirty="0"/>
          </a:p>
        </p:txBody>
      </p:sp>
      <p:sp>
        <p:nvSpPr>
          <p:cNvPr id="41" name="Shape 31"/>
          <p:cNvSpPr/>
          <p:nvPr/>
        </p:nvSpPr>
        <p:spPr>
          <a:xfrm>
            <a:off x="2447849" y="5667451"/>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42" name="Text 32"/>
          <p:cNvSpPr txBox="1"/>
          <p:nvPr/>
        </p:nvSpPr>
        <p:spPr>
          <a:xfrm>
            <a:off x="2542946" y="5743346"/>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Plant/Formwork</a:t>
            </a:r>
            <a:endParaRPr lang="en-US" sz="900" dirty="0"/>
          </a:p>
        </p:txBody>
      </p:sp>
      <p:sp>
        <p:nvSpPr>
          <p:cNvPr id="43" name="Text 33"/>
          <p:cNvSpPr txBox="1"/>
          <p:nvPr/>
        </p:nvSpPr>
        <p:spPr>
          <a:xfrm>
            <a:off x="2440534" y="5915254"/>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Thiết bị &amp; Ván khuôn</a:t>
            </a:r>
            <a:endParaRPr lang="en-US" sz="800" dirty="0"/>
          </a:p>
        </p:txBody>
      </p:sp>
      <p:sp>
        <p:nvSpPr>
          <p:cNvPr id="44" name="Shape 34"/>
          <p:cNvSpPr/>
          <p:nvPr/>
        </p:nvSpPr>
        <p:spPr>
          <a:xfrm>
            <a:off x="6191402" y="857707"/>
            <a:ext cx="5619902"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45" name="Text 35"/>
          <p:cNvSpPr txBox="1"/>
          <p:nvPr/>
        </p:nvSpPr>
        <p:spPr>
          <a:xfrm>
            <a:off x="6687007" y="1086307"/>
            <a:ext cx="489569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Đầu tư ban đầu</a:t>
            </a:r>
            <a:endParaRPr lang="en-US" sz="1300" dirty="0"/>
          </a:p>
        </p:txBody>
      </p:sp>
      <p:pic>
        <p:nvPicPr>
          <p:cNvPr id="46" name="Image 8" descr="preencoded.png"/>
          <p:cNvPicPr>
            <a:picLocks noChangeAspect="1"/>
          </p:cNvPicPr>
          <p:nvPr/>
        </p:nvPicPr>
        <p:blipFill>
          <a:blip r:embed="rId11"/>
          <a:srcRect l="-33" r="-33"/>
          <a:stretch/>
        </p:blipFill>
        <p:spPr>
          <a:xfrm>
            <a:off x="6420002" y="1114654"/>
            <a:ext cx="171907" cy="152705"/>
          </a:xfrm>
          <a:prstGeom prst="rect">
            <a:avLst/>
          </a:prstGeom>
        </p:spPr>
      </p:pic>
      <p:sp>
        <p:nvSpPr>
          <p:cNvPr id="47" name="Shape 36"/>
          <p:cNvSpPr/>
          <p:nvPr/>
        </p:nvSpPr>
        <p:spPr>
          <a:xfrm>
            <a:off x="6420002" y="1505102"/>
            <a:ext cx="2381098" cy="418795"/>
          </a:xfrm>
          <a:prstGeom prst="rect">
            <a:avLst/>
          </a:prstGeom>
          <a:solidFill>
            <a:srgbClr val="F8F9FA"/>
          </a:solidFill>
          <a:ln/>
        </p:spPr>
        <p:txBody>
          <a:bodyPr/>
          <a:lstStyle/>
          <a:p>
            <a:endParaRPr lang="en-US"/>
          </a:p>
        </p:txBody>
      </p:sp>
      <p:sp>
        <p:nvSpPr>
          <p:cNvPr id="48" name="Shape 37"/>
          <p:cNvSpPr/>
          <p:nvPr/>
        </p:nvSpPr>
        <p:spPr>
          <a:xfrm>
            <a:off x="6420002" y="1904695"/>
            <a:ext cx="2381098"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49" name="Text 38"/>
          <p:cNvSpPr txBox="1"/>
          <p:nvPr/>
        </p:nvSpPr>
        <p:spPr>
          <a:xfrm>
            <a:off x="6420002" y="1505102"/>
            <a:ext cx="2382012"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Hạng mục</a:t>
            </a:r>
            <a:endParaRPr lang="en-US" sz="900" dirty="0"/>
          </a:p>
        </p:txBody>
      </p:sp>
      <p:sp>
        <p:nvSpPr>
          <p:cNvPr id="50" name="Shape 39"/>
          <p:cNvSpPr/>
          <p:nvPr/>
        </p:nvSpPr>
        <p:spPr>
          <a:xfrm>
            <a:off x="8801100" y="1505102"/>
            <a:ext cx="1143000" cy="418795"/>
          </a:xfrm>
          <a:prstGeom prst="rect">
            <a:avLst/>
          </a:prstGeom>
          <a:solidFill>
            <a:srgbClr val="F8F9FA"/>
          </a:solidFill>
          <a:ln/>
        </p:spPr>
        <p:txBody>
          <a:bodyPr/>
          <a:lstStyle/>
          <a:p>
            <a:endParaRPr lang="en-US"/>
          </a:p>
        </p:txBody>
      </p:sp>
      <p:sp>
        <p:nvSpPr>
          <p:cNvPr id="51" name="Shape 40"/>
          <p:cNvSpPr/>
          <p:nvPr/>
        </p:nvSpPr>
        <p:spPr>
          <a:xfrm>
            <a:off x="8801100" y="1904695"/>
            <a:ext cx="1143000"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2" name="Text 41"/>
          <p:cNvSpPr txBox="1"/>
          <p:nvPr/>
        </p:nvSpPr>
        <p:spPr>
          <a:xfrm>
            <a:off x="8801100" y="1505102"/>
            <a:ext cx="1143000"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(tỷ)</a:t>
            </a:r>
            <a:endParaRPr lang="en-US" sz="900" dirty="0"/>
          </a:p>
        </p:txBody>
      </p:sp>
      <p:sp>
        <p:nvSpPr>
          <p:cNvPr id="53" name="Shape 42"/>
          <p:cNvSpPr/>
          <p:nvPr/>
        </p:nvSpPr>
        <p:spPr>
          <a:xfrm>
            <a:off x="9944100" y="1505102"/>
            <a:ext cx="1638605" cy="418795"/>
          </a:xfrm>
          <a:prstGeom prst="rect">
            <a:avLst/>
          </a:prstGeom>
          <a:solidFill>
            <a:srgbClr val="F8F9FA"/>
          </a:solidFill>
          <a:ln/>
        </p:spPr>
        <p:txBody>
          <a:bodyPr/>
          <a:lstStyle/>
          <a:p>
            <a:endParaRPr lang="en-US"/>
          </a:p>
        </p:txBody>
      </p:sp>
      <p:sp>
        <p:nvSpPr>
          <p:cNvPr id="54" name="Shape 43"/>
          <p:cNvSpPr/>
          <p:nvPr/>
        </p:nvSpPr>
        <p:spPr>
          <a:xfrm>
            <a:off x="9944100" y="1904695"/>
            <a:ext cx="163860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5" name="Text 44"/>
          <p:cNvSpPr txBox="1"/>
          <p:nvPr/>
        </p:nvSpPr>
        <p:spPr>
          <a:xfrm>
            <a:off x="9944100" y="1505102"/>
            <a:ext cx="1638605"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Ghi chú</a:t>
            </a:r>
            <a:endParaRPr lang="en-US" sz="900" dirty="0"/>
          </a:p>
        </p:txBody>
      </p:sp>
      <p:sp>
        <p:nvSpPr>
          <p:cNvPr id="56" name="Shape 45"/>
          <p:cNvSpPr/>
          <p:nvPr/>
        </p:nvSpPr>
        <p:spPr>
          <a:xfrm>
            <a:off x="6420002" y="22860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7" name="Text 46"/>
          <p:cNvSpPr txBox="1"/>
          <p:nvPr/>
        </p:nvSpPr>
        <p:spPr>
          <a:xfrm>
            <a:off x="6420002" y="19046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Ván khuôn</a:t>
            </a:r>
            <a:endParaRPr lang="en-US" sz="900" dirty="0"/>
          </a:p>
        </p:txBody>
      </p:sp>
      <p:sp>
        <p:nvSpPr>
          <p:cNvPr id="58" name="Shape 47"/>
          <p:cNvSpPr/>
          <p:nvPr/>
        </p:nvSpPr>
        <p:spPr>
          <a:xfrm>
            <a:off x="8801100" y="22860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9" name="Text 48"/>
          <p:cNvSpPr txBox="1"/>
          <p:nvPr/>
        </p:nvSpPr>
        <p:spPr>
          <a:xfrm>
            <a:off x="8801100" y="19046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32.91</a:t>
            </a:r>
            <a:endParaRPr lang="en-US" sz="900" dirty="0"/>
          </a:p>
        </p:txBody>
      </p:sp>
      <p:sp>
        <p:nvSpPr>
          <p:cNvPr id="60" name="Shape 49"/>
          <p:cNvSpPr/>
          <p:nvPr/>
        </p:nvSpPr>
        <p:spPr>
          <a:xfrm>
            <a:off x="9944100" y="22860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1" name="Text 50"/>
          <p:cNvSpPr txBox="1"/>
          <p:nvPr/>
        </p:nvSpPr>
        <p:spPr>
          <a:xfrm>
            <a:off x="9944100" y="19046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Đầu tư ban đầu</a:t>
            </a:r>
            <a:endParaRPr lang="en-US" sz="900" dirty="0"/>
          </a:p>
        </p:txBody>
      </p:sp>
      <p:sp>
        <p:nvSpPr>
          <p:cNvPr id="62" name="Shape 51"/>
          <p:cNvSpPr/>
          <p:nvPr/>
        </p:nvSpPr>
        <p:spPr>
          <a:xfrm>
            <a:off x="6420002" y="2686507"/>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3" name="Text 52"/>
          <p:cNvSpPr txBox="1"/>
          <p:nvPr/>
        </p:nvSpPr>
        <p:spPr>
          <a:xfrm>
            <a:off x="6420002" y="2305202"/>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a:t>
            </a:r>
            <a:r>
              <a:rPr lang="en-US" sz="900" dirty="0" err="1">
                <a:solidFill>
                  <a:srgbClr val="808080"/>
                </a:solidFill>
                <a:latin typeface="Open Sans" pitchFamily="34" charset="0"/>
                <a:ea typeface="Open Sans" pitchFamily="34" charset="-122"/>
                <a:cs typeface="Open Sans" pitchFamily="34" charset="-120"/>
              </a:rPr>
              <a:t>bị</a:t>
            </a:r>
            <a:r>
              <a:rPr lang="en-US" sz="900" dirty="0">
                <a:solidFill>
                  <a:srgbClr val="808080"/>
                </a:solidFill>
                <a:latin typeface="Open Sans" pitchFamily="34" charset="0"/>
                <a:ea typeface="Open Sans" pitchFamily="34" charset="-122"/>
                <a:cs typeface="Open Sans" pitchFamily="34" charset="-120"/>
              </a:rPr>
              <a:t> </a:t>
            </a:r>
            <a:r>
              <a:rPr lang="en-US" sz="900" dirty="0" err="1">
                <a:solidFill>
                  <a:srgbClr val="808080"/>
                </a:solidFill>
                <a:latin typeface="Open Sans" pitchFamily="34" charset="0"/>
                <a:ea typeface="Open Sans" pitchFamily="34" charset="-122"/>
                <a:cs typeface="Open Sans" pitchFamily="34" charset="-120"/>
              </a:rPr>
              <a:t>CapEx</a:t>
            </a:r>
            <a:endParaRPr lang="en-US" sz="900" dirty="0"/>
          </a:p>
        </p:txBody>
      </p:sp>
      <p:sp>
        <p:nvSpPr>
          <p:cNvPr id="64" name="Shape 53"/>
          <p:cNvSpPr/>
          <p:nvPr/>
        </p:nvSpPr>
        <p:spPr>
          <a:xfrm>
            <a:off x="8801100" y="2686507"/>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5" name="Text 54"/>
          <p:cNvSpPr txBox="1"/>
          <p:nvPr/>
        </p:nvSpPr>
        <p:spPr>
          <a:xfrm>
            <a:off x="8801100" y="2305202"/>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14.81</a:t>
            </a:r>
            <a:endParaRPr lang="en-US" sz="900" dirty="0"/>
          </a:p>
        </p:txBody>
      </p:sp>
      <p:sp>
        <p:nvSpPr>
          <p:cNvPr id="66" name="Shape 55"/>
          <p:cNvSpPr/>
          <p:nvPr/>
        </p:nvSpPr>
        <p:spPr>
          <a:xfrm>
            <a:off x="9944100" y="2686507"/>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7" name="Text 56"/>
          <p:cNvSpPr txBox="1"/>
          <p:nvPr/>
        </p:nvSpPr>
        <p:spPr>
          <a:xfrm>
            <a:off x="9944100" y="2305202"/>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Mua sắm thiết bị</a:t>
            </a:r>
            <a:endParaRPr lang="en-US" sz="900" dirty="0"/>
          </a:p>
        </p:txBody>
      </p:sp>
      <p:sp>
        <p:nvSpPr>
          <p:cNvPr id="68" name="Shape 57"/>
          <p:cNvSpPr/>
          <p:nvPr/>
        </p:nvSpPr>
        <p:spPr>
          <a:xfrm>
            <a:off x="6420002" y="30861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9" name="Text 58"/>
          <p:cNvSpPr txBox="1"/>
          <p:nvPr/>
        </p:nvSpPr>
        <p:spPr>
          <a:xfrm>
            <a:off x="6420002" y="27047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thiết bị</a:t>
            </a:r>
            <a:endParaRPr lang="en-US" sz="900" dirty="0"/>
          </a:p>
        </p:txBody>
      </p:sp>
      <p:sp>
        <p:nvSpPr>
          <p:cNvPr id="70" name="Shape 59"/>
          <p:cNvSpPr/>
          <p:nvPr/>
        </p:nvSpPr>
        <p:spPr>
          <a:xfrm>
            <a:off x="8801100" y="30861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1" name="Text 60"/>
          <p:cNvSpPr txBox="1"/>
          <p:nvPr/>
        </p:nvSpPr>
        <p:spPr>
          <a:xfrm>
            <a:off x="8801100" y="27047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13.83</a:t>
            </a:r>
            <a:endParaRPr lang="en-US" sz="900" dirty="0"/>
          </a:p>
        </p:txBody>
      </p:sp>
      <p:sp>
        <p:nvSpPr>
          <p:cNvPr id="72" name="Shape 61"/>
          <p:cNvSpPr/>
          <p:nvPr/>
        </p:nvSpPr>
        <p:spPr>
          <a:xfrm>
            <a:off x="9944100" y="30861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3" name="Text 62"/>
          <p:cNvSpPr txBox="1"/>
          <p:nvPr/>
        </p:nvSpPr>
        <p:spPr>
          <a:xfrm>
            <a:off x="9944100" y="27047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Giáo, cần phân phối</a:t>
            </a:r>
            <a:endParaRPr lang="en-US" sz="900" dirty="0"/>
          </a:p>
        </p:txBody>
      </p:sp>
      <p:sp>
        <p:nvSpPr>
          <p:cNvPr id="74" name="Text 63"/>
          <p:cNvSpPr txBox="1"/>
          <p:nvPr/>
        </p:nvSpPr>
        <p:spPr>
          <a:xfrm>
            <a:off x="6420002" y="3105302"/>
            <a:ext cx="2382012"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Tổng đầu tư</a:t>
            </a:r>
            <a:endParaRPr lang="en-US" sz="1000" dirty="0"/>
          </a:p>
        </p:txBody>
      </p:sp>
      <p:sp>
        <p:nvSpPr>
          <p:cNvPr id="75" name="Text 64"/>
          <p:cNvSpPr txBox="1"/>
          <p:nvPr/>
        </p:nvSpPr>
        <p:spPr>
          <a:xfrm>
            <a:off x="8801100" y="3105302"/>
            <a:ext cx="1143000"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61.55</a:t>
            </a:r>
            <a:endParaRPr lang="en-US" sz="1000" dirty="0"/>
          </a:p>
        </p:txBody>
      </p:sp>
      <p:sp>
        <p:nvSpPr>
          <p:cNvPr id="76" name="Text 65"/>
          <p:cNvSpPr txBox="1"/>
          <p:nvPr/>
        </p:nvSpPr>
        <p:spPr>
          <a:xfrm>
            <a:off x="9944100" y="3105302"/>
            <a:ext cx="1638605"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p>
        </p:txBody>
      </p:sp>
      <p:sp>
        <p:nvSpPr>
          <p:cNvPr id="77" name="Shape 66"/>
          <p:cNvSpPr/>
          <p:nvPr/>
        </p:nvSpPr>
        <p:spPr>
          <a:xfrm>
            <a:off x="6191402" y="3857854"/>
            <a:ext cx="5619902"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8" name="Text 67"/>
          <p:cNvSpPr txBox="1"/>
          <p:nvPr/>
        </p:nvSpPr>
        <p:spPr>
          <a:xfrm>
            <a:off x="6667805" y="4048049"/>
            <a:ext cx="49149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KPIs theo dõi</a:t>
            </a:r>
            <a:endParaRPr lang="en-US" sz="1300" dirty="0"/>
          </a:p>
        </p:txBody>
      </p:sp>
      <p:pic>
        <p:nvPicPr>
          <p:cNvPr id="79" name="Image 9" descr="preencoded.png"/>
          <p:cNvPicPr>
            <a:picLocks noChangeAspect="1"/>
          </p:cNvPicPr>
          <p:nvPr/>
        </p:nvPicPr>
        <p:blipFill>
          <a:blip r:embed="rId12"/>
          <a:srcRect/>
          <a:stretch/>
        </p:blipFill>
        <p:spPr>
          <a:xfrm>
            <a:off x="6420002" y="4076395"/>
            <a:ext cx="152705" cy="152705"/>
          </a:xfrm>
          <a:prstGeom prst="rect">
            <a:avLst/>
          </a:prstGeom>
        </p:spPr>
      </p:pic>
      <p:sp>
        <p:nvSpPr>
          <p:cNvPr id="80" name="Shape 68"/>
          <p:cNvSpPr/>
          <p:nvPr/>
        </p:nvSpPr>
        <p:spPr>
          <a:xfrm>
            <a:off x="6420002"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1" name="Text 69"/>
          <p:cNvSpPr txBox="1"/>
          <p:nvPr/>
        </p:nvSpPr>
        <p:spPr>
          <a:xfrm>
            <a:off x="6515100"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95%</a:t>
            </a:r>
            <a:endParaRPr lang="en-US" sz="1900" dirty="0"/>
          </a:p>
        </p:txBody>
      </p:sp>
      <p:sp>
        <p:nvSpPr>
          <p:cNvPr id="82" name="Text 70"/>
          <p:cNvSpPr txBox="1"/>
          <p:nvPr/>
        </p:nvSpPr>
        <p:spPr>
          <a:xfrm>
            <a:off x="6515100"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TIẾN ĐỘ</a:t>
            </a:r>
            <a:endParaRPr lang="en-US" sz="800" dirty="0"/>
          </a:p>
        </p:txBody>
      </p:sp>
      <p:sp>
        <p:nvSpPr>
          <p:cNvPr id="83" name="Shape 71"/>
          <p:cNvSpPr/>
          <p:nvPr/>
        </p:nvSpPr>
        <p:spPr>
          <a:xfrm>
            <a:off x="9096451"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4" name="Text 72"/>
          <p:cNvSpPr txBox="1"/>
          <p:nvPr/>
        </p:nvSpPr>
        <p:spPr>
          <a:xfrm>
            <a:off x="9191549"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&lt;1%</a:t>
            </a:r>
            <a:endParaRPr lang="en-US" sz="1900" dirty="0"/>
          </a:p>
        </p:txBody>
      </p:sp>
      <p:sp>
        <p:nvSpPr>
          <p:cNvPr id="85" name="Text 73"/>
          <p:cNvSpPr txBox="1"/>
          <p:nvPr/>
        </p:nvSpPr>
        <p:spPr>
          <a:xfrm>
            <a:off x="9191549"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REWORK</a:t>
            </a:r>
            <a:endParaRPr lang="en-US" sz="800" dirty="0"/>
          </a:p>
        </p:txBody>
      </p:sp>
      <p:sp>
        <p:nvSpPr>
          <p:cNvPr id="86" name="Shape 74"/>
          <p:cNvSpPr/>
          <p:nvPr/>
        </p:nvSpPr>
        <p:spPr>
          <a:xfrm>
            <a:off x="6420002"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7" name="Text 75"/>
          <p:cNvSpPr txBox="1"/>
          <p:nvPr/>
        </p:nvSpPr>
        <p:spPr>
          <a:xfrm>
            <a:off x="6515100"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0</a:t>
            </a:r>
            <a:endParaRPr lang="en-US" sz="1900" dirty="0"/>
          </a:p>
        </p:txBody>
      </p:sp>
      <p:sp>
        <p:nvSpPr>
          <p:cNvPr id="88" name="Text 76"/>
          <p:cNvSpPr txBox="1"/>
          <p:nvPr/>
        </p:nvSpPr>
        <p:spPr>
          <a:xfrm>
            <a:off x="6515100"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TAI NẠN</a:t>
            </a:r>
            <a:endParaRPr lang="en-US" sz="800" dirty="0"/>
          </a:p>
        </p:txBody>
      </p:sp>
      <p:sp>
        <p:nvSpPr>
          <p:cNvPr id="89" name="Shape 77"/>
          <p:cNvSpPr/>
          <p:nvPr/>
        </p:nvSpPr>
        <p:spPr>
          <a:xfrm>
            <a:off x="9096451"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90" name="Text 78"/>
          <p:cNvSpPr txBox="1"/>
          <p:nvPr/>
        </p:nvSpPr>
        <p:spPr>
          <a:xfrm>
            <a:off x="9191549"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100%</a:t>
            </a:r>
            <a:endParaRPr lang="en-US" sz="1900" dirty="0"/>
          </a:p>
        </p:txBody>
      </p:sp>
      <p:sp>
        <p:nvSpPr>
          <p:cNvPr id="91" name="Text 79"/>
          <p:cNvSpPr txBox="1"/>
          <p:nvPr/>
        </p:nvSpPr>
        <p:spPr>
          <a:xfrm>
            <a:off x="9191549"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HỢP ĐỒNG</a:t>
            </a:r>
            <a:endParaRPr lang="en-US" sz="800" dirty="0"/>
          </a:p>
        </p:txBody>
      </p:sp>
      <p:pic>
        <p:nvPicPr>
          <p:cNvPr id="92" name="Image 10" descr="preencoded.png"/>
          <p:cNvPicPr>
            <a:picLocks noChangeAspect="1"/>
          </p:cNvPicPr>
          <p:nvPr/>
        </p:nvPicPr>
        <p:blipFill>
          <a:blip r:embed="rId13"/>
          <a:srcRect l="-2083" r="-2083"/>
          <a:stretch/>
        </p:blipFill>
        <p:spPr>
          <a:xfrm>
            <a:off x="381305" y="6476695"/>
            <a:ext cx="11430000" cy="9144"/>
          </a:xfrm>
          <a:prstGeom prst="rect">
            <a:avLst/>
          </a:prstGeom>
        </p:spPr>
      </p:pic>
      <p:sp>
        <p:nvSpPr>
          <p:cNvPr id="93" name="Text 80"/>
          <p:cNvSpPr txBox="1"/>
          <p:nvPr/>
        </p:nvSpPr>
        <p:spPr>
          <a:xfrm>
            <a:off x="581558" y="6590995"/>
            <a:ext cx="3610051"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Báo cáo trình Hội đồng Chủ đầu tư</a:t>
            </a:r>
            <a:endParaRPr lang="en-US" sz="1000" dirty="0"/>
          </a:p>
        </p:txBody>
      </p:sp>
      <p:pic>
        <p:nvPicPr>
          <p:cNvPr id="94" name="Image 11" descr="preencoded.png"/>
          <p:cNvPicPr>
            <a:picLocks noChangeAspect="1"/>
          </p:cNvPicPr>
          <p:nvPr/>
        </p:nvPicPr>
        <p:blipFill>
          <a:blip r:embed="rId14"/>
          <a:srcRect l="-2512" r="-2512"/>
          <a:stretch/>
        </p:blipFill>
        <p:spPr>
          <a:xfrm>
            <a:off x="381305" y="6614770"/>
            <a:ext cx="105156" cy="133502"/>
          </a:xfrm>
          <a:prstGeom prst="rect">
            <a:avLst/>
          </a:prstGeom>
        </p:spPr>
      </p:pic>
      <p:sp>
        <p:nvSpPr>
          <p:cNvPr id="95" name="Text 81"/>
          <p:cNvSpPr txBox="1"/>
          <p:nvPr/>
        </p:nvSpPr>
        <p:spPr>
          <a:xfrm>
            <a:off x="10477195" y="6590995"/>
            <a:ext cx="91440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Trang 8/12</a:t>
            </a:r>
            <a:endParaRPr lang="en-US" sz="1000" dirty="0"/>
          </a:p>
        </p:txBody>
      </p:sp>
      <p:sp>
        <p:nvSpPr>
          <p:cNvPr id="96" name="Shape 82"/>
          <p:cNvSpPr/>
          <p:nvPr/>
        </p:nvSpPr>
        <p:spPr>
          <a:xfrm>
            <a:off x="11334902" y="6601054"/>
            <a:ext cx="1104595" cy="219456"/>
          </a:xfrm>
          <a:prstGeom prst="roundRect">
            <a:avLst>
              <a:gd name="adj" fmla="val 144928"/>
            </a:avLst>
          </a:prstGeom>
          <a:solidFill>
            <a:srgbClr val="F7A81B"/>
          </a:solidFill>
          <a:ln w="12700">
            <a:solidFill>
              <a:srgbClr val="FFFFFF">
                <a:alpha val="0"/>
              </a:srgbClr>
            </a:solidFill>
            <a:prstDash val="solid"/>
          </a:ln>
        </p:spPr>
        <p:txBody>
          <a:bodyPr/>
          <a:lstStyle/>
          <a:p>
            <a:endParaRPr lang="en-US"/>
          </a:p>
        </p:txBody>
      </p:sp>
      <p:sp>
        <p:nvSpPr>
          <p:cNvPr id="97" name="Text 83"/>
          <p:cNvSpPr txBox="1"/>
          <p:nvPr/>
        </p:nvSpPr>
        <p:spPr>
          <a:xfrm>
            <a:off x="11334902" y="6601054"/>
            <a:ext cx="1105510" cy="21945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800" b="1" dirty="0">
                <a:solidFill>
                  <a:srgbClr val="FFFFFF"/>
                </a:solidFill>
                <a:latin typeface="Open Sans" pitchFamily="34" charset="0"/>
                <a:ea typeface="Open Sans" pitchFamily="34" charset="-122"/>
                <a:cs typeface="Open Sans" pitchFamily="34" charset="-120"/>
              </a:rPr>
              <a:t>Đang cập nhật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286207" y="809244"/>
            <a:ext cx="11639398" cy="5591556"/>
          </a:xfrm>
          <a:prstGeom prst="roundRect">
            <a:avLst>
              <a:gd name="adj" fmla="val 66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476402" y="952805"/>
            <a:ext cx="6896405" cy="5324551"/>
          </a:xfrm>
          <a:prstGeom prst="roundRect">
            <a:avLst>
              <a:gd name="adj" fmla="val 492"/>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3924605" y="1533449"/>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9" name="Shape 7"/>
          <p:cNvSpPr/>
          <p:nvPr/>
        </p:nvSpPr>
        <p:spPr>
          <a:xfrm>
            <a:off x="3924605" y="2152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0" name="Shape 8"/>
          <p:cNvSpPr/>
          <p:nvPr/>
        </p:nvSpPr>
        <p:spPr>
          <a:xfrm flipH="1">
            <a:off x="3878886" y="2771546"/>
            <a:ext cx="45719" cy="599848"/>
          </a:xfrm>
          <a:prstGeom prst="rect">
            <a:avLst/>
          </a:prstGeom>
          <a:solidFill>
            <a:srgbClr val="CBD5E0"/>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t="-395" b="-395"/>
          <a:stretch/>
        </p:blipFill>
        <p:spPr>
          <a:xfrm>
            <a:off x="2305202" y="3390595"/>
            <a:ext cx="3238805" cy="19202"/>
          </a:xfrm>
          <a:prstGeom prst="rect">
            <a:avLst/>
          </a:prstGeom>
        </p:spPr>
      </p:pic>
      <p:pic>
        <p:nvPicPr>
          <p:cNvPr id="12" name="Image 1" descr="preencoded.png"/>
          <p:cNvPicPr>
            <a:picLocks noChangeAspect="1"/>
          </p:cNvPicPr>
          <p:nvPr/>
        </p:nvPicPr>
        <p:blipFill>
          <a:blip r:embed="rId4"/>
          <a:srcRect l="-342" r="-342"/>
          <a:stretch/>
        </p:blipFill>
        <p:spPr>
          <a:xfrm>
            <a:off x="2305202" y="3390595"/>
            <a:ext cx="19202" cy="333756"/>
          </a:xfrm>
          <a:prstGeom prst="rect">
            <a:avLst/>
          </a:prstGeom>
        </p:spPr>
      </p:pic>
      <p:pic>
        <p:nvPicPr>
          <p:cNvPr id="13" name="Image 2" descr="preencoded.png"/>
          <p:cNvPicPr>
            <a:picLocks noChangeAspect="1"/>
          </p:cNvPicPr>
          <p:nvPr/>
        </p:nvPicPr>
        <p:blipFill>
          <a:blip r:embed="rId4"/>
          <a:srcRect l="-342" r="-342"/>
          <a:stretch/>
        </p:blipFill>
        <p:spPr>
          <a:xfrm>
            <a:off x="5544007" y="3390595"/>
            <a:ext cx="19202" cy="333756"/>
          </a:xfrm>
          <a:prstGeom prst="rect">
            <a:avLst/>
          </a:prstGeom>
        </p:spPr>
      </p:pic>
      <p:sp>
        <p:nvSpPr>
          <p:cNvPr id="14" name="Shape 9"/>
          <p:cNvSpPr/>
          <p:nvPr/>
        </p:nvSpPr>
        <p:spPr>
          <a:xfrm>
            <a:off x="2305202"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5" name="Shape 10"/>
          <p:cNvSpPr/>
          <p:nvPr/>
        </p:nvSpPr>
        <p:spPr>
          <a:xfrm>
            <a:off x="5544007"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6" name="Shape 11"/>
          <p:cNvSpPr/>
          <p:nvPr/>
        </p:nvSpPr>
        <p:spPr>
          <a:xfrm>
            <a:off x="2971800" y="1057046"/>
            <a:ext cx="1904695" cy="476402"/>
          </a:xfrm>
          <a:prstGeom prst="roundRect">
            <a:avLst>
              <a:gd name="adj" fmla="val 61420"/>
            </a:avLst>
          </a:prstGeom>
          <a:solidFill>
            <a:srgbClr val="808080"/>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7" name="Text 12"/>
          <p:cNvSpPr txBox="1"/>
          <p:nvPr/>
        </p:nvSpPr>
        <p:spPr>
          <a:xfrm>
            <a:off x="3477463" y="1143000"/>
            <a:ext cx="896112"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Montserrat" pitchFamily="34" charset="0"/>
                <a:ea typeface="Montserrat" pitchFamily="34" charset="-122"/>
                <a:cs typeface="Montserrat" pitchFamily="34" charset="-120"/>
              </a:rPr>
              <a:t>CHỦ ĐẦU TƯ</a:t>
            </a:r>
            <a:endParaRPr lang="en-US" sz="1000" dirty="0"/>
          </a:p>
        </p:txBody>
      </p:sp>
      <p:sp>
        <p:nvSpPr>
          <p:cNvPr id="18" name="Text 13"/>
          <p:cNvSpPr txBox="1"/>
          <p:nvPr/>
        </p:nvSpPr>
        <p:spPr>
          <a:xfrm>
            <a:off x="3321101" y="1314907"/>
            <a:ext cx="1440180" cy="133502"/>
          </a:xfrm>
          <a:prstGeom prst="rect">
            <a:avLst/>
          </a:prstGeom>
          <a:noFill/>
          <a:ln/>
        </p:spPr>
        <p:txBody>
          <a:bodyPr wrap="square" lIns="0" tIns="0" rIns="0" bIns="0" rtlCol="0" anchor="ctr"/>
          <a:lstStyle/>
          <a:p>
            <a:pPr marL="0" indent="0" algn="l">
              <a:buNone/>
            </a:pPr>
            <a:r>
              <a:rPr lang="en-US" sz="800" dirty="0">
                <a:solidFill>
                  <a:srgbClr val="F0F0F0"/>
                </a:solidFill>
                <a:latin typeface="Open Sans" pitchFamily="34" charset="0"/>
                <a:ea typeface="Open Sans" pitchFamily="34" charset="-122"/>
                <a:cs typeface="Open Sans" pitchFamily="34" charset="-120"/>
              </a:rPr>
              <a:t>Liên danh ITF &amp; Tiền Phong</a:t>
            </a:r>
            <a:endParaRPr lang="en-US" sz="800" dirty="0"/>
          </a:p>
        </p:txBody>
      </p:sp>
      <p:sp>
        <p:nvSpPr>
          <p:cNvPr id="19" name="Shape 14"/>
          <p:cNvSpPr/>
          <p:nvPr/>
        </p:nvSpPr>
        <p:spPr>
          <a:xfrm>
            <a:off x="2400300" y="1628546"/>
            <a:ext cx="30476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0" name="Text 15"/>
          <p:cNvSpPr txBox="1"/>
          <p:nvPr/>
        </p:nvSpPr>
        <p:spPr>
          <a:xfrm>
            <a:off x="3104998" y="1733702"/>
            <a:ext cx="1724558"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TỔNG THẦU VNCN E&amp;C</a:t>
            </a:r>
            <a:endParaRPr lang="en-US" sz="1100" dirty="0"/>
          </a:p>
        </p:txBody>
      </p:sp>
      <p:sp>
        <p:nvSpPr>
          <p:cNvPr id="21" name="Text 16"/>
          <p:cNvSpPr txBox="1"/>
          <p:nvPr/>
        </p:nvSpPr>
        <p:spPr>
          <a:xfrm>
            <a:off x="3414674" y="1914754"/>
            <a:ext cx="1723644"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toàn bộ </a:t>
            </a:r>
            <a:r>
              <a:rPr lang="en-US" sz="800" dirty="0" err="1">
                <a:solidFill>
                  <a:srgbClr val="FFFAF0"/>
                </a:solidFill>
                <a:latin typeface="Open Sans" pitchFamily="34" charset="0"/>
                <a:ea typeface="Open Sans" pitchFamily="34" charset="-122"/>
                <a:cs typeface="Open Sans" pitchFamily="34" charset="-120"/>
              </a:rPr>
              <a:t>dự</a:t>
            </a:r>
            <a:r>
              <a:rPr lang="en-US" sz="800" dirty="0">
                <a:solidFill>
                  <a:srgbClr val="FFFAF0"/>
                </a:solidFill>
                <a:latin typeface="Open Sans" pitchFamily="34" charset="0"/>
                <a:ea typeface="Open Sans" pitchFamily="34" charset="-122"/>
                <a:cs typeface="Open Sans" pitchFamily="34" charset="-120"/>
              </a:rPr>
              <a:t> </a:t>
            </a:r>
            <a:r>
              <a:rPr lang="en-US" sz="800" dirty="0" err="1">
                <a:solidFill>
                  <a:srgbClr val="FFFAF0"/>
                </a:solidFill>
                <a:latin typeface="Open Sans" pitchFamily="34" charset="0"/>
                <a:ea typeface="Open Sans" pitchFamily="34" charset="-122"/>
                <a:cs typeface="Open Sans" pitchFamily="34" charset="-120"/>
              </a:rPr>
              <a:t>án</a:t>
            </a:r>
            <a:r>
              <a:rPr lang="en-US" sz="800" dirty="0">
                <a:solidFill>
                  <a:srgbClr val="FFFAF0"/>
                </a:solidFill>
                <a:latin typeface="Open Sans" pitchFamily="34" charset="0"/>
                <a:ea typeface="Open Sans" pitchFamily="34" charset="-122"/>
                <a:cs typeface="Open Sans" pitchFamily="34" charset="-120"/>
              </a:rPr>
              <a:t>)</a:t>
            </a:r>
            <a:endParaRPr lang="en-US" sz="800" dirty="0"/>
          </a:p>
        </p:txBody>
      </p:sp>
      <p:sp>
        <p:nvSpPr>
          <p:cNvPr id="22" name="Shape 17"/>
          <p:cNvSpPr/>
          <p:nvPr/>
        </p:nvSpPr>
        <p:spPr>
          <a:xfrm>
            <a:off x="2115007" y="2247595"/>
            <a:ext cx="36191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3" name="Text 18"/>
          <p:cNvSpPr txBox="1"/>
          <p:nvPr/>
        </p:nvSpPr>
        <p:spPr>
          <a:xfrm>
            <a:off x="2914802" y="2352751"/>
            <a:ext cx="2162556"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BAN QUẢN LÝ DỰ ÁN (QLDA)</a:t>
            </a:r>
            <a:endParaRPr lang="en-US" sz="1100" dirty="0"/>
          </a:p>
        </p:txBody>
      </p:sp>
      <p:sp>
        <p:nvSpPr>
          <p:cNvPr id="24" name="Text 19"/>
          <p:cNvSpPr txBox="1"/>
          <p:nvPr/>
        </p:nvSpPr>
        <p:spPr>
          <a:xfrm>
            <a:off x="3048610" y="2533802"/>
            <a:ext cx="2085746"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(6 Kỹ sư - Quản lý thi công &amp; thầu phụ)</a:t>
            </a:r>
            <a:endParaRPr lang="en-US" sz="800" dirty="0"/>
          </a:p>
        </p:txBody>
      </p:sp>
      <p:sp>
        <p:nvSpPr>
          <p:cNvPr id="25" name="Shape 20"/>
          <p:cNvSpPr/>
          <p:nvPr/>
        </p:nvSpPr>
        <p:spPr>
          <a:xfrm>
            <a:off x="972007" y="2866644"/>
            <a:ext cx="2667305" cy="761695"/>
          </a:xfrm>
          <a:prstGeom prst="roundRect">
            <a:avLst>
              <a:gd name="adj" fmla="val 24010"/>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6" name="Text 21"/>
          <p:cNvSpPr txBox="1"/>
          <p:nvPr/>
        </p:nvSpPr>
        <p:spPr>
          <a:xfrm>
            <a:off x="1613002" y="3000146"/>
            <a:ext cx="1390802" cy="152705"/>
          </a:xfrm>
          <a:prstGeom prst="rect">
            <a:avLst/>
          </a:prstGeom>
          <a:noFill/>
          <a:ln/>
        </p:spPr>
        <p:txBody>
          <a:bodyPr wrap="square" lIns="0" tIns="0" rIns="0" bIns="0" rtlCol="0" anchor="ctr"/>
          <a:lstStyle/>
          <a:p>
            <a:pPr marL="0" indent="0" algn="l">
              <a:buNone/>
            </a:pPr>
            <a:r>
              <a:rPr lang="en-US" sz="900" b="1" dirty="0">
                <a:solidFill>
                  <a:srgbClr val="FFFFFF"/>
                </a:solidFill>
                <a:latin typeface="Montserrat" pitchFamily="34" charset="0"/>
                <a:ea typeface="Montserrat" pitchFamily="34" charset="-122"/>
                <a:cs typeface="Montserrat" pitchFamily="34" charset="-120"/>
              </a:rPr>
              <a:t>KHỐI BAN XÂY DỰNG</a:t>
            </a:r>
            <a:endParaRPr lang="en-US" sz="900" dirty="0"/>
          </a:p>
        </p:txBody>
      </p:sp>
      <p:sp>
        <p:nvSpPr>
          <p:cNvPr id="27" name="Text 22"/>
          <p:cNvSpPr txBox="1"/>
          <p:nvPr/>
        </p:nvSpPr>
        <p:spPr>
          <a:xfrm>
            <a:off x="1541678" y="3152851"/>
            <a:ext cx="1825142"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ECC - Tự thực </a:t>
            </a:r>
            <a:r>
              <a:rPr lang="en-US" sz="800" dirty="0" err="1">
                <a:solidFill>
                  <a:srgbClr val="FFFAF0"/>
                </a:solidFill>
                <a:latin typeface="Open Sans" pitchFamily="34" charset="0"/>
                <a:ea typeface="Open Sans" pitchFamily="34" charset="-122"/>
                <a:cs typeface="Open Sans" pitchFamily="34" charset="-120"/>
              </a:rPr>
              <a:t>hiện</a:t>
            </a:r>
            <a:r>
              <a:rPr lang="en-US" sz="800" dirty="0">
                <a:solidFill>
                  <a:srgbClr val="FFFAF0"/>
                </a:solidFill>
                <a:latin typeface="Open Sans" pitchFamily="34" charset="0"/>
                <a:ea typeface="Open Sans" pitchFamily="34" charset="-122"/>
                <a:cs typeface="Open Sans" pitchFamily="34" charset="-120"/>
              </a:rPr>
              <a:t> 67%)</a:t>
            </a:r>
            <a:endParaRPr lang="en-US" sz="800" dirty="0"/>
          </a:p>
        </p:txBody>
      </p:sp>
      <p:sp>
        <p:nvSpPr>
          <p:cNvPr id="28" name="Shape 23"/>
          <p:cNvSpPr/>
          <p:nvPr/>
        </p:nvSpPr>
        <p:spPr>
          <a:xfrm>
            <a:off x="1181405" y="3323844"/>
            <a:ext cx="2247595" cy="171907"/>
          </a:xfrm>
          <a:prstGeom prst="roundRect">
            <a:avLst>
              <a:gd name="adj" fmla="val 531916"/>
            </a:avLst>
          </a:prstGeom>
          <a:solidFill>
            <a:srgbClr val="FFFFFF">
              <a:alpha val="20000"/>
            </a:srgbClr>
          </a:solidFill>
          <a:ln w="12700">
            <a:solidFill>
              <a:srgbClr val="FFFFFF">
                <a:alpha val="0"/>
              </a:srgbClr>
            </a:solidFill>
            <a:prstDash val="solid"/>
          </a:ln>
        </p:spPr>
        <p:txBody>
          <a:bodyPr/>
          <a:lstStyle/>
          <a:p>
            <a:endParaRPr lang="en-US"/>
          </a:p>
        </p:txBody>
      </p:sp>
      <p:sp>
        <p:nvSpPr>
          <p:cNvPr id="29" name="Text 24"/>
          <p:cNvSpPr/>
          <p:nvPr/>
        </p:nvSpPr>
        <p:spPr>
          <a:xfrm>
            <a:off x="1104595" y="3333343"/>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33 KS | 440 CN | 67% khối lượng</a:t>
            </a:r>
            <a:endParaRPr lang="en-US" sz="800" dirty="0"/>
          </a:p>
        </p:txBody>
      </p:sp>
      <p:sp>
        <p:nvSpPr>
          <p:cNvPr id="30" name="Shape 25"/>
          <p:cNvSpPr/>
          <p:nvPr/>
        </p:nvSpPr>
        <p:spPr>
          <a:xfrm>
            <a:off x="4209898" y="2866644"/>
            <a:ext cx="2704795" cy="800100"/>
          </a:xfrm>
          <a:prstGeom prst="roundRect">
            <a:avLst>
              <a:gd name="adj" fmla="val 2176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31" name="Text 26"/>
          <p:cNvSpPr txBox="1"/>
          <p:nvPr/>
        </p:nvSpPr>
        <p:spPr>
          <a:xfrm>
            <a:off x="4761281" y="3019349"/>
            <a:ext cx="1610258" cy="152705"/>
          </a:xfrm>
          <a:prstGeom prst="rect">
            <a:avLst/>
          </a:prstGeom>
          <a:noFill/>
          <a:ln/>
        </p:spPr>
        <p:txBody>
          <a:bodyPr wrap="square" lIns="0" tIns="0" rIns="0" bIns="0" rtlCol="0" anchor="ctr"/>
          <a:lstStyle/>
          <a:p>
            <a:pPr marL="0" indent="0" algn="l">
              <a:buNone/>
            </a:pPr>
            <a:r>
              <a:rPr lang="en-US" sz="900" b="1" dirty="0">
                <a:solidFill>
                  <a:srgbClr val="808080"/>
                </a:solidFill>
                <a:latin typeface="Montserrat" pitchFamily="34" charset="0"/>
                <a:ea typeface="Montserrat" pitchFamily="34" charset="-122"/>
                <a:cs typeface="Montserrat" pitchFamily="34" charset="-120"/>
              </a:rPr>
              <a:t>KHỐI BAN QL THẦU PHỤ</a:t>
            </a:r>
            <a:endParaRPr lang="en-US" sz="900" dirty="0"/>
          </a:p>
        </p:txBody>
      </p:sp>
      <p:sp>
        <p:nvSpPr>
          <p:cNvPr id="32" name="Text 27"/>
          <p:cNvSpPr txBox="1"/>
          <p:nvPr/>
        </p:nvSpPr>
        <p:spPr>
          <a:xfrm>
            <a:off x="4824374" y="3172054"/>
            <a:ext cx="1757477" cy="133502"/>
          </a:xfrm>
          <a:prstGeom prst="rect">
            <a:avLst/>
          </a:prstGeom>
          <a:noFill/>
          <a:ln/>
        </p:spPr>
        <p:txBody>
          <a:bodyPr wrap="square" lIns="0" tIns="0" rIns="0" bIns="0" rtlCol="0" anchor="ctr"/>
          <a:lstStyle/>
          <a:p>
            <a:pPr marL="0" indent="0" algn="l">
              <a:buNone/>
            </a:pPr>
            <a:r>
              <a:rPr lang="en-US" sz="800" dirty="0">
                <a:solidFill>
                  <a:srgbClr val="4A5568"/>
                </a:solidFill>
                <a:latin typeface="Open Sans" pitchFamily="34" charset="0"/>
                <a:ea typeface="Open Sans" pitchFamily="34" charset="-122"/>
                <a:cs typeface="Open Sans" pitchFamily="34" charset="-120"/>
              </a:rPr>
              <a:t>(Quản lý thầu phụ chuyên ngành)</a:t>
            </a:r>
            <a:endParaRPr lang="en-US" sz="800" dirty="0"/>
          </a:p>
        </p:txBody>
      </p:sp>
      <p:sp>
        <p:nvSpPr>
          <p:cNvPr id="33" name="Shape 28"/>
          <p:cNvSpPr/>
          <p:nvPr/>
        </p:nvSpPr>
        <p:spPr>
          <a:xfrm>
            <a:off x="4438498" y="3343046"/>
            <a:ext cx="2247595" cy="171907"/>
          </a:xfrm>
          <a:prstGeom prst="roundRect">
            <a:avLst>
              <a:gd name="adj" fmla="val 531916"/>
            </a:avLst>
          </a:prstGeom>
          <a:solidFill>
            <a:srgbClr val="EDF2F7"/>
          </a:solidFill>
          <a:ln w="12700">
            <a:solidFill>
              <a:srgbClr val="FFFFFF">
                <a:alpha val="0"/>
              </a:srgbClr>
            </a:solidFill>
            <a:prstDash val="solid"/>
          </a:ln>
        </p:spPr>
        <p:txBody>
          <a:bodyPr/>
          <a:lstStyle/>
          <a:p>
            <a:endParaRPr lang="en-US"/>
          </a:p>
        </p:txBody>
      </p:sp>
      <p:sp>
        <p:nvSpPr>
          <p:cNvPr id="34" name="Text 29"/>
          <p:cNvSpPr/>
          <p:nvPr/>
        </p:nvSpPr>
        <p:spPr>
          <a:xfrm>
            <a:off x="4438498" y="3343046"/>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6 KS | 375 CN | 33% khối lượng</a:t>
            </a:r>
            <a:endParaRPr lang="en-US" sz="800" dirty="0"/>
          </a:p>
        </p:txBody>
      </p:sp>
      <p:sp>
        <p:nvSpPr>
          <p:cNvPr id="35" name="Shape 30"/>
          <p:cNvSpPr/>
          <p:nvPr/>
        </p:nvSpPr>
        <p:spPr>
          <a:xfrm>
            <a:off x="685800" y="3724351"/>
            <a:ext cx="3238805" cy="714146"/>
          </a:xfrm>
          <a:prstGeom prst="roundRect">
            <a:avLst>
              <a:gd name="adj" fmla="val 27315"/>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36" name="Text 31"/>
          <p:cNvSpPr txBox="1"/>
          <p:nvPr/>
        </p:nvSpPr>
        <p:spPr>
          <a:xfrm>
            <a:off x="1412748" y="3866998"/>
            <a:ext cx="1791310"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CÔNG TY THI CÔNG ECC</a:t>
            </a:r>
            <a:endParaRPr lang="en-US" sz="1100" dirty="0"/>
          </a:p>
        </p:txBody>
      </p:sp>
      <p:sp>
        <p:nvSpPr>
          <p:cNvPr id="37" name="Shape 32"/>
          <p:cNvSpPr/>
          <p:nvPr/>
        </p:nvSpPr>
        <p:spPr>
          <a:xfrm>
            <a:off x="1175918" y="4095598"/>
            <a:ext cx="1190549"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38" name="Text 33"/>
          <p:cNvSpPr/>
          <p:nvPr/>
        </p:nvSpPr>
        <p:spPr>
          <a:xfrm>
            <a:off x="1175918" y="4095598"/>
            <a:ext cx="1191463"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Tự thực hiện - 67%</a:t>
            </a:r>
            <a:endParaRPr lang="en-US" sz="800" dirty="0"/>
          </a:p>
        </p:txBody>
      </p:sp>
      <p:sp>
        <p:nvSpPr>
          <p:cNvPr id="39" name="Shape 34"/>
          <p:cNvSpPr/>
          <p:nvPr/>
        </p:nvSpPr>
        <p:spPr>
          <a:xfrm>
            <a:off x="2508199" y="4095598"/>
            <a:ext cx="933602"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40" name="Text 35"/>
          <p:cNvSpPr/>
          <p:nvPr/>
        </p:nvSpPr>
        <p:spPr>
          <a:xfrm>
            <a:off x="2508198" y="4143146"/>
            <a:ext cx="1291641" cy="152705"/>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440 Công </a:t>
            </a:r>
            <a:r>
              <a:rPr lang="en-US" sz="800" dirty="0" err="1">
                <a:solidFill>
                  <a:srgbClr val="FFFFFF"/>
                </a:solidFill>
                <a:latin typeface="Open Sans" pitchFamily="34" charset="0"/>
                <a:ea typeface="Open Sans" pitchFamily="34" charset="-122"/>
                <a:cs typeface="Open Sans" pitchFamily="34" charset="-120"/>
              </a:rPr>
              <a:t>nhân</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thời</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điểm</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nhiều</a:t>
            </a:r>
            <a:r>
              <a:rPr lang="en-US" sz="800" dirty="0">
                <a:solidFill>
                  <a:srgbClr val="FFFFFF"/>
                </a:solidFill>
                <a:latin typeface="Open Sans" pitchFamily="34" charset="0"/>
                <a:ea typeface="Open Sans" pitchFamily="34" charset="-122"/>
                <a:cs typeface="Open Sans" pitchFamily="34" charset="-120"/>
              </a:rPr>
              <a:t> </a:t>
            </a:r>
            <a:r>
              <a:rPr lang="en-US" sz="800" dirty="0" err="1">
                <a:solidFill>
                  <a:srgbClr val="FFFFFF"/>
                </a:solidFill>
                <a:latin typeface="Open Sans" pitchFamily="34" charset="0"/>
                <a:ea typeface="Open Sans" pitchFamily="34" charset="-122"/>
                <a:cs typeface="Open Sans" pitchFamily="34" charset="-120"/>
              </a:rPr>
              <a:t>nhất</a:t>
            </a:r>
            <a:endParaRPr lang="en-US" sz="800" dirty="0"/>
          </a:p>
        </p:txBody>
      </p:sp>
      <p:sp>
        <p:nvSpPr>
          <p:cNvPr id="41" name="Shape 36"/>
          <p:cNvSpPr/>
          <p:nvPr/>
        </p:nvSpPr>
        <p:spPr>
          <a:xfrm>
            <a:off x="4114800" y="3724351"/>
            <a:ext cx="3086100" cy="752551"/>
          </a:xfrm>
          <a:prstGeom prst="roundRect">
            <a:avLst>
              <a:gd name="adj" fmla="val 2460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42" name="Text 37"/>
          <p:cNvSpPr txBox="1"/>
          <p:nvPr/>
        </p:nvSpPr>
        <p:spPr>
          <a:xfrm>
            <a:off x="4892040" y="3886200"/>
            <a:ext cx="1534363" cy="181051"/>
          </a:xfrm>
          <a:prstGeom prst="rect">
            <a:avLst/>
          </a:prstGeom>
          <a:noFill/>
          <a:ln/>
        </p:spPr>
        <p:txBody>
          <a:bodyPr wrap="square" lIns="0" tIns="0" rIns="0" bIns="0" rtlCol="0" anchor="ctr"/>
          <a:lstStyle/>
          <a:p>
            <a:pPr marL="0" indent="0" algn="l">
              <a:buNone/>
            </a:pPr>
            <a:r>
              <a:rPr lang="en-US" sz="1100" b="1" dirty="0">
                <a:solidFill>
                  <a:srgbClr val="808080"/>
                </a:solidFill>
                <a:latin typeface="Montserrat" pitchFamily="34" charset="0"/>
                <a:ea typeface="Montserrat" pitchFamily="34" charset="-122"/>
                <a:cs typeface="Montserrat" pitchFamily="34" charset="-120"/>
              </a:rPr>
              <a:t>CÁC NHÀ THẦU PHỤ</a:t>
            </a:r>
            <a:endParaRPr lang="en-US" sz="1100" dirty="0"/>
          </a:p>
        </p:txBody>
      </p:sp>
      <p:sp>
        <p:nvSpPr>
          <p:cNvPr id="43" name="Shape 38"/>
          <p:cNvSpPr/>
          <p:nvPr/>
        </p:nvSpPr>
        <p:spPr>
          <a:xfrm>
            <a:off x="4514393" y="4114800"/>
            <a:ext cx="1285646"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4" name="Text 39"/>
          <p:cNvSpPr/>
          <p:nvPr/>
        </p:nvSpPr>
        <p:spPr>
          <a:xfrm>
            <a:off x="4514393" y="4114800"/>
            <a:ext cx="128656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Chuyên ngành - 33%</a:t>
            </a:r>
            <a:endParaRPr lang="en-US" sz="800" dirty="0"/>
          </a:p>
        </p:txBody>
      </p:sp>
      <p:sp>
        <p:nvSpPr>
          <p:cNvPr id="45" name="Shape 40"/>
          <p:cNvSpPr/>
          <p:nvPr/>
        </p:nvSpPr>
        <p:spPr>
          <a:xfrm>
            <a:off x="5935370" y="4114800"/>
            <a:ext cx="866851"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6" name="Text 41"/>
          <p:cNvSpPr/>
          <p:nvPr/>
        </p:nvSpPr>
        <p:spPr>
          <a:xfrm>
            <a:off x="5935370" y="4095598"/>
            <a:ext cx="1265530"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375 Công </a:t>
            </a:r>
            <a:r>
              <a:rPr lang="en-US" sz="800" dirty="0" err="1">
                <a:solidFill>
                  <a:srgbClr val="4A5568"/>
                </a:solidFill>
                <a:latin typeface="Open Sans" pitchFamily="34" charset="0"/>
                <a:ea typeface="Open Sans" pitchFamily="34" charset="-122"/>
                <a:cs typeface="Open Sans" pitchFamily="34" charset="-120"/>
              </a:rPr>
              <a:t>nhân</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thời</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điểm</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nhiều</a:t>
            </a:r>
            <a:r>
              <a:rPr lang="en-US" sz="800" dirty="0">
                <a:solidFill>
                  <a:srgbClr val="4A5568"/>
                </a:solidFill>
                <a:latin typeface="Open Sans" pitchFamily="34" charset="0"/>
                <a:ea typeface="Open Sans" pitchFamily="34" charset="-122"/>
                <a:cs typeface="Open Sans" pitchFamily="34" charset="-120"/>
              </a:rPr>
              <a:t> </a:t>
            </a:r>
            <a:r>
              <a:rPr lang="en-US" sz="800" dirty="0" err="1">
                <a:solidFill>
                  <a:srgbClr val="4A5568"/>
                </a:solidFill>
                <a:latin typeface="Open Sans" pitchFamily="34" charset="0"/>
                <a:ea typeface="Open Sans" pitchFamily="34" charset="-122"/>
                <a:cs typeface="Open Sans" pitchFamily="34" charset="-120"/>
              </a:rPr>
              <a:t>nhất</a:t>
            </a:r>
            <a:endParaRPr lang="en-US" sz="800" dirty="0"/>
          </a:p>
        </p:txBody>
      </p:sp>
      <p:sp>
        <p:nvSpPr>
          <p:cNvPr id="47" name="Shape 42"/>
          <p:cNvSpPr/>
          <p:nvPr/>
        </p:nvSpPr>
        <p:spPr>
          <a:xfrm>
            <a:off x="685800"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48" name="Text 43"/>
          <p:cNvSpPr txBox="1"/>
          <p:nvPr/>
        </p:nvSpPr>
        <p:spPr>
          <a:xfrm>
            <a:off x="978916" y="4604207"/>
            <a:ext cx="289865" cy="151790"/>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49" name="Text 44"/>
          <p:cNvSpPr txBox="1"/>
          <p:nvPr/>
        </p:nvSpPr>
        <p:spPr>
          <a:xfrm>
            <a:off x="844498" y="4727650"/>
            <a:ext cx="656539" cy="17190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Móng &amp; Hầm</a:t>
            </a:r>
            <a:endParaRPr lang="en-US" sz="800" dirty="0"/>
          </a:p>
        </p:txBody>
      </p:sp>
      <p:sp>
        <p:nvSpPr>
          <p:cNvPr id="50" name="Text 45"/>
          <p:cNvSpPr txBox="1"/>
          <p:nvPr/>
        </p:nvSpPr>
        <p:spPr>
          <a:xfrm>
            <a:off x="955140" y="4894681"/>
            <a:ext cx="396921" cy="136143"/>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150 CN</a:t>
            </a:r>
            <a:endParaRPr lang="en-US" sz="800" dirty="0"/>
          </a:p>
        </p:txBody>
      </p:sp>
      <p:sp>
        <p:nvSpPr>
          <p:cNvPr id="51" name="Shape 46"/>
          <p:cNvSpPr/>
          <p:nvPr/>
        </p:nvSpPr>
        <p:spPr>
          <a:xfrm>
            <a:off x="1686154"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2" name="Text 47"/>
          <p:cNvSpPr txBox="1"/>
          <p:nvPr/>
        </p:nvSpPr>
        <p:spPr>
          <a:xfrm>
            <a:off x="1993392" y="4590033"/>
            <a:ext cx="346557" cy="18013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53" name="Text 48"/>
          <p:cNvSpPr txBox="1"/>
          <p:nvPr/>
        </p:nvSpPr>
        <p:spPr>
          <a:xfrm>
            <a:off x="1990649" y="4722977"/>
            <a:ext cx="377647" cy="18653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Thân</a:t>
            </a:r>
            <a:endParaRPr lang="en-US" sz="800" dirty="0"/>
          </a:p>
        </p:txBody>
      </p:sp>
      <p:sp>
        <p:nvSpPr>
          <p:cNvPr id="54" name="Text 49"/>
          <p:cNvSpPr txBox="1"/>
          <p:nvPr/>
        </p:nvSpPr>
        <p:spPr>
          <a:xfrm>
            <a:off x="1955444" y="4899557"/>
            <a:ext cx="448056" cy="15270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180 CN</a:t>
            </a:r>
            <a:endParaRPr lang="en-US" sz="800" dirty="0"/>
          </a:p>
        </p:txBody>
      </p:sp>
      <p:sp>
        <p:nvSpPr>
          <p:cNvPr id="55" name="Shape 50"/>
          <p:cNvSpPr/>
          <p:nvPr/>
        </p:nvSpPr>
        <p:spPr>
          <a:xfrm>
            <a:off x="2686507"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6" name="Text 51"/>
          <p:cNvSpPr txBox="1"/>
          <p:nvPr/>
        </p:nvSpPr>
        <p:spPr>
          <a:xfrm>
            <a:off x="2811780" y="4629607"/>
            <a:ext cx="673913"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Hoàn thiện</a:t>
            </a:r>
            <a:endParaRPr lang="en-US" sz="800" dirty="0"/>
          </a:p>
        </p:txBody>
      </p:sp>
      <p:sp>
        <p:nvSpPr>
          <p:cNvPr id="57" name="Text 52"/>
          <p:cNvSpPr txBox="1"/>
          <p:nvPr/>
        </p:nvSpPr>
        <p:spPr>
          <a:xfrm>
            <a:off x="3060497" y="4753051"/>
            <a:ext cx="177394"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Ướt</a:t>
            </a:r>
            <a:endParaRPr lang="en-US" sz="800" dirty="0"/>
          </a:p>
        </p:txBody>
      </p:sp>
      <p:sp>
        <p:nvSpPr>
          <p:cNvPr id="58" name="Text 53"/>
          <p:cNvSpPr txBox="1"/>
          <p:nvPr/>
        </p:nvSpPr>
        <p:spPr>
          <a:xfrm>
            <a:off x="2958997" y="4899557"/>
            <a:ext cx="399593" cy="154329"/>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260 CN</a:t>
            </a:r>
            <a:endParaRPr lang="en-US" sz="800" dirty="0"/>
          </a:p>
        </p:txBody>
      </p:sp>
      <p:sp>
        <p:nvSpPr>
          <p:cNvPr id="59" name="Shape 54"/>
          <p:cNvSpPr/>
          <p:nvPr/>
        </p:nvSpPr>
        <p:spPr>
          <a:xfrm>
            <a:off x="3685946"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60" name="Text 55"/>
          <p:cNvSpPr txBox="1"/>
          <p:nvPr/>
        </p:nvSpPr>
        <p:spPr>
          <a:xfrm>
            <a:off x="3915461" y="4629607"/>
            <a:ext cx="472745"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Quản lý</a:t>
            </a:r>
            <a:endParaRPr lang="en-US" sz="800" dirty="0"/>
          </a:p>
        </p:txBody>
      </p:sp>
      <p:sp>
        <p:nvSpPr>
          <p:cNvPr id="61" name="Text 56"/>
          <p:cNvSpPr txBox="1"/>
          <p:nvPr/>
        </p:nvSpPr>
        <p:spPr>
          <a:xfrm>
            <a:off x="4010558" y="4761787"/>
            <a:ext cx="303581" cy="156463"/>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ECC</a:t>
            </a:r>
            <a:endParaRPr lang="en-US" sz="800" dirty="0"/>
          </a:p>
        </p:txBody>
      </p:sp>
      <p:sp>
        <p:nvSpPr>
          <p:cNvPr id="62" name="Text 57"/>
          <p:cNvSpPr txBox="1"/>
          <p:nvPr/>
        </p:nvSpPr>
        <p:spPr>
          <a:xfrm>
            <a:off x="3934206" y="4909514"/>
            <a:ext cx="472744" cy="14447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10 CN</a:t>
            </a:r>
            <a:endParaRPr lang="en-US" sz="800" dirty="0"/>
          </a:p>
        </p:txBody>
      </p:sp>
      <p:sp>
        <p:nvSpPr>
          <p:cNvPr id="63" name="Shape 58"/>
          <p:cNvSpPr/>
          <p:nvPr/>
        </p:nvSpPr>
        <p:spPr>
          <a:xfrm>
            <a:off x="4789864"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4" name="Text 59"/>
          <p:cNvSpPr txBox="1"/>
          <p:nvPr/>
        </p:nvSpPr>
        <p:spPr>
          <a:xfrm>
            <a:off x="4978908" y="4629607"/>
            <a:ext cx="536753"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Cọc, Đất</a:t>
            </a:r>
            <a:endParaRPr lang="en-US" sz="800" dirty="0"/>
          </a:p>
        </p:txBody>
      </p:sp>
      <p:sp>
        <p:nvSpPr>
          <p:cNvPr id="65" name="Text 60"/>
          <p:cNvSpPr txBox="1"/>
          <p:nvPr/>
        </p:nvSpPr>
        <p:spPr>
          <a:xfrm>
            <a:off x="4894783" y="4753051"/>
            <a:ext cx="700430"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&amp; Văng chống</a:t>
            </a:r>
            <a:endParaRPr lang="en-US" sz="800" dirty="0"/>
          </a:p>
        </p:txBody>
      </p:sp>
      <p:sp>
        <p:nvSpPr>
          <p:cNvPr id="66" name="Text 61"/>
          <p:cNvSpPr txBox="1"/>
          <p:nvPr/>
        </p:nvSpPr>
        <p:spPr>
          <a:xfrm>
            <a:off x="5047487" y="4894681"/>
            <a:ext cx="427939" cy="124358"/>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50 CN</a:t>
            </a:r>
            <a:endParaRPr lang="en-US" sz="800" dirty="0"/>
          </a:p>
        </p:txBody>
      </p:sp>
      <p:sp>
        <p:nvSpPr>
          <p:cNvPr id="67" name="Shape 62"/>
          <p:cNvSpPr/>
          <p:nvPr/>
        </p:nvSpPr>
        <p:spPr>
          <a:xfrm>
            <a:off x="5781751" y="4533595"/>
            <a:ext cx="92354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8" name="Text 63"/>
          <p:cNvSpPr txBox="1"/>
          <p:nvPr/>
        </p:nvSpPr>
        <p:spPr>
          <a:xfrm>
            <a:off x="6009437" y="4629607"/>
            <a:ext cx="470916"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Cơ điện</a:t>
            </a:r>
            <a:endParaRPr lang="en-US" sz="800" dirty="0"/>
          </a:p>
        </p:txBody>
      </p:sp>
      <p:sp>
        <p:nvSpPr>
          <p:cNvPr id="69" name="Text 64"/>
          <p:cNvSpPr txBox="1"/>
          <p:nvPr/>
        </p:nvSpPr>
        <p:spPr>
          <a:xfrm>
            <a:off x="5980176" y="4753051"/>
            <a:ext cx="530352"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ME &amp; PCCC</a:t>
            </a:r>
            <a:endParaRPr lang="en-US" sz="800" dirty="0"/>
          </a:p>
        </p:txBody>
      </p:sp>
      <p:sp>
        <p:nvSpPr>
          <p:cNvPr id="70" name="Text 65"/>
          <p:cNvSpPr txBox="1"/>
          <p:nvPr/>
        </p:nvSpPr>
        <p:spPr>
          <a:xfrm>
            <a:off x="6026861" y="4867351"/>
            <a:ext cx="433324" cy="133502"/>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200 CN</a:t>
            </a:r>
            <a:endParaRPr lang="en-US" sz="800" dirty="0"/>
          </a:p>
        </p:txBody>
      </p:sp>
      <p:sp>
        <p:nvSpPr>
          <p:cNvPr id="71" name="Shape 66"/>
          <p:cNvSpPr/>
          <p:nvPr/>
        </p:nvSpPr>
        <p:spPr>
          <a:xfrm>
            <a:off x="6782105" y="4533595"/>
            <a:ext cx="543154" cy="543154"/>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72" name="Text 67"/>
          <p:cNvSpPr txBox="1"/>
          <p:nvPr/>
        </p:nvSpPr>
        <p:spPr>
          <a:xfrm>
            <a:off x="6791249" y="4567428"/>
            <a:ext cx="523951" cy="247802"/>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Hoàn thiện</a:t>
            </a:r>
            <a:endParaRPr lang="en-US" sz="800" dirty="0"/>
          </a:p>
        </p:txBody>
      </p:sp>
      <p:sp>
        <p:nvSpPr>
          <p:cNvPr id="73" name="Text 68"/>
          <p:cNvSpPr txBox="1"/>
          <p:nvPr/>
        </p:nvSpPr>
        <p:spPr>
          <a:xfrm>
            <a:off x="6954723" y="4815230"/>
            <a:ext cx="200457"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Khô</a:t>
            </a:r>
            <a:endParaRPr lang="en-US" sz="800" dirty="0"/>
          </a:p>
        </p:txBody>
      </p:sp>
      <p:sp>
        <p:nvSpPr>
          <p:cNvPr id="74" name="Text 69"/>
          <p:cNvSpPr txBox="1"/>
          <p:nvPr/>
        </p:nvSpPr>
        <p:spPr>
          <a:xfrm>
            <a:off x="6848347" y="4947668"/>
            <a:ext cx="409754" cy="72033"/>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175 CN</a:t>
            </a:r>
            <a:endParaRPr lang="en-US" sz="800" dirty="0"/>
          </a:p>
        </p:txBody>
      </p:sp>
      <p:sp>
        <p:nvSpPr>
          <p:cNvPr id="75" name="Shape 70"/>
          <p:cNvSpPr/>
          <p:nvPr/>
        </p:nvSpPr>
        <p:spPr>
          <a:xfrm>
            <a:off x="7505395" y="952805"/>
            <a:ext cx="4229100" cy="5324551"/>
          </a:xfrm>
          <a:prstGeom prst="roundRect">
            <a:avLst>
              <a:gd name="adj" fmla="val 779"/>
            </a:avLst>
          </a:prstGeom>
          <a:solidFill>
            <a:srgbClr val="FFFFFF"/>
          </a:solidFill>
          <a:ln w="12700">
            <a:solidFill>
              <a:srgbClr val="E2E8F0"/>
            </a:solidFill>
            <a:prstDash val="solid"/>
          </a:ln>
        </p:spPr>
        <p:txBody>
          <a:bodyPr/>
          <a:lstStyle/>
          <a:p>
            <a:endParaRPr lang="en-US" dirty="0"/>
          </a:p>
        </p:txBody>
      </p:sp>
      <p:sp>
        <p:nvSpPr>
          <p:cNvPr id="76" name="Text 71"/>
          <p:cNvSpPr txBox="1"/>
          <p:nvPr/>
        </p:nvSpPr>
        <p:spPr>
          <a:xfrm>
            <a:off x="7944307" y="1057046"/>
            <a:ext cx="3619195"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Danh sách nhân sự chi tiết </a:t>
            </a:r>
            <a:endParaRPr lang="en-US" sz="1200" dirty="0"/>
          </a:p>
        </p:txBody>
      </p:sp>
      <p:pic>
        <p:nvPicPr>
          <p:cNvPr id="77" name="Image 3" descr="preencoded.png"/>
          <p:cNvPicPr>
            <a:picLocks noChangeAspect="1"/>
          </p:cNvPicPr>
          <p:nvPr/>
        </p:nvPicPr>
        <p:blipFill>
          <a:blip r:embed="rId5"/>
          <a:srcRect t="-180" b="-180"/>
          <a:stretch/>
        </p:blipFill>
        <p:spPr>
          <a:xfrm>
            <a:off x="7658100" y="1071677"/>
            <a:ext cx="190195" cy="152705"/>
          </a:xfrm>
          <a:prstGeom prst="rect">
            <a:avLst/>
          </a:prstGeom>
        </p:spPr>
      </p:pic>
      <p:graphicFrame>
        <p:nvGraphicFramePr>
          <p:cNvPr id="78" name="Table 0"/>
          <p:cNvGraphicFramePr>
            <a:graphicFrameLocks noGrp="1"/>
          </p:cNvGraphicFramePr>
          <p:nvPr>
            <p:extLst>
              <p:ext uri="{D42A27DB-BD31-4B8C-83A1-F6EECF244321}">
                <p14:modId xmlns:p14="http://schemas.microsoft.com/office/powerpoint/2010/main" val="3089278191"/>
              </p:ext>
            </p:extLst>
          </p:nvPr>
        </p:nvGraphicFramePr>
        <p:xfrm>
          <a:off x="7658100" y="1390802"/>
          <a:ext cx="3923691" cy="3524747"/>
        </p:xfrm>
        <a:graphic>
          <a:graphicData uri="http://schemas.openxmlformats.org/drawingml/2006/table">
            <a:tbl>
              <a:tblPr/>
              <a:tblGrid>
                <a:gridCol w="1176833">
                  <a:extLst>
                    <a:ext uri="{9D8B030D-6E8A-4147-A177-3AD203B41FA5}">
                      <a16:colId xmlns:a16="http://schemas.microsoft.com/office/drawing/2014/main" val="20000"/>
                    </a:ext>
                  </a:extLst>
                </a:gridCol>
                <a:gridCol w="588874">
                  <a:extLst>
                    <a:ext uri="{9D8B030D-6E8A-4147-A177-3AD203B41FA5}">
                      <a16:colId xmlns:a16="http://schemas.microsoft.com/office/drawing/2014/main" val="20001"/>
                    </a:ext>
                  </a:extLst>
                </a:gridCol>
                <a:gridCol w="1176833">
                  <a:extLst>
                    <a:ext uri="{9D8B030D-6E8A-4147-A177-3AD203B41FA5}">
                      <a16:colId xmlns:a16="http://schemas.microsoft.com/office/drawing/2014/main" val="20002"/>
                    </a:ext>
                  </a:extLst>
                </a:gridCol>
                <a:gridCol w="981151">
                  <a:extLst>
                    <a:ext uri="{9D8B030D-6E8A-4147-A177-3AD203B41FA5}">
                      <a16:colId xmlns:a16="http://schemas.microsoft.com/office/drawing/2014/main" val="20003"/>
                    </a:ext>
                  </a:extLst>
                </a:gridCol>
              </a:tblGrid>
              <a:tr h="281026">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Vị trí</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Số lượng</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Thuộc ban</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Ghi chú</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extLst>
                  <a:ext uri="{0D108BD9-81ED-4DB2-BD59-A6C34878D82A}">
                    <a16:rowId xmlns:a16="http://schemas.microsoft.com/office/drawing/2014/main" val="10000"/>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Giám đốc DA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Quản </a:t>
                      </a:r>
                      <a:r>
                        <a:rPr lang="en-US" sz="825" dirty="0" err="1">
                          <a:solidFill>
                            <a:srgbClr val="4A5568"/>
                          </a:solidFill>
                          <a:latin typeface="Open Sans" pitchFamily="34" charset="0"/>
                          <a:ea typeface="Open Sans" pitchFamily="34" charset="-122"/>
                          <a:cs typeface="Open Sans" pitchFamily="34" charset="-120"/>
                        </a:rPr>
                        <a:t>lý</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chung</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trưởng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err="1">
                          <a:solidFill>
                            <a:srgbClr val="4A5568"/>
                          </a:solidFill>
                          <a:latin typeface="Open Sans" pitchFamily="34" charset="0"/>
                          <a:ea typeface="Open Sans" pitchFamily="34" charset="-122"/>
                          <a:cs typeface="Open Sans" pitchFamily="34" charset="-120"/>
                        </a:rPr>
                        <a:t>Điều</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hành</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phó</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Kỹ thuật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BQL</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 KS</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Quản </a:t>
                      </a:r>
                      <a:r>
                        <a:rPr lang="en-US" sz="825" b="1" dirty="0" err="1">
                          <a:solidFill>
                            <a:srgbClr val="4A5568"/>
                          </a:solidFill>
                          <a:latin typeface="Open Sans" pitchFamily="34" charset="0"/>
                          <a:ea typeface="Open Sans" pitchFamily="34" charset="-122"/>
                          <a:cs typeface="Open Sans" pitchFamily="34" charset="-120"/>
                        </a:rPr>
                        <a:t>lý</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thiết</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kế</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QS/QC/QA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Trắc</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đạc</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SXTT</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an </a:t>
                      </a:r>
                      <a:r>
                        <a:rPr lang="en-US" sz="825" b="1" dirty="0" err="1">
                          <a:solidFill>
                            <a:srgbClr val="4A5568"/>
                          </a:solidFill>
                          <a:latin typeface="Open Sans" pitchFamily="34" charset="0"/>
                          <a:ea typeface="Open Sans" pitchFamily="34" charset="-122"/>
                          <a:cs typeface="Open Sans" pitchFamily="34" charset="-120"/>
                        </a:rPr>
                        <a:t>toàn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11237">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Thư </a:t>
                      </a:r>
                      <a:r>
                        <a:rPr lang="en-US" sz="825" b="1" dirty="0" err="1">
                          <a:solidFill>
                            <a:srgbClr val="4A5568"/>
                          </a:solidFill>
                          <a:latin typeface="Open Sans" pitchFamily="34" charset="0"/>
                          <a:ea typeface="Open Sans" pitchFamily="34" charset="-122"/>
                          <a:cs typeface="Open Sans" pitchFamily="34" charset="-120"/>
                        </a:rPr>
                        <a:t>ký</a:t>
                      </a:r>
                      <a:r>
                        <a:rPr lang="en-US" sz="825" b="1" dirty="0">
                          <a:solidFill>
                            <a:srgbClr val="4A5568"/>
                          </a:solidFill>
                          <a:latin typeface="Open Sans" pitchFamily="34" charset="0"/>
                          <a:ea typeface="Open Sans" pitchFamily="34" charset="-122"/>
                          <a:cs typeface="Open Sans" pitchFamily="34" charset="-120"/>
                        </a:rPr>
                        <a:t>/</a:t>
                      </a:r>
                      <a:r>
                        <a:rPr lang="en-US" sz="825" b="1" dirty="0" err="1">
                          <a:solidFill>
                            <a:srgbClr val="4A5568"/>
                          </a:solidFill>
                          <a:latin typeface="Open Sans" pitchFamily="34" charset="0"/>
                          <a:ea typeface="Open Sans" pitchFamily="34" charset="-122"/>
                          <a:cs typeface="Open Sans" pitchFamily="34" charset="-120"/>
                        </a:rPr>
                        <a:t>kế</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toán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Tổng</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cộng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9" name="Text 72"/>
          <p:cNvSpPr txBox="1"/>
          <p:nvPr/>
        </p:nvSpPr>
        <p:spPr>
          <a:xfrm>
            <a:off x="7848294" y="5972860"/>
            <a:ext cx="3715207" cy="152705"/>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a:t>
            </a:r>
            <a:r>
              <a:rPr lang="en-US" sz="900" dirty="0">
                <a:solidFill>
                  <a:srgbClr val="4A5568"/>
                </a:solidFill>
                <a:latin typeface="Open Sans" pitchFamily="34" charset="0"/>
                <a:ea typeface="Open Sans" pitchFamily="34" charset="-122"/>
                <a:cs typeface="Open Sans" pitchFamily="34" charset="-120"/>
              </a:rPr>
              <a:t> 42 Kỹ </a:t>
            </a:r>
            <a:r>
              <a:rPr lang="en-US" sz="900" dirty="0" err="1">
                <a:solidFill>
                  <a:srgbClr val="4A5568"/>
                </a:solidFill>
                <a:latin typeface="Open Sans" pitchFamily="34" charset="0"/>
                <a:ea typeface="Open Sans" pitchFamily="34" charset="-122"/>
                <a:cs typeface="Open Sans" pitchFamily="34" charset="-120"/>
              </a:rPr>
              <a:t>sư</a:t>
            </a:r>
            <a:r>
              <a:rPr lang="en-US" sz="900" dirty="0">
                <a:solidFill>
                  <a:srgbClr val="4A5568"/>
                </a:solidFill>
                <a:latin typeface="Open Sans" pitchFamily="34" charset="0"/>
                <a:ea typeface="Open Sans" pitchFamily="34" charset="-122"/>
                <a:cs typeface="Open Sans" pitchFamily="34" charset="-120"/>
              </a:rPr>
              <a:t> |TB 308 Công </a:t>
            </a:r>
            <a:r>
              <a:rPr lang="en-US" sz="900" dirty="0" err="1">
                <a:solidFill>
                  <a:srgbClr val="4A5568"/>
                </a:solidFill>
                <a:latin typeface="Open Sans" pitchFamily="34" charset="0"/>
                <a:ea typeface="Open Sans" pitchFamily="34" charset="-122"/>
                <a:cs typeface="Open Sans" pitchFamily="34" charset="-120"/>
              </a:rPr>
              <a:t>nhân</a:t>
            </a:r>
            <a:r>
              <a:rPr lang="en-US" sz="900" dirty="0">
                <a:solidFill>
                  <a:srgbClr val="4A5568"/>
                </a:solidFill>
                <a:latin typeface="Open Sans" pitchFamily="34" charset="0"/>
                <a:ea typeface="Open Sans" pitchFamily="34" charset="-122"/>
                <a:cs typeface="Open Sans" pitchFamily="34" charset="-120"/>
              </a:rPr>
              <a:t>/</a:t>
            </a:r>
            <a:r>
              <a:rPr lang="en-US" sz="900" dirty="0" err="1">
                <a:solidFill>
                  <a:srgbClr val="4A5568"/>
                </a:solidFill>
                <a:latin typeface="Open Sans" pitchFamily="34" charset="0"/>
                <a:ea typeface="Open Sans" pitchFamily="34" charset="-122"/>
                <a:cs typeface="Open Sans" pitchFamily="34" charset="-120"/>
              </a:rPr>
              <a:t>Tháng</a:t>
            </a:r>
            <a:endParaRPr lang="en-US" sz="900" dirty="0"/>
          </a:p>
        </p:txBody>
      </p:sp>
      <p:sp>
        <p:nvSpPr>
          <p:cNvPr id="81" name="Shape 7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82" name="Image 4" descr="preencoded.png"/>
          <p:cNvPicPr>
            <a:picLocks noChangeAspect="1"/>
          </p:cNvPicPr>
          <p:nvPr/>
        </p:nvPicPr>
        <p:blipFill>
          <a:blip r:embed="rId6"/>
          <a:srcRect l="-1282" r="-1282"/>
          <a:stretch/>
        </p:blipFill>
        <p:spPr>
          <a:xfrm>
            <a:off x="461772" y="237744"/>
            <a:ext cx="219456" cy="190195"/>
          </a:xfrm>
          <a:prstGeom prst="rect">
            <a:avLst/>
          </a:prstGeom>
        </p:spPr>
      </p:pic>
      <p:sp>
        <p:nvSpPr>
          <p:cNvPr id="83" name="Text 75"/>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SƠ ĐỒ TỔ CHỨC CÔNG TRƯỜNG - DỰ ÁN NOXH YÊN SỞ</a:t>
            </a:r>
            <a:endParaRPr lang="en-US" sz="1800" dirty="0"/>
          </a:p>
        </p:txBody>
      </p:sp>
      <p:sp>
        <p:nvSpPr>
          <p:cNvPr id="84" name="Text 76"/>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85" name="Image 5" descr="preencoded.png"/>
          <p:cNvPicPr>
            <a:picLocks noChangeAspect="1"/>
          </p:cNvPicPr>
          <p:nvPr/>
        </p:nvPicPr>
        <p:blipFill>
          <a:blip r:embed="rId7"/>
          <a:srcRect t="-1100" b="-1100"/>
          <a:stretch/>
        </p:blipFill>
        <p:spPr>
          <a:xfrm>
            <a:off x="10564063" y="264262"/>
            <a:ext cx="114300" cy="133502"/>
          </a:xfrm>
          <a:prstGeom prst="rect">
            <a:avLst/>
          </a:prstGeom>
        </p:spPr>
      </p:pic>
      <p:sp>
        <p:nvSpPr>
          <p:cNvPr id="86" name="Text 7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7" name="Image 6" descr="preencoded.png"/>
          <p:cNvPicPr>
            <a:picLocks noChangeAspect="1"/>
          </p:cNvPicPr>
          <p:nvPr/>
        </p:nvPicPr>
        <p:blipFill>
          <a:blip r:embed="rId8"/>
          <a:srcRect l="-1358" r="-1358"/>
          <a:stretch/>
        </p:blipFill>
        <p:spPr>
          <a:xfrm>
            <a:off x="381305" y="6549847"/>
            <a:ext cx="95098" cy="123444"/>
          </a:xfrm>
          <a:prstGeom prst="rect">
            <a:avLst/>
          </a:prstGeom>
        </p:spPr>
      </p:pic>
      <p:sp>
        <p:nvSpPr>
          <p:cNvPr id="88" name="Text 7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11449202" cy="5544007"/>
          </a:xfrm>
          <a:prstGeom prst="roundRect">
            <a:avLst>
              <a:gd name="adj" fmla="val 680"/>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7"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8" name="Shape 5"/>
          <p:cNvSpPr/>
          <p:nvPr/>
        </p:nvSpPr>
        <p:spPr>
          <a:xfrm>
            <a:off x="6001207" y="952805"/>
            <a:ext cx="1619402" cy="571500"/>
          </a:xfrm>
          <a:prstGeom prst="roundRect">
            <a:avLst>
              <a:gd name="adj" fmla="val 42667"/>
            </a:avLst>
          </a:prstGeom>
          <a:solidFill>
            <a:srgbClr val="F7A81B"/>
          </a:solidFill>
          <a:ln w="12700">
            <a:solidFill>
              <a:srgbClr val="FFFFFF">
                <a:alpha val="0"/>
              </a:srgbClr>
            </a:solidFill>
            <a:prstDash val="solid"/>
          </a:ln>
        </p:spPr>
        <p:txBody>
          <a:bodyPr/>
          <a:lstStyle/>
          <a:p>
            <a:endParaRPr lang="en-US"/>
          </a:p>
        </p:txBody>
      </p:sp>
      <p:sp>
        <p:nvSpPr>
          <p:cNvPr id="9" name="Shape 6"/>
          <p:cNvSpPr/>
          <p:nvPr/>
        </p:nvSpPr>
        <p:spPr>
          <a:xfrm>
            <a:off x="7810805" y="952805"/>
            <a:ext cx="1619402" cy="571500"/>
          </a:xfrm>
          <a:prstGeom prst="roundRect">
            <a:avLst>
              <a:gd name="adj" fmla="val 42667"/>
            </a:avLst>
          </a:prstGeom>
          <a:solidFill>
            <a:srgbClr val="808080"/>
          </a:solidFill>
          <a:ln w="12700">
            <a:solidFill>
              <a:srgbClr val="FFFFFF">
                <a:alpha val="0"/>
              </a:srgbClr>
            </a:solidFill>
            <a:prstDash val="solid"/>
          </a:ln>
        </p:spPr>
        <p:txBody>
          <a:bodyPr/>
          <a:lstStyle/>
          <a:p>
            <a:endParaRPr lang="en-US"/>
          </a:p>
        </p:txBody>
      </p:sp>
      <p:sp>
        <p:nvSpPr>
          <p:cNvPr id="10" name="Shape 7"/>
          <p:cNvSpPr/>
          <p:nvPr/>
        </p:nvSpPr>
        <p:spPr>
          <a:xfrm>
            <a:off x="9620402" y="952805"/>
            <a:ext cx="1638605"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1" name="Shape 8"/>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2" name="Image 1" descr="preencoded.png"/>
          <p:cNvPicPr>
            <a:picLocks noChangeAspect="1"/>
          </p:cNvPicPr>
          <p:nvPr/>
        </p:nvPicPr>
        <p:blipFill>
          <a:blip r:embed="rId4"/>
          <a:srcRect/>
          <a:stretch/>
        </p:blipFill>
        <p:spPr>
          <a:xfrm>
            <a:off x="452628" y="237744"/>
            <a:ext cx="237744" cy="190195"/>
          </a:xfrm>
          <a:prstGeom prst="rect">
            <a:avLst/>
          </a:prstGeom>
        </p:spPr>
      </p:pic>
      <p:sp>
        <p:nvSpPr>
          <p:cNvPr id="13" name="Text 9"/>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BIỂU ĐỒ HUY ĐỘNG NHÂN CÔNG ECC</a:t>
            </a:r>
            <a:endParaRPr lang="en-US" sz="1800" dirty="0"/>
          </a:p>
        </p:txBody>
      </p:sp>
      <p:sp>
        <p:nvSpPr>
          <p:cNvPr id="14" name="Text 10"/>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15" name="Image 2" descr="preencoded.png"/>
          <p:cNvPicPr>
            <a:picLocks noChangeAspect="1"/>
          </p:cNvPicPr>
          <p:nvPr/>
        </p:nvPicPr>
        <p:blipFill>
          <a:blip r:embed="rId5"/>
          <a:srcRect t="-1100" b="-1100"/>
          <a:stretch/>
        </p:blipFill>
        <p:spPr>
          <a:xfrm>
            <a:off x="10564063" y="264262"/>
            <a:ext cx="114300" cy="133502"/>
          </a:xfrm>
          <a:prstGeom prst="rect">
            <a:avLst/>
          </a:prstGeom>
        </p:spPr>
      </p:pic>
      <p:sp>
        <p:nvSpPr>
          <p:cNvPr id="16" name="Text 11"/>
          <p:cNvSpPr txBox="1"/>
          <p:nvPr/>
        </p:nvSpPr>
        <p:spPr>
          <a:xfrm>
            <a:off x="933602" y="1047902"/>
            <a:ext cx="4484218"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Nhu cầu nhân lực trực tiếp (24 tháng)</a:t>
            </a:r>
            <a:endParaRPr lang="en-US" sz="1500" dirty="0"/>
          </a:p>
        </p:txBody>
      </p:sp>
      <p:pic>
        <p:nvPicPr>
          <p:cNvPr id="17" name="Image 3" descr="preencoded.png"/>
          <p:cNvPicPr>
            <a:picLocks noChangeAspect="1"/>
          </p:cNvPicPr>
          <p:nvPr/>
        </p:nvPicPr>
        <p:blipFill>
          <a:blip r:embed="rId6"/>
          <a:srcRect/>
          <a:stretch/>
        </p:blipFill>
        <p:spPr>
          <a:xfrm>
            <a:off x="666598" y="1076249"/>
            <a:ext cx="171907" cy="171907"/>
          </a:xfrm>
          <a:prstGeom prst="rect">
            <a:avLst/>
          </a:prstGeom>
        </p:spPr>
      </p:pic>
      <p:sp>
        <p:nvSpPr>
          <p:cNvPr id="18" name="Text 12"/>
          <p:cNvSpPr txBox="1"/>
          <p:nvPr/>
        </p:nvSpPr>
        <p:spPr>
          <a:xfrm>
            <a:off x="6048756"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440</a:t>
            </a:r>
            <a:endParaRPr lang="en-US" sz="1600" dirty="0"/>
          </a:p>
        </p:txBody>
      </p:sp>
      <p:sp>
        <p:nvSpPr>
          <p:cNvPr id="19" name="Text 13"/>
          <p:cNvSpPr txBox="1"/>
          <p:nvPr/>
        </p:nvSpPr>
        <p:spPr>
          <a:xfrm>
            <a:off x="6048756"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Tối đa (GĐ Thân)</a:t>
            </a:r>
            <a:endParaRPr lang="en-US" sz="800" dirty="0"/>
          </a:p>
        </p:txBody>
      </p:sp>
      <p:sp>
        <p:nvSpPr>
          <p:cNvPr id="20" name="Text 14"/>
          <p:cNvSpPr txBox="1"/>
          <p:nvPr/>
        </p:nvSpPr>
        <p:spPr>
          <a:xfrm>
            <a:off x="7858354"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300</a:t>
            </a:r>
            <a:endParaRPr lang="en-US" sz="1600" dirty="0"/>
          </a:p>
        </p:txBody>
      </p:sp>
      <p:sp>
        <p:nvSpPr>
          <p:cNvPr id="21" name="Text 15"/>
          <p:cNvSpPr txBox="1"/>
          <p:nvPr/>
        </p:nvSpPr>
        <p:spPr>
          <a:xfrm>
            <a:off x="7858354"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Trung bình / Tháng</a:t>
            </a:r>
            <a:endParaRPr lang="en-US" sz="800" dirty="0"/>
          </a:p>
        </p:txBody>
      </p:sp>
      <p:sp>
        <p:nvSpPr>
          <p:cNvPr id="22" name="Text 16"/>
          <p:cNvSpPr txBox="1"/>
          <p:nvPr/>
        </p:nvSpPr>
        <p:spPr>
          <a:xfrm>
            <a:off x="9667951" y="1067105"/>
            <a:ext cx="1524305" cy="191110"/>
          </a:xfrm>
          <a:prstGeom prst="rect">
            <a:avLst/>
          </a:prstGeom>
          <a:noFill/>
          <a:ln/>
        </p:spPr>
        <p:txBody>
          <a:bodyPr wrap="square" lIns="0" tIns="0" rIns="0" bIns="0" rtlCol="0" anchor="ctr"/>
          <a:lstStyle/>
          <a:p>
            <a:pPr marL="0" indent="0" algn="ctr">
              <a:buNone/>
            </a:pPr>
            <a:r>
              <a:rPr lang="en-US" sz="1500" b="1" dirty="0">
                <a:solidFill>
                  <a:srgbClr val="F7A81B"/>
                </a:solidFill>
                <a:latin typeface="Montserrat" pitchFamily="34" charset="0"/>
                <a:ea typeface="Montserrat" pitchFamily="34" charset="-122"/>
                <a:cs typeface="Montserrat" pitchFamily="34" charset="-120"/>
              </a:rPr>
              <a:t>364 </a:t>
            </a:r>
            <a:r>
              <a:rPr lang="en-US" sz="1500" b="1" dirty="0" err="1">
                <a:solidFill>
                  <a:srgbClr val="F7A81B"/>
                </a:solidFill>
                <a:latin typeface="Montserrat" pitchFamily="34" charset="0"/>
                <a:ea typeface="Montserrat" pitchFamily="34" charset="-122"/>
                <a:cs typeface="Montserrat" pitchFamily="34" charset="-120"/>
              </a:rPr>
              <a:t>Tỷ</a:t>
            </a:r>
            <a:endParaRPr lang="en-US" sz="1500" dirty="0"/>
          </a:p>
        </p:txBody>
      </p:sp>
      <p:sp>
        <p:nvSpPr>
          <p:cNvPr id="23" name="Text 17"/>
          <p:cNvSpPr txBox="1"/>
          <p:nvPr/>
        </p:nvSpPr>
        <p:spPr>
          <a:xfrm>
            <a:off x="9667951" y="1276502"/>
            <a:ext cx="1524305" cy="133502"/>
          </a:xfrm>
          <a:prstGeom prst="rect">
            <a:avLst/>
          </a:prstGeom>
          <a:noFill/>
          <a:ln/>
        </p:spPr>
        <p:txBody>
          <a:bodyPr wrap="square" lIns="0" tIns="0" rIns="0" bIns="0" rtlCol="0" anchor="ctr"/>
          <a:lstStyle/>
          <a:p>
            <a:pPr marL="0" indent="0" algn="ctr">
              <a:buNone/>
            </a:pPr>
            <a:r>
              <a:rPr lang="en-US" sz="800" b="1" kern="0" spc="22" dirty="0">
                <a:solidFill>
                  <a:srgbClr val="808080"/>
                </a:solidFill>
                <a:latin typeface="Open Sans" pitchFamily="34" charset="0"/>
                <a:ea typeface="Open Sans" pitchFamily="34" charset="-122"/>
                <a:cs typeface="Open Sans" pitchFamily="34" charset="-120"/>
              </a:rPr>
              <a:t>Tổng ngân sách</a:t>
            </a:r>
            <a:endParaRPr lang="en-US" sz="800" dirty="0"/>
          </a:p>
        </p:txBody>
      </p:sp>
      <p:sp>
        <p:nvSpPr>
          <p:cNvPr id="25" name="Shape 18"/>
          <p:cNvSpPr/>
          <p:nvPr/>
        </p:nvSpPr>
        <p:spPr>
          <a:xfrm>
            <a:off x="571500" y="5905195"/>
            <a:ext cx="11048695" cy="342900"/>
          </a:xfrm>
          <a:prstGeom prst="roundRect">
            <a:avLst>
              <a:gd name="adj" fmla="val 118519"/>
            </a:avLst>
          </a:prstGeom>
          <a:solidFill>
            <a:srgbClr val="F7A81B">
              <a:alpha val="5000"/>
            </a:srgbClr>
          </a:solidFill>
          <a:ln w="12700">
            <a:solidFill>
              <a:srgbClr val="F7A81B">
                <a:alpha val="20000"/>
              </a:srgbClr>
            </a:solidFill>
            <a:prstDash val="solid"/>
          </a:ln>
        </p:spPr>
        <p:txBody>
          <a:bodyPr/>
          <a:lstStyle/>
          <a:p>
            <a:endParaRPr lang="en-US"/>
          </a:p>
        </p:txBody>
      </p:sp>
      <p:sp>
        <p:nvSpPr>
          <p:cNvPr id="26" name="Shape 19"/>
          <p:cNvSpPr/>
          <p:nvPr/>
        </p:nvSpPr>
        <p:spPr>
          <a:xfrm>
            <a:off x="3824021" y="6001207"/>
            <a:ext cx="152705" cy="152705"/>
          </a:xfrm>
          <a:prstGeom prst="roundRect">
            <a:avLst>
              <a:gd name="adj" fmla="val 299401"/>
            </a:avLst>
          </a:prstGeom>
          <a:solidFill>
            <a:srgbClr val="1A365D">
              <a:alpha val="80000"/>
            </a:srgbClr>
          </a:solidFill>
          <a:ln w="12700">
            <a:solidFill>
              <a:srgbClr val="FFFFFF">
                <a:alpha val="0"/>
              </a:srgbClr>
            </a:solidFill>
            <a:prstDash val="solid"/>
          </a:ln>
        </p:spPr>
        <p:txBody>
          <a:bodyPr/>
          <a:lstStyle/>
          <a:p>
            <a:endParaRPr lang="en-US"/>
          </a:p>
        </p:txBody>
      </p:sp>
      <p:sp>
        <p:nvSpPr>
          <p:cNvPr id="27" name="Text 20"/>
          <p:cNvSpPr txBox="1"/>
          <p:nvPr/>
        </p:nvSpPr>
        <p:spPr>
          <a:xfrm>
            <a:off x="4052621" y="5991149"/>
            <a:ext cx="160020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phổ thông</a:t>
            </a:r>
            <a:endParaRPr lang="en-US" sz="900" dirty="0"/>
          </a:p>
        </p:txBody>
      </p:sp>
      <p:sp>
        <p:nvSpPr>
          <p:cNvPr id="28" name="Shape 21"/>
          <p:cNvSpPr/>
          <p:nvPr/>
        </p:nvSpPr>
        <p:spPr>
          <a:xfrm>
            <a:off x="5591556" y="6001207"/>
            <a:ext cx="152705" cy="152705"/>
          </a:xfrm>
          <a:prstGeom prst="roundRect">
            <a:avLst>
              <a:gd name="adj" fmla="val 299401"/>
            </a:avLst>
          </a:prstGeom>
          <a:solidFill>
            <a:srgbClr val="F7A81B">
              <a:alpha val="80000"/>
            </a:srgbClr>
          </a:solidFill>
          <a:ln w="12700">
            <a:solidFill>
              <a:srgbClr val="FFFFFF">
                <a:alpha val="0"/>
              </a:srgbClr>
            </a:solidFill>
            <a:prstDash val="solid"/>
          </a:ln>
        </p:spPr>
        <p:txBody>
          <a:bodyPr/>
          <a:lstStyle/>
          <a:p>
            <a:endParaRPr lang="en-US"/>
          </a:p>
        </p:txBody>
      </p:sp>
      <p:sp>
        <p:nvSpPr>
          <p:cNvPr id="29" name="Text 22"/>
          <p:cNvSpPr txBox="1"/>
          <p:nvPr/>
        </p:nvSpPr>
        <p:spPr>
          <a:xfrm>
            <a:off x="5820156" y="5991149"/>
            <a:ext cx="150784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kỹ thuật</a:t>
            </a:r>
            <a:endParaRPr lang="en-US" sz="900" dirty="0"/>
          </a:p>
        </p:txBody>
      </p:sp>
      <p:sp>
        <p:nvSpPr>
          <p:cNvPr id="30" name="Shape 23"/>
          <p:cNvSpPr/>
          <p:nvPr/>
        </p:nvSpPr>
        <p:spPr>
          <a:xfrm>
            <a:off x="7231075" y="6001207"/>
            <a:ext cx="152705" cy="152705"/>
          </a:xfrm>
          <a:prstGeom prst="roundRect">
            <a:avLst>
              <a:gd name="adj" fmla="val 299401"/>
            </a:avLst>
          </a:prstGeom>
          <a:solidFill>
            <a:srgbClr val="808080">
              <a:alpha val="80000"/>
            </a:srgbClr>
          </a:solidFill>
          <a:ln w="12700">
            <a:solidFill>
              <a:srgbClr val="FFFFFF">
                <a:alpha val="0"/>
              </a:srgbClr>
            </a:solidFill>
            <a:prstDash val="solid"/>
          </a:ln>
        </p:spPr>
        <p:txBody>
          <a:bodyPr/>
          <a:lstStyle/>
          <a:p>
            <a:endParaRPr lang="en-US"/>
          </a:p>
        </p:txBody>
      </p:sp>
      <p:sp>
        <p:nvSpPr>
          <p:cNvPr id="31" name="Text 24"/>
          <p:cNvSpPr txBox="1"/>
          <p:nvPr/>
        </p:nvSpPr>
        <p:spPr>
          <a:xfrm>
            <a:off x="7459675" y="5991149"/>
            <a:ext cx="1251814"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Quản lý &amp; Kỹ sư</a:t>
            </a:r>
            <a:endParaRPr lang="en-US" sz="900" dirty="0"/>
          </a:p>
        </p:txBody>
      </p:sp>
      <p:sp>
        <p:nvSpPr>
          <p:cNvPr id="32" name="Text 25"/>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33" name="Image 5" descr="preencoded.png"/>
          <p:cNvPicPr>
            <a:picLocks noChangeAspect="1"/>
          </p:cNvPicPr>
          <p:nvPr/>
        </p:nvPicPr>
        <p:blipFill>
          <a:blip r:embed="rId7"/>
          <a:srcRect l="-1358" r="-1358"/>
          <a:stretch/>
        </p:blipFill>
        <p:spPr>
          <a:xfrm>
            <a:off x="381305" y="6614770"/>
            <a:ext cx="95098" cy="123444"/>
          </a:xfrm>
          <a:prstGeom prst="rect">
            <a:avLst/>
          </a:prstGeom>
        </p:spPr>
      </p:pic>
      <p:sp>
        <p:nvSpPr>
          <p:cNvPr id="34" name="Text 26"/>
          <p:cNvSpPr txBox="1"/>
          <p:nvPr/>
        </p:nvSpPr>
        <p:spPr>
          <a:xfrm>
            <a:off x="9905695" y="6590995"/>
            <a:ext cx="1905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10/15</a:t>
            </a:r>
            <a:endParaRPr lang="en-US" sz="900" dirty="0"/>
          </a:p>
        </p:txBody>
      </p:sp>
      <p:pic>
        <p:nvPicPr>
          <p:cNvPr id="36" name="Picture 35">
            <a:extLst>
              <a:ext uri="{FF2B5EF4-FFF2-40B4-BE49-F238E27FC236}">
                <a16:creationId xmlns:a16="http://schemas.microsoft.com/office/drawing/2014/main" id="{2D138136-A5EC-2C0A-6E09-B327BF8573C0}"/>
              </a:ext>
            </a:extLst>
          </p:cNvPr>
          <p:cNvPicPr>
            <a:picLocks noChangeAspect="1"/>
          </p:cNvPicPr>
          <p:nvPr/>
        </p:nvPicPr>
        <p:blipFill>
          <a:blip r:embed="rId8"/>
          <a:stretch>
            <a:fillRect/>
          </a:stretch>
        </p:blipFill>
        <p:spPr>
          <a:xfrm>
            <a:off x="585398" y="1619403"/>
            <a:ext cx="11041016"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7258507" cy="5447995"/>
          </a:xfrm>
          <a:prstGeom prst="roundRect">
            <a:avLst>
              <a:gd name="adj" fmla="val 70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7" name="Shape 5"/>
          <p:cNvSpPr/>
          <p:nvPr/>
        </p:nvSpPr>
        <p:spPr>
          <a:xfrm>
            <a:off x="7810805" y="952805"/>
            <a:ext cx="4019702" cy="5447995"/>
          </a:xfrm>
          <a:prstGeom prst="roundRect">
            <a:avLst>
              <a:gd name="adj" fmla="val 129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8" name="Shape 6"/>
          <p:cNvSpPr/>
          <p:nvPr/>
        </p:nvSpPr>
        <p:spPr>
          <a:xfrm>
            <a:off x="8039405" y="1571854"/>
            <a:ext cx="3590849" cy="1399946"/>
          </a:xfrm>
          <a:prstGeom prst="roundRect">
            <a:avLst>
              <a:gd name="adj" fmla="val 7109"/>
            </a:avLst>
          </a:prstGeom>
          <a:solidFill>
            <a:srgbClr val="F0FFF4"/>
          </a:solidFill>
          <a:ln w="12700">
            <a:solidFill>
              <a:srgbClr val="E2E8F0"/>
            </a:solidFill>
            <a:prstDash val="solid"/>
          </a:ln>
        </p:spPr>
        <p:txBody>
          <a:bodyPr/>
          <a:lstStyle/>
          <a:p>
            <a:endParaRPr lang="en-US"/>
          </a:p>
        </p:txBody>
      </p:sp>
      <p:sp>
        <p:nvSpPr>
          <p:cNvPr id="9" name="Shape 7"/>
          <p:cNvSpPr/>
          <p:nvPr/>
        </p:nvSpPr>
        <p:spPr>
          <a:xfrm>
            <a:off x="8039405" y="1571854"/>
            <a:ext cx="38405" cy="1399946"/>
          </a:xfrm>
          <a:prstGeom prst="roundRect">
            <a:avLst>
              <a:gd name="adj" fmla="val 259150"/>
            </a:avLst>
          </a:prstGeom>
          <a:solidFill>
            <a:srgbClr val="48BB78"/>
          </a:solidFill>
          <a:ln w="12700">
            <a:solidFill>
              <a:srgbClr val="48BB78">
                <a:alpha val="0"/>
              </a:srgbClr>
            </a:solidFill>
            <a:prstDash val="solid"/>
          </a:ln>
        </p:spPr>
        <p:txBody>
          <a:bodyPr/>
          <a:lstStyle/>
          <a:p>
            <a:endParaRPr lang="en-US"/>
          </a:p>
        </p:txBody>
      </p:sp>
      <p:sp>
        <p:nvSpPr>
          <p:cNvPr id="10" name="Shape 8"/>
          <p:cNvSpPr/>
          <p:nvPr/>
        </p:nvSpPr>
        <p:spPr>
          <a:xfrm>
            <a:off x="8039405" y="3095244"/>
            <a:ext cx="3590849" cy="1399946"/>
          </a:xfrm>
          <a:prstGeom prst="roundRect">
            <a:avLst>
              <a:gd name="adj" fmla="val 7109"/>
            </a:avLst>
          </a:prstGeom>
          <a:solidFill>
            <a:srgbClr val="FFF5F5"/>
          </a:solidFill>
          <a:ln w="12700">
            <a:solidFill>
              <a:srgbClr val="E2E8F0"/>
            </a:solidFill>
            <a:prstDash val="solid"/>
          </a:ln>
        </p:spPr>
        <p:txBody>
          <a:bodyPr/>
          <a:lstStyle/>
          <a:p>
            <a:endParaRPr lang="en-US"/>
          </a:p>
        </p:txBody>
      </p:sp>
      <p:sp>
        <p:nvSpPr>
          <p:cNvPr id="11" name="Shape 9"/>
          <p:cNvSpPr/>
          <p:nvPr/>
        </p:nvSpPr>
        <p:spPr>
          <a:xfrm>
            <a:off x="8039405" y="3095244"/>
            <a:ext cx="38405" cy="1399946"/>
          </a:xfrm>
          <a:prstGeom prst="roundRect">
            <a:avLst>
              <a:gd name="adj" fmla="val 259150"/>
            </a:avLst>
          </a:prstGeom>
          <a:solidFill>
            <a:srgbClr val="E53E3E"/>
          </a:solidFill>
          <a:ln w="12700">
            <a:solidFill>
              <a:srgbClr val="E53E3E">
                <a:alpha val="0"/>
              </a:srgbClr>
            </a:solidFill>
            <a:prstDash val="solid"/>
          </a:ln>
        </p:spPr>
        <p:txBody>
          <a:bodyPr/>
          <a:lstStyle/>
          <a:p>
            <a:endParaRPr lang="en-US"/>
          </a:p>
        </p:txBody>
      </p:sp>
      <p:sp>
        <p:nvSpPr>
          <p:cNvPr id="12" name="Shape 10"/>
          <p:cNvSpPr/>
          <p:nvPr/>
        </p:nvSpPr>
        <p:spPr>
          <a:xfrm>
            <a:off x="8039405" y="4619549"/>
            <a:ext cx="3590849" cy="1399946"/>
          </a:xfrm>
          <a:prstGeom prst="roundRect">
            <a:avLst>
              <a:gd name="adj" fmla="val 7109"/>
            </a:avLst>
          </a:prstGeom>
          <a:solidFill>
            <a:srgbClr val="FDFBF7"/>
          </a:solidFill>
          <a:ln w="12700">
            <a:solidFill>
              <a:srgbClr val="E2E8F0"/>
            </a:solidFill>
            <a:prstDash val="solid"/>
          </a:ln>
        </p:spPr>
        <p:txBody>
          <a:bodyPr/>
          <a:lstStyle/>
          <a:p>
            <a:endParaRPr lang="en-US"/>
          </a:p>
        </p:txBody>
      </p:sp>
      <p:sp>
        <p:nvSpPr>
          <p:cNvPr id="13" name="Shape 11"/>
          <p:cNvSpPr/>
          <p:nvPr/>
        </p:nvSpPr>
        <p:spPr>
          <a:xfrm>
            <a:off x="8039405" y="4619549"/>
            <a:ext cx="38405" cy="1399946"/>
          </a:xfrm>
          <a:prstGeom prst="roundRect">
            <a:avLst>
              <a:gd name="adj" fmla="val 259150"/>
            </a:avLst>
          </a:prstGeom>
          <a:solidFill>
            <a:srgbClr val="F7A81B"/>
          </a:solidFill>
          <a:ln w="12700">
            <a:solidFill>
              <a:srgbClr val="F7A81B">
                <a:alpha val="0"/>
              </a:srgbClr>
            </a:solidFill>
            <a:prstDash val="solid"/>
          </a:ln>
        </p:spPr>
        <p:txBody>
          <a:bodyPr/>
          <a:lstStyle/>
          <a:p>
            <a:endParaRPr lang="en-US"/>
          </a:p>
        </p:txBody>
      </p:sp>
      <p:pic>
        <p:nvPicPr>
          <p:cNvPr id="14"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15" name="Shape 12"/>
          <p:cNvSpPr/>
          <p:nvPr/>
        </p:nvSpPr>
        <p:spPr>
          <a:xfrm>
            <a:off x="609905" y="1571854"/>
            <a:ext cx="6801307" cy="4162349"/>
          </a:xfrm>
          <a:prstGeom prst="roundRect">
            <a:avLst>
              <a:gd name="adj" fmla="val 804"/>
            </a:avLst>
          </a:prstGeom>
          <a:solidFill>
            <a:srgbClr val="FFFFFF"/>
          </a:solidFill>
          <a:ln w="12700">
            <a:solidFill>
              <a:srgbClr val="E2E8F0"/>
            </a:solidFill>
            <a:prstDash val="solid"/>
          </a:ln>
        </p:spPr>
        <p:txBody>
          <a:bodyPr/>
          <a:lstStyle/>
          <a:p>
            <a:endParaRPr lang="en-US"/>
          </a:p>
        </p:txBody>
      </p:sp>
      <p:pic>
        <p:nvPicPr>
          <p:cNvPr id="16" name="Image 1" descr="preencoded.png"/>
          <p:cNvPicPr>
            <a:picLocks noChangeAspect="1"/>
          </p:cNvPicPr>
          <p:nvPr/>
        </p:nvPicPr>
        <p:blipFill>
          <a:blip r:embed="rId4"/>
          <a:srcRect t="-14" b="-14"/>
          <a:stretch/>
        </p:blipFill>
        <p:spPr>
          <a:xfrm>
            <a:off x="619049" y="1580998"/>
            <a:ext cx="6782105" cy="476402"/>
          </a:xfrm>
          <a:prstGeom prst="rect">
            <a:avLst/>
          </a:prstGeom>
        </p:spPr>
      </p:pic>
      <p:sp>
        <p:nvSpPr>
          <p:cNvPr id="17" name="Text 13"/>
          <p:cNvSpPr txBox="1"/>
          <p:nvPr/>
        </p:nvSpPr>
        <p:spPr>
          <a:xfrm>
            <a:off x="619049" y="1733702"/>
            <a:ext cx="1810512"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VỊ TRÍ</a:t>
            </a:r>
            <a:endParaRPr lang="en-US" sz="900" dirty="0"/>
          </a:p>
        </p:txBody>
      </p:sp>
      <p:sp>
        <p:nvSpPr>
          <p:cNvPr id="18" name="Text 14"/>
          <p:cNvSpPr txBox="1"/>
          <p:nvPr/>
        </p:nvSpPr>
        <p:spPr>
          <a:xfrm>
            <a:off x="2421331"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MỨC LƯƠNG DỰ ÁN</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19" name="Text 15"/>
          <p:cNvSpPr txBox="1"/>
          <p:nvPr/>
        </p:nvSpPr>
        <p:spPr>
          <a:xfrm>
            <a:off x="4081882"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THỊ TRƯỜNG HÀ NỘI</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20" name="Text 16"/>
          <p:cNvSpPr txBox="1"/>
          <p:nvPr/>
        </p:nvSpPr>
        <p:spPr>
          <a:xfrm>
            <a:off x="5741518" y="1751076"/>
            <a:ext cx="1666951" cy="143561"/>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CHÊNH LỆCH (%)</a:t>
            </a:r>
            <a:endParaRPr lang="en-US" sz="900" dirty="0"/>
          </a:p>
        </p:txBody>
      </p:sp>
      <p:sp>
        <p:nvSpPr>
          <p:cNvPr id="21" name="Shape 17"/>
          <p:cNvSpPr/>
          <p:nvPr/>
        </p:nvSpPr>
        <p:spPr>
          <a:xfrm>
            <a:off x="619049" y="2057400"/>
            <a:ext cx="6782105" cy="580644"/>
          </a:xfrm>
          <a:prstGeom prst="rect">
            <a:avLst/>
          </a:prstGeom>
          <a:solidFill>
            <a:srgbClr val="F7FAFC"/>
          </a:solidFill>
          <a:ln/>
        </p:spPr>
        <p:txBody>
          <a:bodyPr/>
          <a:lstStyle/>
          <a:p>
            <a:endParaRPr lang="en-US"/>
          </a:p>
        </p:txBody>
      </p:sp>
      <p:sp>
        <p:nvSpPr>
          <p:cNvPr id="22" name="Shape 18"/>
          <p:cNvSpPr/>
          <p:nvPr/>
        </p:nvSpPr>
        <p:spPr>
          <a:xfrm>
            <a:off x="619049" y="2628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3" name="Text 19"/>
          <p:cNvSpPr txBox="1"/>
          <p:nvPr/>
        </p:nvSpPr>
        <p:spPr>
          <a:xfrm>
            <a:off x="619049" y="2257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phổ thông</a:t>
            </a:r>
            <a:endParaRPr lang="en-US" sz="900" dirty="0"/>
          </a:p>
        </p:txBody>
      </p:sp>
      <p:sp>
        <p:nvSpPr>
          <p:cNvPr id="24" name="Text 20"/>
          <p:cNvSpPr txBox="1"/>
          <p:nvPr/>
        </p:nvSpPr>
        <p:spPr>
          <a:xfrm>
            <a:off x="2421331"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20.0</a:t>
            </a:r>
            <a:endParaRPr lang="en-US" sz="900" dirty="0"/>
          </a:p>
        </p:txBody>
      </p:sp>
      <p:sp>
        <p:nvSpPr>
          <p:cNvPr id="25" name="Text 21"/>
          <p:cNvSpPr txBox="1"/>
          <p:nvPr/>
        </p:nvSpPr>
        <p:spPr>
          <a:xfrm>
            <a:off x="4081882"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18.0</a:t>
            </a:r>
            <a:endParaRPr lang="en-US" sz="900" dirty="0"/>
          </a:p>
        </p:txBody>
      </p:sp>
      <p:sp>
        <p:nvSpPr>
          <p:cNvPr id="26" name="Text 22"/>
          <p:cNvSpPr txBox="1"/>
          <p:nvPr/>
        </p:nvSpPr>
        <p:spPr>
          <a:xfrm>
            <a:off x="5741518" y="2257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+11%</a:t>
            </a:r>
            <a:endParaRPr lang="en-US" sz="900" dirty="0"/>
          </a:p>
        </p:txBody>
      </p:sp>
      <p:sp>
        <p:nvSpPr>
          <p:cNvPr id="27" name="Shape 23"/>
          <p:cNvSpPr/>
          <p:nvPr/>
        </p:nvSpPr>
        <p:spPr>
          <a:xfrm>
            <a:off x="619049" y="2628900"/>
            <a:ext cx="6782105" cy="580644"/>
          </a:xfrm>
          <a:prstGeom prst="rect">
            <a:avLst/>
          </a:prstGeom>
          <a:solidFill>
            <a:srgbClr val="FFFFFF"/>
          </a:solidFill>
          <a:ln/>
        </p:spPr>
        <p:txBody>
          <a:bodyPr/>
          <a:lstStyle/>
          <a:p>
            <a:endParaRPr lang="en-US"/>
          </a:p>
        </p:txBody>
      </p:sp>
      <p:sp>
        <p:nvSpPr>
          <p:cNvPr id="28" name="Shape 24"/>
          <p:cNvSpPr/>
          <p:nvPr/>
        </p:nvSpPr>
        <p:spPr>
          <a:xfrm>
            <a:off x="619049" y="3200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9" name="Text 25"/>
          <p:cNvSpPr txBox="1"/>
          <p:nvPr/>
        </p:nvSpPr>
        <p:spPr>
          <a:xfrm>
            <a:off x="619049" y="2829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có tay nghề</a:t>
            </a:r>
            <a:endParaRPr lang="en-US" sz="900" dirty="0"/>
          </a:p>
        </p:txBody>
      </p:sp>
      <p:sp>
        <p:nvSpPr>
          <p:cNvPr id="30" name="Text 26"/>
          <p:cNvSpPr txBox="1"/>
          <p:nvPr/>
        </p:nvSpPr>
        <p:spPr>
          <a:xfrm>
            <a:off x="2421331"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23.0</a:t>
            </a:r>
            <a:endParaRPr lang="en-US" sz="900" dirty="0"/>
          </a:p>
        </p:txBody>
      </p:sp>
      <p:sp>
        <p:nvSpPr>
          <p:cNvPr id="31" name="Text 27"/>
          <p:cNvSpPr txBox="1"/>
          <p:nvPr/>
        </p:nvSpPr>
        <p:spPr>
          <a:xfrm>
            <a:off x="4081882"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22.0</a:t>
            </a:r>
            <a:endParaRPr lang="en-US" sz="900" dirty="0"/>
          </a:p>
        </p:txBody>
      </p:sp>
      <p:sp>
        <p:nvSpPr>
          <p:cNvPr id="32" name="Text 28"/>
          <p:cNvSpPr txBox="1"/>
          <p:nvPr/>
        </p:nvSpPr>
        <p:spPr>
          <a:xfrm>
            <a:off x="5741518" y="2829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+5%</a:t>
            </a:r>
            <a:endParaRPr lang="en-US" sz="900" dirty="0"/>
          </a:p>
        </p:txBody>
      </p:sp>
      <p:sp>
        <p:nvSpPr>
          <p:cNvPr id="33" name="Shape 29"/>
          <p:cNvSpPr/>
          <p:nvPr/>
        </p:nvSpPr>
        <p:spPr>
          <a:xfrm>
            <a:off x="619049" y="3200400"/>
            <a:ext cx="6782105" cy="580644"/>
          </a:xfrm>
          <a:prstGeom prst="rect">
            <a:avLst/>
          </a:prstGeom>
          <a:solidFill>
            <a:srgbClr val="F7FAFC"/>
          </a:solidFill>
          <a:ln/>
        </p:spPr>
        <p:txBody>
          <a:bodyPr/>
          <a:lstStyle/>
          <a:p>
            <a:endParaRPr lang="en-US"/>
          </a:p>
        </p:txBody>
      </p:sp>
      <p:sp>
        <p:nvSpPr>
          <p:cNvPr id="34" name="Shape 30"/>
          <p:cNvSpPr/>
          <p:nvPr/>
        </p:nvSpPr>
        <p:spPr>
          <a:xfrm>
            <a:off x="619049" y="3771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35" name="Text 31"/>
          <p:cNvSpPr txBox="1"/>
          <p:nvPr/>
        </p:nvSpPr>
        <p:spPr>
          <a:xfrm>
            <a:off x="619049" y="3400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kỹ thuật</a:t>
            </a:r>
            <a:endParaRPr lang="en-US" sz="900" dirty="0"/>
          </a:p>
        </p:txBody>
      </p:sp>
      <p:sp>
        <p:nvSpPr>
          <p:cNvPr id="36" name="Text 32"/>
          <p:cNvSpPr txBox="1"/>
          <p:nvPr/>
        </p:nvSpPr>
        <p:spPr>
          <a:xfrm>
            <a:off x="2421331"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25.0</a:t>
            </a:r>
            <a:endParaRPr lang="en-US" sz="900" dirty="0"/>
          </a:p>
        </p:txBody>
      </p:sp>
      <p:sp>
        <p:nvSpPr>
          <p:cNvPr id="37" name="Text 33"/>
          <p:cNvSpPr txBox="1"/>
          <p:nvPr/>
        </p:nvSpPr>
        <p:spPr>
          <a:xfrm>
            <a:off x="4081882"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24.0</a:t>
            </a:r>
            <a:endParaRPr lang="en-US" sz="900" dirty="0"/>
          </a:p>
        </p:txBody>
      </p:sp>
      <p:sp>
        <p:nvSpPr>
          <p:cNvPr id="38" name="Text 34"/>
          <p:cNvSpPr txBox="1"/>
          <p:nvPr/>
        </p:nvSpPr>
        <p:spPr>
          <a:xfrm>
            <a:off x="5741518" y="3400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39" name="Shape 35"/>
          <p:cNvSpPr/>
          <p:nvPr/>
        </p:nvSpPr>
        <p:spPr>
          <a:xfrm>
            <a:off x="619049" y="3771900"/>
            <a:ext cx="6782105" cy="580644"/>
          </a:xfrm>
          <a:prstGeom prst="rect">
            <a:avLst/>
          </a:prstGeom>
          <a:solidFill>
            <a:srgbClr val="FFFFFF"/>
          </a:solidFill>
          <a:ln/>
        </p:spPr>
        <p:txBody>
          <a:bodyPr/>
          <a:lstStyle/>
          <a:p>
            <a:endParaRPr lang="en-US"/>
          </a:p>
        </p:txBody>
      </p:sp>
      <p:sp>
        <p:nvSpPr>
          <p:cNvPr id="40" name="Shape 36"/>
          <p:cNvSpPr/>
          <p:nvPr/>
        </p:nvSpPr>
        <p:spPr>
          <a:xfrm>
            <a:off x="619049" y="4343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7"/>
          <p:cNvSpPr txBox="1"/>
          <p:nvPr/>
        </p:nvSpPr>
        <p:spPr>
          <a:xfrm>
            <a:off x="619049" y="3972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Tổ trưởng</a:t>
            </a:r>
            <a:endParaRPr lang="en-US" sz="900" dirty="0"/>
          </a:p>
        </p:txBody>
      </p:sp>
      <p:sp>
        <p:nvSpPr>
          <p:cNvPr id="42" name="Text 38"/>
          <p:cNvSpPr txBox="1"/>
          <p:nvPr/>
        </p:nvSpPr>
        <p:spPr>
          <a:xfrm>
            <a:off x="2421331"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27.0</a:t>
            </a:r>
            <a:endParaRPr lang="en-US" sz="900" dirty="0"/>
          </a:p>
        </p:txBody>
      </p:sp>
      <p:sp>
        <p:nvSpPr>
          <p:cNvPr id="43" name="Text 39"/>
          <p:cNvSpPr txBox="1"/>
          <p:nvPr/>
        </p:nvSpPr>
        <p:spPr>
          <a:xfrm>
            <a:off x="4081882"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26.0</a:t>
            </a:r>
            <a:endParaRPr lang="en-US" sz="900" dirty="0"/>
          </a:p>
        </p:txBody>
      </p:sp>
      <p:sp>
        <p:nvSpPr>
          <p:cNvPr id="44" name="Text 40"/>
          <p:cNvSpPr txBox="1"/>
          <p:nvPr/>
        </p:nvSpPr>
        <p:spPr>
          <a:xfrm>
            <a:off x="5741518" y="3972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45" name="Shape 41"/>
          <p:cNvSpPr/>
          <p:nvPr/>
        </p:nvSpPr>
        <p:spPr>
          <a:xfrm>
            <a:off x="619049" y="4343400"/>
            <a:ext cx="6782105" cy="580644"/>
          </a:xfrm>
          <a:prstGeom prst="rect">
            <a:avLst/>
          </a:prstGeom>
          <a:solidFill>
            <a:srgbClr val="F7FAFC"/>
          </a:solidFill>
          <a:ln/>
        </p:spPr>
        <p:txBody>
          <a:bodyPr/>
          <a:lstStyle/>
          <a:p>
            <a:endParaRPr lang="en-US"/>
          </a:p>
        </p:txBody>
      </p:sp>
      <p:sp>
        <p:nvSpPr>
          <p:cNvPr id="46" name="Shape 42"/>
          <p:cNvSpPr/>
          <p:nvPr/>
        </p:nvSpPr>
        <p:spPr>
          <a:xfrm>
            <a:off x="619049" y="4914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7" name="Text 43"/>
          <p:cNvSpPr txBox="1"/>
          <p:nvPr/>
        </p:nvSpPr>
        <p:spPr>
          <a:xfrm>
            <a:off x="619049" y="4543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Kỹ sư/Quản đốc</a:t>
            </a:r>
            <a:endParaRPr lang="en-US" sz="900" dirty="0"/>
          </a:p>
        </p:txBody>
      </p:sp>
      <p:sp>
        <p:nvSpPr>
          <p:cNvPr id="48" name="Text 44"/>
          <p:cNvSpPr txBox="1"/>
          <p:nvPr/>
        </p:nvSpPr>
        <p:spPr>
          <a:xfrm>
            <a:off x="2421331"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30.0</a:t>
            </a:r>
            <a:endParaRPr lang="en-US" sz="900" dirty="0"/>
          </a:p>
        </p:txBody>
      </p:sp>
      <p:sp>
        <p:nvSpPr>
          <p:cNvPr id="49" name="Text 45"/>
          <p:cNvSpPr txBox="1"/>
          <p:nvPr/>
        </p:nvSpPr>
        <p:spPr>
          <a:xfrm>
            <a:off x="4081882"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32.0</a:t>
            </a:r>
            <a:endParaRPr lang="en-US" sz="900" dirty="0"/>
          </a:p>
        </p:txBody>
      </p:sp>
      <p:sp>
        <p:nvSpPr>
          <p:cNvPr id="50" name="Text 46"/>
          <p:cNvSpPr txBox="1"/>
          <p:nvPr/>
        </p:nvSpPr>
        <p:spPr>
          <a:xfrm>
            <a:off x="5741518" y="45436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-6%</a:t>
            </a:r>
            <a:endParaRPr lang="en-US" sz="900" dirty="0"/>
          </a:p>
        </p:txBody>
      </p:sp>
      <p:sp>
        <p:nvSpPr>
          <p:cNvPr id="51" name="Shape 47"/>
          <p:cNvSpPr/>
          <p:nvPr/>
        </p:nvSpPr>
        <p:spPr>
          <a:xfrm>
            <a:off x="619049" y="4914900"/>
            <a:ext cx="6782105" cy="580644"/>
          </a:xfrm>
          <a:prstGeom prst="rect">
            <a:avLst/>
          </a:prstGeom>
          <a:solidFill>
            <a:srgbClr val="FFFFFF"/>
          </a:solidFill>
          <a:ln/>
        </p:spPr>
        <p:txBody>
          <a:bodyPr/>
          <a:lstStyle/>
          <a:p>
            <a:endParaRPr lang="en-US"/>
          </a:p>
        </p:txBody>
      </p:sp>
      <p:sp>
        <p:nvSpPr>
          <p:cNvPr id="52" name="Shape 48"/>
          <p:cNvSpPr/>
          <p:nvPr/>
        </p:nvSpPr>
        <p:spPr>
          <a:xfrm>
            <a:off x="619049" y="5486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3" name="Text 49"/>
          <p:cNvSpPr txBox="1"/>
          <p:nvPr/>
        </p:nvSpPr>
        <p:spPr>
          <a:xfrm>
            <a:off x="619049" y="5115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Ban quản lý</a:t>
            </a:r>
            <a:endParaRPr lang="en-US" sz="900" dirty="0"/>
          </a:p>
        </p:txBody>
      </p:sp>
      <p:sp>
        <p:nvSpPr>
          <p:cNvPr id="54" name="Text 50"/>
          <p:cNvSpPr txBox="1"/>
          <p:nvPr/>
        </p:nvSpPr>
        <p:spPr>
          <a:xfrm>
            <a:off x="2421331"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41.0</a:t>
            </a:r>
            <a:endParaRPr lang="en-US" sz="900" dirty="0"/>
          </a:p>
        </p:txBody>
      </p:sp>
      <p:sp>
        <p:nvSpPr>
          <p:cNvPr id="55" name="Text 51"/>
          <p:cNvSpPr txBox="1"/>
          <p:nvPr/>
        </p:nvSpPr>
        <p:spPr>
          <a:xfrm>
            <a:off x="4081882"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45.0</a:t>
            </a:r>
            <a:endParaRPr lang="en-US" sz="900" dirty="0"/>
          </a:p>
        </p:txBody>
      </p:sp>
      <p:sp>
        <p:nvSpPr>
          <p:cNvPr id="56" name="Text 52"/>
          <p:cNvSpPr txBox="1"/>
          <p:nvPr/>
        </p:nvSpPr>
        <p:spPr>
          <a:xfrm>
            <a:off x="5741518" y="51151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-9%</a:t>
            </a:r>
            <a:endParaRPr lang="en-US" sz="900" dirty="0"/>
          </a:p>
        </p:txBody>
      </p:sp>
      <p:sp>
        <p:nvSpPr>
          <p:cNvPr id="57" name="Text 53"/>
          <p:cNvSpPr txBox="1"/>
          <p:nvPr/>
        </p:nvSpPr>
        <p:spPr>
          <a:xfrm>
            <a:off x="761695" y="5524805"/>
            <a:ext cx="5667451"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 chi phí nhân công:</a:t>
            </a:r>
            <a:r>
              <a:rPr lang="en-US" sz="900" dirty="0">
                <a:solidFill>
                  <a:srgbClr val="4A5568"/>
                </a:solidFill>
                <a:latin typeface="Open Sans" pitchFamily="34" charset="0"/>
                <a:ea typeface="Open Sans" pitchFamily="34" charset="-122"/>
                <a:cs typeface="Open Sans" pitchFamily="34" charset="-120"/>
              </a:rPr>
              <a:t> 87.5 tỷ VND | </a:t>
            </a:r>
            <a:r>
              <a:rPr lang="en-US" sz="900" b="1" dirty="0">
                <a:solidFill>
                  <a:srgbClr val="4A5568"/>
                </a:solidFill>
                <a:latin typeface="Open Sans" pitchFamily="34" charset="0"/>
                <a:ea typeface="Open Sans" pitchFamily="34" charset="-122"/>
                <a:cs typeface="Open Sans" pitchFamily="34" charset="-120"/>
              </a:rPr>
              <a:t>Trung bình:</a:t>
            </a:r>
            <a:r>
              <a:rPr lang="en-US" sz="900" dirty="0">
                <a:solidFill>
                  <a:srgbClr val="4A5568"/>
                </a:solidFill>
                <a:latin typeface="Open Sans" pitchFamily="34" charset="0"/>
                <a:ea typeface="Open Sans" pitchFamily="34" charset="-122"/>
                <a:cs typeface="Open Sans" pitchFamily="34" charset="-120"/>
              </a:rPr>
              <a:t> 132 công nhân | </a:t>
            </a:r>
            <a:r>
              <a:rPr lang="en-US" sz="900" b="1" dirty="0">
                <a:solidFill>
                  <a:srgbClr val="4A5568"/>
                </a:solidFill>
                <a:latin typeface="Open Sans" pitchFamily="34" charset="0"/>
                <a:ea typeface="Open Sans" pitchFamily="34" charset="-122"/>
                <a:cs typeface="Open Sans" pitchFamily="34" charset="-120"/>
              </a:rPr>
              <a:t>Đỉnh cao:</a:t>
            </a:r>
            <a:r>
              <a:rPr lang="en-US" sz="900" dirty="0">
                <a:solidFill>
                  <a:srgbClr val="4A5568"/>
                </a:solidFill>
                <a:latin typeface="Open Sans" pitchFamily="34" charset="0"/>
                <a:ea typeface="Open Sans" pitchFamily="34" charset="-122"/>
                <a:cs typeface="Open Sans" pitchFamily="34" charset="-120"/>
              </a:rPr>
              <a:t> 165 công nhân </a:t>
            </a:r>
            <a:endParaRPr lang="en-US" sz="900" dirty="0"/>
          </a:p>
        </p:txBody>
      </p:sp>
      <p:sp>
        <p:nvSpPr>
          <p:cNvPr id="58" name="Shape 54"/>
          <p:cNvSpPr/>
          <p:nvPr/>
        </p:nvSpPr>
        <p:spPr>
          <a:xfrm>
            <a:off x="38130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59" name="Image 2" descr="preencoded.png"/>
          <p:cNvPicPr>
            <a:picLocks noChangeAspect="1"/>
          </p:cNvPicPr>
          <p:nvPr/>
        </p:nvPicPr>
        <p:blipFill>
          <a:blip r:embed="rId5"/>
          <a:srcRect t="-20060" b="-20060"/>
          <a:stretch/>
        </p:blipFill>
        <p:spPr>
          <a:xfrm>
            <a:off x="495605" y="286207"/>
            <a:ext cx="152705" cy="190195"/>
          </a:xfrm>
          <a:prstGeom prst="rect">
            <a:avLst/>
          </a:prstGeom>
        </p:spPr>
      </p:pic>
      <p:sp>
        <p:nvSpPr>
          <p:cNvPr id="60" name="Text 55"/>
          <p:cNvSpPr txBox="1"/>
          <p:nvPr/>
        </p:nvSpPr>
        <p:spPr>
          <a:xfrm>
            <a:off x="905256" y="190195"/>
            <a:ext cx="7620610" cy="372161"/>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ĐƠN GIÁ &amp; MỨC LƯƠNG NHÂN CÔNG</a:t>
            </a:r>
            <a:endParaRPr lang="en-US" sz="1800" dirty="0"/>
          </a:p>
        </p:txBody>
      </p:sp>
      <p:sp>
        <p:nvSpPr>
          <p:cNvPr id="61" name="Text 56"/>
          <p:cNvSpPr txBox="1"/>
          <p:nvPr/>
        </p:nvSpPr>
        <p:spPr>
          <a:xfrm>
            <a:off x="10754258" y="286207"/>
            <a:ext cx="127741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62" name="Image 3" descr="preencoded.png"/>
          <p:cNvPicPr>
            <a:picLocks noChangeAspect="1"/>
          </p:cNvPicPr>
          <p:nvPr/>
        </p:nvPicPr>
        <p:blipFill>
          <a:blip r:embed="rId6"/>
          <a:srcRect t="-5544" b="-5544"/>
          <a:stretch/>
        </p:blipFill>
        <p:spPr>
          <a:xfrm>
            <a:off x="10574122" y="309982"/>
            <a:ext cx="105156" cy="133502"/>
          </a:xfrm>
          <a:prstGeom prst="rect">
            <a:avLst/>
          </a:prstGeom>
        </p:spPr>
      </p:pic>
      <p:sp>
        <p:nvSpPr>
          <p:cNvPr id="63" name="Text 57"/>
          <p:cNvSpPr txBox="1"/>
          <p:nvPr/>
        </p:nvSpPr>
        <p:spPr>
          <a:xfrm>
            <a:off x="838505" y="1181405"/>
            <a:ext cx="6553505"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Bảng So Sánh Mức Lương ECC vs Thị Trường Hà Nội</a:t>
            </a:r>
            <a:endParaRPr lang="en-US" sz="1300" dirty="0"/>
          </a:p>
        </p:txBody>
      </p:sp>
      <p:pic>
        <p:nvPicPr>
          <p:cNvPr id="64" name="Image 4" descr="preencoded.png"/>
          <p:cNvPicPr>
            <a:picLocks noChangeAspect="1"/>
          </p:cNvPicPr>
          <p:nvPr/>
        </p:nvPicPr>
        <p:blipFill>
          <a:blip r:embed="rId7"/>
          <a:srcRect t="-14384" b="-14384"/>
          <a:stretch/>
        </p:blipFill>
        <p:spPr>
          <a:xfrm>
            <a:off x="609905" y="1200607"/>
            <a:ext cx="133502" cy="171907"/>
          </a:xfrm>
          <a:prstGeom prst="rect">
            <a:avLst/>
          </a:prstGeom>
        </p:spPr>
      </p:pic>
      <p:sp>
        <p:nvSpPr>
          <p:cNvPr id="65" name="Text 58"/>
          <p:cNvSpPr txBox="1"/>
          <p:nvPr/>
        </p:nvSpPr>
        <p:spPr>
          <a:xfrm>
            <a:off x="609905" y="5952744"/>
            <a:ext cx="6782105" cy="143561"/>
          </a:xfrm>
          <a:prstGeom prst="rect">
            <a:avLst/>
          </a:prstGeom>
          <a:noFill/>
          <a:ln/>
        </p:spPr>
        <p:txBody>
          <a:bodyPr wrap="square" lIns="0" tIns="0" rIns="0" bIns="0" rtlCol="0" anchor="ctr"/>
          <a:lstStyle/>
          <a:p>
            <a:pPr marL="0" indent="0" algn="ctr">
              <a:buNone/>
            </a:pPr>
            <a:r>
              <a:rPr lang="en-US" sz="900" i="1" dirty="0">
                <a:solidFill>
                  <a:srgbClr val="A0AEC0"/>
                </a:solidFill>
                <a:latin typeface="Open Sans" pitchFamily="34" charset="0"/>
                <a:ea typeface="Open Sans" pitchFamily="34" charset="-122"/>
                <a:cs typeface="Open Sans" pitchFamily="34" charset="-120"/>
              </a:rPr>
              <a:t>Nguồn: Tính toán từ định mức vật tư (BT: 63.940m3, Thép: 8.868T) và khảo sát thị trường Q1/2026</a:t>
            </a:r>
            <a:endParaRPr lang="en-US" sz="900" dirty="0"/>
          </a:p>
        </p:txBody>
      </p:sp>
      <p:sp>
        <p:nvSpPr>
          <p:cNvPr id="66" name="Text 59"/>
          <p:cNvSpPr txBox="1"/>
          <p:nvPr/>
        </p:nvSpPr>
        <p:spPr>
          <a:xfrm>
            <a:off x="8268005" y="1181405"/>
            <a:ext cx="33147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Nhận xét &amp; Đề xuất</a:t>
            </a:r>
            <a:endParaRPr lang="en-US" sz="1300" dirty="0"/>
          </a:p>
        </p:txBody>
      </p:sp>
      <p:pic>
        <p:nvPicPr>
          <p:cNvPr id="67" name="Image 5" descr="preencoded.png"/>
          <p:cNvPicPr>
            <a:picLocks noChangeAspect="1"/>
          </p:cNvPicPr>
          <p:nvPr/>
        </p:nvPicPr>
        <p:blipFill>
          <a:blip r:embed="rId8"/>
          <a:srcRect t="-14384" b="-14384"/>
          <a:stretch/>
        </p:blipFill>
        <p:spPr>
          <a:xfrm>
            <a:off x="8039405" y="1200607"/>
            <a:ext cx="133502" cy="171907"/>
          </a:xfrm>
          <a:prstGeom prst="rect">
            <a:avLst/>
          </a:prstGeom>
        </p:spPr>
      </p:pic>
      <p:sp>
        <p:nvSpPr>
          <p:cNvPr id="68" name="Text 60"/>
          <p:cNvSpPr txBox="1"/>
          <p:nvPr/>
        </p:nvSpPr>
        <p:spPr>
          <a:xfrm>
            <a:off x="8353044" y="1686154"/>
            <a:ext cx="3076956" cy="181051"/>
          </a:xfrm>
          <a:prstGeom prst="rect">
            <a:avLst/>
          </a:prstGeom>
          <a:noFill/>
          <a:ln/>
        </p:spPr>
        <p:txBody>
          <a:bodyPr wrap="square" lIns="0" tIns="0" rIns="0" bIns="0" rtlCol="0" anchor="ctr"/>
          <a:lstStyle/>
          <a:p>
            <a:pPr marL="0" indent="0" algn="l">
              <a:buNone/>
            </a:pPr>
            <a:r>
              <a:rPr lang="en-US" sz="1000" b="1" dirty="0">
                <a:solidFill>
                  <a:srgbClr val="2F855A"/>
                </a:solidFill>
                <a:latin typeface="Open Sans" pitchFamily="34" charset="0"/>
                <a:ea typeface="Open Sans" pitchFamily="34" charset="-122"/>
                <a:cs typeface="Open Sans" pitchFamily="34" charset="-120"/>
              </a:rPr>
              <a:t> Lợi thế thu hút công nhân</a:t>
            </a:r>
            <a:endParaRPr lang="en-US" sz="1000" dirty="0"/>
          </a:p>
        </p:txBody>
      </p:sp>
      <p:pic>
        <p:nvPicPr>
          <p:cNvPr id="69" name="Image 6" descr="preencoded.png"/>
          <p:cNvPicPr>
            <a:picLocks noChangeAspect="1"/>
          </p:cNvPicPr>
          <p:nvPr/>
        </p:nvPicPr>
        <p:blipFill>
          <a:blip r:embed="rId9"/>
          <a:srcRect l="-2512" r="-2512"/>
          <a:stretch/>
        </p:blipFill>
        <p:spPr>
          <a:xfrm>
            <a:off x="8191195" y="1709928"/>
            <a:ext cx="105156" cy="133502"/>
          </a:xfrm>
          <a:prstGeom prst="rect">
            <a:avLst/>
          </a:prstGeom>
        </p:spPr>
      </p:pic>
      <p:sp>
        <p:nvSpPr>
          <p:cNvPr id="70" name="Text 61"/>
          <p:cNvSpPr txBox="1"/>
          <p:nvPr/>
        </p:nvSpPr>
        <p:spPr>
          <a:xfrm>
            <a:off x="8191195" y="1923898"/>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nhóm công nhân thi công trực tiếp (phổ thông, tay nghề, kỹ thuật) </a:t>
            </a:r>
            <a:r>
              <a:rPr lang="en-US" sz="900" b="1" dirty="0">
                <a:solidFill>
                  <a:srgbClr val="4A5568"/>
                </a:solidFill>
                <a:latin typeface="Open Sans" pitchFamily="34" charset="0"/>
                <a:ea typeface="Open Sans" pitchFamily="34" charset="-122"/>
                <a:cs typeface="Open Sans" pitchFamily="34" charset="-120"/>
              </a:rPr>
              <a:t>cao hơn thị trường 4-11%</a:t>
            </a:r>
            <a:r>
              <a:rPr lang="en-US" sz="900" dirty="0">
                <a:solidFill>
                  <a:srgbClr val="4A5568"/>
                </a:solidFill>
                <a:latin typeface="Open Sans" pitchFamily="34" charset="0"/>
                <a:ea typeface="Open Sans" pitchFamily="34" charset="-122"/>
                <a:cs typeface="Open Sans" pitchFamily="34" charset="-120"/>
              </a:rPr>
              <a:t>. Điều này tạo lợi thế lớn để đảm bảo huy động đủ quân số (đỉnh 165 người) đúng tiến độ.</a:t>
            </a:r>
            <a:endParaRPr lang="en-US" sz="900" dirty="0"/>
          </a:p>
        </p:txBody>
      </p:sp>
      <p:sp>
        <p:nvSpPr>
          <p:cNvPr id="71" name="Text 62"/>
          <p:cNvSpPr txBox="1"/>
          <p:nvPr/>
        </p:nvSpPr>
        <p:spPr>
          <a:xfrm>
            <a:off x="8353044" y="3209544"/>
            <a:ext cx="3076956" cy="181051"/>
          </a:xfrm>
          <a:prstGeom prst="rect">
            <a:avLst/>
          </a:prstGeom>
          <a:noFill/>
          <a:ln/>
        </p:spPr>
        <p:txBody>
          <a:bodyPr wrap="square" lIns="0" tIns="0" rIns="0" bIns="0" rtlCol="0" anchor="ctr"/>
          <a:lstStyle/>
          <a:p>
            <a:pPr marL="0" indent="0" algn="l">
              <a:buNone/>
            </a:pPr>
            <a:r>
              <a:rPr lang="en-US" sz="1000" b="1" dirty="0">
                <a:solidFill>
                  <a:srgbClr val="C53030"/>
                </a:solidFill>
                <a:latin typeface="Open Sans" pitchFamily="34" charset="0"/>
                <a:ea typeface="Open Sans" pitchFamily="34" charset="-122"/>
                <a:cs typeface="Open Sans" pitchFamily="34" charset="-120"/>
              </a:rPr>
              <a:t> Rủi ro nhân sự quản lý</a:t>
            </a:r>
            <a:endParaRPr lang="en-US" sz="1000" dirty="0"/>
          </a:p>
        </p:txBody>
      </p:sp>
      <p:pic>
        <p:nvPicPr>
          <p:cNvPr id="72" name="Image 7" descr="preencoded.png"/>
          <p:cNvPicPr>
            <a:picLocks noChangeAspect="1"/>
          </p:cNvPicPr>
          <p:nvPr/>
        </p:nvPicPr>
        <p:blipFill>
          <a:blip r:embed="rId10"/>
          <a:srcRect t="-13478" b="-13478"/>
          <a:stretch/>
        </p:blipFill>
        <p:spPr>
          <a:xfrm>
            <a:off x="8191195" y="3233318"/>
            <a:ext cx="105156" cy="133502"/>
          </a:xfrm>
          <a:prstGeom prst="rect">
            <a:avLst/>
          </a:prstGeom>
        </p:spPr>
      </p:pic>
      <p:sp>
        <p:nvSpPr>
          <p:cNvPr id="73" name="Text 63"/>
          <p:cNvSpPr txBox="1"/>
          <p:nvPr/>
        </p:nvSpPr>
        <p:spPr>
          <a:xfrm>
            <a:off x="8191195" y="3448202"/>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Kỹ sư và Ban quản lý </a:t>
            </a:r>
            <a:r>
              <a:rPr lang="en-US" sz="900" b="1" dirty="0">
                <a:solidFill>
                  <a:srgbClr val="4A5568"/>
                </a:solidFill>
                <a:latin typeface="Open Sans" pitchFamily="34" charset="0"/>
                <a:ea typeface="Open Sans" pitchFamily="34" charset="-122"/>
                <a:cs typeface="Open Sans" pitchFamily="34" charset="-120"/>
              </a:rPr>
              <a:t>thấp hơn thị trường 6-9%</a:t>
            </a:r>
            <a:r>
              <a:rPr lang="en-US" sz="900" dirty="0">
                <a:solidFill>
                  <a:srgbClr val="4A5568"/>
                </a:solidFill>
                <a:latin typeface="Open Sans" pitchFamily="34" charset="0"/>
                <a:ea typeface="Open Sans" pitchFamily="34" charset="-122"/>
                <a:cs typeface="Open Sans" pitchFamily="34" charset="-120"/>
              </a:rPr>
              <a:t>. Cần khẩn trương ban hành chính sách thưởng theo KPI tiến độ &amp; chất lượng để tạo động lực và giữ chân nhân tài cốt lõi.</a:t>
            </a:r>
            <a:endParaRPr lang="en-US" sz="900" dirty="0"/>
          </a:p>
        </p:txBody>
      </p:sp>
      <p:sp>
        <p:nvSpPr>
          <p:cNvPr id="74" name="Text 64"/>
          <p:cNvSpPr txBox="1"/>
          <p:nvPr/>
        </p:nvSpPr>
        <p:spPr>
          <a:xfrm>
            <a:off x="8353044" y="4733849"/>
            <a:ext cx="3076956" cy="181051"/>
          </a:xfrm>
          <a:prstGeom prst="rect">
            <a:avLst/>
          </a:prstGeom>
          <a:noFill/>
          <a:ln/>
        </p:spPr>
        <p:txBody>
          <a:bodyPr wrap="square" lIns="0" tIns="0" rIns="0" bIns="0" rtlCol="0" anchor="ctr"/>
          <a:lstStyle/>
          <a:p>
            <a:pPr marL="0" indent="0" algn="l">
              <a:buNone/>
            </a:pPr>
            <a:r>
              <a:rPr lang="en-US" sz="1000" b="1" dirty="0">
                <a:solidFill>
                  <a:srgbClr val="DD6B20"/>
                </a:solidFill>
                <a:latin typeface="Open Sans" pitchFamily="34" charset="0"/>
                <a:ea typeface="Open Sans" pitchFamily="34" charset="-122"/>
                <a:cs typeface="Open Sans" pitchFamily="34" charset="-120"/>
              </a:rPr>
              <a:t> Tỷ trọng chi phí hợp lý</a:t>
            </a:r>
            <a:endParaRPr lang="en-US" sz="1000" dirty="0"/>
          </a:p>
        </p:txBody>
      </p:sp>
      <p:pic>
        <p:nvPicPr>
          <p:cNvPr id="75" name="Image 8" descr="preencoded.png"/>
          <p:cNvPicPr>
            <a:picLocks noChangeAspect="1"/>
          </p:cNvPicPr>
          <p:nvPr/>
        </p:nvPicPr>
        <p:blipFill>
          <a:blip r:embed="rId11"/>
          <a:srcRect t="-29348" b="-29348"/>
          <a:stretch/>
        </p:blipFill>
        <p:spPr>
          <a:xfrm>
            <a:off x="8191195" y="4757623"/>
            <a:ext cx="105156" cy="133502"/>
          </a:xfrm>
          <a:prstGeom prst="rect">
            <a:avLst/>
          </a:prstGeom>
        </p:spPr>
      </p:pic>
      <p:sp>
        <p:nvSpPr>
          <p:cNvPr id="76" name="Text 65"/>
          <p:cNvSpPr txBox="1"/>
          <p:nvPr/>
        </p:nvSpPr>
        <p:spPr>
          <a:xfrm>
            <a:off x="8191195" y="4972507"/>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Quỹ lương </a:t>
            </a:r>
            <a:r>
              <a:rPr lang="en-US" sz="900" b="1" dirty="0">
                <a:solidFill>
                  <a:srgbClr val="4A5568"/>
                </a:solidFill>
                <a:latin typeface="Open Sans" pitchFamily="34" charset="0"/>
                <a:ea typeface="Open Sans" pitchFamily="34" charset="-122"/>
                <a:cs typeface="Open Sans" pitchFamily="34" charset="-120"/>
              </a:rPr>
              <a:t>87.5 tỷ</a:t>
            </a:r>
            <a:r>
              <a:rPr lang="en-US" sz="900" dirty="0">
                <a:solidFill>
                  <a:srgbClr val="4A5568"/>
                </a:solidFill>
                <a:latin typeface="Open Sans" pitchFamily="34" charset="0"/>
                <a:ea typeface="Open Sans" pitchFamily="34" charset="-122"/>
                <a:cs typeface="Open Sans" pitchFamily="34" charset="-120"/>
              </a:rPr>
              <a:t> (trung bình 3.24 tỷ/tháng) chiếm </a:t>
            </a:r>
            <a:r>
              <a:rPr lang="en-US" sz="900" b="1" dirty="0">
                <a:solidFill>
                  <a:srgbClr val="4A5568"/>
                </a:solidFill>
                <a:latin typeface="Open Sans" pitchFamily="34" charset="0"/>
                <a:ea typeface="Open Sans" pitchFamily="34" charset="-122"/>
                <a:cs typeface="Open Sans" pitchFamily="34" charset="-120"/>
              </a:rPr>
              <a:t>~30%</a:t>
            </a:r>
            <a:r>
              <a:rPr lang="en-US" sz="900" dirty="0">
                <a:solidFill>
                  <a:srgbClr val="4A5568"/>
                </a:solidFill>
                <a:latin typeface="Open Sans" pitchFamily="34" charset="0"/>
                <a:ea typeface="Open Sans" pitchFamily="34" charset="-122"/>
                <a:cs typeface="Open Sans" pitchFamily="34" charset="-120"/>
              </a:rPr>
              <a:t> tổng chi phí thi công trực tiếp (288.9 tỷ). Đây là tỷ lệ kiểm soát an toàn và tối ưu cho mô hình công ty ECC tự thực hiện.</a:t>
            </a:r>
            <a:endParaRPr lang="en-US" sz="900" dirty="0"/>
          </a:p>
        </p:txBody>
      </p:sp>
      <p:sp>
        <p:nvSpPr>
          <p:cNvPr id="77" name="Text 66"/>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78" name="Image 9" descr="preencoded.png"/>
          <p:cNvPicPr>
            <a:picLocks noChangeAspect="1"/>
          </p:cNvPicPr>
          <p:nvPr/>
        </p:nvPicPr>
        <p:blipFill>
          <a:blip r:embed="rId12"/>
          <a:srcRect l="-1358" r="-1358"/>
          <a:stretch/>
        </p:blipFill>
        <p:spPr>
          <a:xfrm>
            <a:off x="381305" y="6614770"/>
            <a:ext cx="95098" cy="123444"/>
          </a:xfrm>
          <a:prstGeom prst="rect">
            <a:avLst/>
          </a:prstGeom>
        </p:spPr>
      </p:pic>
      <p:sp>
        <p:nvSpPr>
          <p:cNvPr id="79" name="Text 67"/>
          <p:cNvSpPr txBox="1"/>
          <p:nvPr/>
        </p:nvSpPr>
        <p:spPr>
          <a:xfrm>
            <a:off x="9905695" y="6590995"/>
            <a:ext cx="1905610" cy="2103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11/15</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7A81B">
              <a:alpha val="10000"/>
            </a:srgbClr>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4491" b="-4491"/>
          <a:stretch/>
        </p:blipFill>
        <p:spPr>
          <a:xfrm>
            <a:off x="495605" y="228600"/>
            <a:ext cx="152705" cy="190195"/>
          </a:xfrm>
          <a:prstGeom prst="rect">
            <a:avLst/>
          </a:prstGeom>
        </p:spPr>
      </p:pic>
      <p:sp>
        <p:nvSpPr>
          <p:cNvPr id="8" name="Text 5"/>
          <p:cNvSpPr txBox="1"/>
          <p:nvPr/>
        </p:nvSpPr>
        <p:spPr>
          <a:xfrm>
            <a:off x="905256" y="185623"/>
            <a:ext cx="436626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TIẾN ĐỘ TỔNG THỂ - NOXH YÊN SỞ</a:t>
            </a:r>
            <a:endParaRPr lang="en-US" sz="1800" dirty="0"/>
          </a:p>
        </p:txBody>
      </p:sp>
      <p:pic>
        <p:nvPicPr>
          <p:cNvPr id="9" name="Image 1" descr="preencoded.png"/>
          <p:cNvPicPr>
            <a:picLocks noChangeAspect="1"/>
          </p:cNvPicPr>
          <p:nvPr/>
        </p:nvPicPr>
        <p:blipFill>
          <a:blip r:embed="rId4"/>
          <a:srcRect t="-5544" b="-5544"/>
          <a:stretch/>
        </p:blipFill>
        <p:spPr>
          <a:xfrm>
            <a:off x="10459822"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sp>
        <p:nvSpPr>
          <p:cNvPr id="11" name="Shape 7"/>
          <p:cNvSpPr/>
          <p:nvPr/>
        </p:nvSpPr>
        <p:spPr>
          <a:xfrm>
            <a:off x="381305" y="857707"/>
            <a:ext cx="11430000" cy="5429707"/>
          </a:xfrm>
          <a:prstGeom prst="roundRect">
            <a:avLst>
              <a:gd name="adj" fmla="val 7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12" name="Image 2" descr="preencoded.png"/>
          <p:cNvPicPr>
            <a:picLocks noChangeAspect="1"/>
          </p:cNvPicPr>
          <p:nvPr/>
        </p:nvPicPr>
        <p:blipFill>
          <a:blip r:embed="rId5"/>
          <a:srcRect t="-20060" b="-20060"/>
          <a:stretch/>
        </p:blipFill>
        <p:spPr>
          <a:xfrm>
            <a:off x="771754" y="1281074"/>
            <a:ext cx="152705" cy="190195"/>
          </a:xfrm>
          <a:prstGeom prst="rect">
            <a:avLst/>
          </a:prstGeom>
        </p:spPr>
      </p:pic>
      <p:sp>
        <p:nvSpPr>
          <p:cNvPr id="13" name="Text 8"/>
          <p:cNvSpPr txBox="1"/>
          <p:nvPr/>
        </p:nvSpPr>
        <p:spPr>
          <a:xfrm>
            <a:off x="1037844" y="1248156"/>
            <a:ext cx="4386377" cy="257861"/>
          </a:xfrm>
          <a:prstGeom prst="rect">
            <a:avLst/>
          </a:prstGeom>
          <a:noFill/>
          <a:ln/>
        </p:spPr>
        <p:txBody>
          <a:bodyPr wrap="square" lIns="0" tIns="0" rIns="0" bIns="0" rtlCol="0" anchor="ctr"/>
          <a:lstStyle/>
          <a:p>
            <a:pPr marL="0" indent="0" algn="l">
              <a:buNone/>
            </a:pPr>
            <a:r>
              <a:rPr lang="en-US" sz="1600" b="1" dirty="0">
                <a:solidFill>
                  <a:srgbClr val="808080"/>
                </a:solidFill>
                <a:latin typeface="Montserrat" pitchFamily="34" charset="0"/>
                <a:ea typeface="Montserrat" pitchFamily="34" charset="-122"/>
                <a:cs typeface="Montserrat" pitchFamily="34" charset="-120"/>
              </a:rPr>
              <a:t>Timeline dự án - 3 giai đoạn chính</a:t>
            </a:r>
            <a:endParaRPr lang="en-US" sz="1600" dirty="0"/>
          </a:p>
        </p:txBody>
      </p:sp>
      <p:sp>
        <p:nvSpPr>
          <p:cNvPr id="14" name="Shape 9"/>
          <p:cNvSpPr/>
          <p:nvPr/>
        </p:nvSpPr>
        <p:spPr>
          <a:xfrm>
            <a:off x="771754" y="1790395"/>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5" name="Image 3" descr="preencoded.png"/>
          <p:cNvPicPr>
            <a:picLocks noChangeAspect="1"/>
          </p:cNvPicPr>
          <p:nvPr/>
        </p:nvPicPr>
        <p:blipFill>
          <a:blip r:embed="rId6"/>
          <a:srcRect l="-2512" r="-2512"/>
          <a:stretch/>
        </p:blipFill>
        <p:spPr>
          <a:xfrm>
            <a:off x="923544" y="1919326"/>
            <a:ext cx="105156" cy="133502"/>
          </a:xfrm>
          <a:prstGeom prst="rect">
            <a:avLst/>
          </a:prstGeom>
        </p:spPr>
      </p:pic>
      <p:sp>
        <p:nvSpPr>
          <p:cNvPr id="16" name="Text 10"/>
          <p:cNvSpPr txBox="1"/>
          <p:nvPr/>
        </p:nvSpPr>
        <p:spPr>
          <a:xfrm>
            <a:off x="1123798" y="1790395"/>
            <a:ext cx="7050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a:t>
            </a:r>
            <a:endParaRPr lang="en-US" sz="1000" dirty="0"/>
          </a:p>
        </p:txBody>
      </p:sp>
      <p:sp>
        <p:nvSpPr>
          <p:cNvPr id="17" name="Shape 11"/>
          <p:cNvSpPr/>
          <p:nvPr/>
        </p:nvSpPr>
        <p:spPr>
          <a:xfrm>
            <a:off x="2628900" y="1795882"/>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18" name="Shape 12"/>
          <p:cNvSpPr/>
          <p:nvPr/>
        </p:nvSpPr>
        <p:spPr>
          <a:xfrm>
            <a:off x="771754" y="2371954"/>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9" name="Image 4" descr="preencoded.png"/>
          <p:cNvPicPr>
            <a:picLocks noChangeAspect="1"/>
          </p:cNvPicPr>
          <p:nvPr/>
        </p:nvPicPr>
        <p:blipFill>
          <a:blip r:embed="rId6"/>
          <a:srcRect l="-2512" r="-2512"/>
          <a:stretch/>
        </p:blipFill>
        <p:spPr>
          <a:xfrm>
            <a:off x="923544" y="2499970"/>
            <a:ext cx="105156" cy="133502"/>
          </a:xfrm>
          <a:prstGeom prst="rect">
            <a:avLst/>
          </a:prstGeom>
        </p:spPr>
      </p:pic>
      <p:sp>
        <p:nvSpPr>
          <p:cNvPr id="20" name="Text 13"/>
          <p:cNvSpPr txBox="1"/>
          <p:nvPr/>
        </p:nvSpPr>
        <p:spPr>
          <a:xfrm>
            <a:off x="1123798" y="2371954"/>
            <a:ext cx="2478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a:t>
            </a:r>
            <a:endParaRPr lang="en-US" sz="1000" dirty="0"/>
          </a:p>
        </p:txBody>
      </p:sp>
      <p:sp>
        <p:nvSpPr>
          <p:cNvPr id="21" name="Shape 14"/>
          <p:cNvSpPr/>
          <p:nvPr/>
        </p:nvSpPr>
        <p:spPr>
          <a:xfrm>
            <a:off x="2628900" y="2376526"/>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2" name="Shape 15"/>
          <p:cNvSpPr/>
          <p:nvPr/>
        </p:nvSpPr>
        <p:spPr>
          <a:xfrm>
            <a:off x="771754" y="2952598"/>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23" name="Image 5" descr="preencoded.png"/>
          <p:cNvPicPr>
            <a:picLocks noChangeAspect="1"/>
          </p:cNvPicPr>
          <p:nvPr/>
        </p:nvPicPr>
        <p:blipFill>
          <a:blip r:embed="rId6"/>
          <a:srcRect l="-2512" r="-2512"/>
          <a:stretch/>
        </p:blipFill>
        <p:spPr>
          <a:xfrm>
            <a:off x="923544" y="3081528"/>
            <a:ext cx="105156" cy="133502"/>
          </a:xfrm>
          <a:prstGeom prst="rect">
            <a:avLst/>
          </a:prstGeom>
        </p:spPr>
      </p:pic>
      <p:sp>
        <p:nvSpPr>
          <p:cNvPr id="24" name="Text 16"/>
          <p:cNvSpPr txBox="1"/>
          <p:nvPr/>
        </p:nvSpPr>
        <p:spPr>
          <a:xfrm>
            <a:off x="1123798" y="2952598"/>
            <a:ext cx="267005"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a:t>
            </a:r>
            <a:endParaRPr lang="en-US" sz="1000" dirty="0"/>
          </a:p>
        </p:txBody>
      </p:sp>
      <p:sp>
        <p:nvSpPr>
          <p:cNvPr id="25" name="Shape 17"/>
          <p:cNvSpPr/>
          <p:nvPr/>
        </p:nvSpPr>
        <p:spPr>
          <a:xfrm>
            <a:off x="2628900" y="2957170"/>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6" name="Shape 18"/>
          <p:cNvSpPr/>
          <p:nvPr/>
        </p:nvSpPr>
        <p:spPr>
          <a:xfrm>
            <a:off x="771754" y="3681374"/>
            <a:ext cx="171907" cy="171907"/>
          </a:xfrm>
          <a:prstGeom prst="roundRect">
            <a:avLst>
              <a:gd name="adj" fmla="val 236407"/>
            </a:avLst>
          </a:prstGeom>
          <a:solidFill>
            <a:srgbClr val="F7A81B"/>
          </a:solidFill>
          <a:ln w="12700">
            <a:solidFill>
              <a:srgbClr val="FFFFFF">
                <a:alpha val="0"/>
              </a:srgbClr>
            </a:solidFill>
            <a:prstDash val="solid"/>
          </a:ln>
        </p:spPr>
        <p:txBody>
          <a:bodyPr/>
          <a:lstStyle/>
          <a:p>
            <a:endParaRPr lang="en-US"/>
          </a:p>
        </p:txBody>
      </p:sp>
      <p:sp>
        <p:nvSpPr>
          <p:cNvPr id="27" name="Text 19"/>
          <p:cNvSpPr txBox="1"/>
          <p:nvPr/>
        </p:nvSpPr>
        <p:spPr>
          <a:xfrm>
            <a:off x="1037844" y="3676802"/>
            <a:ext cx="161025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 - 24 tháng</a:t>
            </a:r>
            <a:endParaRPr lang="en-US" sz="1000" dirty="0"/>
          </a:p>
        </p:txBody>
      </p:sp>
      <p:sp>
        <p:nvSpPr>
          <p:cNvPr id="28" name="Shape 20"/>
          <p:cNvSpPr/>
          <p:nvPr/>
        </p:nvSpPr>
        <p:spPr>
          <a:xfrm>
            <a:off x="2674620" y="3681374"/>
            <a:ext cx="171907" cy="171907"/>
          </a:xfrm>
          <a:prstGeom prst="roundRect">
            <a:avLst>
              <a:gd name="adj" fmla="val 236407"/>
            </a:avLst>
          </a:prstGeom>
          <a:solidFill>
            <a:srgbClr val="808080"/>
          </a:solidFill>
          <a:ln w="12700">
            <a:solidFill>
              <a:srgbClr val="FFFFFF">
                <a:alpha val="0"/>
              </a:srgbClr>
            </a:solidFill>
            <a:prstDash val="solid"/>
          </a:ln>
        </p:spPr>
        <p:txBody>
          <a:bodyPr/>
          <a:lstStyle/>
          <a:p>
            <a:endParaRPr lang="en-US"/>
          </a:p>
        </p:txBody>
      </p:sp>
      <p:sp>
        <p:nvSpPr>
          <p:cNvPr id="29" name="Text 21"/>
          <p:cNvSpPr txBox="1"/>
          <p:nvPr/>
        </p:nvSpPr>
        <p:spPr>
          <a:xfrm>
            <a:off x="2940710" y="3676802"/>
            <a:ext cx="1294790"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CT1 - 24 tháng</a:t>
            </a:r>
            <a:endParaRPr lang="en-US" sz="1000" dirty="0"/>
          </a:p>
        </p:txBody>
      </p:sp>
      <p:sp>
        <p:nvSpPr>
          <p:cNvPr id="30" name="Shape 22"/>
          <p:cNvSpPr/>
          <p:nvPr/>
        </p:nvSpPr>
        <p:spPr>
          <a:xfrm>
            <a:off x="4135831" y="3681374"/>
            <a:ext cx="171907" cy="171907"/>
          </a:xfrm>
          <a:prstGeom prst="roundRect">
            <a:avLst>
              <a:gd name="adj" fmla="val 236407"/>
            </a:avLst>
          </a:prstGeom>
          <a:solidFill>
            <a:srgbClr val="A0AEC0"/>
          </a:solidFill>
          <a:ln w="12700">
            <a:solidFill>
              <a:srgbClr val="FFFFFF">
                <a:alpha val="0"/>
              </a:srgbClr>
            </a:solidFill>
            <a:prstDash val="solid"/>
          </a:ln>
        </p:spPr>
        <p:txBody>
          <a:bodyPr/>
          <a:lstStyle/>
          <a:p>
            <a:endParaRPr lang="en-US"/>
          </a:p>
        </p:txBody>
      </p:sp>
      <p:sp>
        <p:nvSpPr>
          <p:cNvPr id="31" name="Text 23"/>
          <p:cNvSpPr txBox="1"/>
          <p:nvPr/>
        </p:nvSpPr>
        <p:spPr>
          <a:xfrm>
            <a:off x="4402836" y="3676802"/>
            <a:ext cx="129753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N01 - 30 tháng</a:t>
            </a:r>
            <a:endParaRPr lang="en-US" sz="1000" dirty="0"/>
          </a:p>
        </p:txBody>
      </p:sp>
      <p:sp>
        <p:nvSpPr>
          <p:cNvPr id="32" name="Shape 24"/>
          <p:cNvSpPr/>
          <p:nvPr/>
        </p:nvSpPr>
        <p:spPr>
          <a:xfrm>
            <a:off x="5618074" y="3681374"/>
            <a:ext cx="171907" cy="171907"/>
          </a:xfrm>
          <a:prstGeom prst="roundRect">
            <a:avLst>
              <a:gd name="adj" fmla="val 236407"/>
            </a:avLst>
          </a:prstGeom>
          <a:solidFill>
            <a:srgbClr val="FFFFFF"/>
          </a:solidFill>
          <a:ln w="38100">
            <a:solidFill>
              <a:srgbClr val="808080"/>
            </a:solidFill>
            <a:prstDash val="solid"/>
          </a:ln>
        </p:spPr>
        <p:txBody>
          <a:bodyPr/>
          <a:lstStyle/>
          <a:p>
            <a:endParaRPr lang="en-US"/>
          </a:p>
        </p:txBody>
      </p:sp>
      <p:sp>
        <p:nvSpPr>
          <p:cNvPr id="33" name="Text 25"/>
          <p:cNvSpPr txBox="1"/>
          <p:nvPr/>
        </p:nvSpPr>
        <p:spPr>
          <a:xfrm>
            <a:off x="5885078" y="3676802"/>
            <a:ext cx="131216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Mốc quan trọng</a:t>
            </a:r>
            <a:endParaRPr lang="en-US" sz="1000" dirty="0"/>
          </a:p>
        </p:txBody>
      </p:sp>
      <p:pic>
        <p:nvPicPr>
          <p:cNvPr id="34" name="Image 6" descr="preencoded.png"/>
          <p:cNvPicPr>
            <a:picLocks noChangeAspect="1"/>
          </p:cNvPicPr>
          <p:nvPr/>
        </p:nvPicPr>
        <p:blipFill>
          <a:blip r:embed="rId7"/>
          <a:srcRect t="-11" b="-11"/>
          <a:stretch/>
        </p:blipFill>
        <p:spPr>
          <a:xfrm>
            <a:off x="771754" y="4375404"/>
            <a:ext cx="10649102" cy="1520647"/>
          </a:xfrm>
          <a:prstGeom prst="rect">
            <a:avLst/>
          </a:prstGeom>
        </p:spPr>
      </p:pic>
      <p:sp>
        <p:nvSpPr>
          <p:cNvPr id="35" name="Text 26"/>
          <p:cNvSpPr txBox="1"/>
          <p:nvPr/>
        </p:nvSpPr>
        <p:spPr>
          <a:xfrm>
            <a:off x="1238098" y="4614062"/>
            <a:ext cx="9945014"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 Thông tin tiến độ </a:t>
            </a:r>
            <a:endParaRPr lang="en-US" sz="1200" dirty="0"/>
          </a:p>
        </p:txBody>
      </p:sp>
      <p:pic>
        <p:nvPicPr>
          <p:cNvPr id="36" name="Image 7" descr="preencoded.png"/>
          <p:cNvPicPr>
            <a:picLocks noChangeAspect="1"/>
          </p:cNvPicPr>
          <p:nvPr/>
        </p:nvPicPr>
        <p:blipFill>
          <a:blip r:embed="rId8"/>
          <a:srcRect t="-16800" b="-16800"/>
          <a:stretch/>
        </p:blipFill>
        <p:spPr>
          <a:xfrm>
            <a:off x="1047902" y="4642409"/>
            <a:ext cx="114300" cy="152705"/>
          </a:xfrm>
          <a:prstGeom prst="rect">
            <a:avLst/>
          </a:prstGeom>
        </p:spPr>
      </p:pic>
      <p:sp>
        <p:nvSpPr>
          <p:cNvPr id="37" name="Text 27"/>
          <p:cNvSpPr txBox="1"/>
          <p:nvPr/>
        </p:nvSpPr>
        <p:spPr>
          <a:xfrm>
            <a:off x="1047902" y="4937760"/>
            <a:ext cx="10135210" cy="724205"/>
          </a:xfrm>
          <a:prstGeom prst="rect">
            <a:avLst/>
          </a:prstGeom>
          <a:noFill/>
          <a:ln/>
        </p:spPr>
        <p:txBody>
          <a:bodyPr wrap="square" lIns="0" tIns="0" rIns="0" bIns="0" rtlCol="0" anchor="ctr"/>
          <a:lstStyle/>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CT2:</a:t>
            </a:r>
            <a:r>
              <a:rPr lang="en-US" sz="1000" dirty="0">
                <a:solidFill>
                  <a:srgbClr val="4A5568"/>
                </a:solidFill>
                <a:latin typeface="Open Sans" pitchFamily="34" charset="0"/>
                <a:ea typeface="Open Sans" pitchFamily="34" charset="-122"/>
                <a:cs typeface="Open Sans" pitchFamily="34" charset="-120"/>
              </a:rPr>
              <a:t> Khởi công 06/2026, hầm </a:t>
            </a:r>
            <a:r>
              <a:rPr lang="en-US" sz="1000" dirty="0" err="1">
                <a:solidFill>
                  <a:srgbClr val="4A5568"/>
                </a:solidFill>
                <a:latin typeface="Open Sans" pitchFamily="34" charset="0"/>
                <a:ea typeface="Open Sans" pitchFamily="34" charset="-122"/>
                <a:cs typeface="Open Sans" pitchFamily="34" charset="-120"/>
              </a:rPr>
              <a:t>xong</a:t>
            </a:r>
            <a:r>
              <a:rPr lang="en-US" sz="1000" dirty="0">
                <a:solidFill>
                  <a:srgbClr val="4A5568"/>
                </a:solidFill>
                <a:latin typeface="Open Sans" pitchFamily="34" charset="0"/>
                <a:ea typeface="Open Sans" pitchFamily="34" charset="-122"/>
                <a:cs typeface="Open Sans" pitchFamily="34" charset="-120"/>
              </a:rPr>
              <a:t> 06/2027,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06/2028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CT1:</a:t>
            </a:r>
            <a:r>
              <a:rPr lang="en-US" sz="1000" dirty="0">
                <a:solidFill>
                  <a:srgbClr val="4A5568"/>
                </a:solidFill>
                <a:latin typeface="Open Sans" pitchFamily="34" charset="0"/>
                <a:ea typeface="Open Sans" pitchFamily="34" charset="-122"/>
                <a:cs typeface="Open Sans" pitchFamily="34" charset="-120"/>
              </a:rPr>
              <a:t> Khởi </a:t>
            </a:r>
            <a:r>
              <a:rPr lang="en-US" sz="1000" dirty="0" err="1">
                <a:solidFill>
                  <a:srgbClr val="4A5568"/>
                </a:solidFill>
                <a:latin typeface="Open Sans" pitchFamily="34" charset="0"/>
                <a:ea typeface="Open Sans" pitchFamily="34" charset="-122"/>
                <a:cs typeface="Open Sans" pitchFamily="34" charset="-120"/>
              </a:rPr>
              <a:t>công</a:t>
            </a:r>
            <a:r>
              <a:rPr lang="en-US" sz="1000" dirty="0">
                <a:solidFill>
                  <a:srgbClr val="4A5568"/>
                </a:solidFill>
                <a:latin typeface="Open Sans" pitchFamily="34" charset="0"/>
                <a:ea typeface="Open Sans" pitchFamily="34" charset="-122"/>
                <a:cs typeface="Open Sans" pitchFamily="34" charset="-120"/>
              </a:rPr>
              <a:t> 09/2027, hầm xong 09/2027,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03/2028,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08/2028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N01:</a:t>
            </a:r>
            <a:r>
              <a:rPr lang="en-US" sz="1000" dirty="0">
                <a:solidFill>
                  <a:srgbClr val="4A5568"/>
                </a:solidFill>
                <a:latin typeface="Open Sans" pitchFamily="34" charset="0"/>
                <a:ea typeface="Open Sans" pitchFamily="34" charset="-122"/>
                <a:cs typeface="Open Sans" pitchFamily="34" charset="-120"/>
              </a:rPr>
              <a:t> Khởi công 11/2026, hầm xong 01/2028,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11/2028,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05/2029</a:t>
            </a:r>
            <a:endParaRPr lang="en-US" sz="1000" dirty="0"/>
          </a:p>
        </p:txBody>
      </p:sp>
      <p:sp>
        <p:nvSpPr>
          <p:cNvPr id="38" name="Shape 28"/>
          <p:cNvSpPr/>
          <p:nvPr/>
        </p:nvSpPr>
        <p:spPr>
          <a:xfrm>
            <a:off x="381305" y="6381598"/>
            <a:ext cx="11430000" cy="9144"/>
          </a:xfrm>
          <a:prstGeom prst="rect">
            <a:avLst/>
          </a:prstGeom>
          <a:solidFill>
            <a:srgbClr val="E2E8F0"/>
          </a:solidFill>
          <a:ln w="12700">
            <a:solidFill>
              <a:srgbClr val="E2E8F0">
                <a:alpha val="0"/>
              </a:srgbClr>
            </a:solidFill>
            <a:prstDash val="solid"/>
          </a:ln>
        </p:spPr>
        <p:txBody>
          <a:bodyPr/>
          <a:lstStyle/>
          <a:p>
            <a:endParaRPr lang="en-US"/>
          </a:p>
        </p:txBody>
      </p:sp>
      <p:pic>
        <p:nvPicPr>
          <p:cNvPr id="39" name="Image 8" descr="preencoded.png"/>
          <p:cNvPicPr>
            <a:picLocks noChangeAspect="1"/>
          </p:cNvPicPr>
          <p:nvPr/>
        </p:nvPicPr>
        <p:blipFill>
          <a:blip r:embed="rId9"/>
          <a:srcRect l="-1358" r="-1358"/>
          <a:stretch/>
        </p:blipFill>
        <p:spPr>
          <a:xfrm>
            <a:off x="381305" y="6515100"/>
            <a:ext cx="95098" cy="123444"/>
          </a:xfrm>
          <a:prstGeom prst="rect">
            <a:avLst/>
          </a:prstGeom>
        </p:spPr>
      </p:pic>
      <p:sp>
        <p:nvSpPr>
          <p:cNvPr id="40" name="Text 29"/>
          <p:cNvSpPr txBox="1"/>
          <p:nvPr/>
        </p:nvSpPr>
        <p:spPr>
          <a:xfrm>
            <a:off x="571500" y="6491326"/>
            <a:ext cx="23810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41" name="Text 30"/>
          <p:cNvSpPr txBox="1"/>
          <p:nvPr/>
        </p:nvSpPr>
        <p:spPr>
          <a:xfrm>
            <a:off x="9802368" y="6491326"/>
            <a:ext cx="83759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9/12</a:t>
            </a:r>
            <a:endParaRPr lang="en-US" sz="900" dirty="0"/>
          </a:p>
        </p:txBody>
      </p:sp>
      <p:sp>
        <p:nvSpPr>
          <p:cNvPr id="42" name="Shape 31"/>
          <p:cNvSpPr/>
          <p:nvPr/>
        </p:nvSpPr>
        <p:spPr>
          <a:xfrm>
            <a:off x="10613441" y="6448349"/>
            <a:ext cx="1200607" cy="256946"/>
          </a:xfrm>
          <a:prstGeom prst="roundRect">
            <a:avLst>
              <a:gd name="adj" fmla="val 355872"/>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2"/>
          <p:cNvSpPr/>
          <p:nvPr/>
        </p:nvSpPr>
        <p:spPr>
          <a:xfrm>
            <a:off x="10613441" y="6448349"/>
            <a:ext cx="1200607" cy="257861"/>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marL="0" indent="0" algn="ctr">
              <a:buNone/>
            </a:pPr>
            <a:r>
              <a:rPr lang="en-US" sz="800" b="1" kern="0" spc="38" dirty="0">
                <a:solidFill>
                  <a:srgbClr val="F7A81B"/>
                </a:solidFill>
                <a:latin typeface="Open Sans" pitchFamily="34" charset="0"/>
                <a:ea typeface="Open Sans" pitchFamily="34" charset="-122"/>
                <a:cs typeface="Open Sans" pitchFamily="34" charset="-120"/>
              </a:rPr>
              <a:t>Đang cập nhật</a:t>
            </a:r>
            <a:endParaRPr lang="en-US" sz="800" dirty="0"/>
          </a:p>
        </p:txBody>
      </p:sp>
      <p:sp>
        <p:nvSpPr>
          <p:cNvPr id="44" name="Shape 33"/>
          <p:cNvSpPr/>
          <p:nvPr/>
        </p:nvSpPr>
        <p:spPr>
          <a:xfrm>
            <a:off x="2638044" y="1805026"/>
            <a:ext cx="3076956" cy="362102"/>
          </a:xfrm>
          <a:prstGeom prst="roundRect">
            <a:avLst>
              <a:gd name="adj" fmla="val 79745"/>
            </a:avLst>
          </a:prstGeom>
          <a:solidFill>
            <a:srgbClr val="F7A81B"/>
          </a:solidFill>
          <a:ln w="12700">
            <a:solidFill>
              <a:srgbClr val="FFFFFF">
                <a:alpha val="0"/>
              </a:srgbClr>
            </a:solidFill>
            <a:prstDash val="solid"/>
          </a:ln>
        </p:spPr>
        <p:txBody>
          <a:bodyPr/>
          <a:lstStyle/>
          <a:p>
            <a:endParaRPr lang="en-US"/>
          </a:p>
        </p:txBody>
      </p:sp>
      <p:sp>
        <p:nvSpPr>
          <p:cNvPr id="45" name="Text 34"/>
          <p:cNvSpPr txBox="1"/>
          <p:nvPr/>
        </p:nvSpPr>
        <p:spPr>
          <a:xfrm>
            <a:off x="4021379" y="1900123"/>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06/26 - 06/28</a:t>
            </a:r>
            <a:endParaRPr lang="en-US" sz="900" dirty="0"/>
          </a:p>
        </p:txBody>
      </p:sp>
      <p:sp>
        <p:nvSpPr>
          <p:cNvPr id="46" name="Shape 35"/>
          <p:cNvSpPr/>
          <p:nvPr/>
        </p:nvSpPr>
        <p:spPr>
          <a:xfrm>
            <a:off x="3101340" y="2385670"/>
            <a:ext cx="2877160" cy="362102"/>
          </a:xfrm>
          <a:prstGeom prst="roundRect">
            <a:avLst>
              <a:gd name="adj" fmla="val 79745"/>
            </a:avLst>
          </a:prstGeom>
          <a:solidFill>
            <a:srgbClr val="808080"/>
          </a:solidFill>
          <a:ln w="12700">
            <a:solidFill>
              <a:srgbClr val="FFFFFF">
                <a:alpha val="0"/>
              </a:srgbClr>
            </a:solidFill>
            <a:prstDash val="solid"/>
          </a:ln>
        </p:spPr>
        <p:txBody>
          <a:bodyPr/>
          <a:lstStyle/>
          <a:p>
            <a:endParaRPr lang="en-US"/>
          </a:p>
        </p:txBody>
      </p:sp>
      <p:sp>
        <p:nvSpPr>
          <p:cNvPr id="47" name="Text 36"/>
          <p:cNvSpPr txBox="1"/>
          <p:nvPr/>
        </p:nvSpPr>
        <p:spPr>
          <a:xfrm>
            <a:off x="4408017" y="2488997"/>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09/26 - 08/28</a:t>
            </a:r>
            <a:endParaRPr lang="en-US" sz="900" dirty="0"/>
          </a:p>
        </p:txBody>
      </p:sp>
      <p:sp>
        <p:nvSpPr>
          <p:cNvPr id="48" name="Shape 37"/>
          <p:cNvSpPr/>
          <p:nvPr/>
        </p:nvSpPr>
        <p:spPr>
          <a:xfrm>
            <a:off x="3524250" y="2967228"/>
            <a:ext cx="3067660" cy="362102"/>
          </a:xfrm>
          <a:prstGeom prst="roundRect">
            <a:avLst>
              <a:gd name="adj" fmla="val 79745"/>
            </a:avLst>
          </a:prstGeom>
          <a:solidFill>
            <a:srgbClr val="A0AEC0"/>
          </a:solidFill>
          <a:ln w="12700">
            <a:solidFill>
              <a:srgbClr val="FFFFFF">
                <a:alpha val="0"/>
              </a:srgbClr>
            </a:solidFill>
            <a:prstDash val="solid"/>
          </a:ln>
        </p:spPr>
        <p:txBody>
          <a:bodyPr/>
          <a:lstStyle/>
          <a:p>
            <a:endParaRPr lang="en-US"/>
          </a:p>
        </p:txBody>
      </p:sp>
      <p:sp>
        <p:nvSpPr>
          <p:cNvPr id="49" name="Text 38"/>
          <p:cNvSpPr txBox="1"/>
          <p:nvPr/>
        </p:nvSpPr>
        <p:spPr>
          <a:xfrm>
            <a:off x="4776064" y="3058516"/>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11/26 - 05/29</a:t>
            </a:r>
            <a:endParaRPr lang="en-US" sz="900" dirty="0"/>
          </a:p>
        </p:txBody>
      </p:sp>
      <p:pic>
        <p:nvPicPr>
          <p:cNvPr id="50" name="Image 9" descr="preencoded.png"/>
          <p:cNvPicPr>
            <a:picLocks noChangeAspect="1"/>
          </p:cNvPicPr>
          <p:nvPr/>
        </p:nvPicPr>
        <p:blipFill>
          <a:blip r:embed="rId10"/>
          <a:srcRect/>
          <a:stretch/>
        </p:blipFill>
        <p:spPr>
          <a:xfrm>
            <a:off x="3887114" y="1919326"/>
            <a:ext cx="133502" cy="133502"/>
          </a:xfrm>
          <a:prstGeom prst="rect">
            <a:avLst/>
          </a:prstGeom>
        </p:spPr>
      </p:pic>
      <p:pic>
        <p:nvPicPr>
          <p:cNvPr id="51" name="Image 10" descr="preencoded.png"/>
          <p:cNvPicPr>
            <a:picLocks noChangeAspect="1"/>
          </p:cNvPicPr>
          <p:nvPr/>
        </p:nvPicPr>
        <p:blipFill>
          <a:blip r:embed="rId10"/>
          <a:srcRect/>
          <a:stretch/>
        </p:blipFill>
        <p:spPr>
          <a:xfrm>
            <a:off x="4764938" y="1919326"/>
            <a:ext cx="133502" cy="133502"/>
          </a:xfrm>
          <a:prstGeom prst="rect">
            <a:avLst/>
          </a:prstGeom>
        </p:spPr>
      </p:pic>
      <p:pic>
        <p:nvPicPr>
          <p:cNvPr id="52" name="Image 11" descr="preencoded.png"/>
          <p:cNvPicPr>
            <a:picLocks noChangeAspect="1"/>
          </p:cNvPicPr>
          <p:nvPr/>
        </p:nvPicPr>
        <p:blipFill>
          <a:blip r:embed="rId10"/>
          <a:srcRect/>
          <a:stretch/>
        </p:blipFill>
        <p:spPr>
          <a:xfrm>
            <a:off x="5641848" y="1919326"/>
            <a:ext cx="133502" cy="133502"/>
          </a:xfrm>
          <a:prstGeom prst="rect">
            <a:avLst/>
          </a:prstGeom>
        </p:spPr>
      </p:pic>
      <p:pic>
        <p:nvPicPr>
          <p:cNvPr id="53" name="Image 12" descr="preencoded.png"/>
          <p:cNvPicPr>
            <a:picLocks noChangeAspect="1"/>
          </p:cNvPicPr>
          <p:nvPr/>
        </p:nvPicPr>
        <p:blipFill>
          <a:blip r:embed="rId10"/>
          <a:srcRect/>
          <a:stretch/>
        </p:blipFill>
        <p:spPr>
          <a:xfrm>
            <a:off x="4265066" y="2499970"/>
            <a:ext cx="133502" cy="133502"/>
          </a:xfrm>
          <a:prstGeom prst="rect">
            <a:avLst/>
          </a:prstGeom>
        </p:spPr>
      </p:pic>
      <p:pic>
        <p:nvPicPr>
          <p:cNvPr id="54" name="Image 13" descr="preencoded.png"/>
          <p:cNvPicPr>
            <a:picLocks noChangeAspect="1"/>
          </p:cNvPicPr>
          <p:nvPr/>
        </p:nvPicPr>
        <p:blipFill>
          <a:blip r:embed="rId10"/>
          <a:srcRect/>
          <a:stretch/>
        </p:blipFill>
        <p:spPr>
          <a:xfrm>
            <a:off x="5116220" y="2499970"/>
            <a:ext cx="133502" cy="133502"/>
          </a:xfrm>
          <a:prstGeom prst="rect">
            <a:avLst/>
          </a:prstGeom>
        </p:spPr>
      </p:pic>
      <p:pic>
        <p:nvPicPr>
          <p:cNvPr id="55" name="Image 14" descr="preencoded.png"/>
          <p:cNvPicPr>
            <a:picLocks noChangeAspect="1"/>
          </p:cNvPicPr>
          <p:nvPr/>
        </p:nvPicPr>
        <p:blipFill>
          <a:blip r:embed="rId10"/>
          <a:srcRect/>
          <a:stretch/>
        </p:blipFill>
        <p:spPr>
          <a:xfrm>
            <a:off x="5901690" y="2499970"/>
            <a:ext cx="133502" cy="133502"/>
          </a:xfrm>
          <a:prstGeom prst="rect">
            <a:avLst/>
          </a:prstGeom>
        </p:spPr>
      </p:pic>
      <p:pic>
        <p:nvPicPr>
          <p:cNvPr id="56" name="Image 15" descr="preencoded.png"/>
          <p:cNvPicPr>
            <a:picLocks noChangeAspect="1"/>
          </p:cNvPicPr>
          <p:nvPr/>
        </p:nvPicPr>
        <p:blipFill>
          <a:blip r:embed="rId10"/>
          <a:srcRect/>
          <a:stretch/>
        </p:blipFill>
        <p:spPr>
          <a:xfrm>
            <a:off x="4639208" y="3081528"/>
            <a:ext cx="133502" cy="133502"/>
          </a:xfrm>
          <a:prstGeom prst="rect">
            <a:avLst/>
          </a:prstGeom>
        </p:spPr>
      </p:pic>
      <p:pic>
        <p:nvPicPr>
          <p:cNvPr id="57" name="Image 16" descr="preencoded.png"/>
          <p:cNvPicPr>
            <a:picLocks noChangeAspect="1"/>
          </p:cNvPicPr>
          <p:nvPr/>
        </p:nvPicPr>
        <p:blipFill>
          <a:blip r:embed="rId10"/>
          <a:srcRect/>
          <a:stretch/>
        </p:blipFill>
        <p:spPr>
          <a:xfrm>
            <a:off x="6519672" y="3081528"/>
            <a:ext cx="133502" cy="133502"/>
          </a:xfrm>
          <a:prstGeom prst="rect">
            <a:avLst/>
          </a:prstGeom>
        </p:spPr>
      </p:pic>
      <p:pic>
        <p:nvPicPr>
          <p:cNvPr id="58" name="Image 15" descr="preencoded.png">
            <a:extLst>
              <a:ext uri="{FF2B5EF4-FFF2-40B4-BE49-F238E27FC236}">
                <a16:creationId xmlns:a16="http://schemas.microsoft.com/office/drawing/2014/main" id="{CE2A102B-A75E-D5B1-69D2-4C0507DDA4B0}"/>
              </a:ext>
            </a:extLst>
          </p:cNvPr>
          <p:cNvPicPr>
            <a:picLocks noChangeAspect="1"/>
          </p:cNvPicPr>
          <p:nvPr/>
        </p:nvPicPr>
        <p:blipFill>
          <a:blip r:embed="rId10"/>
          <a:srcRect/>
          <a:stretch/>
        </p:blipFill>
        <p:spPr>
          <a:xfrm>
            <a:off x="5496458" y="3081528"/>
            <a:ext cx="133502" cy="1335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5" name="Shape 3"/>
          <p:cNvSpPr/>
          <p:nvPr/>
        </p:nvSpPr>
        <p:spPr>
          <a:xfrm>
            <a:off x="0" y="0"/>
            <a:ext cx="12191695" cy="685800"/>
          </a:xfrm>
          <a:prstGeom prst="rect">
            <a:avLst/>
          </a:prstGeom>
          <a:solidFill>
            <a:srgbClr val="F8F9FA"/>
          </a:solidFill>
          <a:ln/>
        </p:spPr>
        <p:txBody>
          <a:bodyPr/>
          <a:lstStyle/>
          <a:p>
            <a:endParaRPr lang="en-US"/>
          </a:p>
        </p:txBody>
      </p:sp>
      <p:sp>
        <p:nvSpPr>
          <p:cNvPr id="6" name="Shape 4"/>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7" name="Shape 5"/>
          <p:cNvSpPr/>
          <p:nvPr/>
        </p:nvSpPr>
        <p:spPr>
          <a:xfrm>
            <a:off x="381305" y="857707"/>
            <a:ext cx="11449202"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09905" y="1571854"/>
            <a:ext cx="5419649" cy="1000354"/>
          </a:xfrm>
          <a:prstGeom prst="roundRect">
            <a:avLst>
              <a:gd name="adj" fmla="val 17411"/>
            </a:avLst>
          </a:prstGeom>
          <a:solidFill>
            <a:srgbClr val="FDFBF7"/>
          </a:solidFill>
          <a:ln/>
        </p:spPr>
        <p:txBody>
          <a:bodyPr/>
          <a:lstStyle/>
          <a:p>
            <a:endParaRPr lang="en-US"/>
          </a:p>
        </p:txBody>
      </p:sp>
      <p:sp>
        <p:nvSpPr>
          <p:cNvPr id="9" name="Shape 7"/>
          <p:cNvSpPr/>
          <p:nvPr/>
        </p:nvSpPr>
        <p:spPr>
          <a:xfrm>
            <a:off x="609905"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0" name="Shape 8"/>
          <p:cNvSpPr/>
          <p:nvPr/>
        </p:nvSpPr>
        <p:spPr>
          <a:xfrm>
            <a:off x="609905" y="2714854"/>
            <a:ext cx="5419649" cy="1000354"/>
          </a:xfrm>
          <a:prstGeom prst="roundRect">
            <a:avLst>
              <a:gd name="adj" fmla="val 17411"/>
            </a:avLst>
          </a:prstGeom>
          <a:solidFill>
            <a:srgbClr val="FDFBF7"/>
          </a:solidFill>
          <a:ln/>
        </p:spPr>
        <p:txBody>
          <a:bodyPr/>
          <a:lstStyle/>
          <a:p>
            <a:endParaRPr lang="en-US"/>
          </a:p>
        </p:txBody>
      </p:sp>
      <p:sp>
        <p:nvSpPr>
          <p:cNvPr id="11" name="Shape 9"/>
          <p:cNvSpPr/>
          <p:nvPr/>
        </p:nvSpPr>
        <p:spPr>
          <a:xfrm>
            <a:off x="609905"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2" name="Shape 10"/>
          <p:cNvSpPr/>
          <p:nvPr/>
        </p:nvSpPr>
        <p:spPr>
          <a:xfrm>
            <a:off x="609905" y="3857854"/>
            <a:ext cx="5419649" cy="1000354"/>
          </a:xfrm>
          <a:prstGeom prst="roundRect">
            <a:avLst>
              <a:gd name="adj" fmla="val 17411"/>
            </a:avLst>
          </a:prstGeom>
          <a:solidFill>
            <a:srgbClr val="F8F9FA"/>
          </a:solidFill>
          <a:ln/>
        </p:spPr>
        <p:txBody>
          <a:bodyPr/>
          <a:lstStyle/>
          <a:p>
            <a:endParaRPr lang="en-US"/>
          </a:p>
        </p:txBody>
      </p:sp>
      <p:sp>
        <p:nvSpPr>
          <p:cNvPr id="13" name="Shape 11"/>
          <p:cNvSpPr/>
          <p:nvPr/>
        </p:nvSpPr>
        <p:spPr>
          <a:xfrm>
            <a:off x="609905"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4" name="Shape 12"/>
          <p:cNvSpPr/>
          <p:nvPr/>
        </p:nvSpPr>
        <p:spPr>
          <a:xfrm>
            <a:off x="609905" y="5000854"/>
            <a:ext cx="5419649" cy="1000354"/>
          </a:xfrm>
          <a:prstGeom prst="roundRect">
            <a:avLst>
              <a:gd name="adj" fmla="val 17411"/>
            </a:avLst>
          </a:prstGeom>
          <a:solidFill>
            <a:srgbClr val="F8F9FA"/>
          </a:solidFill>
          <a:ln/>
        </p:spPr>
        <p:txBody>
          <a:bodyPr/>
          <a:lstStyle/>
          <a:p>
            <a:endParaRPr lang="en-US"/>
          </a:p>
        </p:txBody>
      </p:sp>
      <p:sp>
        <p:nvSpPr>
          <p:cNvPr id="15" name="Shape 13"/>
          <p:cNvSpPr/>
          <p:nvPr/>
        </p:nvSpPr>
        <p:spPr>
          <a:xfrm>
            <a:off x="609905" y="5000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6" name="Shape 14"/>
          <p:cNvSpPr/>
          <p:nvPr/>
        </p:nvSpPr>
        <p:spPr>
          <a:xfrm>
            <a:off x="6200546" y="1571854"/>
            <a:ext cx="5419649" cy="1000354"/>
          </a:xfrm>
          <a:prstGeom prst="roundRect">
            <a:avLst>
              <a:gd name="adj" fmla="val 17411"/>
            </a:avLst>
          </a:prstGeom>
          <a:solidFill>
            <a:srgbClr val="FDFBF7"/>
          </a:solidFill>
          <a:ln/>
        </p:spPr>
        <p:txBody>
          <a:bodyPr/>
          <a:lstStyle/>
          <a:p>
            <a:endParaRPr lang="en-US"/>
          </a:p>
        </p:txBody>
      </p:sp>
      <p:sp>
        <p:nvSpPr>
          <p:cNvPr id="17" name="Shape 15"/>
          <p:cNvSpPr/>
          <p:nvPr/>
        </p:nvSpPr>
        <p:spPr>
          <a:xfrm>
            <a:off x="6200546"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8" name="Shape 16"/>
          <p:cNvSpPr/>
          <p:nvPr/>
        </p:nvSpPr>
        <p:spPr>
          <a:xfrm>
            <a:off x="6200546" y="2714854"/>
            <a:ext cx="5419649" cy="1000354"/>
          </a:xfrm>
          <a:prstGeom prst="roundRect">
            <a:avLst>
              <a:gd name="adj" fmla="val 17411"/>
            </a:avLst>
          </a:prstGeom>
          <a:solidFill>
            <a:srgbClr val="FDFBF7"/>
          </a:solidFill>
          <a:ln/>
        </p:spPr>
        <p:txBody>
          <a:bodyPr/>
          <a:lstStyle/>
          <a:p>
            <a:endParaRPr lang="en-US"/>
          </a:p>
        </p:txBody>
      </p:sp>
      <p:sp>
        <p:nvSpPr>
          <p:cNvPr id="19" name="Shape 17"/>
          <p:cNvSpPr/>
          <p:nvPr/>
        </p:nvSpPr>
        <p:spPr>
          <a:xfrm>
            <a:off x="6200546"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0" name="Shape 18"/>
          <p:cNvSpPr/>
          <p:nvPr/>
        </p:nvSpPr>
        <p:spPr>
          <a:xfrm>
            <a:off x="6200546" y="3857854"/>
            <a:ext cx="5419649" cy="1000354"/>
          </a:xfrm>
          <a:prstGeom prst="roundRect">
            <a:avLst>
              <a:gd name="adj" fmla="val 17411"/>
            </a:avLst>
          </a:prstGeom>
          <a:solidFill>
            <a:srgbClr val="F8F9FA"/>
          </a:solidFill>
          <a:ln/>
        </p:spPr>
        <p:txBody>
          <a:bodyPr/>
          <a:lstStyle/>
          <a:p>
            <a:endParaRPr lang="en-US"/>
          </a:p>
        </p:txBody>
      </p:sp>
      <p:sp>
        <p:nvSpPr>
          <p:cNvPr id="21" name="Shape 19"/>
          <p:cNvSpPr/>
          <p:nvPr/>
        </p:nvSpPr>
        <p:spPr>
          <a:xfrm>
            <a:off x="6200546"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22" name="Shape 20"/>
          <p:cNvSpPr/>
          <p:nvPr/>
        </p:nvSpPr>
        <p:spPr>
          <a:xfrm>
            <a:off x="6200546" y="5000854"/>
            <a:ext cx="5419649" cy="1000354"/>
          </a:xfrm>
          <a:prstGeom prst="roundRect">
            <a:avLst>
              <a:gd name="adj" fmla="val 17411"/>
            </a:avLst>
          </a:prstGeom>
          <a:solidFill>
            <a:srgbClr val="FDFBF7"/>
          </a:solidFill>
          <a:ln/>
        </p:spPr>
        <p:txBody>
          <a:bodyPr/>
          <a:lstStyle/>
          <a:p>
            <a:endParaRPr lang="en-US"/>
          </a:p>
        </p:txBody>
      </p:sp>
      <p:sp>
        <p:nvSpPr>
          <p:cNvPr id="23" name="Shape 21"/>
          <p:cNvSpPr/>
          <p:nvPr/>
        </p:nvSpPr>
        <p:spPr>
          <a:xfrm>
            <a:off x="6200546" y="5000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4" name="Shape 2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5"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26" name="Text 23"/>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RỦI RO - NOXH YÊN SỞ</a:t>
            </a:r>
            <a:endParaRPr lang="en-US" sz="1800" dirty="0"/>
          </a:p>
        </p:txBody>
      </p:sp>
      <p:sp>
        <p:nvSpPr>
          <p:cNvPr id="27" name="Text 24"/>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8" name="Image 1" descr="preencoded.png"/>
          <p:cNvPicPr>
            <a:picLocks noChangeAspect="1"/>
          </p:cNvPicPr>
          <p:nvPr/>
        </p:nvPicPr>
        <p:blipFill>
          <a:blip r:embed="rId4"/>
          <a:srcRect t="-5544" b="-5544"/>
          <a:stretch/>
        </p:blipFill>
        <p:spPr>
          <a:xfrm>
            <a:off x="10574122" y="264262"/>
            <a:ext cx="105156" cy="133502"/>
          </a:xfrm>
          <a:prstGeom prst="rect">
            <a:avLst/>
          </a:prstGeom>
        </p:spPr>
      </p:pic>
      <p:sp>
        <p:nvSpPr>
          <p:cNvPr id="29" name="Text 25"/>
          <p:cNvSpPr txBox="1"/>
          <p:nvPr/>
        </p:nvSpPr>
        <p:spPr>
          <a:xfrm>
            <a:off x="838505" y="1123798"/>
            <a:ext cx="10725912"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8 rủi ro chính và biện pháp giảm thiểu</a:t>
            </a:r>
            <a:endParaRPr lang="en-US" sz="1500" dirty="0"/>
          </a:p>
        </p:txBody>
      </p:sp>
      <p:pic>
        <p:nvPicPr>
          <p:cNvPr id="30" name="Image 2" descr="preencoded.png"/>
          <p:cNvPicPr>
            <a:picLocks noChangeAspect="1"/>
          </p:cNvPicPr>
          <p:nvPr/>
        </p:nvPicPr>
        <p:blipFill>
          <a:blip r:embed="rId5"/>
          <a:srcRect t="-14384" b="-14384"/>
          <a:stretch/>
        </p:blipFill>
        <p:spPr>
          <a:xfrm>
            <a:off x="609905" y="1152144"/>
            <a:ext cx="133502" cy="171907"/>
          </a:xfrm>
          <a:prstGeom prst="rect">
            <a:avLst/>
          </a:prstGeom>
        </p:spPr>
      </p:pic>
      <p:sp>
        <p:nvSpPr>
          <p:cNvPr id="31" name="Text 26"/>
          <p:cNvSpPr txBox="1"/>
          <p:nvPr/>
        </p:nvSpPr>
        <p:spPr>
          <a:xfrm>
            <a:off x="961949" y="1681582"/>
            <a:ext cx="211957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1. GPMB chưa hoàn thành </a:t>
            </a:r>
            <a:endParaRPr lang="en-US" sz="1100" dirty="0"/>
          </a:p>
        </p:txBody>
      </p:sp>
      <p:pic>
        <p:nvPicPr>
          <p:cNvPr id="32" name="Image 3" descr="preencoded.png"/>
          <p:cNvPicPr>
            <a:picLocks noChangeAspect="1"/>
          </p:cNvPicPr>
          <p:nvPr/>
        </p:nvPicPr>
        <p:blipFill>
          <a:blip r:embed="rId6"/>
          <a:srcRect l="-2512" r="-2512"/>
          <a:stretch/>
        </p:blipFill>
        <p:spPr>
          <a:xfrm>
            <a:off x="780898" y="1709928"/>
            <a:ext cx="105156" cy="133502"/>
          </a:xfrm>
          <a:prstGeom prst="rect">
            <a:avLst/>
          </a:prstGeom>
        </p:spPr>
      </p:pic>
      <p:sp>
        <p:nvSpPr>
          <p:cNvPr id="33" name="Shape 27"/>
          <p:cNvSpPr/>
          <p:nvPr/>
        </p:nvSpPr>
        <p:spPr>
          <a:xfrm>
            <a:off x="5415991"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34" name="Text 28"/>
          <p:cNvSpPr txBox="1"/>
          <p:nvPr/>
        </p:nvSpPr>
        <p:spPr>
          <a:xfrm>
            <a:off x="5415991"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5" name="Text 29"/>
          <p:cNvSpPr txBox="1"/>
          <p:nvPr/>
        </p:nvSpPr>
        <p:spPr>
          <a:xfrm>
            <a:off x="780898" y="1943100"/>
            <a:ext cx="5612587"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Chủ ao chưa đồng ý bàn giao hoặc bơm nước, ảnh hưởng đến tiến độ khởi công</a:t>
            </a:r>
            <a:endParaRPr lang="en-US" sz="900" dirty="0"/>
          </a:p>
        </p:txBody>
      </p:sp>
      <p:pic>
        <p:nvPicPr>
          <p:cNvPr id="36" name="Image 4" descr="preencoded.png"/>
          <p:cNvPicPr>
            <a:picLocks noChangeAspect="1"/>
          </p:cNvPicPr>
          <p:nvPr/>
        </p:nvPicPr>
        <p:blipFill>
          <a:blip r:embed="rId7"/>
          <a:srcRect t="-11" b="-11"/>
          <a:stretch/>
        </p:blipFill>
        <p:spPr>
          <a:xfrm>
            <a:off x="780898" y="2192731"/>
            <a:ext cx="5048402" cy="295351"/>
          </a:xfrm>
          <a:prstGeom prst="rect">
            <a:avLst/>
          </a:prstGeom>
        </p:spPr>
      </p:pic>
      <p:sp>
        <p:nvSpPr>
          <p:cNvPr id="37" name="Shape 30"/>
          <p:cNvSpPr/>
          <p:nvPr/>
        </p:nvSpPr>
        <p:spPr>
          <a:xfrm>
            <a:off x="780898"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38" name="Text 31"/>
          <p:cNvSpPr txBox="1"/>
          <p:nvPr/>
        </p:nvSpPr>
        <p:spPr>
          <a:xfrm>
            <a:off x="1047902"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Đàm phán sớm, đền bù hỗ trợ tài sản trên đất, pháp lý hỗ trợ </a:t>
            </a:r>
            <a:endParaRPr lang="en-US" sz="900" dirty="0"/>
          </a:p>
        </p:txBody>
      </p:sp>
      <p:pic>
        <p:nvPicPr>
          <p:cNvPr id="39" name="Image 5" descr="preencoded.png"/>
          <p:cNvPicPr>
            <a:picLocks noChangeAspect="1"/>
          </p:cNvPicPr>
          <p:nvPr/>
        </p:nvPicPr>
        <p:blipFill>
          <a:blip r:embed="rId8"/>
          <a:srcRect t="-11170" b="-11170"/>
          <a:stretch/>
        </p:blipFill>
        <p:spPr>
          <a:xfrm>
            <a:off x="886054" y="2287829"/>
            <a:ext cx="85954" cy="105156"/>
          </a:xfrm>
          <a:prstGeom prst="rect">
            <a:avLst/>
          </a:prstGeom>
        </p:spPr>
      </p:pic>
      <p:sp>
        <p:nvSpPr>
          <p:cNvPr id="40" name="Text 32"/>
          <p:cNvSpPr txBox="1"/>
          <p:nvPr/>
        </p:nvSpPr>
        <p:spPr>
          <a:xfrm>
            <a:off x="961949" y="2824582"/>
            <a:ext cx="1723644"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3. Điện tạm chưa có </a:t>
            </a:r>
            <a:endParaRPr lang="en-US" sz="1100" dirty="0"/>
          </a:p>
        </p:txBody>
      </p:sp>
      <p:pic>
        <p:nvPicPr>
          <p:cNvPr id="41" name="Image 6" descr="preencoded.png"/>
          <p:cNvPicPr>
            <a:picLocks noChangeAspect="1"/>
          </p:cNvPicPr>
          <p:nvPr/>
        </p:nvPicPr>
        <p:blipFill>
          <a:blip r:embed="rId9"/>
          <a:srcRect t="-5544" b="-5544"/>
          <a:stretch/>
        </p:blipFill>
        <p:spPr>
          <a:xfrm>
            <a:off x="780898" y="2852928"/>
            <a:ext cx="105156" cy="133502"/>
          </a:xfrm>
          <a:prstGeom prst="rect">
            <a:avLst/>
          </a:prstGeom>
        </p:spPr>
      </p:pic>
      <p:sp>
        <p:nvSpPr>
          <p:cNvPr id="42" name="Shape 33"/>
          <p:cNvSpPr/>
          <p:nvPr/>
        </p:nvSpPr>
        <p:spPr>
          <a:xfrm>
            <a:off x="4970678"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4"/>
          <p:cNvSpPr txBox="1"/>
          <p:nvPr/>
        </p:nvSpPr>
        <p:spPr>
          <a:xfrm>
            <a:off x="4970678"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44" name="Text 35"/>
          <p:cNvSpPr txBox="1"/>
          <p:nvPr/>
        </p:nvSpPr>
        <p:spPr>
          <a:xfrm>
            <a:off x="780898"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nguồn điện 3 pha để phục vụ thi công</a:t>
            </a:r>
            <a:endParaRPr lang="en-US" sz="900" dirty="0"/>
          </a:p>
        </p:txBody>
      </p:sp>
      <p:pic>
        <p:nvPicPr>
          <p:cNvPr id="45" name="Image 7" descr="preencoded.png"/>
          <p:cNvPicPr>
            <a:picLocks noChangeAspect="1"/>
          </p:cNvPicPr>
          <p:nvPr/>
        </p:nvPicPr>
        <p:blipFill>
          <a:blip r:embed="rId7"/>
          <a:srcRect t="-11" b="-11"/>
          <a:stretch/>
        </p:blipFill>
        <p:spPr>
          <a:xfrm>
            <a:off x="780898" y="3335731"/>
            <a:ext cx="5048402" cy="295351"/>
          </a:xfrm>
          <a:prstGeom prst="rect">
            <a:avLst/>
          </a:prstGeom>
        </p:spPr>
      </p:pic>
      <p:sp>
        <p:nvSpPr>
          <p:cNvPr id="46" name="Shape 36"/>
          <p:cNvSpPr/>
          <p:nvPr/>
        </p:nvSpPr>
        <p:spPr>
          <a:xfrm>
            <a:off x="780898"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47" name="Text 37"/>
          <p:cNvSpPr txBox="1"/>
          <p:nvPr/>
        </p:nvSpPr>
        <p:spPr>
          <a:xfrm>
            <a:off x="1047902"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Điện lực triển khai trạm biến áp 1600kVA, backup diesel </a:t>
            </a:r>
            <a:endParaRPr lang="en-US" sz="900" dirty="0"/>
          </a:p>
        </p:txBody>
      </p:sp>
      <p:pic>
        <p:nvPicPr>
          <p:cNvPr id="48" name="Image 8" descr="preencoded.png"/>
          <p:cNvPicPr>
            <a:picLocks noChangeAspect="1"/>
          </p:cNvPicPr>
          <p:nvPr/>
        </p:nvPicPr>
        <p:blipFill>
          <a:blip r:embed="rId8"/>
          <a:srcRect t="-11170" b="-11170"/>
          <a:stretch/>
        </p:blipFill>
        <p:spPr>
          <a:xfrm>
            <a:off x="886054" y="3430829"/>
            <a:ext cx="85954" cy="105156"/>
          </a:xfrm>
          <a:prstGeom prst="rect">
            <a:avLst/>
          </a:prstGeom>
        </p:spPr>
      </p:pic>
      <p:sp>
        <p:nvSpPr>
          <p:cNvPr id="49" name="Text 38"/>
          <p:cNvSpPr txBox="1"/>
          <p:nvPr/>
        </p:nvSpPr>
        <p:spPr>
          <a:xfrm>
            <a:off x="961949" y="3967582"/>
            <a:ext cx="235823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5. Thiết kế chưa hoàn thiện </a:t>
            </a:r>
            <a:endParaRPr lang="en-US" sz="1100" dirty="0"/>
          </a:p>
        </p:txBody>
      </p:sp>
      <p:pic>
        <p:nvPicPr>
          <p:cNvPr id="50" name="Image 9" descr="preencoded.png"/>
          <p:cNvPicPr>
            <a:picLocks noChangeAspect="1"/>
          </p:cNvPicPr>
          <p:nvPr/>
        </p:nvPicPr>
        <p:blipFill>
          <a:blip r:embed="rId10"/>
          <a:srcRect l="-2512" r="-2512"/>
          <a:stretch/>
        </p:blipFill>
        <p:spPr>
          <a:xfrm>
            <a:off x="780898" y="3995928"/>
            <a:ext cx="105156" cy="133502"/>
          </a:xfrm>
          <a:prstGeom prst="rect">
            <a:avLst/>
          </a:prstGeom>
        </p:spPr>
      </p:pic>
      <p:sp>
        <p:nvSpPr>
          <p:cNvPr id="51" name="Shape 39"/>
          <p:cNvSpPr/>
          <p:nvPr/>
        </p:nvSpPr>
        <p:spPr>
          <a:xfrm>
            <a:off x="5359298"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52" name="Text 40"/>
          <p:cNvSpPr txBox="1"/>
          <p:nvPr/>
        </p:nvSpPr>
        <p:spPr>
          <a:xfrm>
            <a:off x="5359298"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53" name="Text 41"/>
          <p:cNvSpPr txBox="1"/>
          <p:nvPr/>
        </p:nvSpPr>
        <p:spPr>
          <a:xfrm>
            <a:off x="780898"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bản vẽ chi tiết và Spec vật liệu hoàn thiện</a:t>
            </a:r>
            <a:endParaRPr lang="en-US" sz="900" dirty="0"/>
          </a:p>
        </p:txBody>
      </p:sp>
      <p:pic>
        <p:nvPicPr>
          <p:cNvPr id="54" name="Image 10" descr="preencoded.png"/>
          <p:cNvPicPr>
            <a:picLocks noChangeAspect="1"/>
          </p:cNvPicPr>
          <p:nvPr/>
        </p:nvPicPr>
        <p:blipFill>
          <a:blip r:embed="rId7"/>
          <a:srcRect t="-11" b="-11"/>
          <a:stretch/>
        </p:blipFill>
        <p:spPr>
          <a:xfrm>
            <a:off x="780898" y="4478731"/>
            <a:ext cx="5048402" cy="295351"/>
          </a:xfrm>
          <a:prstGeom prst="rect">
            <a:avLst/>
          </a:prstGeom>
        </p:spPr>
      </p:pic>
      <p:sp>
        <p:nvSpPr>
          <p:cNvPr id="55" name="Shape 42"/>
          <p:cNvSpPr/>
          <p:nvPr/>
        </p:nvSpPr>
        <p:spPr>
          <a:xfrm>
            <a:off x="780898"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56" name="Text 43"/>
          <p:cNvSpPr txBox="1"/>
          <p:nvPr/>
        </p:nvSpPr>
        <p:spPr>
          <a:xfrm>
            <a:off x="1047902"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Thiết lập quy trình phê duyệt nhanh, tính toán theo hàm lượng thép </a:t>
            </a:r>
            <a:endParaRPr lang="en-US" sz="900" dirty="0"/>
          </a:p>
        </p:txBody>
      </p:sp>
      <p:pic>
        <p:nvPicPr>
          <p:cNvPr id="57" name="Image 11" descr="preencoded.png"/>
          <p:cNvPicPr>
            <a:picLocks noChangeAspect="1"/>
          </p:cNvPicPr>
          <p:nvPr/>
        </p:nvPicPr>
        <p:blipFill>
          <a:blip r:embed="rId11"/>
          <a:srcRect t="-11170" b="-11170"/>
          <a:stretch/>
        </p:blipFill>
        <p:spPr>
          <a:xfrm>
            <a:off x="886054" y="4573829"/>
            <a:ext cx="85954" cy="105156"/>
          </a:xfrm>
          <a:prstGeom prst="rect">
            <a:avLst/>
          </a:prstGeom>
        </p:spPr>
      </p:pic>
      <p:sp>
        <p:nvSpPr>
          <p:cNvPr id="58" name="Text 44"/>
          <p:cNvSpPr txBox="1"/>
          <p:nvPr/>
        </p:nvSpPr>
        <p:spPr>
          <a:xfrm>
            <a:off x="961949" y="5110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7. Quan hệ cộng đồng </a:t>
            </a:r>
            <a:endParaRPr lang="en-US" sz="1100" dirty="0"/>
          </a:p>
        </p:txBody>
      </p:sp>
      <p:pic>
        <p:nvPicPr>
          <p:cNvPr id="59" name="Image 12" descr="preencoded.png"/>
          <p:cNvPicPr>
            <a:picLocks noChangeAspect="1"/>
          </p:cNvPicPr>
          <p:nvPr/>
        </p:nvPicPr>
        <p:blipFill>
          <a:blip r:embed="rId12"/>
          <a:srcRect t="-29348" b="-29348"/>
          <a:stretch/>
        </p:blipFill>
        <p:spPr>
          <a:xfrm>
            <a:off x="780898" y="5138928"/>
            <a:ext cx="105156" cy="133502"/>
          </a:xfrm>
          <a:prstGeom prst="rect">
            <a:avLst/>
          </a:prstGeom>
        </p:spPr>
      </p:pic>
      <p:sp>
        <p:nvSpPr>
          <p:cNvPr id="60" name="Shape 45"/>
          <p:cNvSpPr/>
          <p:nvPr/>
        </p:nvSpPr>
        <p:spPr>
          <a:xfrm>
            <a:off x="5359298" y="5095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61" name="Text 46"/>
          <p:cNvSpPr txBox="1"/>
          <p:nvPr/>
        </p:nvSpPr>
        <p:spPr>
          <a:xfrm>
            <a:off x="5359298" y="5095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62" name="Text 47"/>
          <p:cNvSpPr txBox="1"/>
          <p:nvPr/>
        </p:nvSpPr>
        <p:spPr>
          <a:xfrm>
            <a:off x="780898"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đông đúc, cần đảm bảo an ninh trật tự</a:t>
            </a:r>
            <a:endParaRPr lang="en-US" sz="900" dirty="0"/>
          </a:p>
        </p:txBody>
      </p:sp>
      <p:pic>
        <p:nvPicPr>
          <p:cNvPr id="63" name="Image 13" descr="preencoded.png"/>
          <p:cNvPicPr>
            <a:picLocks noChangeAspect="1"/>
          </p:cNvPicPr>
          <p:nvPr/>
        </p:nvPicPr>
        <p:blipFill>
          <a:blip r:embed="rId7"/>
          <a:srcRect t="-11" b="-11"/>
          <a:stretch/>
        </p:blipFill>
        <p:spPr>
          <a:xfrm>
            <a:off x="780898" y="5621731"/>
            <a:ext cx="5048402" cy="295351"/>
          </a:xfrm>
          <a:prstGeom prst="rect">
            <a:avLst/>
          </a:prstGeom>
        </p:spPr>
      </p:pic>
      <p:sp>
        <p:nvSpPr>
          <p:cNvPr id="64" name="Shape 48"/>
          <p:cNvSpPr/>
          <p:nvPr/>
        </p:nvSpPr>
        <p:spPr>
          <a:xfrm>
            <a:off x="780898"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65" name="Text 49"/>
          <p:cNvSpPr txBox="1"/>
          <p:nvPr/>
        </p:nvSpPr>
        <p:spPr>
          <a:xfrm>
            <a:off x="1047902"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Bổ sung cán bộ cộng đồng, giải quyết khiếu nại </a:t>
            </a:r>
            <a:endParaRPr lang="en-US" sz="900" dirty="0"/>
          </a:p>
        </p:txBody>
      </p:sp>
      <p:pic>
        <p:nvPicPr>
          <p:cNvPr id="66" name="Image 14" descr="preencoded.png"/>
          <p:cNvPicPr>
            <a:picLocks noChangeAspect="1"/>
          </p:cNvPicPr>
          <p:nvPr/>
        </p:nvPicPr>
        <p:blipFill>
          <a:blip r:embed="rId11"/>
          <a:srcRect t="-11170" b="-11170"/>
          <a:stretch/>
        </p:blipFill>
        <p:spPr>
          <a:xfrm>
            <a:off x="886054" y="5716829"/>
            <a:ext cx="85954" cy="105156"/>
          </a:xfrm>
          <a:prstGeom prst="rect">
            <a:avLst/>
          </a:prstGeom>
        </p:spPr>
      </p:pic>
      <p:sp>
        <p:nvSpPr>
          <p:cNvPr id="67" name="Text 50"/>
          <p:cNvSpPr txBox="1"/>
          <p:nvPr/>
        </p:nvSpPr>
        <p:spPr>
          <a:xfrm>
            <a:off x="6553505" y="1681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2. Đường vào chưa có </a:t>
            </a:r>
            <a:endParaRPr lang="en-US" sz="1100" dirty="0"/>
          </a:p>
        </p:txBody>
      </p:sp>
      <p:pic>
        <p:nvPicPr>
          <p:cNvPr id="68" name="Image 15" descr="preencoded.png"/>
          <p:cNvPicPr>
            <a:picLocks noChangeAspect="1"/>
          </p:cNvPicPr>
          <p:nvPr/>
        </p:nvPicPr>
        <p:blipFill>
          <a:blip r:embed="rId13"/>
          <a:srcRect t="-21413" b="-21413"/>
          <a:stretch/>
        </p:blipFill>
        <p:spPr>
          <a:xfrm>
            <a:off x="6372454" y="1709928"/>
            <a:ext cx="105156" cy="133502"/>
          </a:xfrm>
          <a:prstGeom prst="rect">
            <a:avLst/>
          </a:prstGeom>
        </p:spPr>
      </p:pic>
      <p:sp>
        <p:nvSpPr>
          <p:cNvPr id="69" name="Shape 51"/>
          <p:cNvSpPr/>
          <p:nvPr/>
        </p:nvSpPr>
        <p:spPr>
          <a:xfrm>
            <a:off x="11007547"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0" name="Text 52"/>
          <p:cNvSpPr txBox="1"/>
          <p:nvPr/>
        </p:nvSpPr>
        <p:spPr>
          <a:xfrm>
            <a:off x="11007547"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1" name="Text 53"/>
          <p:cNvSpPr txBox="1"/>
          <p:nvPr/>
        </p:nvSpPr>
        <p:spPr>
          <a:xfrm>
            <a:off x="6372454" y="1943100"/>
            <a:ext cx="57342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liên hệ chính quyền về đường từ Vành đai 3, ảnh hưởng vận chuyển vật tư</a:t>
            </a:r>
            <a:endParaRPr lang="en-US" sz="900" dirty="0"/>
          </a:p>
        </p:txBody>
      </p:sp>
      <p:pic>
        <p:nvPicPr>
          <p:cNvPr id="72" name="Image 16" descr="preencoded.png"/>
          <p:cNvPicPr>
            <a:picLocks noChangeAspect="1"/>
          </p:cNvPicPr>
          <p:nvPr/>
        </p:nvPicPr>
        <p:blipFill>
          <a:blip r:embed="rId7"/>
          <a:srcRect t="-11" b="-11"/>
          <a:stretch/>
        </p:blipFill>
        <p:spPr>
          <a:xfrm>
            <a:off x="6372454" y="2192731"/>
            <a:ext cx="5048402" cy="295351"/>
          </a:xfrm>
          <a:prstGeom prst="rect">
            <a:avLst/>
          </a:prstGeom>
        </p:spPr>
      </p:pic>
      <p:sp>
        <p:nvSpPr>
          <p:cNvPr id="73" name="Shape 54"/>
          <p:cNvSpPr/>
          <p:nvPr/>
        </p:nvSpPr>
        <p:spPr>
          <a:xfrm>
            <a:off x="6372454"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74" name="Text 55"/>
          <p:cNvSpPr txBox="1"/>
          <p:nvPr/>
        </p:nvSpPr>
        <p:spPr>
          <a:xfrm>
            <a:off x="6639458"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đường độc lập từ Vành Đai 3, làm việc với chủ đất </a:t>
            </a:r>
            <a:endParaRPr lang="en-US" sz="900" dirty="0"/>
          </a:p>
        </p:txBody>
      </p:sp>
      <p:pic>
        <p:nvPicPr>
          <p:cNvPr id="75" name="Image 17" descr="preencoded.png"/>
          <p:cNvPicPr>
            <a:picLocks noChangeAspect="1"/>
          </p:cNvPicPr>
          <p:nvPr/>
        </p:nvPicPr>
        <p:blipFill>
          <a:blip r:embed="rId8"/>
          <a:srcRect t="-11170" b="-11170"/>
          <a:stretch/>
        </p:blipFill>
        <p:spPr>
          <a:xfrm>
            <a:off x="6476695" y="2287829"/>
            <a:ext cx="85954" cy="105156"/>
          </a:xfrm>
          <a:prstGeom prst="rect">
            <a:avLst/>
          </a:prstGeom>
        </p:spPr>
      </p:pic>
      <p:sp>
        <p:nvSpPr>
          <p:cNvPr id="76" name="Text 56"/>
          <p:cNvSpPr txBox="1"/>
          <p:nvPr/>
        </p:nvSpPr>
        <p:spPr>
          <a:xfrm>
            <a:off x="6553505" y="2824582"/>
            <a:ext cx="128198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4. Địa chất yếu </a:t>
            </a:r>
            <a:endParaRPr lang="en-US" sz="1100" dirty="0"/>
          </a:p>
        </p:txBody>
      </p:sp>
      <p:pic>
        <p:nvPicPr>
          <p:cNvPr id="77" name="Image 18" descr="preencoded.png"/>
          <p:cNvPicPr>
            <a:picLocks noChangeAspect="1"/>
          </p:cNvPicPr>
          <p:nvPr/>
        </p:nvPicPr>
        <p:blipFill>
          <a:blip r:embed="rId14"/>
          <a:srcRect t="-13478" b="-13478"/>
          <a:stretch/>
        </p:blipFill>
        <p:spPr>
          <a:xfrm>
            <a:off x="6372454" y="2852928"/>
            <a:ext cx="105156" cy="133502"/>
          </a:xfrm>
          <a:prstGeom prst="rect">
            <a:avLst/>
          </a:prstGeom>
        </p:spPr>
      </p:pic>
      <p:sp>
        <p:nvSpPr>
          <p:cNvPr id="78" name="Shape 57"/>
          <p:cNvSpPr/>
          <p:nvPr/>
        </p:nvSpPr>
        <p:spPr>
          <a:xfrm>
            <a:off x="10562234"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9" name="Text 58"/>
          <p:cNvSpPr txBox="1"/>
          <p:nvPr/>
        </p:nvSpPr>
        <p:spPr>
          <a:xfrm>
            <a:off x="10562234"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80" name="Text 59"/>
          <p:cNvSpPr txBox="1"/>
          <p:nvPr/>
        </p:nvSpPr>
        <p:spPr>
          <a:xfrm>
            <a:off x="6372454"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Lớp đất sét pha trạng thái dẻo chảy, chiều dày 27.5m</a:t>
            </a:r>
            <a:endParaRPr lang="en-US" sz="900" dirty="0"/>
          </a:p>
        </p:txBody>
      </p:sp>
      <p:pic>
        <p:nvPicPr>
          <p:cNvPr id="81" name="Image 19" descr="preencoded.png"/>
          <p:cNvPicPr>
            <a:picLocks noChangeAspect="1"/>
          </p:cNvPicPr>
          <p:nvPr/>
        </p:nvPicPr>
        <p:blipFill>
          <a:blip r:embed="rId7"/>
          <a:srcRect t="-11" b="-11"/>
          <a:stretch/>
        </p:blipFill>
        <p:spPr>
          <a:xfrm>
            <a:off x="6372454" y="3335731"/>
            <a:ext cx="5048402" cy="295351"/>
          </a:xfrm>
          <a:prstGeom prst="rect">
            <a:avLst/>
          </a:prstGeom>
        </p:spPr>
      </p:pic>
      <p:sp>
        <p:nvSpPr>
          <p:cNvPr id="82" name="Shape 60"/>
          <p:cNvSpPr/>
          <p:nvPr/>
        </p:nvSpPr>
        <p:spPr>
          <a:xfrm>
            <a:off x="6372454"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83" name="Text 61"/>
          <p:cNvSpPr txBox="1"/>
          <p:nvPr/>
        </p:nvSpPr>
        <p:spPr>
          <a:xfrm>
            <a:off x="6639458"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Đào từng lớp, giám sát biến dạng, hệ thống chống ngập </a:t>
            </a:r>
            <a:endParaRPr lang="en-US" sz="900" dirty="0"/>
          </a:p>
        </p:txBody>
      </p:sp>
      <p:pic>
        <p:nvPicPr>
          <p:cNvPr id="84" name="Image 20" descr="preencoded.png"/>
          <p:cNvPicPr>
            <a:picLocks noChangeAspect="1"/>
          </p:cNvPicPr>
          <p:nvPr/>
        </p:nvPicPr>
        <p:blipFill>
          <a:blip r:embed="rId8"/>
          <a:srcRect t="-11170" b="-11170"/>
          <a:stretch/>
        </p:blipFill>
        <p:spPr>
          <a:xfrm>
            <a:off x="6476695" y="3430829"/>
            <a:ext cx="85954" cy="105156"/>
          </a:xfrm>
          <a:prstGeom prst="rect">
            <a:avLst/>
          </a:prstGeom>
        </p:spPr>
      </p:pic>
      <p:sp>
        <p:nvSpPr>
          <p:cNvPr id="85" name="Text 62"/>
          <p:cNvSpPr txBox="1"/>
          <p:nvPr/>
        </p:nvSpPr>
        <p:spPr>
          <a:xfrm>
            <a:off x="6553505" y="3967582"/>
            <a:ext cx="101589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6. Ngập úng </a:t>
            </a:r>
            <a:endParaRPr lang="en-US" sz="1100" dirty="0"/>
          </a:p>
        </p:txBody>
      </p:sp>
      <p:pic>
        <p:nvPicPr>
          <p:cNvPr id="86" name="Image 21" descr="preencoded.png"/>
          <p:cNvPicPr>
            <a:picLocks noChangeAspect="1"/>
          </p:cNvPicPr>
          <p:nvPr/>
        </p:nvPicPr>
        <p:blipFill>
          <a:blip r:embed="rId15"/>
          <a:srcRect l="-2512" r="-2512"/>
          <a:stretch/>
        </p:blipFill>
        <p:spPr>
          <a:xfrm>
            <a:off x="6372454" y="3995928"/>
            <a:ext cx="105156" cy="133502"/>
          </a:xfrm>
          <a:prstGeom prst="rect">
            <a:avLst/>
          </a:prstGeom>
        </p:spPr>
      </p:pic>
      <p:sp>
        <p:nvSpPr>
          <p:cNvPr id="87" name="Shape 63"/>
          <p:cNvSpPr/>
          <p:nvPr/>
        </p:nvSpPr>
        <p:spPr>
          <a:xfrm>
            <a:off x="10950854"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88" name="Text 64"/>
          <p:cNvSpPr txBox="1"/>
          <p:nvPr/>
        </p:nvSpPr>
        <p:spPr>
          <a:xfrm>
            <a:off x="10950854"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89" name="Text 65"/>
          <p:cNvSpPr txBox="1"/>
          <p:nvPr/>
        </p:nvSpPr>
        <p:spPr>
          <a:xfrm>
            <a:off x="6372454"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Mực nước ngầm 9.2-10m, nguy cơ ngập úng công trường</a:t>
            </a:r>
            <a:endParaRPr lang="en-US" sz="900" dirty="0"/>
          </a:p>
        </p:txBody>
      </p:sp>
      <p:pic>
        <p:nvPicPr>
          <p:cNvPr id="90" name="Image 22" descr="preencoded.png"/>
          <p:cNvPicPr>
            <a:picLocks noChangeAspect="1"/>
          </p:cNvPicPr>
          <p:nvPr/>
        </p:nvPicPr>
        <p:blipFill>
          <a:blip r:embed="rId7"/>
          <a:srcRect t="-11" b="-11"/>
          <a:stretch/>
        </p:blipFill>
        <p:spPr>
          <a:xfrm>
            <a:off x="6372454" y="4478731"/>
            <a:ext cx="5048402" cy="295351"/>
          </a:xfrm>
          <a:prstGeom prst="rect">
            <a:avLst/>
          </a:prstGeom>
        </p:spPr>
      </p:pic>
      <p:sp>
        <p:nvSpPr>
          <p:cNvPr id="91" name="Shape 66"/>
          <p:cNvSpPr/>
          <p:nvPr/>
        </p:nvSpPr>
        <p:spPr>
          <a:xfrm>
            <a:off x="6372454"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92" name="Text 67"/>
          <p:cNvSpPr txBox="1"/>
          <p:nvPr/>
        </p:nvSpPr>
        <p:spPr>
          <a:xfrm>
            <a:off x="6639458"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Hệ thống bơm chống ngập tự động, rãnh thoát nước </a:t>
            </a:r>
            <a:endParaRPr lang="en-US" sz="900" dirty="0"/>
          </a:p>
        </p:txBody>
      </p:sp>
      <p:pic>
        <p:nvPicPr>
          <p:cNvPr id="93" name="Image 23" descr="preencoded.png"/>
          <p:cNvPicPr>
            <a:picLocks noChangeAspect="1"/>
          </p:cNvPicPr>
          <p:nvPr/>
        </p:nvPicPr>
        <p:blipFill>
          <a:blip r:embed="rId11"/>
          <a:srcRect t="-11170" b="-11170"/>
          <a:stretch/>
        </p:blipFill>
        <p:spPr>
          <a:xfrm>
            <a:off x="6476695" y="4573829"/>
            <a:ext cx="85954" cy="105156"/>
          </a:xfrm>
          <a:prstGeom prst="rect">
            <a:avLst/>
          </a:prstGeom>
        </p:spPr>
      </p:pic>
      <p:sp>
        <p:nvSpPr>
          <p:cNvPr id="94" name="Text 68"/>
          <p:cNvSpPr txBox="1"/>
          <p:nvPr/>
        </p:nvSpPr>
        <p:spPr>
          <a:xfrm>
            <a:off x="6553505" y="5110582"/>
            <a:ext cx="1293876"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8. Mua sắm MEP </a:t>
            </a:r>
            <a:endParaRPr lang="en-US" sz="1100" dirty="0"/>
          </a:p>
        </p:txBody>
      </p:sp>
      <p:pic>
        <p:nvPicPr>
          <p:cNvPr id="95" name="Image 24" descr="preencoded.png"/>
          <p:cNvPicPr>
            <a:picLocks noChangeAspect="1"/>
          </p:cNvPicPr>
          <p:nvPr/>
        </p:nvPicPr>
        <p:blipFill>
          <a:blip r:embed="rId16"/>
          <a:srcRect t="-29348" b="-29348"/>
          <a:stretch/>
        </p:blipFill>
        <p:spPr>
          <a:xfrm>
            <a:off x="6372454" y="5138928"/>
            <a:ext cx="105156" cy="133502"/>
          </a:xfrm>
          <a:prstGeom prst="rect">
            <a:avLst/>
          </a:prstGeom>
        </p:spPr>
      </p:pic>
      <p:sp>
        <p:nvSpPr>
          <p:cNvPr id="96" name="Shape 69"/>
          <p:cNvSpPr/>
          <p:nvPr/>
        </p:nvSpPr>
        <p:spPr>
          <a:xfrm>
            <a:off x="10562234" y="5095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97" name="Text 70"/>
          <p:cNvSpPr txBox="1"/>
          <p:nvPr/>
        </p:nvSpPr>
        <p:spPr>
          <a:xfrm>
            <a:off x="10562234" y="5095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98" name="Text 71"/>
          <p:cNvSpPr txBox="1"/>
          <p:nvPr/>
        </p:nvSpPr>
        <p:spPr>
          <a:xfrm>
            <a:off x="6372454"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bị MEP, cửa, vách nhôm kính cần đặt hàng sớm</a:t>
            </a:r>
            <a:endParaRPr lang="en-US" sz="900" dirty="0"/>
          </a:p>
        </p:txBody>
      </p:sp>
      <p:pic>
        <p:nvPicPr>
          <p:cNvPr id="99" name="Image 25" descr="preencoded.png"/>
          <p:cNvPicPr>
            <a:picLocks noChangeAspect="1"/>
          </p:cNvPicPr>
          <p:nvPr/>
        </p:nvPicPr>
        <p:blipFill>
          <a:blip r:embed="rId7"/>
          <a:srcRect t="-11" b="-11"/>
          <a:stretch/>
        </p:blipFill>
        <p:spPr>
          <a:xfrm>
            <a:off x="6372454" y="5621731"/>
            <a:ext cx="5048402" cy="295351"/>
          </a:xfrm>
          <a:prstGeom prst="rect">
            <a:avLst/>
          </a:prstGeom>
        </p:spPr>
      </p:pic>
      <p:sp>
        <p:nvSpPr>
          <p:cNvPr id="100" name="Shape 72"/>
          <p:cNvSpPr/>
          <p:nvPr/>
        </p:nvSpPr>
        <p:spPr>
          <a:xfrm>
            <a:off x="6372454"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101" name="Text 73"/>
          <p:cNvSpPr txBox="1"/>
          <p:nvPr/>
        </p:nvSpPr>
        <p:spPr>
          <a:xfrm>
            <a:off x="6639458"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Prequal vendors, early LOIs, hedging key materials </a:t>
            </a:r>
            <a:endParaRPr lang="en-US" sz="900" dirty="0"/>
          </a:p>
        </p:txBody>
      </p:sp>
      <p:pic>
        <p:nvPicPr>
          <p:cNvPr id="102" name="Image 26" descr="preencoded.png"/>
          <p:cNvPicPr>
            <a:picLocks noChangeAspect="1"/>
          </p:cNvPicPr>
          <p:nvPr/>
        </p:nvPicPr>
        <p:blipFill>
          <a:blip r:embed="rId8"/>
          <a:srcRect t="-11170" b="-11170"/>
          <a:stretch/>
        </p:blipFill>
        <p:spPr>
          <a:xfrm>
            <a:off x="6476695" y="5716829"/>
            <a:ext cx="85954" cy="105156"/>
          </a:xfrm>
          <a:prstGeom prst="rect">
            <a:avLst/>
          </a:prstGeom>
        </p:spPr>
      </p:pic>
      <p:sp>
        <p:nvSpPr>
          <p:cNvPr id="103" name="Text 74"/>
          <p:cNvSpPr txBox="1"/>
          <p:nvPr/>
        </p:nvSpPr>
        <p:spPr>
          <a:xfrm>
            <a:off x="571500" y="6476695"/>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104" name="Image 27" descr="preencoded.png"/>
          <p:cNvPicPr>
            <a:picLocks noChangeAspect="1"/>
          </p:cNvPicPr>
          <p:nvPr/>
        </p:nvPicPr>
        <p:blipFill>
          <a:blip r:embed="rId17"/>
          <a:srcRect l="-1358" r="-1358"/>
          <a:stretch/>
        </p:blipFill>
        <p:spPr>
          <a:xfrm>
            <a:off x="381305" y="6500470"/>
            <a:ext cx="95098" cy="123444"/>
          </a:xfrm>
          <a:prstGeom prst="rect">
            <a:avLst/>
          </a:prstGeom>
        </p:spPr>
      </p:pic>
      <p:sp>
        <p:nvSpPr>
          <p:cNvPr id="105" name="Text 75"/>
          <p:cNvSpPr txBox="1"/>
          <p:nvPr/>
        </p:nvSpPr>
        <p:spPr>
          <a:xfrm>
            <a:off x="9905695" y="6476695"/>
            <a:ext cx="1905610" cy="191110"/>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10/12</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8" name="Text 5"/>
          <p:cNvSpPr txBox="1"/>
          <p:nvPr/>
        </p:nvSpPr>
        <p:spPr>
          <a:xfrm>
            <a:off x="905256" y="142646"/>
            <a:ext cx="47631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HÀNH ĐỘNG 14 NGÀY</a:t>
            </a:r>
            <a:endParaRPr lang="en-US" sz="1800" dirty="0"/>
          </a:p>
        </p:txBody>
      </p:sp>
      <p:sp>
        <p:nvSpPr>
          <p:cNvPr id="9" name="Text 6"/>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10" name="Image 1" descr="preencoded.png"/>
          <p:cNvPicPr>
            <a:picLocks noChangeAspect="1"/>
          </p:cNvPicPr>
          <p:nvPr/>
        </p:nvPicPr>
        <p:blipFill>
          <a:blip r:embed="rId4"/>
          <a:srcRect t="-5544" b="-5544"/>
          <a:stretch/>
        </p:blipFill>
        <p:spPr>
          <a:xfrm>
            <a:off x="10574122" y="261518"/>
            <a:ext cx="105156" cy="133502"/>
          </a:xfrm>
          <a:prstGeom prst="rect">
            <a:avLst/>
          </a:prstGeom>
        </p:spPr>
      </p:pic>
      <p:sp>
        <p:nvSpPr>
          <p:cNvPr id="11" name="Shape 7"/>
          <p:cNvSpPr/>
          <p:nvPr/>
        </p:nvSpPr>
        <p:spPr>
          <a:xfrm>
            <a:off x="381305" y="857707"/>
            <a:ext cx="11430000" cy="5477256"/>
          </a:xfrm>
          <a:prstGeom prst="roundRect">
            <a:avLst>
              <a:gd name="adj" fmla="val 697"/>
            </a:avLst>
          </a:prstGeom>
          <a:solidFill>
            <a:srgbClr val="FDFDFD"/>
          </a:solidFill>
          <a:ln w="12700">
            <a:solidFill>
              <a:srgbClr val="E0E0E0"/>
            </a:solidFill>
            <a:prstDash val="solid"/>
          </a:ln>
          <a:effectLst>
            <a:outerShdw blurRad="63500" dist="38100" dir="16200000" algn="bl" rotWithShape="0">
              <a:srgbClr val="000000">
                <a:alpha val="5000"/>
              </a:srgbClr>
            </a:outerShdw>
          </a:effectLst>
        </p:spPr>
        <p:txBody>
          <a:bodyPr/>
          <a:lstStyle/>
          <a:p>
            <a:endParaRPr lang="en-US"/>
          </a:p>
        </p:txBody>
      </p:sp>
      <p:sp>
        <p:nvSpPr>
          <p:cNvPr id="12" name="Text 8"/>
          <p:cNvSpPr txBox="1"/>
          <p:nvPr/>
        </p:nvSpPr>
        <p:spPr>
          <a:xfrm>
            <a:off x="838505" y="1086307"/>
            <a:ext cx="73920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10 hành động ưu tiên - Từ ngày 08/05 đến 22/05/2026</a:t>
            </a:r>
            <a:endParaRPr lang="en-US" sz="1300" dirty="0"/>
          </a:p>
        </p:txBody>
      </p:sp>
      <p:pic>
        <p:nvPicPr>
          <p:cNvPr id="13" name="Image 2" descr="preencoded.png"/>
          <p:cNvPicPr>
            <a:picLocks noChangeAspect="1"/>
          </p:cNvPicPr>
          <p:nvPr/>
        </p:nvPicPr>
        <p:blipFill>
          <a:blip r:embed="rId5"/>
          <a:srcRect l="-1773" r="-1773"/>
          <a:stretch/>
        </p:blipFill>
        <p:spPr>
          <a:xfrm>
            <a:off x="609905" y="1104595"/>
            <a:ext cx="133502" cy="171907"/>
          </a:xfrm>
          <a:prstGeom prst="rect">
            <a:avLst/>
          </a:prstGeom>
        </p:spPr>
      </p:pic>
      <p:sp>
        <p:nvSpPr>
          <p:cNvPr id="14" name="Shape 9"/>
          <p:cNvSpPr/>
          <p:nvPr/>
        </p:nvSpPr>
        <p:spPr>
          <a:xfrm>
            <a:off x="609905" y="1524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15" name="Shape 10"/>
          <p:cNvSpPr/>
          <p:nvPr/>
        </p:nvSpPr>
        <p:spPr>
          <a:xfrm>
            <a:off x="609905" y="1524305"/>
            <a:ext cx="38405" cy="571500"/>
          </a:xfrm>
          <a:prstGeom prst="roundRect">
            <a:avLst>
              <a:gd name="adj" fmla="val 634917"/>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752551" y="1714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D0</a:t>
            </a:r>
            <a:endParaRPr lang="en-US" sz="1000" dirty="0"/>
          </a:p>
        </p:txBody>
      </p:sp>
      <p:sp>
        <p:nvSpPr>
          <p:cNvPr id="17" name="Text 12"/>
          <p:cNvSpPr txBox="1"/>
          <p:nvPr/>
        </p:nvSpPr>
        <p:spPr>
          <a:xfrm>
            <a:off x="1466698" y="1619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1. Phê duyệt PA1 (Đào mở)</a:t>
            </a:r>
            <a:endParaRPr lang="en-US" sz="1000" dirty="0"/>
          </a:p>
        </p:txBody>
      </p:sp>
      <p:sp>
        <p:nvSpPr>
          <p:cNvPr id="18" name="Text 13"/>
          <p:cNvSpPr txBox="1"/>
          <p:nvPr/>
        </p:nvSpPr>
        <p:spPr>
          <a:xfrm>
            <a:off x="1466698" y="1819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Phê duyệt phương án thi công chính thức</a:t>
            </a:r>
            <a:endParaRPr lang="en-US" sz="900" dirty="0"/>
          </a:p>
        </p:txBody>
      </p:sp>
      <p:sp>
        <p:nvSpPr>
          <p:cNvPr id="19" name="Text 14"/>
          <p:cNvSpPr txBox="1"/>
          <p:nvPr/>
        </p:nvSpPr>
        <p:spPr>
          <a:xfrm>
            <a:off x="9334195" y="1695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Board</a:t>
            </a:r>
            <a:endParaRPr lang="en-US" sz="900" dirty="0"/>
          </a:p>
        </p:txBody>
      </p:sp>
      <p:sp>
        <p:nvSpPr>
          <p:cNvPr id="20" name="Shape 15"/>
          <p:cNvSpPr/>
          <p:nvPr/>
        </p:nvSpPr>
        <p:spPr>
          <a:xfrm>
            <a:off x="609905" y="22101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1" name="Shape 16"/>
          <p:cNvSpPr/>
          <p:nvPr/>
        </p:nvSpPr>
        <p:spPr>
          <a:xfrm>
            <a:off x="609905" y="22101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2" name="Text 17"/>
          <p:cNvSpPr txBox="1"/>
          <p:nvPr/>
        </p:nvSpPr>
        <p:spPr>
          <a:xfrm>
            <a:off x="752551" y="24003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D+3</a:t>
            </a:r>
            <a:endParaRPr lang="en-US" sz="1000" dirty="0"/>
          </a:p>
        </p:txBody>
      </p:sp>
      <p:sp>
        <p:nvSpPr>
          <p:cNvPr id="23" name="Text 18"/>
          <p:cNvSpPr txBox="1"/>
          <p:nvPr/>
        </p:nvSpPr>
        <p:spPr>
          <a:xfrm>
            <a:off x="1466698" y="23052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2. Hợp đồng tổ chức sự kiện</a:t>
            </a:r>
            <a:endParaRPr lang="en-US" sz="1000" dirty="0"/>
          </a:p>
        </p:txBody>
      </p:sp>
      <p:sp>
        <p:nvSpPr>
          <p:cNvPr id="24" name="Text 19"/>
          <p:cNvSpPr txBox="1"/>
          <p:nvPr/>
        </p:nvSpPr>
        <p:spPr>
          <a:xfrm>
            <a:off x="1466698" y="25054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Chuẩn bị lễ khởi công 25/5/2026</a:t>
            </a:r>
            <a:endParaRPr lang="en-US" sz="900" dirty="0"/>
          </a:p>
        </p:txBody>
      </p:sp>
      <p:sp>
        <p:nvSpPr>
          <p:cNvPr id="25" name="Text 20"/>
          <p:cNvSpPr txBox="1"/>
          <p:nvPr/>
        </p:nvSpPr>
        <p:spPr>
          <a:xfrm>
            <a:off x="9334195" y="23810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Admin/HSE</a:t>
            </a:r>
            <a:endParaRPr lang="en-US" sz="900" dirty="0"/>
          </a:p>
        </p:txBody>
      </p:sp>
      <p:sp>
        <p:nvSpPr>
          <p:cNvPr id="26" name="Shape 21"/>
          <p:cNvSpPr/>
          <p:nvPr/>
        </p:nvSpPr>
        <p:spPr>
          <a:xfrm>
            <a:off x="609905" y="28959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7" name="Shape 22"/>
          <p:cNvSpPr/>
          <p:nvPr/>
        </p:nvSpPr>
        <p:spPr>
          <a:xfrm>
            <a:off x="609905" y="28959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8" name="Text 23"/>
          <p:cNvSpPr txBox="1"/>
          <p:nvPr/>
        </p:nvSpPr>
        <p:spPr>
          <a:xfrm>
            <a:off x="752551" y="30861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D+4</a:t>
            </a:r>
            <a:endParaRPr lang="en-US" sz="1000" dirty="0"/>
          </a:p>
        </p:txBody>
      </p:sp>
      <p:sp>
        <p:nvSpPr>
          <p:cNvPr id="29" name="Text 24"/>
          <p:cNvSpPr txBox="1"/>
          <p:nvPr/>
        </p:nvSpPr>
        <p:spPr>
          <a:xfrm>
            <a:off x="1466698" y="29910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3. Bơm nước + hàng rào</a:t>
            </a:r>
            <a:endParaRPr lang="en-US" sz="1000" dirty="0"/>
          </a:p>
        </p:txBody>
      </p:sp>
      <p:sp>
        <p:nvSpPr>
          <p:cNvPr id="30" name="Text 25"/>
          <p:cNvSpPr txBox="1"/>
          <p:nvPr/>
        </p:nvSpPr>
        <p:spPr>
          <a:xfrm>
            <a:off x="1466698" y="31912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lập hệ thống bơm chống ngập</a:t>
            </a:r>
            <a:endParaRPr lang="en-US" sz="900" dirty="0"/>
          </a:p>
        </p:txBody>
      </p:sp>
      <p:sp>
        <p:nvSpPr>
          <p:cNvPr id="31" name="Text 26"/>
          <p:cNvSpPr txBox="1"/>
          <p:nvPr/>
        </p:nvSpPr>
        <p:spPr>
          <a:xfrm>
            <a:off x="9334195" y="30668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Site Manager</a:t>
            </a:r>
            <a:endParaRPr lang="en-US" sz="900" dirty="0"/>
          </a:p>
        </p:txBody>
      </p:sp>
      <p:sp>
        <p:nvSpPr>
          <p:cNvPr id="32" name="Shape 27"/>
          <p:cNvSpPr/>
          <p:nvPr/>
        </p:nvSpPr>
        <p:spPr>
          <a:xfrm>
            <a:off x="609905" y="35817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3" name="Shape 28"/>
          <p:cNvSpPr/>
          <p:nvPr/>
        </p:nvSpPr>
        <p:spPr>
          <a:xfrm>
            <a:off x="609905" y="35817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34" name="Text 29"/>
          <p:cNvSpPr txBox="1"/>
          <p:nvPr/>
        </p:nvSpPr>
        <p:spPr>
          <a:xfrm>
            <a:off x="752551" y="37719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D+5</a:t>
            </a:r>
            <a:endParaRPr lang="en-US" sz="1000" dirty="0"/>
          </a:p>
        </p:txBody>
      </p:sp>
      <p:sp>
        <p:nvSpPr>
          <p:cNvPr id="35" name="Text 30"/>
          <p:cNvSpPr txBox="1"/>
          <p:nvPr/>
        </p:nvSpPr>
        <p:spPr>
          <a:xfrm>
            <a:off x="1466698" y="36768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4. Thỏa thuận đường </a:t>
            </a:r>
            <a:r>
              <a:rPr lang="en-US" sz="1000" b="1" dirty="0" err="1">
                <a:solidFill>
                  <a:srgbClr val="333333"/>
                </a:solidFill>
                <a:latin typeface="Open Sans" pitchFamily="34" charset="0"/>
                <a:ea typeface="Open Sans" pitchFamily="34" charset="-122"/>
                <a:cs typeface="Open Sans" pitchFamily="34" charset="-120"/>
              </a:rPr>
              <a:t>vào</a:t>
            </a:r>
            <a:r>
              <a:rPr lang="en-US" sz="1000" b="1" dirty="0">
                <a:solidFill>
                  <a:srgbClr val="333333"/>
                </a:solidFill>
                <a:latin typeface="Open Sans" pitchFamily="34" charset="0"/>
                <a:ea typeface="Open Sans" pitchFamily="34" charset="-122"/>
                <a:cs typeface="Open Sans" pitchFamily="34" charset="-120"/>
              </a:rPr>
              <a:t> + Chủ ao</a:t>
            </a:r>
            <a:endParaRPr lang="en-US" sz="1000" dirty="0"/>
          </a:p>
        </p:txBody>
      </p:sp>
      <p:sp>
        <p:nvSpPr>
          <p:cNvPr id="36" name="Text 31"/>
          <p:cNvSpPr txBox="1"/>
          <p:nvPr/>
        </p:nvSpPr>
        <p:spPr>
          <a:xfrm>
            <a:off x="1466698" y="38770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đường độc lập từ Vành Đai 3</a:t>
            </a:r>
            <a:endParaRPr lang="en-US" sz="900" dirty="0"/>
          </a:p>
        </p:txBody>
      </p:sp>
      <p:sp>
        <p:nvSpPr>
          <p:cNvPr id="37" name="Text 32"/>
          <p:cNvSpPr txBox="1"/>
          <p:nvPr/>
        </p:nvSpPr>
        <p:spPr>
          <a:xfrm>
            <a:off x="9334195" y="37526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PM/Legal</a:t>
            </a:r>
            <a:endParaRPr lang="en-US" sz="900" dirty="0"/>
          </a:p>
        </p:txBody>
      </p:sp>
      <p:sp>
        <p:nvSpPr>
          <p:cNvPr id="38" name="Shape 33"/>
          <p:cNvSpPr/>
          <p:nvPr/>
        </p:nvSpPr>
        <p:spPr>
          <a:xfrm>
            <a:off x="609905" y="42675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9" name="Shape 34"/>
          <p:cNvSpPr/>
          <p:nvPr/>
        </p:nvSpPr>
        <p:spPr>
          <a:xfrm>
            <a:off x="609905" y="42675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0" name="Text 35"/>
          <p:cNvSpPr txBox="1"/>
          <p:nvPr/>
        </p:nvSpPr>
        <p:spPr>
          <a:xfrm>
            <a:off x="752551" y="44577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D+7</a:t>
            </a:r>
            <a:endParaRPr lang="en-US" sz="1000" dirty="0"/>
          </a:p>
        </p:txBody>
      </p:sp>
      <p:sp>
        <p:nvSpPr>
          <p:cNvPr id="41" name="Text 36"/>
          <p:cNvSpPr txBox="1"/>
          <p:nvPr/>
        </p:nvSpPr>
        <p:spPr>
          <a:xfrm>
            <a:off x="1466698" y="43626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5. Hợp đồng điện tạm 1600kVA + Bãi tập kết</a:t>
            </a:r>
            <a:endParaRPr lang="en-US" sz="1000" dirty="0"/>
          </a:p>
        </p:txBody>
      </p:sp>
      <p:sp>
        <p:nvSpPr>
          <p:cNvPr id="42" name="Text 37"/>
          <p:cNvSpPr txBox="1"/>
          <p:nvPr/>
        </p:nvSpPr>
        <p:spPr>
          <a:xfrm>
            <a:off x="1466698" y="45628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Triển khai trạm biến áp và bãi tập kết 50m</a:t>
            </a:r>
            <a:endParaRPr lang="en-US" sz="900" dirty="0"/>
          </a:p>
        </p:txBody>
      </p:sp>
      <p:sp>
        <p:nvSpPr>
          <p:cNvPr id="43" name="Text 38"/>
          <p:cNvSpPr txBox="1"/>
          <p:nvPr/>
        </p:nvSpPr>
        <p:spPr>
          <a:xfrm>
            <a:off x="9334195" y="44384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Procurement</a:t>
            </a:r>
            <a:endParaRPr lang="en-US" sz="900" dirty="0"/>
          </a:p>
        </p:txBody>
      </p:sp>
      <p:sp>
        <p:nvSpPr>
          <p:cNvPr id="44" name="Shape 39"/>
          <p:cNvSpPr/>
          <p:nvPr/>
        </p:nvSpPr>
        <p:spPr>
          <a:xfrm>
            <a:off x="609905" y="4953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45" name="Shape 40"/>
          <p:cNvSpPr/>
          <p:nvPr/>
        </p:nvSpPr>
        <p:spPr>
          <a:xfrm>
            <a:off x="609905" y="49533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6" name="Text 41"/>
          <p:cNvSpPr txBox="1"/>
          <p:nvPr/>
        </p:nvSpPr>
        <p:spPr>
          <a:xfrm>
            <a:off x="752551" y="5143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D+10</a:t>
            </a:r>
            <a:endParaRPr lang="en-US" sz="1000" dirty="0"/>
          </a:p>
        </p:txBody>
      </p:sp>
      <p:sp>
        <p:nvSpPr>
          <p:cNvPr id="47" name="Text 42"/>
          <p:cNvSpPr txBox="1"/>
          <p:nvPr/>
        </p:nvSpPr>
        <p:spPr>
          <a:xfrm>
            <a:off x="1466698" y="5048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6. Thành lập ECC + Mua ván khuôn/thiết bị</a:t>
            </a:r>
            <a:endParaRPr lang="en-US" sz="1000" dirty="0"/>
          </a:p>
        </p:txBody>
      </p:sp>
      <p:sp>
        <p:nvSpPr>
          <p:cNvPr id="48" name="Text 43"/>
          <p:cNvSpPr txBox="1"/>
          <p:nvPr/>
        </p:nvSpPr>
        <p:spPr>
          <a:xfrm>
            <a:off x="1466698" y="5248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Thành lập công ty thi công và mua sắm thiết bị</a:t>
            </a:r>
            <a:endParaRPr lang="en-US" sz="900" dirty="0"/>
          </a:p>
        </p:txBody>
      </p:sp>
      <p:sp>
        <p:nvSpPr>
          <p:cNvPr id="49" name="Text 44"/>
          <p:cNvSpPr txBox="1"/>
          <p:nvPr/>
        </p:nvSpPr>
        <p:spPr>
          <a:xfrm>
            <a:off x="9334195" y="5124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CEO/HR</a:t>
            </a:r>
            <a:endParaRPr lang="en-US" sz="900" dirty="0"/>
          </a:p>
        </p:txBody>
      </p:sp>
      <p:sp>
        <p:nvSpPr>
          <p:cNvPr id="50" name="Shape 45"/>
          <p:cNvSpPr/>
          <p:nvPr/>
        </p:nvSpPr>
        <p:spPr>
          <a:xfrm>
            <a:off x="609905"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1" name="Text 46"/>
          <p:cNvSpPr txBox="1"/>
          <p:nvPr/>
        </p:nvSpPr>
        <p:spPr>
          <a:xfrm>
            <a:off x="609905"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14</a:t>
            </a:r>
            <a:endParaRPr lang="en-US" sz="1800" dirty="0"/>
          </a:p>
        </p:txBody>
      </p:sp>
      <p:sp>
        <p:nvSpPr>
          <p:cNvPr id="52" name="Text 47"/>
          <p:cNvSpPr txBox="1"/>
          <p:nvPr/>
        </p:nvSpPr>
        <p:spPr>
          <a:xfrm>
            <a:off x="609905"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Ngày còn lại</a:t>
            </a:r>
            <a:endParaRPr lang="en-US" sz="800" dirty="0"/>
          </a:p>
        </p:txBody>
      </p:sp>
      <p:sp>
        <p:nvSpPr>
          <p:cNvPr id="53" name="Shape 48"/>
          <p:cNvSpPr/>
          <p:nvPr/>
        </p:nvSpPr>
        <p:spPr>
          <a:xfrm>
            <a:off x="2829154"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4" name="Text 49"/>
          <p:cNvSpPr txBox="1"/>
          <p:nvPr/>
        </p:nvSpPr>
        <p:spPr>
          <a:xfrm>
            <a:off x="2829154"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10</a:t>
            </a:r>
            <a:endParaRPr lang="en-US" sz="1800" dirty="0"/>
          </a:p>
        </p:txBody>
      </p:sp>
      <p:sp>
        <p:nvSpPr>
          <p:cNvPr id="55" name="Text 50"/>
          <p:cNvSpPr txBox="1"/>
          <p:nvPr/>
        </p:nvSpPr>
        <p:spPr>
          <a:xfrm>
            <a:off x="2829154"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Hành động</a:t>
            </a:r>
            <a:endParaRPr lang="en-US" sz="800" dirty="0"/>
          </a:p>
        </p:txBody>
      </p:sp>
      <p:sp>
        <p:nvSpPr>
          <p:cNvPr id="56" name="Shape 51"/>
          <p:cNvSpPr/>
          <p:nvPr/>
        </p:nvSpPr>
        <p:spPr>
          <a:xfrm>
            <a:off x="5048402"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7" name="Text 52"/>
          <p:cNvSpPr txBox="1"/>
          <p:nvPr/>
        </p:nvSpPr>
        <p:spPr>
          <a:xfrm>
            <a:off x="5048402"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8</a:t>
            </a:r>
            <a:endParaRPr lang="en-US" sz="1800" dirty="0"/>
          </a:p>
        </p:txBody>
      </p:sp>
      <p:sp>
        <p:nvSpPr>
          <p:cNvPr id="58" name="Text 53"/>
          <p:cNvSpPr txBox="1"/>
          <p:nvPr/>
        </p:nvSpPr>
        <p:spPr>
          <a:xfrm>
            <a:off x="5048402"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Đơn vị</a:t>
            </a:r>
            <a:endParaRPr lang="en-US" sz="800" dirty="0"/>
          </a:p>
        </p:txBody>
      </p:sp>
      <p:sp>
        <p:nvSpPr>
          <p:cNvPr id="59" name="Shape 54"/>
          <p:cNvSpPr/>
          <p:nvPr/>
        </p:nvSpPr>
        <p:spPr>
          <a:xfrm>
            <a:off x="7267651"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0" name="Text 55"/>
          <p:cNvSpPr txBox="1"/>
          <p:nvPr/>
        </p:nvSpPr>
        <p:spPr>
          <a:xfrm>
            <a:off x="7267651"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3</a:t>
            </a:r>
            <a:endParaRPr lang="en-US" sz="1800" dirty="0"/>
          </a:p>
        </p:txBody>
      </p:sp>
      <p:sp>
        <p:nvSpPr>
          <p:cNvPr id="61" name="Text 56"/>
          <p:cNvSpPr txBox="1"/>
          <p:nvPr/>
        </p:nvSpPr>
        <p:spPr>
          <a:xfrm>
            <a:off x="7267651"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Rủi ro cao</a:t>
            </a:r>
            <a:endParaRPr lang="en-US" sz="800" dirty="0"/>
          </a:p>
        </p:txBody>
      </p:sp>
      <p:sp>
        <p:nvSpPr>
          <p:cNvPr id="62" name="Shape 57"/>
          <p:cNvSpPr/>
          <p:nvPr/>
        </p:nvSpPr>
        <p:spPr>
          <a:xfrm>
            <a:off x="9486900"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3" name="Text 58"/>
          <p:cNvSpPr txBox="1"/>
          <p:nvPr/>
        </p:nvSpPr>
        <p:spPr>
          <a:xfrm>
            <a:off x="9486900"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25/5</a:t>
            </a:r>
            <a:endParaRPr lang="en-US" sz="1800" dirty="0"/>
          </a:p>
        </p:txBody>
      </p:sp>
      <p:sp>
        <p:nvSpPr>
          <p:cNvPr id="64" name="Text 59"/>
          <p:cNvSpPr txBox="1"/>
          <p:nvPr/>
        </p:nvSpPr>
        <p:spPr>
          <a:xfrm>
            <a:off x="9486900"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Khởi công</a:t>
            </a:r>
            <a:endParaRPr lang="en-US" sz="800" dirty="0"/>
          </a:p>
        </p:txBody>
      </p:sp>
      <p:sp>
        <p:nvSpPr>
          <p:cNvPr id="65" name="Text 60"/>
          <p:cNvSpPr txBox="1"/>
          <p:nvPr/>
        </p:nvSpPr>
        <p:spPr>
          <a:xfrm>
            <a:off x="571500" y="6524244"/>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66" name="Image 3" descr="preencoded.png"/>
          <p:cNvPicPr>
            <a:picLocks noChangeAspect="1"/>
          </p:cNvPicPr>
          <p:nvPr/>
        </p:nvPicPr>
        <p:blipFill>
          <a:blip r:embed="rId6"/>
          <a:srcRect l="-1358" r="-1358"/>
          <a:stretch/>
        </p:blipFill>
        <p:spPr>
          <a:xfrm>
            <a:off x="381305" y="6548018"/>
            <a:ext cx="95098" cy="123444"/>
          </a:xfrm>
          <a:prstGeom prst="rect">
            <a:avLst/>
          </a:prstGeom>
        </p:spPr>
      </p:pic>
      <p:sp>
        <p:nvSpPr>
          <p:cNvPr id="67" name="Text 61"/>
          <p:cNvSpPr txBox="1"/>
          <p:nvPr/>
        </p:nvSpPr>
        <p:spPr>
          <a:xfrm>
            <a:off x="9905695" y="6476695"/>
            <a:ext cx="1905610" cy="381305"/>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11/12</a:t>
            </a:r>
            <a:r>
              <a:rPr lang="en-US" sz="800" b="1" dirty="0">
                <a:solidFill>
                  <a:srgbClr val="F7A81B"/>
                </a:solidFill>
                <a:latin typeface="Open Sans" pitchFamily="34" charset="0"/>
                <a:ea typeface="Open Sans" pitchFamily="34" charset="-122"/>
                <a:cs typeface="Open Sans" pitchFamily="34" charset="-120"/>
              </a:rPr>
              <a:t>Đang cập nhật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alpha val="10000"/>
            </a:srgbClr>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28600"/>
            <a:ext cx="152705" cy="190195"/>
          </a:xfrm>
          <a:prstGeom prst="rect">
            <a:avLst/>
          </a:prstGeom>
        </p:spPr>
      </p:pic>
      <p:sp>
        <p:nvSpPr>
          <p:cNvPr id="8" name="Text 5"/>
          <p:cNvSpPr txBox="1"/>
          <p:nvPr/>
        </p:nvSpPr>
        <p:spPr>
          <a:xfrm>
            <a:off x="905256" y="185623"/>
            <a:ext cx="2886761"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KẾT LUẬN &amp; PHÊ DUYỆT</a:t>
            </a:r>
            <a:endParaRPr lang="en-US" sz="1800" dirty="0"/>
          </a:p>
        </p:txBody>
      </p:sp>
      <p:pic>
        <p:nvPicPr>
          <p:cNvPr id="9" name="Image 1" descr="preencoded.png"/>
          <p:cNvPicPr>
            <a:picLocks noChangeAspect="1"/>
          </p:cNvPicPr>
          <p:nvPr/>
        </p:nvPicPr>
        <p:blipFill>
          <a:blip r:embed="rId4"/>
          <a:srcRect t="-5544" b="-5544"/>
          <a:stretch/>
        </p:blipFill>
        <p:spPr>
          <a:xfrm>
            <a:off x="10554919"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sp>
        <p:nvSpPr>
          <p:cNvPr id="11" name="Shape 7"/>
          <p:cNvSpPr/>
          <p:nvPr/>
        </p:nvSpPr>
        <p:spPr>
          <a:xfrm>
            <a:off x="381305" y="905256"/>
            <a:ext cx="11430000" cy="5477256"/>
          </a:xfrm>
          <a:prstGeom prst="roundRect">
            <a:avLst>
              <a:gd name="adj" fmla="val 697"/>
            </a:avLst>
          </a:prstGeom>
          <a:solidFill>
            <a:srgbClr val="FFFFFF"/>
          </a:solidFill>
          <a:ln w="12700">
            <a:solidFill>
              <a:srgbClr val="E0E0E0"/>
            </a:solidFill>
            <a:prstDash val="solid"/>
          </a:ln>
          <a:effectLst>
            <a:outerShdw blurRad="139700" dist="38100" dir="16200000" algn="bl" rotWithShape="0">
              <a:srgbClr val="000000">
                <a:alpha val="5000"/>
              </a:srgbClr>
            </a:outerShdw>
          </a:effectLst>
        </p:spPr>
        <p:txBody>
          <a:bodyPr/>
          <a:lstStyle/>
          <a:p>
            <a:endParaRPr lang="en-US"/>
          </a:p>
        </p:txBody>
      </p:sp>
      <p:sp>
        <p:nvSpPr>
          <p:cNvPr id="12" name="Text 8"/>
          <p:cNvSpPr txBox="1"/>
          <p:nvPr/>
        </p:nvSpPr>
        <p:spPr>
          <a:xfrm>
            <a:off x="810158" y="1181405"/>
            <a:ext cx="4839005"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Kết luận &amp; Phê duyệt - Dự án NOXH Yên Sở</a:t>
            </a:r>
            <a:endParaRPr lang="en-US" sz="1500" dirty="0"/>
          </a:p>
        </p:txBody>
      </p:sp>
      <p:pic>
        <p:nvPicPr>
          <p:cNvPr id="13" name="Image 2" descr="preencoded.png"/>
          <p:cNvPicPr>
            <a:picLocks noChangeAspect="1"/>
          </p:cNvPicPr>
          <p:nvPr/>
        </p:nvPicPr>
        <p:blipFill>
          <a:blip r:embed="rId5"/>
          <a:srcRect l="-1773" r="-1773"/>
          <a:stretch/>
        </p:blipFill>
        <p:spPr>
          <a:xfrm>
            <a:off x="676656" y="1214323"/>
            <a:ext cx="133502" cy="171907"/>
          </a:xfrm>
          <a:prstGeom prst="rect">
            <a:avLst/>
          </a:prstGeom>
        </p:spPr>
      </p:pic>
      <p:sp>
        <p:nvSpPr>
          <p:cNvPr id="14" name="Shape 9"/>
          <p:cNvSpPr/>
          <p:nvPr/>
        </p:nvSpPr>
        <p:spPr>
          <a:xfrm>
            <a:off x="676656" y="1676095"/>
            <a:ext cx="4953305" cy="2048256"/>
          </a:xfrm>
          <a:prstGeom prst="roundRect">
            <a:avLst>
              <a:gd name="adj" fmla="val 4153"/>
            </a:avLst>
          </a:prstGeom>
          <a:solidFill>
            <a:srgbClr val="F9F9F9"/>
          </a:solidFill>
          <a:ln w="12700">
            <a:solidFill>
              <a:srgbClr val="E0E0E0"/>
            </a:solidFill>
            <a:prstDash val="solid"/>
          </a:ln>
        </p:spPr>
        <p:txBody>
          <a:bodyPr/>
          <a:lstStyle/>
          <a:p>
            <a:endParaRPr lang="en-US"/>
          </a:p>
        </p:txBody>
      </p:sp>
      <p:sp>
        <p:nvSpPr>
          <p:cNvPr id="15" name="Shape 10"/>
          <p:cNvSpPr/>
          <p:nvPr/>
        </p:nvSpPr>
        <p:spPr>
          <a:xfrm>
            <a:off x="676656" y="1676095"/>
            <a:ext cx="38405" cy="2048256"/>
          </a:xfrm>
          <a:prstGeom prst="roundRect">
            <a:avLst>
              <a:gd name="adj" fmla="val 221483"/>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1028700" y="1895551"/>
            <a:ext cx="8476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KẾT LUẬN</a:t>
            </a:r>
            <a:endParaRPr lang="en-US" sz="1200" dirty="0"/>
          </a:p>
        </p:txBody>
      </p:sp>
      <p:pic>
        <p:nvPicPr>
          <p:cNvPr id="17" name="Image 3" descr="preencoded.png"/>
          <p:cNvPicPr>
            <a:picLocks noChangeAspect="1"/>
          </p:cNvPicPr>
          <p:nvPr/>
        </p:nvPicPr>
        <p:blipFill>
          <a:blip r:embed="rId6"/>
          <a:srcRect t="-13478" b="-13478"/>
          <a:stretch/>
        </p:blipFill>
        <p:spPr>
          <a:xfrm>
            <a:off x="923544" y="1923898"/>
            <a:ext cx="105156" cy="133502"/>
          </a:xfrm>
          <a:prstGeom prst="rect">
            <a:avLst/>
          </a:prstGeom>
        </p:spPr>
      </p:pic>
      <p:sp>
        <p:nvSpPr>
          <p:cNvPr id="18" name="Text 12"/>
          <p:cNvSpPr txBox="1"/>
          <p:nvPr/>
        </p:nvSpPr>
        <p:spPr>
          <a:xfrm>
            <a:off x="923544" y="2190902"/>
            <a:ext cx="4486961" cy="228600"/>
          </a:xfrm>
          <a:prstGeom prst="rect">
            <a:avLst/>
          </a:prstGeom>
          <a:noFill/>
          <a:ln/>
        </p:spPr>
        <p:txBody>
          <a:bodyPr wrap="square" lIns="0" tIns="0" rIns="0" bIns="0" rtlCol="0" anchor="ctr"/>
          <a:lstStyle/>
          <a:p>
            <a:pPr marL="0" indent="0" algn="l">
              <a:buNone/>
            </a:pPr>
            <a:r>
              <a:rPr lang="en-US" sz="1300" b="1" dirty="0">
                <a:solidFill>
                  <a:srgbClr val="F7A81B"/>
                </a:solidFill>
                <a:latin typeface="Open Sans" pitchFamily="34" charset="0"/>
                <a:ea typeface="Open Sans" pitchFamily="34" charset="-122"/>
                <a:cs typeface="Open Sans" pitchFamily="34" charset="-120"/>
              </a:rPr>
              <a:t>Dự án khả thi về tài chính</a:t>
            </a:r>
            <a:endParaRPr lang="en-US" sz="1300" dirty="0"/>
          </a:p>
        </p:txBody>
      </p:sp>
      <p:sp>
        <p:nvSpPr>
          <p:cNvPr id="19" name="Text 13"/>
          <p:cNvSpPr txBox="1"/>
          <p:nvPr/>
        </p:nvSpPr>
        <p:spPr>
          <a:xfrm>
            <a:off x="923544" y="2514600"/>
            <a:ext cx="4486961" cy="914400"/>
          </a:xfrm>
          <a:prstGeom prst="rect">
            <a:avLst/>
          </a:prstGeom>
          <a:noFill/>
          <a:ln/>
        </p:spPr>
        <p:txBody>
          <a:bodyPr wrap="square" lIns="0" tIns="0" rIns="0" bIns="0" rtlCol="0" anchor="ctr"/>
          <a:lstStyle/>
          <a:p>
            <a:pPr marL="0" indent="0" algn="l">
              <a:buNone/>
            </a:pPr>
            <a:r>
              <a:rPr lang="en-US" sz="1100" dirty="0">
                <a:solidFill>
                  <a:srgbClr val="555555"/>
                </a:solidFill>
                <a:latin typeface="Open Sans" pitchFamily="34" charset="0"/>
                <a:ea typeface="Open Sans" pitchFamily="34" charset="-122"/>
                <a:cs typeface="Open Sans" pitchFamily="34" charset="-120"/>
              </a:rPr>
              <a:t>• Lợi nhuận: </a:t>
            </a:r>
            <a:r>
              <a:rPr lang="en-US" sz="1100" b="1" dirty="0">
                <a:solidFill>
                  <a:srgbClr val="F7A81B"/>
                </a:solidFill>
                <a:latin typeface="Open Sans" pitchFamily="34" charset="0"/>
                <a:ea typeface="Open Sans" pitchFamily="34" charset="-122"/>
                <a:cs typeface="Open Sans" pitchFamily="34" charset="-120"/>
              </a:rPr>
              <a:t>47.14 tỷ</a:t>
            </a:r>
            <a:r>
              <a:rPr lang="en-US" sz="1100" dirty="0">
                <a:solidFill>
                  <a:srgbClr val="555555"/>
                </a:solidFill>
                <a:latin typeface="Open Sans" pitchFamily="34" charset="0"/>
                <a:ea typeface="Open Sans" pitchFamily="34" charset="-122"/>
                <a:cs typeface="Open Sans" pitchFamily="34" charset="-120"/>
              </a:rPr>
              <a:t> (tỷ </a:t>
            </a:r>
            <a:r>
              <a:rPr lang="en-US" sz="1100" dirty="0" err="1">
                <a:solidFill>
                  <a:srgbClr val="555555"/>
                </a:solidFill>
                <a:latin typeface="Open Sans" pitchFamily="34" charset="0"/>
                <a:ea typeface="Open Sans" pitchFamily="34" charset="-122"/>
                <a:cs typeface="Open Sans" pitchFamily="34" charset="-120"/>
              </a:rPr>
              <a:t>suất</a:t>
            </a:r>
            <a:r>
              <a:rPr lang="en-US" sz="1100" dirty="0">
                <a:solidFill>
                  <a:srgbClr val="555555"/>
                </a:solidFill>
                <a:latin typeface="Open Sans" pitchFamily="34" charset="0"/>
                <a:ea typeface="Open Sans" pitchFamily="34" charset="-122"/>
                <a:cs typeface="Open Sans" pitchFamily="34" charset="-120"/>
              </a:rPr>
              <a:t> </a:t>
            </a:r>
            <a:r>
              <a:rPr lang="en-US" sz="1100" b="1" dirty="0">
                <a:solidFill>
                  <a:srgbClr val="555555"/>
                </a:solidFill>
                <a:latin typeface="Open Sans" pitchFamily="34" charset="0"/>
                <a:ea typeface="Open Sans" pitchFamily="34" charset="-122"/>
                <a:cs typeface="Open Sans" pitchFamily="34" charset="-120"/>
              </a:rPr>
              <a:t>10%</a:t>
            </a:r>
            <a:r>
              <a:rPr lang="en-US" sz="1100" dirty="0">
                <a:solidFill>
                  <a:srgbClr val="555555"/>
                </a:solidFill>
                <a:latin typeface="Open Sans" pitchFamily="34" charset="0"/>
                <a:ea typeface="Open Sans" pitchFamily="34" charset="-122"/>
                <a:cs typeface="Open Sans" pitchFamily="34" charset="-120"/>
              </a:rPr>
              <a:t>)</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Vốn lưu động tối đa: </a:t>
            </a:r>
            <a:r>
              <a:rPr lang="en-US" sz="1100" b="1" dirty="0">
                <a:solidFill>
                  <a:srgbClr val="555555"/>
                </a:solidFill>
                <a:latin typeface="Open Sans" pitchFamily="34" charset="0"/>
                <a:ea typeface="Open Sans" pitchFamily="34" charset="-122"/>
                <a:cs typeface="Open Sans" pitchFamily="34" charset="-120"/>
              </a:rPr>
              <a:t>17.71 tỷ</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Chọn </a:t>
            </a:r>
            <a:r>
              <a:rPr lang="en-US" sz="1100" b="1" dirty="0">
                <a:solidFill>
                  <a:srgbClr val="F7A81B"/>
                </a:solidFill>
                <a:latin typeface="Open Sans" pitchFamily="34" charset="0"/>
                <a:ea typeface="Open Sans" pitchFamily="34" charset="-122"/>
                <a:cs typeface="Open Sans" pitchFamily="34" charset="-120"/>
              </a:rPr>
              <a:t>PA1 (Đào mở)</a:t>
            </a:r>
            <a:r>
              <a:rPr lang="en-US" sz="1100" dirty="0">
                <a:solidFill>
                  <a:srgbClr val="555555"/>
                </a:solidFill>
                <a:latin typeface="Open Sans" pitchFamily="34" charset="0"/>
                <a:ea typeface="Open Sans" pitchFamily="34" charset="-122"/>
                <a:cs typeface="Open Sans" pitchFamily="34" charset="-120"/>
              </a:rPr>
              <a:t> tiết kiệm 1.84 tỷ và 60 ngày</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Mô hình ECC thi công trực tiếp tăng kiểm soát và lợi nhuận</a:t>
            </a:r>
            <a:endParaRPr lang="en-US" sz="1100" dirty="0"/>
          </a:p>
        </p:txBody>
      </p:sp>
      <p:sp>
        <p:nvSpPr>
          <p:cNvPr id="20" name="Shape 14"/>
          <p:cNvSpPr/>
          <p:nvPr/>
        </p:nvSpPr>
        <p:spPr>
          <a:xfrm>
            <a:off x="676656" y="3866998"/>
            <a:ext cx="4953305" cy="2238451"/>
          </a:xfrm>
          <a:prstGeom prst="roundRect">
            <a:avLst>
              <a:gd name="adj" fmla="val 3477"/>
            </a:avLst>
          </a:prstGeom>
          <a:solidFill>
            <a:srgbClr val="F9F9F9"/>
          </a:solidFill>
          <a:ln w="12700">
            <a:solidFill>
              <a:srgbClr val="E0E0E0"/>
            </a:solidFill>
            <a:prstDash val="solid"/>
          </a:ln>
        </p:spPr>
        <p:txBody>
          <a:bodyPr/>
          <a:lstStyle/>
          <a:p>
            <a:endParaRPr lang="en-US"/>
          </a:p>
        </p:txBody>
      </p:sp>
      <p:sp>
        <p:nvSpPr>
          <p:cNvPr id="21" name="Shape 15"/>
          <p:cNvSpPr/>
          <p:nvPr/>
        </p:nvSpPr>
        <p:spPr>
          <a:xfrm>
            <a:off x="676656" y="3866998"/>
            <a:ext cx="38405" cy="2238451"/>
          </a:xfrm>
          <a:prstGeom prst="roundRect">
            <a:avLst>
              <a:gd name="adj" fmla="val 202633"/>
            </a:avLst>
          </a:prstGeom>
          <a:solidFill>
            <a:srgbClr val="F7A81B"/>
          </a:solidFill>
          <a:ln w="12700">
            <a:solidFill>
              <a:srgbClr val="F7A81B">
                <a:alpha val="0"/>
              </a:srgbClr>
            </a:solidFill>
            <a:prstDash val="solid"/>
          </a:ln>
        </p:spPr>
        <p:txBody>
          <a:bodyPr/>
          <a:lstStyle/>
          <a:p>
            <a:endParaRPr lang="en-US"/>
          </a:p>
        </p:txBody>
      </p:sp>
      <p:sp>
        <p:nvSpPr>
          <p:cNvPr id="22" name="Text 16"/>
          <p:cNvSpPr txBox="1"/>
          <p:nvPr/>
        </p:nvSpPr>
        <p:spPr>
          <a:xfrm>
            <a:off x="1028700" y="4086454"/>
            <a:ext cx="1438351"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BƯỚC TIẾP THEO</a:t>
            </a:r>
            <a:endParaRPr lang="en-US" sz="1200" dirty="0"/>
          </a:p>
        </p:txBody>
      </p:sp>
      <p:pic>
        <p:nvPicPr>
          <p:cNvPr id="23" name="Image 4" descr="preencoded.png"/>
          <p:cNvPicPr>
            <a:picLocks noChangeAspect="1"/>
          </p:cNvPicPr>
          <p:nvPr/>
        </p:nvPicPr>
        <p:blipFill>
          <a:blip r:embed="rId7"/>
          <a:srcRect t="-13478" b="-13478"/>
          <a:stretch/>
        </p:blipFill>
        <p:spPr>
          <a:xfrm>
            <a:off x="923544" y="4114800"/>
            <a:ext cx="105156" cy="133502"/>
          </a:xfrm>
          <a:prstGeom prst="rect">
            <a:avLst/>
          </a:prstGeom>
        </p:spPr>
      </p:pic>
      <p:sp>
        <p:nvSpPr>
          <p:cNvPr id="24" name="Shape 17"/>
          <p:cNvSpPr/>
          <p:nvPr/>
        </p:nvSpPr>
        <p:spPr>
          <a:xfrm>
            <a:off x="923544"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25" name="Shape 18"/>
          <p:cNvSpPr/>
          <p:nvPr/>
        </p:nvSpPr>
        <p:spPr>
          <a:xfrm>
            <a:off x="1481328"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26" name="Image 5" descr="preencoded.png"/>
          <p:cNvPicPr>
            <a:picLocks noChangeAspect="1"/>
          </p:cNvPicPr>
          <p:nvPr/>
        </p:nvPicPr>
        <p:blipFill>
          <a:blip r:embed="rId8"/>
          <a:srcRect t="-5544" b="-5544"/>
          <a:stretch/>
        </p:blipFill>
        <p:spPr>
          <a:xfrm>
            <a:off x="1580998" y="4593031"/>
            <a:ext cx="105156" cy="133502"/>
          </a:xfrm>
          <a:prstGeom prst="rect">
            <a:avLst/>
          </a:prstGeom>
        </p:spPr>
      </p:pic>
      <p:sp>
        <p:nvSpPr>
          <p:cNvPr id="27" name="Text 19"/>
          <p:cNvSpPr txBox="1"/>
          <p:nvPr/>
        </p:nvSpPr>
        <p:spPr>
          <a:xfrm>
            <a:off x="1028700"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Thực hiện</a:t>
            </a:r>
            <a:endParaRPr lang="en-US" sz="1000" dirty="0"/>
          </a:p>
        </p:txBody>
      </p:sp>
      <p:sp>
        <p:nvSpPr>
          <p:cNvPr id="28" name="Text 20"/>
          <p:cNvSpPr txBox="1"/>
          <p:nvPr/>
        </p:nvSpPr>
        <p:spPr>
          <a:xfrm>
            <a:off x="1028700"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Kế hoạch 14 ngày</a:t>
            </a:r>
            <a:endParaRPr lang="en-US" sz="900" dirty="0"/>
          </a:p>
        </p:txBody>
      </p:sp>
      <p:sp>
        <p:nvSpPr>
          <p:cNvPr id="29" name="Shape 21"/>
          <p:cNvSpPr/>
          <p:nvPr/>
        </p:nvSpPr>
        <p:spPr>
          <a:xfrm>
            <a:off x="2457907"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0" name="Shape 22"/>
          <p:cNvSpPr/>
          <p:nvPr/>
        </p:nvSpPr>
        <p:spPr>
          <a:xfrm>
            <a:off x="3014777"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1" name="Image 6" descr="preencoded.png"/>
          <p:cNvPicPr>
            <a:picLocks noChangeAspect="1"/>
          </p:cNvPicPr>
          <p:nvPr/>
        </p:nvPicPr>
        <p:blipFill>
          <a:blip r:embed="rId9"/>
          <a:srcRect t="-5544" b="-5544"/>
          <a:stretch/>
        </p:blipFill>
        <p:spPr>
          <a:xfrm>
            <a:off x="3114446" y="4593031"/>
            <a:ext cx="105156" cy="133502"/>
          </a:xfrm>
          <a:prstGeom prst="rect">
            <a:avLst/>
          </a:prstGeom>
        </p:spPr>
      </p:pic>
      <p:sp>
        <p:nvSpPr>
          <p:cNvPr id="32" name="Text 23"/>
          <p:cNvSpPr txBox="1"/>
          <p:nvPr/>
        </p:nvSpPr>
        <p:spPr>
          <a:xfrm>
            <a:off x="2562149"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Báo cáo</a:t>
            </a:r>
            <a:endParaRPr lang="en-US" sz="1000" dirty="0"/>
          </a:p>
        </p:txBody>
      </p:sp>
      <p:sp>
        <p:nvSpPr>
          <p:cNvPr id="33" name="Text 24"/>
          <p:cNvSpPr txBox="1"/>
          <p:nvPr/>
        </p:nvSpPr>
        <p:spPr>
          <a:xfrm>
            <a:off x="2424989" y="5105095"/>
            <a:ext cx="1484986"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Sẵn sàng 24/05/2026</a:t>
            </a:r>
            <a:endParaRPr lang="en-US" sz="900" dirty="0"/>
          </a:p>
        </p:txBody>
      </p:sp>
      <p:sp>
        <p:nvSpPr>
          <p:cNvPr id="34" name="Shape 25"/>
          <p:cNvSpPr/>
          <p:nvPr/>
        </p:nvSpPr>
        <p:spPr>
          <a:xfrm>
            <a:off x="3991356"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5" name="Shape 26"/>
          <p:cNvSpPr/>
          <p:nvPr/>
        </p:nvSpPr>
        <p:spPr>
          <a:xfrm>
            <a:off x="4548226"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6" name="Image 7" descr="preencoded.png"/>
          <p:cNvPicPr>
            <a:picLocks noChangeAspect="1"/>
          </p:cNvPicPr>
          <p:nvPr/>
        </p:nvPicPr>
        <p:blipFill>
          <a:blip r:embed="rId10"/>
          <a:srcRect t="-13478" b="-13478"/>
          <a:stretch/>
        </p:blipFill>
        <p:spPr>
          <a:xfrm>
            <a:off x="4647895" y="4593031"/>
            <a:ext cx="105156" cy="133502"/>
          </a:xfrm>
          <a:prstGeom prst="rect">
            <a:avLst/>
          </a:prstGeom>
        </p:spPr>
      </p:pic>
      <p:sp>
        <p:nvSpPr>
          <p:cNvPr id="37" name="Text 27"/>
          <p:cNvSpPr txBox="1"/>
          <p:nvPr/>
        </p:nvSpPr>
        <p:spPr>
          <a:xfrm>
            <a:off x="4095598"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Khởi công</a:t>
            </a:r>
            <a:endParaRPr lang="en-US" sz="1000" dirty="0"/>
          </a:p>
        </p:txBody>
      </p:sp>
      <p:sp>
        <p:nvSpPr>
          <p:cNvPr id="38" name="Text 28"/>
          <p:cNvSpPr txBox="1"/>
          <p:nvPr/>
        </p:nvSpPr>
        <p:spPr>
          <a:xfrm>
            <a:off x="4095598"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25/05/2026</a:t>
            </a:r>
            <a:endParaRPr lang="en-US" sz="900" dirty="0"/>
          </a:p>
        </p:txBody>
      </p:sp>
      <p:sp>
        <p:nvSpPr>
          <p:cNvPr id="39" name="Shape 29"/>
          <p:cNvSpPr/>
          <p:nvPr/>
        </p:nvSpPr>
        <p:spPr>
          <a:xfrm>
            <a:off x="5867705" y="1676095"/>
            <a:ext cx="5667451" cy="4429354"/>
          </a:xfrm>
          <a:prstGeom prst="roundRect">
            <a:avLst>
              <a:gd name="adj" fmla="val 888"/>
            </a:avLst>
          </a:prstGeom>
          <a:solidFill>
            <a:srgbClr val="F9F9F9"/>
          </a:solidFill>
          <a:ln w="12700">
            <a:solidFill>
              <a:srgbClr val="E0E0E0"/>
            </a:solidFill>
            <a:prstDash val="solid"/>
          </a:ln>
        </p:spPr>
        <p:txBody>
          <a:bodyPr/>
          <a:lstStyle/>
          <a:p>
            <a:endParaRPr lang="en-US"/>
          </a:p>
        </p:txBody>
      </p:sp>
      <p:sp>
        <p:nvSpPr>
          <p:cNvPr id="40" name="Shape 30"/>
          <p:cNvSpPr/>
          <p:nvPr/>
        </p:nvSpPr>
        <p:spPr>
          <a:xfrm>
            <a:off x="5867705" y="1676095"/>
            <a:ext cx="38405" cy="4429354"/>
          </a:xfrm>
          <a:prstGeom prst="roundRect">
            <a:avLst>
              <a:gd name="adj" fmla="val 102406"/>
            </a:avLst>
          </a:prstGeom>
          <a:solidFill>
            <a:srgbClr val="F7A81B"/>
          </a:solidFill>
          <a:ln w="12700">
            <a:solidFill>
              <a:srgbClr val="F7A81B">
                <a:alpha val="0"/>
              </a:srgbClr>
            </a:solidFill>
            <a:prstDash val="solid"/>
          </a:ln>
        </p:spPr>
        <p:txBody>
          <a:bodyPr/>
          <a:lstStyle/>
          <a:p>
            <a:endParaRPr lang="en-US"/>
          </a:p>
        </p:txBody>
      </p:sp>
      <p:sp>
        <p:nvSpPr>
          <p:cNvPr id="41" name="Text 31"/>
          <p:cNvSpPr txBox="1"/>
          <p:nvPr/>
        </p:nvSpPr>
        <p:spPr>
          <a:xfrm>
            <a:off x="6220663" y="1895551"/>
            <a:ext cx="17620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PHÊ DUYỆT YÊU CẦU</a:t>
            </a:r>
            <a:endParaRPr lang="en-US" sz="1200" dirty="0"/>
          </a:p>
        </p:txBody>
      </p:sp>
      <p:pic>
        <p:nvPicPr>
          <p:cNvPr id="42" name="Image 8" descr="preencoded.png"/>
          <p:cNvPicPr>
            <a:picLocks noChangeAspect="1"/>
          </p:cNvPicPr>
          <p:nvPr/>
        </p:nvPicPr>
        <p:blipFill>
          <a:blip r:embed="rId11"/>
          <a:srcRect t="-5544" b="-5544"/>
          <a:stretch/>
        </p:blipFill>
        <p:spPr>
          <a:xfrm>
            <a:off x="6115507" y="1923898"/>
            <a:ext cx="105156" cy="133502"/>
          </a:xfrm>
          <a:prstGeom prst="rect">
            <a:avLst/>
          </a:prstGeom>
        </p:spPr>
      </p:pic>
      <p:sp>
        <p:nvSpPr>
          <p:cNvPr id="43" name="Shape 32"/>
          <p:cNvSpPr/>
          <p:nvPr/>
        </p:nvSpPr>
        <p:spPr>
          <a:xfrm>
            <a:off x="6115507" y="2190902"/>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4" name="Shape 33"/>
          <p:cNvSpPr/>
          <p:nvPr/>
        </p:nvSpPr>
        <p:spPr>
          <a:xfrm>
            <a:off x="6267298" y="231434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45" name="Image 9" descr="preencoded.png"/>
          <p:cNvPicPr>
            <a:picLocks noChangeAspect="1"/>
          </p:cNvPicPr>
          <p:nvPr/>
        </p:nvPicPr>
        <p:blipFill>
          <a:blip r:embed="rId12"/>
          <a:srcRect t="-4819" b="-4819"/>
          <a:stretch/>
        </p:blipFill>
        <p:spPr>
          <a:xfrm>
            <a:off x="6324905" y="2364638"/>
            <a:ext cx="75895" cy="95098"/>
          </a:xfrm>
          <a:prstGeom prst="rect">
            <a:avLst/>
          </a:prstGeom>
        </p:spPr>
      </p:pic>
      <p:sp>
        <p:nvSpPr>
          <p:cNvPr id="46" name="Text 34"/>
          <p:cNvSpPr txBox="1"/>
          <p:nvPr/>
        </p:nvSpPr>
        <p:spPr>
          <a:xfrm>
            <a:off x="6572707" y="229514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PA1 làm phương án chính thức cho CT2</a:t>
            </a:r>
            <a:endParaRPr lang="en-US" sz="1000" dirty="0"/>
          </a:p>
        </p:txBody>
      </p:sp>
      <p:sp>
        <p:nvSpPr>
          <p:cNvPr id="47" name="Text 35"/>
          <p:cNvSpPr txBox="1"/>
          <p:nvPr/>
        </p:nvSpPr>
        <p:spPr>
          <a:xfrm>
            <a:off x="6572707" y="248625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Đào mở - tiết kiệm 1.84 tỷ, nhanh hơn 60 ngày</a:t>
            </a:r>
            <a:endParaRPr lang="en-US" sz="900" dirty="0"/>
          </a:p>
        </p:txBody>
      </p:sp>
      <p:sp>
        <p:nvSpPr>
          <p:cNvPr id="48" name="Shape 36"/>
          <p:cNvSpPr/>
          <p:nvPr/>
        </p:nvSpPr>
        <p:spPr>
          <a:xfrm>
            <a:off x="6115507" y="2857500"/>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9" name="Shape 37"/>
          <p:cNvSpPr/>
          <p:nvPr/>
        </p:nvSpPr>
        <p:spPr>
          <a:xfrm>
            <a:off x="6267298" y="298094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0" name="Image 10" descr="preencoded.png"/>
          <p:cNvPicPr>
            <a:picLocks noChangeAspect="1"/>
          </p:cNvPicPr>
          <p:nvPr/>
        </p:nvPicPr>
        <p:blipFill>
          <a:blip r:embed="rId12"/>
          <a:srcRect t="-4819" b="-4819"/>
          <a:stretch/>
        </p:blipFill>
        <p:spPr>
          <a:xfrm>
            <a:off x="6324905" y="3031236"/>
            <a:ext cx="75895" cy="95098"/>
          </a:xfrm>
          <a:prstGeom prst="rect">
            <a:avLst/>
          </a:prstGeom>
        </p:spPr>
      </p:pic>
      <p:sp>
        <p:nvSpPr>
          <p:cNvPr id="51" name="Text 38"/>
          <p:cNvSpPr txBox="1"/>
          <p:nvPr/>
        </p:nvSpPr>
        <p:spPr>
          <a:xfrm>
            <a:off x="6572707" y="2962656"/>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ngân sách thuê đường vào và bãi tập kết</a:t>
            </a:r>
            <a:endParaRPr lang="en-US" sz="1000" dirty="0"/>
          </a:p>
        </p:txBody>
      </p:sp>
      <p:sp>
        <p:nvSpPr>
          <p:cNvPr id="52" name="Text 39"/>
          <p:cNvSpPr txBox="1"/>
          <p:nvPr/>
        </p:nvSpPr>
        <p:spPr>
          <a:xfrm>
            <a:off x="6572707" y="3152851"/>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50 triệu/tháng cho đường từ Vành đai 3</a:t>
            </a:r>
            <a:endParaRPr lang="en-US" sz="900" dirty="0"/>
          </a:p>
        </p:txBody>
      </p:sp>
      <p:sp>
        <p:nvSpPr>
          <p:cNvPr id="53" name="Shape 40"/>
          <p:cNvSpPr/>
          <p:nvPr/>
        </p:nvSpPr>
        <p:spPr>
          <a:xfrm>
            <a:off x="6115507" y="3524098"/>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4" name="Shape 41"/>
          <p:cNvSpPr/>
          <p:nvPr/>
        </p:nvSpPr>
        <p:spPr>
          <a:xfrm>
            <a:off x="6267298" y="364845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5" name="Image 11" descr="preencoded.png"/>
          <p:cNvPicPr>
            <a:picLocks noChangeAspect="1"/>
          </p:cNvPicPr>
          <p:nvPr/>
        </p:nvPicPr>
        <p:blipFill>
          <a:blip r:embed="rId12"/>
          <a:srcRect t="-4819" b="-4819"/>
          <a:stretch/>
        </p:blipFill>
        <p:spPr>
          <a:xfrm>
            <a:off x="6324905" y="3697834"/>
            <a:ext cx="75895" cy="95098"/>
          </a:xfrm>
          <a:prstGeom prst="rect">
            <a:avLst/>
          </a:prstGeom>
        </p:spPr>
      </p:pic>
      <p:sp>
        <p:nvSpPr>
          <p:cNvPr id="56" name="Text 42"/>
          <p:cNvSpPr txBox="1"/>
          <p:nvPr/>
        </p:nvSpPr>
        <p:spPr>
          <a:xfrm>
            <a:off x="6572707" y="362925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fast-track trạm biến áp 1600kVA</a:t>
            </a:r>
            <a:endParaRPr lang="en-US" sz="1000" dirty="0"/>
          </a:p>
        </p:txBody>
      </p:sp>
      <p:sp>
        <p:nvSpPr>
          <p:cNvPr id="57" name="Text 43"/>
          <p:cNvSpPr txBox="1"/>
          <p:nvPr/>
        </p:nvSpPr>
        <p:spPr>
          <a:xfrm>
            <a:off x="6572707" y="3819449"/>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Điện tạm cho thi công phần ngầm</a:t>
            </a:r>
            <a:endParaRPr lang="en-US" sz="900" dirty="0"/>
          </a:p>
        </p:txBody>
      </p:sp>
      <p:sp>
        <p:nvSpPr>
          <p:cNvPr id="58" name="Shape 44"/>
          <p:cNvSpPr/>
          <p:nvPr/>
        </p:nvSpPr>
        <p:spPr>
          <a:xfrm>
            <a:off x="6115507" y="4190695"/>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9" name="Shape 45"/>
          <p:cNvSpPr/>
          <p:nvPr/>
        </p:nvSpPr>
        <p:spPr>
          <a:xfrm>
            <a:off x="6267298" y="431505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2" descr="preencoded.png"/>
          <p:cNvPicPr>
            <a:picLocks noChangeAspect="1"/>
          </p:cNvPicPr>
          <p:nvPr/>
        </p:nvPicPr>
        <p:blipFill>
          <a:blip r:embed="rId12"/>
          <a:srcRect t="-4819" b="-4819"/>
          <a:stretch/>
        </p:blipFill>
        <p:spPr>
          <a:xfrm>
            <a:off x="6324905" y="4364431"/>
            <a:ext cx="75895" cy="95098"/>
          </a:xfrm>
          <a:prstGeom prst="rect">
            <a:avLst/>
          </a:prstGeom>
        </p:spPr>
      </p:pic>
      <p:sp>
        <p:nvSpPr>
          <p:cNvPr id="61" name="Text 46"/>
          <p:cNvSpPr txBox="1"/>
          <p:nvPr/>
        </p:nvSpPr>
        <p:spPr>
          <a:xfrm>
            <a:off x="6572707" y="4295851"/>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thành lập ECC </a:t>
            </a:r>
            <a:r>
              <a:rPr lang="en-US" sz="1000" b="1" dirty="0" err="1">
                <a:solidFill>
                  <a:srgbClr val="808080"/>
                </a:solidFill>
                <a:latin typeface="Open Sans" pitchFamily="34" charset="0"/>
                <a:ea typeface="Open Sans" pitchFamily="34" charset="-122"/>
                <a:cs typeface="Open Sans" pitchFamily="34" charset="-120"/>
              </a:rPr>
              <a:t>và</a:t>
            </a:r>
            <a:r>
              <a:rPr lang="en-US" sz="1000" b="1" dirty="0">
                <a:solidFill>
                  <a:srgbClr val="808080"/>
                </a:solidFill>
                <a:latin typeface="Open Sans" pitchFamily="34" charset="0"/>
                <a:ea typeface="Open Sans" pitchFamily="34" charset="-122"/>
                <a:cs typeface="Open Sans" pitchFamily="34" charset="-120"/>
              </a:rPr>
              <a:t> </a:t>
            </a:r>
            <a:r>
              <a:rPr lang="en-US" sz="1000" b="1" dirty="0" err="1">
                <a:solidFill>
                  <a:srgbClr val="808080"/>
                </a:solidFill>
                <a:latin typeface="Open Sans" pitchFamily="34" charset="0"/>
                <a:ea typeface="Open Sans" pitchFamily="34" charset="-122"/>
                <a:cs typeface="Open Sans" pitchFamily="34" charset="-120"/>
              </a:rPr>
              <a:t>CapEx</a:t>
            </a:r>
            <a:r>
              <a:rPr lang="en-US" sz="1000" b="1" dirty="0">
                <a:solidFill>
                  <a:srgbClr val="808080"/>
                </a:solidFill>
                <a:latin typeface="Open Sans" pitchFamily="34" charset="0"/>
                <a:ea typeface="Open Sans" pitchFamily="34" charset="-122"/>
                <a:cs typeface="Open Sans" pitchFamily="34" charset="-120"/>
              </a:rPr>
              <a:t> ban đầu</a:t>
            </a:r>
            <a:endParaRPr lang="en-US" sz="1000" dirty="0"/>
          </a:p>
        </p:txBody>
      </p:sp>
      <p:sp>
        <p:nvSpPr>
          <p:cNvPr id="62" name="Text 47"/>
          <p:cNvSpPr txBox="1"/>
          <p:nvPr/>
        </p:nvSpPr>
        <p:spPr>
          <a:xfrm>
            <a:off x="6572707" y="4486046"/>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Ván khuôn 32.91 tỷ, thiết bị 14.81 tỷ</a:t>
            </a:r>
            <a:endParaRPr lang="en-US" sz="900" dirty="0"/>
          </a:p>
        </p:txBody>
      </p:sp>
      <p:sp>
        <p:nvSpPr>
          <p:cNvPr id="63" name="Shape 48"/>
          <p:cNvSpPr/>
          <p:nvPr/>
        </p:nvSpPr>
        <p:spPr>
          <a:xfrm>
            <a:off x="6115507" y="4858207"/>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64" name="Shape 49"/>
          <p:cNvSpPr/>
          <p:nvPr/>
        </p:nvSpPr>
        <p:spPr>
          <a:xfrm>
            <a:off x="6267298" y="4981651"/>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5" name="Image 13" descr="preencoded.png"/>
          <p:cNvPicPr>
            <a:picLocks noChangeAspect="1"/>
          </p:cNvPicPr>
          <p:nvPr/>
        </p:nvPicPr>
        <p:blipFill>
          <a:blip r:embed="rId12"/>
          <a:srcRect t="-4819" b="-4819"/>
          <a:stretch/>
        </p:blipFill>
        <p:spPr>
          <a:xfrm>
            <a:off x="6324905" y="5031943"/>
            <a:ext cx="75895" cy="95098"/>
          </a:xfrm>
          <a:prstGeom prst="rect">
            <a:avLst/>
          </a:prstGeom>
        </p:spPr>
      </p:pic>
      <p:sp>
        <p:nvSpPr>
          <p:cNvPr id="66" name="Text 50"/>
          <p:cNvSpPr txBox="1"/>
          <p:nvPr/>
        </p:nvSpPr>
        <p:spPr>
          <a:xfrm>
            <a:off x="6572707" y="4962449"/>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LOIs sớm cho cọc nhồi, văng chống, đất</a:t>
            </a:r>
            <a:endParaRPr lang="en-US" sz="1000" dirty="0"/>
          </a:p>
        </p:txBody>
      </p:sp>
      <p:sp>
        <p:nvSpPr>
          <p:cNvPr id="67" name="Text 51"/>
          <p:cNvSpPr txBox="1"/>
          <p:nvPr/>
        </p:nvSpPr>
        <p:spPr>
          <a:xfrm>
            <a:off x="6572707" y="515264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Đảm bảo tiến độ khởi công</a:t>
            </a:r>
            <a:endParaRPr lang="en-US" sz="900" dirty="0"/>
          </a:p>
        </p:txBody>
      </p:sp>
      <p:sp>
        <p:nvSpPr>
          <p:cNvPr id="68" name="Text 52"/>
          <p:cNvSpPr txBox="1"/>
          <p:nvPr/>
        </p:nvSpPr>
        <p:spPr>
          <a:xfrm>
            <a:off x="476402" y="6486754"/>
            <a:ext cx="239938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69" name="Image 14" descr="preencoded.png"/>
          <p:cNvPicPr>
            <a:picLocks noChangeAspect="1"/>
          </p:cNvPicPr>
          <p:nvPr/>
        </p:nvPicPr>
        <p:blipFill>
          <a:blip r:embed="rId13"/>
          <a:srcRect l="-1358" r="-1358"/>
          <a:stretch/>
        </p:blipFill>
        <p:spPr>
          <a:xfrm>
            <a:off x="381305" y="6511442"/>
            <a:ext cx="95098" cy="123444"/>
          </a:xfrm>
          <a:prstGeom prst="rect">
            <a:avLst/>
          </a:prstGeom>
        </p:spPr>
      </p:pic>
      <p:sp>
        <p:nvSpPr>
          <p:cNvPr id="70" name="Text 53"/>
          <p:cNvSpPr txBox="1"/>
          <p:nvPr/>
        </p:nvSpPr>
        <p:spPr>
          <a:xfrm>
            <a:off x="9945014" y="6486754"/>
            <a:ext cx="18672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12/12</a:t>
            </a:r>
            <a:r>
              <a:rPr lang="en-US" sz="800" b="1" dirty="0">
                <a:solidFill>
                  <a:srgbClr val="F7A81B"/>
                </a:solidFill>
                <a:latin typeface="Open Sans" pitchFamily="34" charset="0"/>
                <a:ea typeface="Open Sans" pitchFamily="34" charset="-122"/>
                <a:cs typeface="Open Sans" pitchFamily="34" charset="-120"/>
              </a:rPr>
              <a:t>Hoàn thành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TotalTime>
  <Words>2926</Words>
  <Application>Microsoft Office PowerPoint</Application>
  <PresentationFormat>Widescreen</PresentationFormat>
  <Paragraphs>587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Quang</dc:creator>
  <cp:lastModifiedBy>Personal</cp:lastModifiedBy>
  <cp:revision>17</cp:revision>
  <cp:lastPrinted>2026-05-12T02:47:04Z</cp:lastPrinted>
  <dcterms:created xsi:type="dcterms:W3CDTF">2026-05-11T23:56:49Z</dcterms:created>
  <dcterms:modified xsi:type="dcterms:W3CDTF">2026-05-13T03:35:28Z</dcterms:modified>
</cp:coreProperties>
</file>