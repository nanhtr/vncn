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35763" cy="98663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54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79690" tIns="39845" rIns="79690" bIns="39845"/>
          <a:lstStyle/>
          <a:p>
            <a:endParaRPr lang="en-US" dirty="0"/>
          </a:p>
        </p:txBody>
      </p:sp>
      <p:sp>
        <p:nvSpPr>
          <p:cNvPr id="4" name="Slide Number Placeholder 3"/>
          <p:cNvSpPr>
            <a:spLocks noGrp="1"/>
          </p:cNvSpPr>
          <p:nvPr>
            <p:ph type="sldNum" sz="quarter" idx="10"/>
          </p:nvPr>
        </p:nvSpPr>
        <p:spPr/>
        <p:txBody>
          <a:bodyPr lIns="79690" tIns="39845" rIns="79690" bIns="3984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5.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50.png"/><Relationship Id="rId7" Type="http://schemas.openxmlformats.org/officeDocument/2006/relationships/image" Target="../media/image47.png"/><Relationship Id="rId12"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55.png"/><Relationship Id="rId5" Type="http://schemas.openxmlformats.org/officeDocument/2006/relationships/image" Target="../media/image7.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20.png"/><Relationship Id="rId5" Type="http://schemas.openxmlformats.org/officeDocument/2006/relationships/image" Target="../media/image52.png"/><Relationship Id="rId10" Type="http://schemas.openxmlformats.org/officeDocument/2006/relationships/image" Target="../media/image61.png"/><Relationship Id="rId4" Type="http://schemas.openxmlformats.org/officeDocument/2006/relationships/image" Target="../media/image57.png"/><Relationship Id="rId9"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57.png"/><Relationship Id="rId9" Type="http://schemas.openxmlformats.org/officeDocument/2006/relationships/image" Target="../media/image67.png"/></Relationships>
</file>

<file path=ppt/slides/_rels/slide8.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png"/><Relationship Id="rId3" Type="http://schemas.openxmlformats.org/officeDocument/2006/relationships/image" Target="../media/image70.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74.png"/><Relationship Id="rId4" Type="http://schemas.openxmlformats.org/officeDocument/2006/relationships/image" Target="../media/image7.png"/><Relationship Id="rId9" Type="http://schemas.openxmlformats.org/officeDocument/2006/relationships/image" Target="../media/image64.png"/><Relationship Id="rId14" Type="http://schemas.openxmlformats.org/officeDocument/2006/relationships/image" Target="../media/image7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79.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7.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77.png"/><Relationship Id="rId7" Type="http://schemas.openxmlformats.org/officeDocument/2006/relationships/image" Target="../media/image89.pn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0.png"/><Relationship Id="rId4" Type="http://schemas.openxmlformats.org/officeDocument/2006/relationships/image" Target="../media/image95.pn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20.png"/><Relationship Id="rId2" Type="http://schemas.openxmlformats.org/officeDocument/2006/relationships/notesSlide" Target="../notesSlides/notesSlide13.xml"/><Relationship Id="rId16" Type="http://schemas.openxmlformats.org/officeDocument/2006/relationships/image" Target="../media/image112.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107.png"/><Relationship Id="rId5" Type="http://schemas.openxmlformats.org/officeDocument/2006/relationships/image" Target="../media/image102.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88.png"/><Relationship Id="rId9" Type="http://schemas.openxmlformats.org/officeDocument/2006/relationships/image" Target="../media/image105.png"/><Relationship Id="rId1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14.png"/><Relationship Id="rId4" Type="http://schemas.openxmlformats.org/officeDocument/2006/relationships/image" Target="../media/image95.png"/></Relationships>
</file>

<file path=ppt/slides/_rels/slide1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20.png"/><Relationship Id="rId3" Type="http://schemas.openxmlformats.org/officeDocument/2006/relationships/image" Target="../media/image115.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95.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0" r="-200"/>
          <a:stretch/>
        </p:blipFill>
        <p:spPr>
          <a:xfrm>
            <a:off x="0" y="0"/>
            <a:ext cx="12191695" cy="75895"/>
          </a:xfrm>
          <a:prstGeom prst="rect">
            <a:avLst/>
          </a:prstGeom>
        </p:spPr>
      </p:pic>
      <p:sp>
        <p:nvSpPr>
          <p:cNvPr id="5" name="Shape 2"/>
          <p:cNvSpPr/>
          <p:nvPr/>
        </p:nvSpPr>
        <p:spPr>
          <a:xfrm>
            <a:off x="10001707" y="-952805"/>
            <a:ext cx="3333902" cy="3333902"/>
          </a:xfrm>
          <a:prstGeom prst="ellipse">
            <a:avLst/>
          </a:prstGeom>
          <a:noFill/>
          <a:ln w="25400">
            <a:solidFill>
              <a:srgbClr val="F7A81B">
                <a:alpha val="15000"/>
              </a:srgbClr>
            </a:solidFill>
            <a:prstDash val="solid"/>
          </a:ln>
        </p:spPr>
        <p:txBody>
          <a:bodyPr/>
          <a:lstStyle/>
          <a:p>
            <a:endParaRPr lang="en-US"/>
          </a:p>
        </p:txBody>
      </p:sp>
      <p:sp>
        <p:nvSpPr>
          <p:cNvPr id="6" name="Shape 3"/>
          <p:cNvSpPr/>
          <p:nvPr/>
        </p:nvSpPr>
        <p:spPr>
          <a:xfrm>
            <a:off x="-952805" y="4762195"/>
            <a:ext cx="2381098" cy="2381098"/>
          </a:xfrm>
          <a:prstGeom prst="ellipse">
            <a:avLst/>
          </a:prstGeom>
          <a:noFill/>
          <a:ln w="25400">
            <a:solidFill>
              <a:srgbClr val="F7A81B">
                <a:alpha val="15000"/>
              </a:srgbClr>
            </a:solidFill>
            <a:prstDash val="solid"/>
          </a:ln>
        </p:spPr>
        <p:txBody>
          <a:bodyPr/>
          <a:lstStyle/>
          <a:p>
            <a:endParaRPr lang="en-US"/>
          </a:p>
        </p:txBody>
      </p:sp>
      <p:sp>
        <p:nvSpPr>
          <p:cNvPr id="7" name="Shape 4"/>
          <p:cNvSpPr/>
          <p:nvPr/>
        </p:nvSpPr>
        <p:spPr>
          <a:xfrm>
            <a:off x="2286000" y="3429000"/>
            <a:ext cx="7619695" cy="1143000"/>
          </a:xfrm>
          <a:prstGeom prst="roundRect">
            <a:avLst>
              <a:gd name="adj" fmla="val 16000"/>
            </a:avLst>
          </a:prstGeom>
          <a:solidFill>
            <a:srgbClr val="F7A81B">
              <a:alpha val="5000"/>
            </a:srgbClr>
          </a:solidFill>
          <a:ln w="12700">
            <a:solidFill>
              <a:srgbClr val="F7A81B"/>
            </a:solidFill>
            <a:prstDash val="solid"/>
          </a:ln>
        </p:spPr>
        <p:txBody>
          <a:bodyPr/>
          <a:lstStyle/>
          <a:p>
            <a:endParaRPr lang="en-US"/>
          </a:p>
        </p:txBody>
      </p:sp>
      <p:sp>
        <p:nvSpPr>
          <p:cNvPr id="8" name="Shape 5"/>
          <p:cNvSpPr/>
          <p:nvPr/>
        </p:nvSpPr>
        <p:spPr>
          <a:xfrm>
            <a:off x="1333195"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1333195"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0" name="Shape 7"/>
          <p:cNvSpPr/>
          <p:nvPr/>
        </p:nvSpPr>
        <p:spPr>
          <a:xfrm>
            <a:off x="4667098"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1" name="Shape 8"/>
          <p:cNvSpPr/>
          <p:nvPr/>
        </p:nvSpPr>
        <p:spPr>
          <a:xfrm>
            <a:off x="4667098"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2" name="Shape 9"/>
          <p:cNvSpPr/>
          <p:nvPr/>
        </p:nvSpPr>
        <p:spPr>
          <a:xfrm>
            <a:off x="8001000" y="4858207"/>
            <a:ext cx="2857500" cy="952805"/>
          </a:xfrm>
          <a:prstGeom prst="roundRect">
            <a:avLst>
              <a:gd name="adj" fmla="val 15355"/>
            </a:avLst>
          </a:prstGeom>
          <a:solidFill>
            <a:srgbClr val="F9F9F9"/>
          </a:solidFill>
          <a:ln/>
          <a:effectLst>
            <a:outerShdw blurRad="63500" dist="38100" dir="16200000" algn="bl" rotWithShape="0">
              <a:srgbClr val="000000">
                <a:alpha val="5000"/>
              </a:srgbClr>
            </a:outerShdw>
          </a:effectLst>
        </p:spPr>
        <p:txBody>
          <a:bodyPr/>
          <a:lstStyle/>
          <a:p>
            <a:endParaRPr lang="en-US"/>
          </a:p>
        </p:txBody>
      </p:sp>
      <p:sp>
        <p:nvSpPr>
          <p:cNvPr id="13" name="Shape 10"/>
          <p:cNvSpPr/>
          <p:nvPr/>
        </p:nvSpPr>
        <p:spPr>
          <a:xfrm>
            <a:off x="8001000" y="4858207"/>
            <a:ext cx="38405" cy="952805"/>
          </a:xfrm>
          <a:prstGeom prst="roundRect">
            <a:avLst>
              <a:gd name="adj" fmla="val 380950"/>
            </a:avLst>
          </a:prstGeom>
          <a:solidFill>
            <a:srgbClr val="F7A81B"/>
          </a:solidFill>
          <a:ln w="12700">
            <a:solidFill>
              <a:srgbClr val="F7A81B">
                <a:alpha val="0"/>
              </a:srgbClr>
            </a:solidFill>
            <a:prstDash val="solid"/>
          </a:ln>
        </p:spPr>
        <p:txBody>
          <a:bodyPr/>
          <a:lstStyle/>
          <a:p>
            <a:endParaRPr lang="en-US"/>
          </a:p>
        </p:txBody>
      </p:sp>
      <p:sp>
        <p:nvSpPr>
          <p:cNvPr id="14" name="Shape 11"/>
          <p:cNvSpPr/>
          <p:nvPr/>
        </p:nvSpPr>
        <p:spPr>
          <a:xfrm>
            <a:off x="5048402" y="6001207"/>
            <a:ext cx="2095805" cy="381305"/>
          </a:xfrm>
          <a:prstGeom prst="roundRect">
            <a:avLst>
              <a:gd name="adj" fmla="val 239808"/>
            </a:avLst>
          </a:prstGeom>
          <a:solidFill>
            <a:srgbClr val="F7A81B"/>
          </a:solidFill>
          <a:ln w="12700">
            <a:solidFill>
              <a:srgbClr val="FFFFFF">
                <a:alpha val="0"/>
              </a:srgbClr>
            </a:solidFill>
            <a:prstDash val="solid"/>
          </a:ln>
        </p:spPr>
        <p:txBody>
          <a:bodyPr/>
          <a:lstStyle/>
          <a:p>
            <a:endParaRPr lang="en-US"/>
          </a:p>
        </p:txBody>
      </p:sp>
      <p:pic>
        <p:nvPicPr>
          <p:cNvPr id="15" name="Image 1" descr="preencoded.png"/>
          <p:cNvPicPr>
            <a:picLocks noChangeAspect="1"/>
          </p:cNvPicPr>
          <p:nvPr/>
        </p:nvPicPr>
        <p:blipFill>
          <a:blip r:embed="rId4"/>
          <a:srcRect/>
          <a:stretch/>
        </p:blipFill>
        <p:spPr>
          <a:xfrm>
            <a:off x="3872246" y="274320"/>
            <a:ext cx="4743969" cy="772668"/>
          </a:xfrm>
          <a:prstGeom prst="rect">
            <a:avLst/>
          </a:prstGeom>
        </p:spPr>
      </p:pic>
      <p:sp>
        <p:nvSpPr>
          <p:cNvPr id="16" name="Text 12"/>
          <p:cNvSpPr txBox="1"/>
          <p:nvPr/>
        </p:nvSpPr>
        <p:spPr>
          <a:xfrm>
            <a:off x="857707" y="1429207"/>
            <a:ext cx="10478110" cy="1095451"/>
          </a:xfrm>
          <a:prstGeom prst="rect">
            <a:avLst/>
          </a:prstGeom>
          <a:noFill/>
          <a:ln/>
        </p:spPr>
        <p:txBody>
          <a:bodyPr wrap="square" lIns="0" tIns="0" rIns="0" bIns="0" rtlCol="0" anchor="ctr"/>
          <a:lstStyle/>
          <a:p>
            <a:pPr marL="0" indent="0" algn="ctr">
              <a:buNone/>
            </a:pPr>
            <a:r>
              <a:rPr lang="en-US" sz="3900" b="1" dirty="0">
                <a:solidFill>
                  <a:srgbClr val="808080"/>
                </a:solidFill>
                <a:latin typeface="Montserrat" pitchFamily="34" charset="0"/>
                <a:ea typeface="Montserrat" pitchFamily="34" charset="-122"/>
                <a:cs typeface="Montserrat" pitchFamily="34" charset="-120"/>
              </a:rPr>
              <a:t>BÁO CÁO DỰ ÁN NHÀ Ở XÃ HỘI</a:t>
            </a:r>
            <a:endParaRPr lang="en-US" sz="3900" dirty="0"/>
          </a:p>
          <a:p>
            <a:pPr marL="0" indent="0" algn="ctr">
              <a:buNone/>
            </a:pPr>
            <a:r>
              <a:rPr lang="en-US" sz="3900" b="1" dirty="0">
                <a:solidFill>
                  <a:srgbClr val="808080"/>
                </a:solidFill>
                <a:latin typeface="Montserrat" pitchFamily="34" charset="0"/>
                <a:ea typeface="Montserrat" pitchFamily="34" charset="-122"/>
                <a:cs typeface="Montserrat" pitchFamily="34" charset="-120"/>
              </a:rPr>
              <a:t>YÊN SỞ</a:t>
            </a:r>
            <a:endParaRPr lang="en-US" sz="3900" dirty="0"/>
          </a:p>
        </p:txBody>
      </p:sp>
      <p:sp>
        <p:nvSpPr>
          <p:cNvPr id="17" name="Text 13"/>
          <p:cNvSpPr txBox="1"/>
          <p:nvPr/>
        </p:nvSpPr>
        <p:spPr>
          <a:xfrm>
            <a:off x="857707" y="2708453"/>
            <a:ext cx="10478110" cy="362102"/>
          </a:xfrm>
          <a:prstGeom prst="rect">
            <a:avLst/>
          </a:prstGeom>
          <a:noFill/>
          <a:ln/>
        </p:spPr>
        <p:txBody>
          <a:bodyPr wrap="square" lIns="0" tIns="0" rIns="0" bIns="0" rtlCol="0" anchor="ctr"/>
          <a:lstStyle/>
          <a:p>
            <a:pPr marL="0" indent="0" algn="ctr">
              <a:buNone/>
            </a:pPr>
            <a:r>
              <a:rPr lang="en-US" sz="2100" dirty="0">
                <a:solidFill>
                  <a:srgbClr val="808080"/>
                </a:solidFill>
                <a:latin typeface="Open Sans" pitchFamily="34" charset="0"/>
                <a:ea typeface="Open Sans" pitchFamily="34" charset="-122"/>
                <a:cs typeface="Open Sans" pitchFamily="34" charset="-120"/>
              </a:rPr>
              <a:t>Kế hoạch Triển khai &amp; Khởi công ngày 25/05/2026</a:t>
            </a:r>
            <a:endParaRPr lang="en-US" sz="2100" dirty="0"/>
          </a:p>
        </p:txBody>
      </p:sp>
      <p:sp>
        <p:nvSpPr>
          <p:cNvPr id="18" name="Text 14"/>
          <p:cNvSpPr txBox="1"/>
          <p:nvPr/>
        </p:nvSpPr>
        <p:spPr>
          <a:xfrm>
            <a:off x="3834994" y="3666744"/>
            <a:ext cx="588050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Mục tiêu: Khởi công động thổ đúng tiến độ</a:t>
            </a:r>
            <a:endParaRPr lang="en-US" sz="1800" dirty="0"/>
          </a:p>
        </p:txBody>
      </p:sp>
      <p:sp>
        <p:nvSpPr>
          <p:cNvPr id="19" name="Text 15"/>
          <p:cNvSpPr txBox="1"/>
          <p:nvPr/>
        </p:nvSpPr>
        <p:spPr>
          <a:xfrm>
            <a:off x="2476195" y="4076395"/>
            <a:ext cx="7239305" cy="228600"/>
          </a:xfrm>
          <a:prstGeom prst="rect">
            <a:avLst/>
          </a:prstGeom>
          <a:noFill/>
          <a:ln/>
        </p:spPr>
        <p:txBody>
          <a:bodyPr wrap="square" lIns="0" tIns="0" rIns="0" bIns="0" rtlCol="0" anchor="ctr"/>
          <a:lstStyle/>
          <a:p>
            <a:pPr marL="0" indent="0" algn="ctr">
              <a:buNone/>
            </a:pPr>
            <a:r>
              <a:rPr lang="en-US" sz="1300" dirty="0">
                <a:solidFill>
                  <a:srgbClr val="808080"/>
                </a:solidFill>
                <a:latin typeface="Open Sans" pitchFamily="34" charset="0"/>
                <a:ea typeface="Open Sans" pitchFamily="34" charset="-122"/>
                <a:cs typeface="Open Sans" pitchFamily="34" charset="-120"/>
              </a:rPr>
              <a:t>Tổng diện tích: 148,800 m² | 1,022 căn hộ | 24 tháng thi công</a:t>
            </a:r>
            <a:endParaRPr lang="en-US" sz="1300" dirty="0"/>
          </a:p>
        </p:txBody>
      </p:sp>
      <p:pic>
        <p:nvPicPr>
          <p:cNvPr id="20" name="Image 2" descr="preencoded.png"/>
          <p:cNvPicPr>
            <a:picLocks noChangeAspect="1"/>
          </p:cNvPicPr>
          <p:nvPr/>
        </p:nvPicPr>
        <p:blipFill>
          <a:blip r:embed="rId5"/>
          <a:srcRect/>
          <a:stretch/>
        </p:blipFill>
        <p:spPr>
          <a:xfrm>
            <a:off x="3530498" y="3715207"/>
            <a:ext cx="228600" cy="228600"/>
          </a:xfrm>
          <a:prstGeom prst="rect">
            <a:avLst/>
          </a:prstGeom>
        </p:spPr>
      </p:pic>
      <p:sp>
        <p:nvSpPr>
          <p:cNvPr id="21" name="Text 16"/>
          <p:cNvSpPr txBox="1"/>
          <p:nvPr/>
        </p:nvSpPr>
        <p:spPr>
          <a:xfrm>
            <a:off x="157185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Tổng Chi phí</a:t>
            </a:r>
            <a:endParaRPr lang="en-US" sz="1000" dirty="0"/>
          </a:p>
        </p:txBody>
      </p:sp>
      <p:sp>
        <p:nvSpPr>
          <p:cNvPr id="22" name="Text 17"/>
          <p:cNvSpPr txBox="1"/>
          <p:nvPr/>
        </p:nvSpPr>
        <p:spPr>
          <a:xfrm>
            <a:off x="1571854"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1448 tỷ VNĐ</a:t>
            </a:r>
            <a:endParaRPr lang="en-US" sz="1800" dirty="0"/>
          </a:p>
        </p:txBody>
      </p:sp>
      <p:sp>
        <p:nvSpPr>
          <p:cNvPr id="23" name="Text 18"/>
          <p:cNvSpPr txBox="1"/>
          <p:nvPr/>
        </p:nvSpPr>
        <p:spPr>
          <a:xfrm>
            <a:off x="4905756"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Doanh thu dự kiến</a:t>
            </a:r>
            <a:endParaRPr lang="en-US" sz="1000" dirty="0"/>
          </a:p>
        </p:txBody>
      </p:sp>
      <p:sp>
        <p:nvSpPr>
          <p:cNvPr id="24" name="Text 19"/>
          <p:cNvSpPr txBox="1"/>
          <p:nvPr/>
        </p:nvSpPr>
        <p:spPr>
          <a:xfrm>
            <a:off x="4905756" y="5305349"/>
            <a:ext cx="2382012"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1565 tỷ VNĐ</a:t>
            </a:r>
            <a:endParaRPr lang="en-US" sz="1800" dirty="0"/>
          </a:p>
        </p:txBody>
      </p:sp>
      <p:sp>
        <p:nvSpPr>
          <p:cNvPr id="25" name="Text 20"/>
          <p:cNvSpPr txBox="1"/>
          <p:nvPr/>
        </p:nvSpPr>
        <p:spPr>
          <a:xfrm>
            <a:off x="8238744" y="5048402"/>
            <a:ext cx="2382012" cy="181051"/>
          </a:xfrm>
          <a:prstGeom prst="rect">
            <a:avLst/>
          </a:prstGeom>
          <a:noFill/>
          <a:ln/>
        </p:spPr>
        <p:txBody>
          <a:bodyPr wrap="square" lIns="0" tIns="0" rIns="0" bIns="0" rtlCol="0" anchor="ctr"/>
          <a:lstStyle/>
          <a:p>
            <a:pPr marL="0" indent="0" algn="l">
              <a:buNone/>
            </a:pPr>
            <a:r>
              <a:rPr lang="en-US" sz="1000" b="1" kern="0" spc="75"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26" name="Text 21"/>
          <p:cNvSpPr txBox="1"/>
          <p:nvPr/>
        </p:nvSpPr>
        <p:spPr>
          <a:xfrm>
            <a:off x="8238744" y="5305349"/>
            <a:ext cx="2833726" cy="314554"/>
          </a:xfrm>
          <a:prstGeom prst="rect">
            <a:avLst/>
          </a:prstGeom>
          <a:noFill/>
          <a:ln/>
        </p:spPr>
        <p:txBody>
          <a:bodyPr wrap="square" lIns="0" tIns="0" rIns="0" bIns="0" rtlCol="0" anchor="ctr"/>
          <a:lstStyle/>
          <a:p>
            <a:pPr marL="0" indent="0" algn="l">
              <a:buNone/>
            </a:pPr>
            <a:r>
              <a:rPr lang="en-US" sz="1800" b="1" dirty="0">
                <a:solidFill>
                  <a:srgbClr val="F7A81B"/>
                </a:solidFill>
                <a:latin typeface="Open Sans" pitchFamily="34" charset="0"/>
                <a:ea typeface="Open Sans" pitchFamily="34" charset="-122"/>
                <a:cs typeface="Open Sans" pitchFamily="34" charset="-120"/>
              </a:rPr>
              <a:t>117 tỷ VNĐ </a:t>
            </a:r>
            <a:r>
              <a:rPr lang="en-US" sz="1200" b="1" dirty="0">
                <a:solidFill>
                  <a:srgbClr val="808080"/>
                </a:solidFill>
                <a:latin typeface="Open Sans" pitchFamily="34" charset="0"/>
                <a:ea typeface="Open Sans" pitchFamily="34" charset="-122"/>
                <a:cs typeface="Open Sans" pitchFamily="34" charset="-120"/>
              </a:rPr>
              <a:t>(7.5%)</a:t>
            </a:r>
            <a:endParaRPr lang="en-US" sz="1800" dirty="0"/>
          </a:p>
        </p:txBody>
      </p:sp>
      <p:sp>
        <p:nvSpPr>
          <p:cNvPr id="27" name="Text 22"/>
          <p:cNvSpPr txBox="1"/>
          <p:nvPr/>
        </p:nvSpPr>
        <p:spPr>
          <a:xfrm>
            <a:off x="5565953" y="6086246"/>
            <a:ext cx="1578254" cy="210312"/>
          </a:xfrm>
          <a:prstGeom prst="rect">
            <a:avLst/>
          </a:prstGeom>
          <a:noFill/>
          <a:ln/>
        </p:spPr>
        <p:txBody>
          <a:bodyPr wrap="square" lIns="0" tIns="0" rIns="0" bIns="0" rtlCol="0" anchor="ctr"/>
          <a:lstStyle/>
          <a:p>
            <a:pPr marL="0" indent="0" algn="l">
              <a:buNone/>
            </a:pPr>
            <a:r>
              <a:rPr lang="en-US" sz="1200" b="1" dirty="0" err="1">
                <a:solidFill>
                  <a:srgbClr val="FFFFFF"/>
                </a:solidFill>
                <a:latin typeface="Open Sans" pitchFamily="34" charset="0"/>
                <a:ea typeface="Open Sans" pitchFamily="34" charset="-122"/>
                <a:cs typeface="Open Sans" pitchFamily="34" charset="-120"/>
              </a:rPr>
              <a:t>Ngày</a:t>
            </a:r>
            <a:r>
              <a:rPr lang="en-US" sz="1200" b="1" dirty="0">
                <a:solidFill>
                  <a:srgbClr val="FFFFFF"/>
                </a:solidFill>
                <a:latin typeface="Open Sans" pitchFamily="34" charset="0"/>
                <a:ea typeface="Open Sans" pitchFamily="34" charset="-122"/>
                <a:cs typeface="Open Sans" pitchFamily="34" charset="-120"/>
              </a:rPr>
              <a:t> 08/05/2026</a:t>
            </a:r>
            <a:endParaRPr lang="en-US" sz="1200" dirty="0"/>
          </a:p>
        </p:txBody>
      </p:sp>
      <p:pic>
        <p:nvPicPr>
          <p:cNvPr id="28" name="Image 3" descr="preencoded.png"/>
          <p:cNvPicPr>
            <a:picLocks noChangeAspect="1"/>
          </p:cNvPicPr>
          <p:nvPr/>
        </p:nvPicPr>
        <p:blipFill>
          <a:blip r:embed="rId6"/>
          <a:srcRect t="-43" b="-43"/>
          <a:stretch/>
        </p:blipFill>
        <p:spPr>
          <a:xfrm>
            <a:off x="5374843" y="6115507"/>
            <a:ext cx="133502" cy="152705"/>
          </a:xfrm>
          <a:prstGeom prst="rect">
            <a:avLst/>
          </a:prstGeom>
        </p:spPr>
      </p:pic>
      <p:sp>
        <p:nvSpPr>
          <p:cNvPr id="29" name="Text 23"/>
          <p:cNvSpPr txBox="1"/>
          <p:nvPr/>
        </p:nvSpPr>
        <p:spPr>
          <a:xfrm>
            <a:off x="3238805" y="6524244"/>
            <a:ext cx="5715000" cy="181051"/>
          </a:xfrm>
          <a:prstGeom prst="rect">
            <a:avLst/>
          </a:prstGeom>
          <a:noFill/>
          <a:ln/>
        </p:spPr>
        <p:txBody>
          <a:bodyPr wrap="square" lIns="0" tIns="0" rIns="0" bIns="0" rtlCol="0" anchor="ctr"/>
          <a:lstStyle/>
          <a:p>
            <a:pPr marL="0" indent="0" algn="ctr">
              <a:buNone/>
            </a:pPr>
            <a:r>
              <a:rPr lang="en-US" sz="1000" b="1" kern="0" spc="113" dirty="0">
                <a:solidFill>
                  <a:srgbClr val="808080"/>
                </a:solidFill>
                <a:latin typeface="Open Sans" pitchFamily="34" charset="0"/>
                <a:ea typeface="Open Sans" pitchFamily="34" charset="-122"/>
                <a:cs typeface="Open Sans" pitchFamily="34" charset="-120"/>
              </a:rPr>
              <a:t>Ban Xây dựng Dân dụng | VNCN E&amp;C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761695"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7" name="Image 0" descr="preencoded.png"/>
          <p:cNvPicPr>
            <a:picLocks noChangeAspect="1"/>
          </p:cNvPicPr>
          <p:nvPr/>
        </p:nvPicPr>
        <p:blipFill>
          <a:blip r:embed="rId3"/>
          <a:srcRect l="-2083" r="-2083"/>
          <a:stretch/>
        </p:blipFill>
        <p:spPr>
          <a:xfrm>
            <a:off x="990295" y="2333549"/>
            <a:ext cx="4686300" cy="9144"/>
          </a:xfrm>
          <a:prstGeom prst="rect">
            <a:avLst/>
          </a:prstGeom>
        </p:spPr>
      </p:pic>
      <p:pic>
        <p:nvPicPr>
          <p:cNvPr id="8" name="Image 1" descr="preencoded.png"/>
          <p:cNvPicPr>
            <a:picLocks noChangeAspect="1"/>
          </p:cNvPicPr>
          <p:nvPr/>
        </p:nvPicPr>
        <p:blipFill>
          <a:blip r:embed="rId3"/>
          <a:srcRect l="-2083" r="-2083"/>
          <a:stretch/>
        </p:blipFill>
        <p:spPr>
          <a:xfrm>
            <a:off x="990295" y="3105302"/>
            <a:ext cx="4686300" cy="9144"/>
          </a:xfrm>
          <a:prstGeom prst="rect">
            <a:avLst/>
          </a:prstGeom>
        </p:spPr>
      </p:pic>
      <p:pic>
        <p:nvPicPr>
          <p:cNvPr id="9" name="Image 2" descr="preencoded.png"/>
          <p:cNvPicPr>
            <a:picLocks noChangeAspect="1"/>
          </p:cNvPicPr>
          <p:nvPr/>
        </p:nvPicPr>
        <p:blipFill>
          <a:blip r:embed="rId3"/>
          <a:srcRect l="-2083" r="-2083"/>
          <a:stretch/>
        </p:blipFill>
        <p:spPr>
          <a:xfrm>
            <a:off x="990295" y="3877056"/>
            <a:ext cx="4686300" cy="9144"/>
          </a:xfrm>
          <a:prstGeom prst="rect">
            <a:avLst/>
          </a:prstGeom>
        </p:spPr>
      </p:pic>
      <p:pic>
        <p:nvPicPr>
          <p:cNvPr id="10" name="Image 3" descr="preencoded.png"/>
          <p:cNvPicPr>
            <a:picLocks noChangeAspect="1"/>
          </p:cNvPicPr>
          <p:nvPr/>
        </p:nvPicPr>
        <p:blipFill>
          <a:blip r:embed="rId3"/>
          <a:srcRect l="-2083" r="-2083"/>
          <a:stretch/>
        </p:blipFill>
        <p:spPr>
          <a:xfrm>
            <a:off x="990295" y="4647895"/>
            <a:ext cx="4686300" cy="9144"/>
          </a:xfrm>
          <a:prstGeom prst="rect">
            <a:avLst/>
          </a:prstGeom>
        </p:spPr>
      </p:pic>
      <p:sp>
        <p:nvSpPr>
          <p:cNvPr id="11" name="Shape 5"/>
          <p:cNvSpPr/>
          <p:nvPr/>
        </p:nvSpPr>
        <p:spPr>
          <a:xfrm>
            <a:off x="6286500" y="1047902"/>
            <a:ext cx="5162702" cy="5115154"/>
          </a:xfrm>
          <a:prstGeom prst="roundRect">
            <a:avLst>
              <a:gd name="adj" fmla="val 799"/>
            </a:avLst>
          </a:prstGeom>
          <a:solidFill>
            <a:srgbClr val="F8F9FA"/>
          </a:solidFill>
          <a:ln w="12700">
            <a:solidFill>
              <a:srgbClr val="E2E8F0"/>
            </a:solidFill>
            <a:prstDash val="solid"/>
          </a:ln>
        </p:spPr>
        <p:txBody>
          <a:bodyPr/>
          <a:lstStyle/>
          <a:p>
            <a:endParaRPr lang="en-US"/>
          </a:p>
        </p:txBody>
      </p:sp>
      <p:pic>
        <p:nvPicPr>
          <p:cNvPr id="12" name="Image 4" descr="preencoded.png"/>
          <p:cNvPicPr>
            <a:picLocks noChangeAspect="1"/>
          </p:cNvPicPr>
          <p:nvPr/>
        </p:nvPicPr>
        <p:blipFill>
          <a:blip r:embed="rId3"/>
          <a:srcRect l="-2083" r="-2083"/>
          <a:stretch/>
        </p:blipFill>
        <p:spPr>
          <a:xfrm>
            <a:off x="6515100" y="2333549"/>
            <a:ext cx="4686300" cy="9144"/>
          </a:xfrm>
          <a:prstGeom prst="rect">
            <a:avLst/>
          </a:prstGeom>
        </p:spPr>
      </p:pic>
      <p:pic>
        <p:nvPicPr>
          <p:cNvPr id="13" name="Image 5" descr="preencoded.png"/>
          <p:cNvPicPr>
            <a:picLocks noChangeAspect="1"/>
          </p:cNvPicPr>
          <p:nvPr/>
        </p:nvPicPr>
        <p:blipFill>
          <a:blip r:embed="rId3"/>
          <a:srcRect l="-2083" r="-2083"/>
          <a:stretch/>
        </p:blipFill>
        <p:spPr>
          <a:xfrm>
            <a:off x="6515100" y="3105302"/>
            <a:ext cx="4686300" cy="9144"/>
          </a:xfrm>
          <a:prstGeom prst="rect">
            <a:avLst/>
          </a:prstGeom>
        </p:spPr>
      </p:pic>
      <p:pic>
        <p:nvPicPr>
          <p:cNvPr id="14" name="Image 6" descr="preencoded.png"/>
          <p:cNvPicPr>
            <a:picLocks noChangeAspect="1"/>
          </p:cNvPicPr>
          <p:nvPr/>
        </p:nvPicPr>
        <p:blipFill>
          <a:blip r:embed="rId3"/>
          <a:srcRect l="-2083" r="-2083"/>
          <a:stretch/>
        </p:blipFill>
        <p:spPr>
          <a:xfrm>
            <a:off x="6515100" y="3877056"/>
            <a:ext cx="4686300" cy="9144"/>
          </a:xfrm>
          <a:prstGeom prst="rect">
            <a:avLst/>
          </a:prstGeom>
        </p:spPr>
      </p:pic>
      <p:pic>
        <p:nvPicPr>
          <p:cNvPr id="15" name="Image 7" descr="preencoded.png"/>
          <p:cNvPicPr>
            <a:picLocks noChangeAspect="1"/>
          </p:cNvPicPr>
          <p:nvPr/>
        </p:nvPicPr>
        <p:blipFill>
          <a:blip r:embed="rId3"/>
          <a:srcRect l="-2083" r="-2083"/>
          <a:stretch/>
        </p:blipFill>
        <p:spPr>
          <a:xfrm>
            <a:off x="6515100" y="4647895"/>
            <a:ext cx="4686300" cy="9144"/>
          </a:xfrm>
          <a:prstGeom prst="rect">
            <a:avLst/>
          </a:prstGeom>
        </p:spPr>
      </p:pic>
      <p:sp>
        <p:nvSpPr>
          <p:cNvPr id="16" name="Shape 6"/>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7" name="Image 8" descr="preencoded.png"/>
          <p:cNvPicPr>
            <a:picLocks noChangeAspect="1"/>
          </p:cNvPicPr>
          <p:nvPr/>
        </p:nvPicPr>
        <p:blipFill>
          <a:blip r:embed="rId4"/>
          <a:srcRect l="-1282" r="-1282"/>
          <a:stretch/>
        </p:blipFill>
        <p:spPr>
          <a:xfrm>
            <a:off x="843077" y="286207"/>
            <a:ext cx="219456" cy="190195"/>
          </a:xfrm>
          <a:prstGeom prst="rect">
            <a:avLst/>
          </a:prstGeom>
        </p:spPr>
      </p:pic>
      <p:sp>
        <p:nvSpPr>
          <p:cNvPr id="18" name="Text 7"/>
          <p:cNvSpPr txBox="1"/>
          <p:nvPr/>
        </p:nvSpPr>
        <p:spPr>
          <a:xfrm>
            <a:off x="1285646" y="237744"/>
            <a:ext cx="3810305"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MỤC LỤC BÁO CÁO</a:t>
            </a:r>
            <a:endParaRPr lang="en-US" sz="1800" dirty="0"/>
          </a:p>
        </p:txBody>
      </p:sp>
      <p:sp>
        <p:nvSpPr>
          <p:cNvPr id="19" name="Text 8"/>
          <p:cNvSpPr txBox="1"/>
          <p:nvPr/>
        </p:nvSpPr>
        <p:spPr>
          <a:xfrm>
            <a:off x="10354666" y="286207"/>
            <a:ext cx="13167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0" name="Image 9" descr="preencoded.png"/>
          <p:cNvPicPr>
            <a:picLocks noChangeAspect="1"/>
          </p:cNvPicPr>
          <p:nvPr/>
        </p:nvPicPr>
        <p:blipFill>
          <a:blip r:embed="rId5"/>
          <a:srcRect t="-1100" b="-1100"/>
          <a:stretch/>
        </p:blipFill>
        <p:spPr>
          <a:xfrm>
            <a:off x="10163556" y="311810"/>
            <a:ext cx="114300" cy="133502"/>
          </a:xfrm>
          <a:prstGeom prst="rect">
            <a:avLst/>
          </a:prstGeom>
        </p:spPr>
      </p:pic>
      <p:sp>
        <p:nvSpPr>
          <p:cNvPr id="21" name="Text 9"/>
          <p:cNvSpPr txBox="1"/>
          <p:nvPr/>
        </p:nvSpPr>
        <p:spPr>
          <a:xfrm>
            <a:off x="1276502" y="1276502"/>
            <a:ext cx="4400093"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1: Tổng quan &amp; Điều kiện</a:t>
            </a:r>
            <a:endParaRPr lang="en-US" sz="1500" dirty="0"/>
          </a:p>
        </p:txBody>
      </p:sp>
      <p:pic>
        <p:nvPicPr>
          <p:cNvPr id="22" name="Image 10" descr="preencoded.png"/>
          <p:cNvPicPr>
            <a:picLocks noChangeAspect="1"/>
          </p:cNvPicPr>
          <p:nvPr/>
        </p:nvPicPr>
        <p:blipFill>
          <a:blip r:embed="rId6"/>
          <a:srcRect/>
          <a:stretch/>
        </p:blipFill>
        <p:spPr>
          <a:xfrm>
            <a:off x="990295" y="1295705"/>
            <a:ext cx="190195" cy="190195"/>
          </a:xfrm>
          <a:prstGeom prst="rect">
            <a:avLst/>
          </a:prstGeom>
        </p:spPr>
      </p:pic>
      <p:sp>
        <p:nvSpPr>
          <p:cNvPr id="23" name="Shape 10"/>
          <p:cNvSpPr/>
          <p:nvPr/>
        </p:nvSpPr>
        <p:spPr>
          <a:xfrm>
            <a:off x="990295"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24" name="Text 11"/>
          <p:cNvSpPr/>
          <p:nvPr/>
        </p:nvSpPr>
        <p:spPr>
          <a:xfrm>
            <a:off x="990295"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a:t>
            </a:r>
            <a:endParaRPr lang="en-US" sz="1000" dirty="0"/>
          </a:p>
        </p:txBody>
      </p:sp>
      <p:sp>
        <p:nvSpPr>
          <p:cNvPr id="25" name="Text 12"/>
          <p:cNvSpPr txBox="1"/>
          <p:nvPr/>
        </p:nvSpPr>
        <p:spPr>
          <a:xfrm>
            <a:off x="1438351"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Tổng quan dự án</a:t>
            </a:r>
            <a:endParaRPr lang="en-US" sz="1200" dirty="0"/>
          </a:p>
        </p:txBody>
      </p:sp>
      <p:sp>
        <p:nvSpPr>
          <p:cNvPr id="26" name="Text 13"/>
          <p:cNvSpPr txBox="1"/>
          <p:nvPr/>
        </p:nvSpPr>
        <p:spPr>
          <a:xfrm>
            <a:off x="1438351"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 mô, vị trí, các tòa nhà CT1, CT2-1,2,3, N01</a:t>
            </a:r>
            <a:endParaRPr lang="en-US" sz="900" dirty="0"/>
          </a:p>
        </p:txBody>
      </p:sp>
      <p:sp>
        <p:nvSpPr>
          <p:cNvPr id="27" name="Shape 14"/>
          <p:cNvSpPr/>
          <p:nvPr/>
        </p:nvSpPr>
        <p:spPr>
          <a:xfrm>
            <a:off x="5391302"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28" name="Image 11" descr="preencoded.png"/>
          <p:cNvPicPr>
            <a:picLocks noChangeAspect="1"/>
          </p:cNvPicPr>
          <p:nvPr/>
        </p:nvPicPr>
        <p:blipFill>
          <a:blip r:embed="rId7"/>
          <a:srcRect l="-1358" r="-1358"/>
          <a:stretch/>
        </p:blipFill>
        <p:spPr>
          <a:xfrm>
            <a:off x="5477256" y="1852574"/>
            <a:ext cx="95098" cy="123444"/>
          </a:xfrm>
          <a:prstGeom prst="rect">
            <a:avLst/>
          </a:prstGeom>
        </p:spPr>
      </p:pic>
      <p:sp>
        <p:nvSpPr>
          <p:cNvPr id="29" name="Shape 15"/>
          <p:cNvSpPr/>
          <p:nvPr/>
        </p:nvSpPr>
        <p:spPr>
          <a:xfrm>
            <a:off x="990295"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0" name="Text 16"/>
          <p:cNvSpPr/>
          <p:nvPr/>
        </p:nvSpPr>
        <p:spPr>
          <a:xfrm>
            <a:off x="990295"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2</a:t>
            </a:r>
            <a:endParaRPr lang="en-US" sz="1000" dirty="0"/>
          </a:p>
        </p:txBody>
      </p:sp>
      <p:sp>
        <p:nvSpPr>
          <p:cNvPr id="31" name="Text 17"/>
          <p:cNvSpPr txBox="1"/>
          <p:nvPr/>
        </p:nvSpPr>
        <p:spPr>
          <a:xfrm>
            <a:off x="1438351"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Điều kiện khởi công 25/5/2026</a:t>
            </a:r>
            <a:endParaRPr lang="en-US" sz="1200" dirty="0"/>
          </a:p>
        </p:txBody>
      </p:sp>
      <p:sp>
        <p:nvSpPr>
          <p:cNvPr id="32" name="Text 18"/>
          <p:cNvSpPr txBox="1"/>
          <p:nvPr/>
        </p:nvSpPr>
        <p:spPr>
          <a:xfrm>
            <a:off x="1438351"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việc cần làm ngay, vấn đề cần giải quyết</a:t>
            </a:r>
            <a:endParaRPr lang="en-US" sz="900" dirty="0"/>
          </a:p>
        </p:txBody>
      </p:sp>
      <p:sp>
        <p:nvSpPr>
          <p:cNvPr id="33" name="Shape 19"/>
          <p:cNvSpPr/>
          <p:nvPr/>
        </p:nvSpPr>
        <p:spPr>
          <a:xfrm>
            <a:off x="5391302"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12" descr="preencoded.png"/>
          <p:cNvPicPr>
            <a:picLocks noChangeAspect="1"/>
          </p:cNvPicPr>
          <p:nvPr/>
        </p:nvPicPr>
        <p:blipFill>
          <a:blip r:embed="rId8"/>
          <a:srcRect/>
          <a:stretch/>
        </p:blipFill>
        <p:spPr>
          <a:xfrm>
            <a:off x="5462626" y="2624328"/>
            <a:ext cx="123444" cy="123444"/>
          </a:xfrm>
          <a:prstGeom prst="rect">
            <a:avLst/>
          </a:prstGeom>
        </p:spPr>
      </p:pic>
      <p:sp>
        <p:nvSpPr>
          <p:cNvPr id="35" name="Shape 20"/>
          <p:cNvSpPr/>
          <p:nvPr/>
        </p:nvSpPr>
        <p:spPr>
          <a:xfrm>
            <a:off x="990295"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36" name="Text 21"/>
          <p:cNvSpPr/>
          <p:nvPr/>
        </p:nvSpPr>
        <p:spPr>
          <a:xfrm>
            <a:off x="990295"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3</a:t>
            </a:r>
            <a:endParaRPr lang="en-US" sz="1000" dirty="0"/>
          </a:p>
        </p:txBody>
      </p:sp>
      <p:sp>
        <p:nvSpPr>
          <p:cNvPr id="37" name="Text 22"/>
          <p:cNvSpPr txBox="1"/>
          <p:nvPr/>
        </p:nvSpPr>
        <p:spPr>
          <a:xfrm>
            <a:off x="1438351"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tài chính</a:t>
            </a:r>
            <a:endParaRPr lang="en-US" sz="1200" dirty="0"/>
          </a:p>
        </p:txBody>
      </p:sp>
      <p:sp>
        <p:nvSpPr>
          <p:cNvPr id="38" name="Text 23"/>
          <p:cNvSpPr txBox="1"/>
          <p:nvPr/>
        </p:nvSpPr>
        <p:spPr>
          <a:xfrm>
            <a:off x="1438351"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Chi phí 472.08 tỷ, doanh thu 519.21 tỷ</a:t>
            </a:r>
            <a:endParaRPr lang="en-US" sz="900" dirty="0"/>
          </a:p>
        </p:txBody>
      </p:sp>
      <p:sp>
        <p:nvSpPr>
          <p:cNvPr id="39" name="Shape 24"/>
          <p:cNvSpPr/>
          <p:nvPr/>
        </p:nvSpPr>
        <p:spPr>
          <a:xfrm>
            <a:off x="5391302"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0" name="Image 13" descr="preencoded.png"/>
          <p:cNvPicPr>
            <a:picLocks noChangeAspect="1"/>
          </p:cNvPicPr>
          <p:nvPr/>
        </p:nvPicPr>
        <p:blipFill>
          <a:blip r:embed="rId9"/>
          <a:srcRect/>
          <a:stretch/>
        </p:blipFill>
        <p:spPr>
          <a:xfrm>
            <a:off x="5462626" y="3396082"/>
            <a:ext cx="123444" cy="123444"/>
          </a:xfrm>
          <a:prstGeom prst="rect">
            <a:avLst/>
          </a:prstGeom>
        </p:spPr>
      </p:pic>
      <p:sp>
        <p:nvSpPr>
          <p:cNvPr id="41" name="Shape 25"/>
          <p:cNvSpPr/>
          <p:nvPr/>
        </p:nvSpPr>
        <p:spPr>
          <a:xfrm>
            <a:off x="990295"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2" name="Text 26"/>
          <p:cNvSpPr/>
          <p:nvPr/>
        </p:nvSpPr>
        <p:spPr>
          <a:xfrm>
            <a:off x="990295"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4</a:t>
            </a:r>
            <a:endParaRPr lang="en-US" sz="1000" dirty="0"/>
          </a:p>
        </p:txBody>
      </p:sp>
      <p:sp>
        <p:nvSpPr>
          <p:cNvPr id="43" name="Text 27"/>
          <p:cNvSpPr txBox="1"/>
          <p:nvPr/>
        </p:nvSpPr>
        <p:spPr>
          <a:xfrm>
            <a:off x="1438351"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So sánh BPTC PA1 vs PA2</a:t>
            </a:r>
            <a:endParaRPr lang="en-US" sz="1200" dirty="0"/>
          </a:p>
        </p:txBody>
      </p:sp>
      <p:sp>
        <p:nvSpPr>
          <p:cNvPr id="44" name="Text 28"/>
          <p:cNvSpPr txBox="1"/>
          <p:nvPr/>
        </p:nvSpPr>
        <p:spPr>
          <a:xfrm>
            <a:off x="1438351"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PA1 đào mở tiết kiệm 1.84 tỷ</a:t>
            </a:r>
            <a:endParaRPr lang="en-US" sz="900" dirty="0"/>
          </a:p>
        </p:txBody>
      </p:sp>
      <p:sp>
        <p:nvSpPr>
          <p:cNvPr id="45" name="Shape 29"/>
          <p:cNvSpPr/>
          <p:nvPr/>
        </p:nvSpPr>
        <p:spPr>
          <a:xfrm>
            <a:off x="5391302"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46" name="Image 14" descr="preencoded.png"/>
          <p:cNvPicPr>
            <a:picLocks noChangeAspect="1"/>
          </p:cNvPicPr>
          <p:nvPr/>
        </p:nvPicPr>
        <p:blipFill>
          <a:blip r:embed="rId10"/>
          <a:srcRect t="-524" b="-524"/>
          <a:stretch/>
        </p:blipFill>
        <p:spPr>
          <a:xfrm>
            <a:off x="5447995" y="4166921"/>
            <a:ext cx="152705" cy="123444"/>
          </a:xfrm>
          <a:prstGeom prst="rect">
            <a:avLst/>
          </a:prstGeom>
        </p:spPr>
      </p:pic>
      <p:sp>
        <p:nvSpPr>
          <p:cNvPr id="47" name="Shape 30"/>
          <p:cNvSpPr/>
          <p:nvPr/>
        </p:nvSpPr>
        <p:spPr>
          <a:xfrm>
            <a:off x="990295"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48" name="Text 31"/>
          <p:cNvSpPr/>
          <p:nvPr/>
        </p:nvSpPr>
        <p:spPr>
          <a:xfrm>
            <a:off x="990295"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5</a:t>
            </a:r>
            <a:endParaRPr lang="en-US" sz="1000" dirty="0"/>
          </a:p>
        </p:txBody>
      </p:sp>
      <p:sp>
        <p:nvSpPr>
          <p:cNvPr id="49" name="Text 32"/>
          <p:cNvSpPr txBox="1"/>
          <p:nvPr/>
        </p:nvSpPr>
        <p:spPr>
          <a:xfrm>
            <a:off x="1438351"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Chiến lược phân gói thầu</a:t>
            </a:r>
            <a:endParaRPr lang="en-US" sz="1200" dirty="0"/>
          </a:p>
        </p:txBody>
      </p:sp>
      <p:sp>
        <p:nvSpPr>
          <p:cNvPr id="50" name="Text 33"/>
          <p:cNvSpPr txBox="1"/>
          <p:nvPr/>
        </p:nvSpPr>
        <p:spPr>
          <a:xfrm>
            <a:off x="1438351"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ECC 68.3%, thuê thầu phụ 31.7%</a:t>
            </a:r>
            <a:endParaRPr lang="en-US" sz="900" dirty="0"/>
          </a:p>
        </p:txBody>
      </p:sp>
      <p:sp>
        <p:nvSpPr>
          <p:cNvPr id="51" name="Shape 34"/>
          <p:cNvSpPr/>
          <p:nvPr/>
        </p:nvSpPr>
        <p:spPr>
          <a:xfrm>
            <a:off x="5391302"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52" name="Image 15" descr="preencoded.png"/>
          <p:cNvPicPr>
            <a:picLocks noChangeAspect="1"/>
          </p:cNvPicPr>
          <p:nvPr/>
        </p:nvPicPr>
        <p:blipFill>
          <a:blip r:embed="rId11"/>
          <a:srcRect/>
          <a:stretch/>
        </p:blipFill>
        <p:spPr>
          <a:xfrm>
            <a:off x="5462626" y="4938674"/>
            <a:ext cx="123444" cy="123444"/>
          </a:xfrm>
          <a:prstGeom prst="rect">
            <a:avLst/>
          </a:prstGeom>
        </p:spPr>
      </p:pic>
      <p:sp>
        <p:nvSpPr>
          <p:cNvPr id="53" name="Text 35"/>
          <p:cNvSpPr txBox="1"/>
          <p:nvPr/>
        </p:nvSpPr>
        <p:spPr>
          <a:xfrm>
            <a:off x="6848856" y="1276502"/>
            <a:ext cx="4352544"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 Phần 2: Triển khai &amp; Kiến nghị</a:t>
            </a:r>
            <a:endParaRPr lang="en-US" sz="1500" dirty="0"/>
          </a:p>
        </p:txBody>
      </p:sp>
      <p:pic>
        <p:nvPicPr>
          <p:cNvPr id="54" name="Image 16" descr="preencoded.png"/>
          <p:cNvPicPr>
            <a:picLocks noChangeAspect="1"/>
          </p:cNvPicPr>
          <p:nvPr/>
        </p:nvPicPr>
        <p:blipFill>
          <a:blip r:embed="rId12"/>
          <a:srcRect/>
          <a:stretch/>
        </p:blipFill>
        <p:spPr>
          <a:xfrm>
            <a:off x="6515100" y="1295705"/>
            <a:ext cx="237744" cy="190195"/>
          </a:xfrm>
          <a:prstGeom prst="rect">
            <a:avLst/>
          </a:prstGeom>
        </p:spPr>
      </p:pic>
      <p:sp>
        <p:nvSpPr>
          <p:cNvPr id="55" name="Shape 36"/>
          <p:cNvSpPr/>
          <p:nvPr/>
        </p:nvSpPr>
        <p:spPr>
          <a:xfrm>
            <a:off x="6515100" y="17620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56" name="Text 37"/>
          <p:cNvSpPr/>
          <p:nvPr/>
        </p:nvSpPr>
        <p:spPr>
          <a:xfrm>
            <a:off x="6515100" y="17620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6</a:t>
            </a:r>
            <a:endParaRPr lang="en-US" sz="1000" dirty="0"/>
          </a:p>
        </p:txBody>
      </p:sp>
      <p:sp>
        <p:nvSpPr>
          <p:cNvPr id="57" name="Text 38"/>
          <p:cNvSpPr txBox="1"/>
          <p:nvPr/>
        </p:nvSpPr>
        <p:spPr>
          <a:xfrm>
            <a:off x="6963156" y="17145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 hoạch thành lập ECC</a:t>
            </a:r>
            <a:endParaRPr lang="en-US" sz="1200" dirty="0"/>
          </a:p>
        </p:txBody>
      </p:sp>
      <p:sp>
        <p:nvSpPr>
          <p:cNvPr id="58" name="Text 39"/>
          <p:cNvSpPr txBox="1"/>
          <p:nvPr/>
        </p:nvSpPr>
        <p:spPr>
          <a:xfrm>
            <a:off x="6963156" y="19623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Mục tiêu, phạm vi, lợi ích</a:t>
            </a:r>
            <a:endParaRPr lang="en-US" sz="900" dirty="0"/>
          </a:p>
        </p:txBody>
      </p:sp>
      <p:sp>
        <p:nvSpPr>
          <p:cNvPr id="59" name="Shape 40"/>
          <p:cNvSpPr/>
          <p:nvPr/>
        </p:nvSpPr>
        <p:spPr>
          <a:xfrm>
            <a:off x="10916107" y="17812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7" descr="preencoded.png"/>
          <p:cNvPicPr>
            <a:picLocks noChangeAspect="1"/>
          </p:cNvPicPr>
          <p:nvPr/>
        </p:nvPicPr>
        <p:blipFill>
          <a:blip r:embed="rId13"/>
          <a:srcRect t="-524" b="-524"/>
          <a:stretch/>
        </p:blipFill>
        <p:spPr>
          <a:xfrm>
            <a:off x="10972800" y="1852574"/>
            <a:ext cx="152705" cy="123444"/>
          </a:xfrm>
          <a:prstGeom prst="rect">
            <a:avLst/>
          </a:prstGeom>
        </p:spPr>
      </p:pic>
      <p:sp>
        <p:nvSpPr>
          <p:cNvPr id="61" name="Shape 41"/>
          <p:cNvSpPr/>
          <p:nvPr/>
        </p:nvSpPr>
        <p:spPr>
          <a:xfrm>
            <a:off x="6515100" y="2533802"/>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2" name="Text 42"/>
          <p:cNvSpPr/>
          <p:nvPr/>
        </p:nvSpPr>
        <p:spPr>
          <a:xfrm>
            <a:off x="6515100" y="2533802"/>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7</a:t>
            </a:r>
            <a:endParaRPr lang="en-US" sz="1000" dirty="0"/>
          </a:p>
        </p:txBody>
      </p:sp>
      <p:sp>
        <p:nvSpPr>
          <p:cNvPr id="63" name="Text 43"/>
          <p:cNvSpPr txBox="1"/>
          <p:nvPr/>
        </p:nvSpPr>
        <p:spPr>
          <a:xfrm>
            <a:off x="6963156" y="2486254"/>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Tiến độ tổng thể</a:t>
            </a:r>
            <a:endParaRPr lang="en-US" sz="1200" dirty="0"/>
          </a:p>
        </p:txBody>
      </p:sp>
      <p:sp>
        <p:nvSpPr>
          <p:cNvPr id="64" name="Text 44"/>
          <p:cNvSpPr txBox="1"/>
          <p:nvPr/>
        </p:nvSpPr>
        <p:spPr>
          <a:xfrm>
            <a:off x="6963156" y="2734056"/>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CT2 (6/2026-7/2028), CT1 (1/2027-9/2028)</a:t>
            </a:r>
            <a:endParaRPr lang="en-US" sz="900" dirty="0"/>
          </a:p>
        </p:txBody>
      </p:sp>
      <p:sp>
        <p:nvSpPr>
          <p:cNvPr id="65" name="Shape 45"/>
          <p:cNvSpPr/>
          <p:nvPr/>
        </p:nvSpPr>
        <p:spPr>
          <a:xfrm>
            <a:off x="10916107" y="2553005"/>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8" descr="preencoded.png"/>
          <p:cNvPicPr>
            <a:picLocks noChangeAspect="1"/>
          </p:cNvPicPr>
          <p:nvPr/>
        </p:nvPicPr>
        <p:blipFill>
          <a:blip r:embed="rId14"/>
          <a:srcRect t="-1359" b="-1359"/>
          <a:stretch/>
        </p:blipFill>
        <p:spPr>
          <a:xfrm>
            <a:off x="10996574" y="2624328"/>
            <a:ext cx="105156" cy="123444"/>
          </a:xfrm>
          <a:prstGeom prst="rect">
            <a:avLst/>
          </a:prstGeom>
        </p:spPr>
      </p:pic>
      <p:sp>
        <p:nvSpPr>
          <p:cNvPr id="67" name="Shape 46"/>
          <p:cNvSpPr/>
          <p:nvPr/>
        </p:nvSpPr>
        <p:spPr>
          <a:xfrm>
            <a:off x="6515100" y="3305556"/>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68" name="Text 47"/>
          <p:cNvSpPr/>
          <p:nvPr/>
        </p:nvSpPr>
        <p:spPr>
          <a:xfrm>
            <a:off x="6515100" y="3305556"/>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8</a:t>
            </a:r>
            <a:endParaRPr lang="en-US" sz="1000" dirty="0"/>
          </a:p>
        </p:txBody>
      </p:sp>
      <p:sp>
        <p:nvSpPr>
          <p:cNvPr id="69" name="Text 48"/>
          <p:cNvSpPr txBox="1"/>
          <p:nvPr/>
        </p:nvSpPr>
        <p:spPr>
          <a:xfrm>
            <a:off x="6963156" y="3258007"/>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Phân tích rủi ro</a:t>
            </a:r>
            <a:endParaRPr lang="en-US" sz="1200" dirty="0"/>
          </a:p>
        </p:txBody>
      </p:sp>
      <p:sp>
        <p:nvSpPr>
          <p:cNvPr id="70" name="Text 49"/>
          <p:cNvSpPr txBox="1"/>
          <p:nvPr/>
        </p:nvSpPr>
        <p:spPr>
          <a:xfrm>
            <a:off x="6963156" y="3504895"/>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GPMB, thiết kế, giao thông</a:t>
            </a:r>
            <a:endParaRPr lang="en-US" sz="900" dirty="0"/>
          </a:p>
        </p:txBody>
      </p:sp>
      <p:sp>
        <p:nvSpPr>
          <p:cNvPr id="71" name="Shape 50"/>
          <p:cNvSpPr/>
          <p:nvPr/>
        </p:nvSpPr>
        <p:spPr>
          <a:xfrm>
            <a:off x="10916107" y="3323844"/>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9" descr="preencoded.png"/>
          <p:cNvPicPr>
            <a:picLocks noChangeAspect="1"/>
          </p:cNvPicPr>
          <p:nvPr/>
        </p:nvPicPr>
        <p:blipFill>
          <a:blip r:embed="rId15"/>
          <a:srcRect/>
          <a:stretch/>
        </p:blipFill>
        <p:spPr>
          <a:xfrm>
            <a:off x="10987430" y="3396082"/>
            <a:ext cx="123444" cy="123444"/>
          </a:xfrm>
          <a:prstGeom prst="rect">
            <a:avLst/>
          </a:prstGeom>
        </p:spPr>
      </p:pic>
      <p:sp>
        <p:nvSpPr>
          <p:cNvPr id="73" name="Shape 51"/>
          <p:cNvSpPr/>
          <p:nvPr/>
        </p:nvSpPr>
        <p:spPr>
          <a:xfrm>
            <a:off x="6515100" y="4076395"/>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74" name="Text 52"/>
          <p:cNvSpPr/>
          <p:nvPr/>
        </p:nvSpPr>
        <p:spPr>
          <a:xfrm>
            <a:off x="6515100" y="4076395"/>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9</a:t>
            </a:r>
            <a:endParaRPr lang="en-US" sz="1000" dirty="0"/>
          </a:p>
        </p:txBody>
      </p:sp>
      <p:sp>
        <p:nvSpPr>
          <p:cNvPr id="75" name="Text 53"/>
          <p:cNvSpPr txBox="1"/>
          <p:nvPr/>
        </p:nvSpPr>
        <p:spPr>
          <a:xfrm>
            <a:off x="6963156" y="4028846"/>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Kiến nghị hành động</a:t>
            </a:r>
            <a:endParaRPr lang="en-US" sz="1200" dirty="0"/>
          </a:p>
        </p:txBody>
      </p:sp>
      <p:sp>
        <p:nvSpPr>
          <p:cNvPr id="76" name="Text 54"/>
          <p:cNvSpPr txBox="1"/>
          <p:nvPr/>
        </p:nvSpPr>
        <p:spPr>
          <a:xfrm>
            <a:off x="6963156" y="4276649"/>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8-10 hành động ưu tiên</a:t>
            </a:r>
            <a:endParaRPr lang="en-US" sz="900" dirty="0"/>
          </a:p>
        </p:txBody>
      </p:sp>
      <p:sp>
        <p:nvSpPr>
          <p:cNvPr id="77" name="Shape 55"/>
          <p:cNvSpPr/>
          <p:nvPr/>
        </p:nvSpPr>
        <p:spPr>
          <a:xfrm>
            <a:off x="10916107" y="4095598"/>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20" descr="preencoded.png"/>
          <p:cNvPicPr>
            <a:picLocks noChangeAspect="1"/>
          </p:cNvPicPr>
          <p:nvPr/>
        </p:nvPicPr>
        <p:blipFill>
          <a:blip r:embed="rId16"/>
          <a:srcRect/>
          <a:stretch/>
        </p:blipFill>
        <p:spPr>
          <a:xfrm>
            <a:off x="10987430" y="4166921"/>
            <a:ext cx="123444" cy="123444"/>
          </a:xfrm>
          <a:prstGeom prst="rect">
            <a:avLst/>
          </a:prstGeom>
        </p:spPr>
      </p:pic>
      <p:sp>
        <p:nvSpPr>
          <p:cNvPr id="79" name="Shape 56"/>
          <p:cNvSpPr/>
          <p:nvPr/>
        </p:nvSpPr>
        <p:spPr>
          <a:xfrm>
            <a:off x="6515100" y="4848149"/>
            <a:ext cx="304495" cy="304495"/>
          </a:xfrm>
          <a:prstGeom prst="ellipse">
            <a:avLst/>
          </a:prstGeom>
          <a:solidFill>
            <a:srgbClr val="F7A81B"/>
          </a:solidFill>
          <a:ln w="12700">
            <a:solidFill>
              <a:srgbClr val="FFFFFF">
                <a:alpha val="0"/>
              </a:srgbClr>
            </a:solidFill>
            <a:prstDash val="solid"/>
          </a:ln>
        </p:spPr>
        <p:txBody>
          <a:bodyPr/>
          <a:lstStyle/>
          <a:p>
            <a:endParaRPr lang="en-US"/>
          </a:p>
        </p:txBody>
      </p:sp>
      <p:sp>
        <p:nvSpPr>
          <p:cNvPr id="80" name="Text 57"/>
          <p:cNvSpPr/>
          <p:nvPr/>
        </p:nvSpPr>
        <p:spPr>
          <a:xfrm>
            <a:off x="6515100" y="4848149"/>
            <a:ext cx="305410" cy="3054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Open Sans" pitchFamily="34" charset="0"/>
                <a:ea typeface="Open Sans" pitchFamily="34" charset="-122"/>
                <a:cs typeface="Open Sans" pitchFamily="34" charset="-120"/>
              </a:rPr>
              <a:t>10</a:t>
            </a:r>
            <a:endParaRPr lang="en-US" sz="1000" dirty="0"/>
          </a:p>
        </p:txBody>
      </p:sp>
      <p:sp>
        <p:nvSpPr>
          <p:cNvPr id="81" name="Text 58"/>
          <p:cNvSpPr txBox="1"/>
          <p:nvPr/>
        </p:nvSpPr>
        <p:spPr>
          <a:xfrm>
            <a:off x="6963156" y="4800600"/>
            <a:ext cx="3810305"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Kết luận</a:t>
            </a:r>
            <a:endParaRPr lang="en-US" sz="1200" dirty="0"/>
          </a:p>
        </p:txBody>
      </p:sp>
      <p:sp>
        <p:nvSpPr>
          <p:cNvPr id="82" name="Text 59"/>
          <p:cNvSpPr txBox="1"/>
          <p:nvPr/>
        </p:nvSpPr>
        <p:spPr>
          <a:xfrm>
            <a:off x="6963156" y="5048402"/>
            <a:ext cx="3810305" cy="171907"/>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Quyết định và bước tiếp theo</a:t>
            </a:r>
            <a:endParaRPr lang="en-US" sz="900" dirty="0"/>
          </a:p>
        </p:txBody>
      </p:sp>
      <p:sp>
        <p:nvSpPr>
          <p:cNvPr id="83" name="Shape 60"/>
          <p:cNvSpPr/>
          <p:nvPr/>
        </p:nvSpPr>
        <p:spPr>
          <a:xfrm>
            <a:off x="10916107" y="4867351"/>
            <a:ext cx="267005" cy="267005"/>
          </a:xfrm>
          <a:prstGeom prst="roundRect">
            <a:avLst>
              <a:gd name="adj" fmla="val 146771"/>
            </a:avLst>
          </a:prstGeom>
          <a:solidFill>
            <a:srgbClr val="F7A81B">
              <a:alpha val="10000"/>
            </a:srgbClr>
          </a:solidFill>
          <a:ln w="12700">
            <a:solidFill>
              <a:srgbClr val="FFFFFF">
                <a:alpha val="0"/>
              </a:srgbClr>
            </a:solidFill>
            <a:prstDash val="solid"/>
          </a:ln>
        </p:spPr>
        <p:txBody>
          <a:bodyPr/>
          <a:lstStyle/>
          <a:p>
            <a:endParaRPr lang="en-US"/>
          </a:p>
        </p:txBody>
      </p:sp>
      <p:pic>
        <p:nvPicPr>
          <p:cNvPr id="84" name="Image 21" descr="preencoded.png"/>
          <p:cNvPicPr>
            <a:picLocks noChangeAspect="1"/>
          </p:cNvPicPr>
          <p:nvPr/>
        </p:nvPicPr>
        <p:blipFill>
          <a:blip r:embed="rId17"/>
          <a:srcRect/>
          <a:stretch/>
        </p:blipFill>
        <p:spPr>
          <a:xfrm>
            <a:off x="10987430" y="4938674"/>
            <a:ext cx="123444" cy="123444"/>
          </a:xfrm>
          <a:prstGeom prst="rect">
            <a:avLst/>
          </a:prstGeom>
        </p:spPr>
      </p:pic>
      <p:sp>
        <p:nvSpPr>
          <p:cNvPr id="85" name="Text 61"/>
          <p:cNvSpPr txBox="1"/>
          <p:nvPr/>
        </p:nvSpPr>
        <p:spPr>
          <a:xfrm>
            <a:off x="951890" y="6429146"/>
            <a:ext cx="26673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6" name="Image 22" descr="preencoded.png"/>
          <p:cNvPicPr>
            <a:picLocks noChangeAspect="1"/>
          </p:cNvPicPr>
          <p:nvPr/>
        </p:nvPicPr>
        <p:blipFill>
          <a:blip r:embed="rId18"/>
          <a:srcRect l="-1358" r="-1358"/>
          <a:stretch/>
        </p:blipFill>
        <p:spPr>
          <a:xfrm>
            <a:off x="761695" y="6454750"/>
            <a:ext cx="95098" cy="123444"/>
          </a:xfrm>
          <a:prstGeom prst="rect">
            <a:avLst/>
          </a:prstGeom>
        </p:spPr>
      </p:pic>
      <p:sp>
        <p:nvSpPr>
          <p:cNvPr id="87" name="Text 62"/>
          <p:cNvSpPr txBox="1"/>
          <p:nvPr/>
        </p:nvSpPr>
        <p:spPr>
          <a:xfrm>
            <a:off x="10668305" y="6429146"/>
            <a:ext cx="762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2/12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FFFFF"/>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571500" y="952805"/>
            <a:ext cx="5400446" cy="2876702"/>
          </a:xfrm>
          <a:prstGeom prst="roundRect">
            <a:avLst>
              <a:gd name="adj" fmla="val 2526"/>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571500" y="4095598"/>
            <a:ext cx="5400446" cy="2115007"/>
          </a:xfrm>
          <a:prstGeom prst="roundRect">
            <a:avLst>
              <a:gd name="adj" fmla="val 467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400446" cy="2400300"/>
          </a:xfrm>
          <a:prstGeom prst="roundRect">
            <a:avLst>
              <a:gd name="adj" fmla="val 3628"/>
            </a:avLst>
          </a:prstGeom>
          <a:solidFill>
            <a:srgbClr val="F8F9FA"/>
          </a:solidFill>
          <a:ln w="12700">
            <a:solidFill>
              <a:srgbClr val="E2E8F0"/>
            </a:solidFill>
            <a:prstDash val="solid"/>
          </a:ln>
        </p:spPr>
        <p:txBody>
          <a:bodyPr/>
          <a:lstStyle/>
          <a:p>
            <a:endParaRPr lang="en-US"/>
          </a:p>
        </p:txBody>
      </p:sp>
      <p:sp>
        <p:nvSpPr>
          <p:cNvPr id="9" name="Shape 7"/>
          <p:cNvSpPr/>
          <p:nvPr/>
        </p:nvSpPr>
        <p:spPr>
          <a:xfrm>
            <a:off x="6238951" y="3619195"/>
            <a:ext cx="5400446" cy="2590495"/>
          </a:xfrm>
          <a:prstGeom prst="roundRect">
            <a:avLst>
              <a:gd name="adj" fmla="val 3115"/>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76169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881482" y="286207"/>
            <a:ext cx="142646" cy="190195"/>
          </a:xfrm>
          <a:prstGeom prst="rect">
            <a:avLst/>
          </a:prstGeom>
        </p:spPr>
      </p:pic>
      <p:sp>
        <p:nvSpPr>
          <p:cNvPr id="12" name="Text 9"/>
          <p:cNvSpPr txBox="1"/>
          <p:nvPr/>
        </p:nvSpPr>
        <p:spPr>
          <a:xfrm>
            <a:off x="1285646" y="237744"/>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TỔNG QUAN DỰ ÁN NOXH YÊN SỞ</a:t>
            </a:r>
            <a:endParaRPr lang="en-US" sz="1800" dirty="0"/>
          </a:p>
        </p:txBody>
      </p:sp>
      <p:sp>
        <p:nvSpPr>
          <p:cNvPr id="13" name="Text 10"/>
          <p:cNvSpPr txBox="1"/>
          <p:nvPr/>
        </p:nvSpPr>
        <p:spPr>
          <a:xfrm>
            <a:off x="9715500" y="286207"/>
            <a:ext cx="1715414"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 </a:t>
            </a:r>
            <a:endParaRPr lang="en-US" sz="1000" dirty="0"/>
          </a:p>
        </p:txBody>
      </p:sp>
      <p:pic>
        <p:nvPicPr>
          <p:cNvPr id="14" name="Image 1" descr="preencoded.png"/>
          <p:cNvPicPr>
            <a:picLocks noChangeAspect="1"/>
          </p:cNvPicPr>
          <p:nvPr/>
        </p:nvPicPr>
        <p:blipFill>
          <a:blip r:embed="rId4"/>
          <a:srcRect t="-1100" b="-1100"/>
          <a:stretch/>
        </p:blipFill>
        <p:spPr>
          <a:xfrm>
            <a:off x="9525305" y="309982"/>
            <a:ext cx="114300" cy="133502"/>
          </a:xfrm>
          <a:prstGeom prst="rect">
            <a:avLst/>
          </a:prstGeom>
        </p:spPr>
      </p:pic>
      <p:sp>
        <p:nvSpPr>
          <p:cNvPr id="15" name="Text 11"/>
          <p:cNvSpPr txBox="1"/>
          <p:nvPr/>
        </p:nvSpPr>
        <p:spPr>
          <a:xfrm>
            <a:off x="1009498" y="1143000"/>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Thông tin dự án </a:t>
            </a:r>
            <a:endParaRPr lang="en-US" sz="1200" dirty="0"/>
          </a:p>
        </p:txBody>
      </p:sp>
      <p:pic>
        <p:nvPicPr>
          <p:cNvPr id="16" name="Image 2" descr="preencoded.png"/>
          <p:cNvPicPr>
            <a:picLocks noChangeAspect="1"/>
          </p:cNvPicPr>
          <p:nvPr/>
        </p:nvPicPr>
        <p:blipFill>
          <a:blip r:embed="rId5"/>
          <a:srcRect/>
          <a:stretch/>
        </p:blipFill>
        <p:spPr>
          <a:xfrm>
            <a:off x="761695" y="1157630"/>
            <a:ext cx="152705" cy="152705"/>
          </a:xfrm>
          <a:prstGeom prst="rect">
            <a:avLst/>
          </a:prstGeom>
        </p:spPr>
      </p:pic>
      <p:sp>
        <p:nvSpPr>
          <p:cNvPr id="17" name="Shape 12"/>
          <p:cNvSpPr/>
          <p:nvPr/>
        </p:nvSpPr>
        <p:spPr>
          <a:xfrm>
            <a:off x="761695"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18" name="Shape 13"/>
          <p:cNvSpPr/>
          <p:nvPr/>
        </p:nvSpPr>
        <p:spPr>
          <a:xfrm>
            <a:off x="866851"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9" name="Image 3" descr="preencoded.png"/>
          <p:cNvPicPr>
            <a:picLocks noChangeAspect="1"/>
          </p:cNvPicPr>
          <p:nvPr/>
        </p:nvPicPr>
        <p:blipFill>
          <a:blip r:embed="rId6"/>
          <a:srcRect l="-2512" r="-2512"/>
          <a:stretch/>
        </p:blipFill>
        <p:spPr>
          <a:xfrm>
            <a:off x="966521" y="1729130"/>
            <a:ext cx="105156" cy="133502"/>
          </a:xfrm>
          <a:prstGeom prst="rect">
            <a:avLst/>
          </a:prstGeom>
        </p:spPr>
      </p:pic>
      <p:sp>
        <p:nvSpPr>
          <p:cNvPr id="20" name="Text 14"/>
          <p:cNvSpPr txBox="1"/>
          <p:nvPr/>
        </p:nvSpPr>
        <p:spPr>
          <a:xfrm>
            <a:off x="1266444"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Vị trí</a:t>
            </a:r>
            <a:endParaRPr lang="en-US" sz="800" dirty="0"/>
          </a:p>
        </p:txBody>
      </p:sp>
      <p:sp>
        <p:nvSpPr>
          <p:cNvPr id="21" name="Text 15"/>
          <p:cNvSpPr txBox="1"/>
          <p:nvPr/>
        </p:nvSpPr>
        <p:spPr>
          <a:xfrm>
            <a:off x="1266444"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Phường Yên Sở, Hà Nội</a:t>
            </a:r>
            <a:endParaRPr lang="en-US" sz="900" dirty="0"/>
          </a:p>
        </p:txBody>
      </p:sp>
      <p:sp>
        <p:nvSpPr>
          <p:cNvPr id="22" name="Shape 16"/>
          <p:cNvSpPr/>
          <p:nvPr/>
        </p:nvSpPr>
        <p:spPr>
          <a:xfrm>
            <a:off x="3319272" y="1524305"/>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3" name="Shape 17"/>
          <p:cNvSpPr/>
          <p:nvPr/>
        </p:nvSpPr>
        <p:spPr>
          <a:xfrm>
            <a:off x="3424428" y="1643177"/>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4" name="Image 4" descr="preencoded.png"/>
          <p:cNvPicPr>
            <a:picLocks noChangeAspect="1"/>
          </p:cNvPicPr>
          <p:nvPr/>
        </p:nvPicPr>
        <p:blipFill>
          <a:blip r:embed="rId7"/>
          <a:srcRect/>
          <a:stretch/>
        </p:blipFill>
        <p:spPr>
          <a:xfrm>
            <a:off x="3510382" y="1729130"/>
            <a:ext cx="133502" cy="133502"/>
          </a:xfrm>
          <a:prstGeom prst="rect">
            <a:avLst/>
          </a:prstGeom>
        </p:spPr>
      </p:pic>
      <p:sp>
        <p:nvSpPr>
          <p:cNvPr id="25" name="Text 18"/>
          <p:cNvSpPr txBox="1"/>
          <p:nvPr/>
        </p:nvSpPr>
        <p:spPr>
          <a:xfrm>
            <a:off x="3824021" y="1628546"/>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Diện tích</a:t>
            </a:r>
            <a:endParaRPr lang="en-US" sz="800" dirty="0"/>
          </a:p>
        </p:txBody>
      </p:sp>
      <p:sp>
        <p:nvSpPr>
          <p:cNvPr id="26" name="Text 19"/>
          <p:cNvSpPr txBox="1"/>
          <p:nvPr/>
        </p:nvSpPr>
        <p:spPr>
          <a:xfrm>
            <a:off x="3824021" y="1790395"/>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148,800 m²</a:t>
            </a:r>
            <a:endParaRPr lang="en-US" sz="900" dirty="0"/>
          </a:p>
        </p:txBody>
      </p:sp>
      <p:sp>
        <p:nvSpPr>
          <p:cNvPr id="27" name="Shape 20"/>
          <p:cNvSpPr/>
          <p:nvPr/>
        </p:nvSpPr>
        <p:spPr>
          <a:xfrm>
            <a:off x="761695"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28" name="Shape 21"/>
          <p:cNvSpPr/>
          <p:nvPr/>
        </p:nvSpPr>
        <p:spPr>
          <a:xfrm>
            <a:off x="866851"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29" name="Image 5" descr="preencoded.png"/>
          <p:cNvPicPr>
            <a:picLocks noChangeAspect="1"/>
          </p:cNvPicPr>
          <p:nvPr/>
        </p:nvPicPr>
        <p:blipFill>
          <a:blip r:embed="rId8"/>
          <a:srcRect l="-837" r="-837"/>
          <a:stretch/>
        </p:blipFill>
        <p:spPr>
          <a:xfrm>
            <a:off x="942746" y="2385670"/>
            <a:ext cx="152705" cy="133502"/>
          </a:xfrm>
          <a:prstGeom prst="rect">
            <a:avLst/>
          </a:prstGeom>
        </p:spPr>
      </p:pic>
      <p:sp>
        <p:nvSpPr>
          <p:cNvPr id="30" name="Text 22"/>
          <p:cNvSpPr txBox="1"/>
          <p:nvPr/>
        </p:nvSpPr>
        <p:spPr>
          <a:xfrm>
            <a:off x="1266444"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Số căn hộ</a:t>
            </a:r>
            <a:endParaRPr lang="en-US" sz="800" dirty="0"/>
          </a:p>
        </p:txBody>
      </p:sp>
      <p:sp>
        <p:nvSpPr>
          <p:cNvPr id="31" name="Text 23"/>
          <p:cNvSpPr txBox="1"/>
          <p:nvPr/>
        </p:nvSpPr>
        <p:spPr>
          <a:xfrm>
            <a:off x="1266444"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1,022 căn</a:t>
            </a:r>
            <a:endParaRPr lang="en-US" sz="900" dirty="0"/>
          </a:p>
        </p:txBody>
      </p:sp>
      <p:sp>
        <p:nvSpPr>
          <p:cNvPr id="32" name="Shape 24"/>
          <p:cNvSpPr/>
          <p:nvPr/>
        </p:nvSpPr>
        <p:spPr>
          <a:xfrm>
            <a:off x="3319272" y="2180844"/>
            <a:ext cx="2447849" cy="543154"/>
          </a:xfrm>
          <a:prstGeom prst="roundRect">
            <a:avLst>
              <a:gd name="adj" fmla="val 47256"/>
            </a:avLst>
          </a:prstGeom>
          <a:solidFill>
            <a:srgbClr val="FFFFFF"/>
          </a:solidFill>
          <a:ln w="12700">
            <a:solidFill>
              <a:srgbClr val="E2E8F0"/>
            </a:solidFill>
            <a:prstDash val="solid"/>
          </a:ln>
        </p:spPr>
        <p:txBody>
          <a:bodyPr/>
          <a:lstStyle/>
          <a:p>
            <a:endParaRPr lang="en-US"/>
          </a:p>
        </p:txBody>
      </p:sp>
      <p:sp>
        <p:nvSpPr>
          <p:cNvPr id="33" name="Shape 25"/>
          <p:cNvSpPr/>
          <p:nvPr/>
        </p:nvSpPr>
        <p:spPr>
          <a:xfrm>
            <a:off x="3424428" y="2300630"/>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34" name="Image 6" descr="preencoded.png"/>
          <p:cNvPicPr>
            <a:picLocks noChangeAspect="1"/>
          </p:cNvPicPr>
          <p:nvPr/>
        </p:nvPicPr>
        <p:blipFill>
          <a:blip r:embed="rId9"/>
          <a:srcRect/>
          <a:stretch/>
        </p:blipFill>
        <p:spPr>
          <a:xfrm>
            <a:off x="3510382" y="2385670"/>
            <a:ext cx="133502" cy="133502"/>
          </a:xfrm>
          <a:prstGeom prst="rect">
            <a:avLst/>
          </a:prstGeom>
        </p:spPr>
      </p:pic>
      <p:sp>
        <p:nvSpPr>
          <p:cNvPr id="35" name="Text 26"/>
          <p:cNvSpPr txBox="1"/>
          <p:nvPr/>
        </p:nvSpPr>
        <p:spPr>
          <a:xfrm>
            <a:off x="3824021" y="2286000"/>
            <a:ext cx="1838858" cy="143561"/>
          </a:xfrm>
          <a:prstGeom prst="rect">
            <a:avLst/>
          </a:prstGeom>
          <a:noFill/>
          <a:ln/>
        </p:spPr>
        <p:txBody>
          <a:bodyPr wrap="square" lIns="0" tIns="0" rIns="0" bIns="0" rtlCol="0" anchor="ctr"/>
          <a:lstStyle/>
          <a:p>
            <a:pPr marL="0" indent="0" algn="l">
              <a:buNone/>
            </a:pPr>
            <a:r>
              <a:rPr lang="en-US" sz="800" dirty="0">
                <a:solidFill>
                  <a:srgbClr val="A0AEC0"/>
                </a:solidFill>
                <a:latin typeface="Open Sans" pitchFamily="34" charset="0"/>
                <a:ea typeface="Open Sans" pitchFamily="34" charset="-122"/>
                <a:cs typeface="Open Sans" pitchFamily="34" charset="-120"/>
              </a:rPr>
              <a:t>Thời gian</a:t>
            </a:r>
            <a:endParaRPr lang="en-US" sz="800" dirty="0"/>
          </a:p>
        </p:txBody>
      </p:sp>
      <p:sp>
        <p:nvSpPr>
          <p:cNvPr id="36" name="Text 27"/>
          <p:cNvSpPr txBox="1"/>
          <p:nvPr/>
        </p:nvSpPr>
        <p:spPr>
          <a:xfrm>
            <a:off x="3824021" y="2447849"/>
            <a:ext cx="183885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27 tháng</a:t>
            </a:r>
            <a:endParaRPr lang="en-US" sz="900" dirty="0"/>
          </a:p>
        </p:txBody>
      </p:sp>
      <p:sp>
        <p:nvSpPr>
          <p:cNvPr id="37" name="Shape 28"/>
          <p:cNvSpPr/>
          <p:nvPr/>
        </p:nvSpPr>
        <p:spPr>
          <a:xfrm>
            <a:off x="761695" y="2857500"/>
            <a:ext cx="5000854" cy="809244"/>
          </a:xfrm>
          <a:prstGeom prst="roundRect">
            <a:avLst>
              <a:gd name="adj" fmla="val 21270"/>
            </a:avLst>
          </a:prstGeom>
          <a:solidFill>
            <a:srgbClr val="F7A81B">
              <a:alpha val="10000"/>
            </a:srgbClr>
          </a:solidFill>
          <a:ln w="12700">
            <a:solidFill>
              <a:srgbClr val="F7A81B">
                <a:alpha val="30000"/>
              </a:srgbClr>
            </a:solidFill>
            <a:prstDash val="solid"/>
          </a:ln>
        </p:spPr>
        <p:txBody>
          <a:bodyPr/>
          <a:lstStyle/>
          <a:p>
            <a:endParaRPr lang="en-US"/>
          </a:p>
        </p:txBody>
      </p:sp>
      <p:sp>
        <p:nvSpPr>
          <p:cNvPr id="38" name="Text 29"/>
          <p:cNvSpPr txBox="1"/>
          <p:nvPr/>
        </p:nvSpPr>
        <p:spPr>
          <a:xfrm>
            <a:off x="1054303" y="2980944"/>
            <a:ext cx="458480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Đặc điểm địa chất</a:t>
            </a:r>
            <a:endParaRPr lang="en-US" sz="1000" dirty="0"/>
          </a:p>
        </p:txBody>
      </p:sp>
      <p:sp>
        <p:nvSpPr>
          <p:cNvPr id="39" name="Text 30"/>
          <p:cNvSpPr txBox="1"/>
          <p:nvPr/>
        </p:nvSpPr>
        <p:spPr>
          <a:xfrm>
            <a:off x="886054" y="3219602"/>
            <a:ext cx="4753051" cy="3246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Phần ngầm nằm trong lớp đất sét pha trạng thái dẻo chảy (chiều dày từ đáy ao đến 27.5m), ảnh hưởng nhiều đến công tác thi công kết cấu phần ngầm.</a:t>
            </a:r>
            <a:endParaRPr lang="en-US" sz="900" dirty="0"/>
          </a:p>
        </p:txBody>
      </p:sp>
      <p:pic>
        <p:nvPicPr>
          <p:cNvPr id="40" name="Image 7" descr="preencoded.png"/>
          <p:cNvPicPr>
            <a:picLocks noChangeAspect="1"/>
          </p:cNvPicPr>
          <p:nvPr/>
        </p:nvPicPr>
        <p:blipFill>
          <a:blip r:embed="rId10"/>
          <a:srcRect/>
          <a:stretch/>
        </p:blipFill>
        <p:spPr>
          <a:xfrm>
            <a:off x="886054" y="3007462"/>
            <a:ext cx="133502" cy="133502"/>
          </a:xfrm>
          <a:prstGeom prst="rect">
            <a:avLst/>
          </a:prstGeom>
        </p:spPr>
      </p:pic>
      <p:sp>
        <p:nvSpPr>
          <p:cNvPr id="41" name="Text 31"/>
          <p:cNvSpPr txBox="1"/>
          <p:nvPr/>
        </p:nvSpPr>
        <p:spPr>
          <a:xfrm>
            <a:off x="1028700" y="4286707"/>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Cơ cấu chi phí </a:t>
            </a:r>
            <a:endParaRPr lang="en-US" sz="1200" dirty="0"/>
          </a:p>
        </p:txBody>
      </p:sp>
      <p:pic>
        <p:nvPicPr>
          <p:cNvPr id="42" name="Image 8" descr="preencoded.png"/>
          <p:cNvPicPr>
            <a:picLocks noChangeAspect="1"/>
          </p:cNvPicPr>
          <p:nvPr/>
        </p:nvPicPr>
        <p:blipFill>
          <a:blip r:embed="rId11"/>
          <a:srcRect l="-33" r="-33"/>
          <a:stretch/>
        </p:blipFill>
        <p:spPr>
          <a:xfrm>
            <a:off x="761695" y="4300423"/>
            <a:ext cx="171907" cy="152705"/>
          </a:xfrm>
          <a:prstGeom prst="rect">
            <a:avLst/>
          </a:prstGeom>
        </p:spPr>
      </p:pic>
      <p:pic>
        <p:nvPicPr>
          <p:cNvPr id="43" name="Image 9" descr="preencoded.png"/>
          <p:cNvPicPr>
            <a:picLocks noChangeAspect="1"/>
          </p:cNvPicPr>
          <p:nvPr/>
        </p:nvPicPr>
        <p:blipFill>
          <a:blip r:embed="rId12"/>
          <a:srcRect l="-16" r="-16"/>
          <a:stretch/>
        </p:blipFill>
        <p:spPr>
          <a:xfrm>
            <a:off x="761695" y="4619549"/>
            <a:ext cx="5000854" cy="1380744"/>
          </a:xfrm>
          <a:prstGeom prst="rect">
            <a:avLst/>
          </a:prstGeom>
        </p:spPr>
      </p:pic>
      <p:sp>
        <p:nvSpPr>
          <p:cNvPr id="44" name="Text 32"/>
          <p:cNvSpPr txBox="1"/>
          <p:nvPr/>
        </p:nvSpPr>
        <p:spPr>
          <a:xfrm>
            <a:off x="6696151" y="1143000"/>
            <a:ext cx="4733849"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Các tòa nhà trong dự án </a:t>
            </a:r>
            <a:endParaRPr lang="en-US" sz="1200" dirty="0"/>
          </a:p>
        </p:txBody>
      </p:sp>
      <p:pic>
        <p:nvPicPr>
          <p:cNvPr id="45" name="Image 10" descr="preencoded.png"/>
          <p:cNvPicPr>
            <a:picLocks noChangeAspect="1"/>
          </p:cNvPicPr>
          <p:nvPr/>
        </p:nvPicPr>
        <p:blipFill>
          <a:blip r:embed="rId13"/>
          <a:srcRect l="-33" r="-33"/>
          <a:stretch/>
        </p:blipFill>
        <p:spPr>
          <a:xfrm>
            <a:off x="6429146" y="1157630"/>
            <a:ext cx="171907" cy="152705"/>
          </a:xfrm>
          <a:prstGeom prst="rect">
            <a:avLst/>
          </a:prstGeom>
        </p:spPr>
      </p:pic>
      <p:sp>
        <p:nvSpPr>
          <p:cNvPr id="46" name="Shape 33"/>
          <p:cNvSpPr/>
          <p:nvPr/>
        </p:nvSpPr>
        <p:spPr>
          <a:xfrm>
            <a:off x="6429146"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47" name="Text 34"/>
          <p:cNvSpPr txBox="1"/>
          <p:nvPr/>
        </p:nvSpPr>
        <p:spPr>
          <a:xfrm>
            <a:off x="6486754"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CT1</a:t>
            </a:r>
            <a:endParaRPr lang="en-US" sz="1300" dirty="0"/>
          </a:p>
        </p:txBody>
      </p:sp>
      <p:sp>
        <p:nvSpPr>
          <p:cNvPr id="48" name="Text 35"/>
          <p:cNvSpPr txBox="1"/>
          <p:nvPr/>
        </p:nvSpPr>
        <p:spPr>
          <a:xfrm>
            <a:off x="6486754"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49" name="Shape 36"/>
          <p:cNvSpPr/>
          <p:nvPr/>
        </p:nvSpPr>
        <p:spPr>
          <a:xfrm>
            <a:off x="8134502"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0" name="Text 37"/>
          <p:cNvSpPr txBox="1"/>
          <p:nvPr/>
        </p:nvSpPr>
        <p:spPr>
          <a:xfrm>
            <a:off x="8191195"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CT2-1</a:t>
            </a:r>
            <a:endParaRPr lang="en-US" sz="1300" dirty="0"/>
          </a:p>
        </p:txBody>
      </p:sp>
      <p:sp>
        <p:nvSpPr>
          <p:cNvPr id="51" name="Text 38"/>
          <p:cNvSpPr txBox="1"/>
          <p:nvPr/>
        </p:nvSpPr>
        <p:spPr>
          <a:xfrm>
            <a:off x="8191195"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2" name="Shape 39"/>
          <p:cNvSpPr/>
          <p:nvPr/>
        </p:nvSpPr>
        <p:spPr>
          <a:xfrm>
            <a:off x="9838944" y="1524305"/>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3" name="Text 40"/>
          <p:cNvSpPr txBox="1"/>
          <p:nvPr/>
        </p:nvSpPr>
        <p:spPr>
          <a:xfrm>
            <a:off x="9896551" y="1676095"/>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CT2-2</a:t>
            </a:r>
            <a:endParaRPr lang="en-US" sz="1300" dirty="0"/>
          </a:p>
        </p:txBody>
      </p:sp>
      <p:sp>
        <p:nvSpPr>
          <p:cNvPr id="54" name="Text 41"/>
          <p:cNvSpPr txBox="1"/>
          <p:nvPr/>
        </p:nvSpPr>
        <p:spPr>
          <a:xfrm>
            <a:off x="9896551" y="1943100"/>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5" name="Shape 42"/>
          <p:cNvSpPr/>
          <p:nvPr/>
        </p:nvSpPr>
        <p:spPr>
          <a:xfrm>
            <a:off x="6429146"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6" name="Text 43"/>
          <p:cNvSpPr txBox="1"/>
          <p:nvPr/>
        </p:nvSpPr>
        <p:spPr>
          <a:xfrm>
            <a:off x="6486754" y="2505456"/>
            <a:ext cx="1476756" cy="228600"/>
          </a:xfrm>
          <a:prstGeom prst="rect">
            <a:avLst/>
          </a:prstGeom>
          <a:noFill/>
          <a:ln/>
        </p:spPr>
        <p:txBody>
          <a:bodyPr wrap="square" lIns="0" tIns="0" rIns="0" bIns="0" rtlCol="0" anchor="ctr"/>
          <a:lstStyle/>
          <a:p>
            <a:pPr marL="0" indent="0" algn="ctr">
              <a:buNone/>
            </a:pPr>
            <a:r>
              <a:rPr lang="en-US" sz="1300" b="1" dirty="0">
                <a:solidFill>
                  <a:srgbClr val="F7A81B"/>
                </a:solidFill>
                <a:latin typeface="Open Sans" pitchFamily="34" charset="0"/>
                <a:ea typeface="Open Sans" pitchFamily="34" charset="-122"/>
                <a:cs typeface="Open Sans" pitchFamily="34" charset="-120"/>
              </a:rPr>
              <a:t>CT2-3</a:t>
            </a:r>
            <a:endParaRPr lang="en-US" sz="1300" dirty="0"/>
          </a:p>
        </p:txBody>
      </p:sp>
      <p:sp>
        <p:nvSpPr>
          <p:cNvPr id="57" name="Text 44"/>
          <p:cNvSpPr txBox="1"/>
          <p:nvPr/>
        </p:nvSpPr>
        <p:spPr>
          <a:xfrm>
            <a:off x="6486754" y="2771546"/>
            <a:ext cx="1476756"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21 tầng + 2 hầm</a:t>
            </a:r>
            <a:endParaRPr lang="en-US" sz="800" dirty="0"/>
          </a:p>
        </p:txBody>
      </p:sp>
      <p:sp>
        <p:nvSpPr>
          <p:cNvPr id="58" name="Shape 45"/>
          <p:cNvSpPr/>
          <p:nvPr/>
        </p:nvSpPr>
        <p:spPr>
          <a:xfrm>
            <a:off x="8134502" y="2352751"/>
            <a:ext cx="1591056" cy="714146"/>
          </a:xfrm>
          <a:prstGeom prst="roundRect">
            <a:avLst>
              <a:gd name="adj" fmla="val 27315"/>
            </a:avLst>
          </a:prstGeom>
          <a:solidFill>
            <a:srgbClr val="FFFFFF"/>
          </a:solidFill>
          <a:ln w="12700">
            <a:solidFill>
              <a:srgbClr val="E2E8F0"/>
            </a:solidFill>
            <a:prstDash val="solid"/>
          </a:ln>
        </p:spPr>
        <p:txBody>
          <a:bodyPr/>
          <a:lstStyle/>
          <a:p>
            <a:endParaRPr lang="en-US"/>
          </a:p>
        </p:txBody>
      </p:sp>
      <p:sp>
        <p:nvSpPr>
          <p:cNvPr id="59" name="Text 46"/>
          <p:cNvSpPr txBox="1"/>
          <p:nvPr/>
        </p:nvSpPr>
        <p:spPr>
          <a:xfrm>
            <a:off x="8191195" y="2505456"/>
            <a:ext cx="1476756" cy="228600"/>
          </a:xfrm>
          <a:prstGeom prst="rect">
            <a:avLst/>
          </a:prstGeom>
          <a:noFill/>
          <a:ln/>
        </p:spPr>
        <p:txBody>
          <a:bodyPr wrap="square" lIns="0" tIns="0" rIns="0" bIns="0" rtlCol="0" anchor="ctr"/>
          <a:lstStyle/>
          <a:p>
            <a:pPr marL="0" indent="0" algn="ctr">
              <a:buNone/>
            </a:pPr>
            <a:r>
              <a:rPr lang="en-US" sz="1300" b="1" dirty="0">
                <a:solidFill>
                  <a:srgbClr val="808080"/>
                </a:solidFill>
                <a:latin typeface="Open Sans" pitchFamily="34" charset="0"/>
                <a:ea typeface="Open Sans" pitchFamily="34" charset="-122"/>
                <a:cs typeface="Open Sans" pitchFamily="34" charset="-120"/>
              </a:rPr>
              <a:t>N01</a:t>
            </a:r>
            <a:endParaRPr lang="en-US" sz="1300" dirty="0"/>
          </a:p>
        </p:txBody>
      </p:sp>
      <p:sp>
        <p:nvSpPr>
          <p:cNvPr id="60" name="Text 47"/>
          <p:cNvSpPr txBox="1"/>
          <p:nvPr/>
        </p:nvSpPr>
        <p:spPr>
          <a:xfrm>
            <a:off x="8191195" y="2771546"/>
            <a:ext cx="1476756"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35 tầng + 4 hầm</a:t>
            </a:r>
            <a:endParaRPr lang="en-US" sz="800" dirty="0"/>
          </a:p>
        </p:txBody>
      </p:sp>
      <p:sp>
        <p:nvSpPr>
          <p:cNvPr id="61" name="Text 48"/>
          <p:cNvSpPr txBox="1"/>
          <p:nvPr/>
        </p:nvSpPr>
        <p:spPr>
          <a:xfrm>
            <a:off x="6676949" y="3810305"/>
            <a:ext cx="475305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Ràng buộc &amp; Vấn đề </a:t>
            </a:r>
            <a:endParaRPr lang="en-US" sz="1200" dirty="0"/>
          </a:p>
        </p:txBody>
      </p:sp>
      <p:pic>
        <p:nvPicPr>
          <p:cNvPr id="62" name="Image 11" descr="preencoded.png"/>
          <p:cNvPicPr>
            <a:picLocks noChangeAspect="1"/>
          </p:cNvPicPr>
          <p:nvPr/>
        </p:nvPicPr>
        <p:blipFill>
          <a:blip r:embed="rId14"/>
          <a:srcRect/>
          <a:stretch/>
        </p:blipFill>
        <p:spPr>
          <a:xfrm>
            <a:off x="6429146" y="3824021"/>
            <a:ext cx="152705" cy="152705"/>
          </a:xfrm>
          <a:prstGeom prst="rect">
            <a:avLst/>
          </a:prstGeom>
        </p:spPr>
      </p:pic>
      <p:sp>
        <p:nvSpPr>
          <p:cNvPr id="63" name="Shape 49"/>
          <p:cNvSpPr/>
          <p:nvPr/>
        </p:nvSpPr>
        <p:spPr>
          <a:xfrm>
            <a:off x="6429146" y="419069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64" name="Shape 50"/>
          <p:cNvSpPr/>
          <p:nvPr/>
        </p:nvSpPr>
        <p:spPr>
          <a:xfrm>
            <a:off x="6429146" y="419069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65" name="Shape 51"/>
          <p:cNvSpPr/>
          <p:nvPr/>
        </p:nvSpPr>
        <p:spPr>
          <a:xfrm>
            <a:off x="6562649" y="431505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6" name="Image 12" descr="preencoded.png"/>
          <p:cNvPicPr>
            <a:picLocks noChangeAspect="1"/>
          </p:cNvPicPr>
          <p:nvPr/>
        </p:nvPicPr>
        <p:blipFill>
          <a:blip r:embed="rId15"/>
          <a:srcRect l="-837" r="-837"/>
          <a:stretch/>
        </p:blipFill>
        <p:spPr>
          <a:xfrm>
            <a:off x="6638544" y="4401007"/>
            <a:ext cx="152705" cy="133502"/>
          </a:xfrm>
          <a:prstGeom prst="rect">
            <a:avLst/>
          </a:prstGeom>
        </p:spPr>
      </p:pic>
      <p:sp>
        <p:nvSpPr>
          <p:cNvPr id="67" name="Text 52"/>
          <p:cNvSpPr txBox="1"/>
          <p:nvPr/>
        </p:nvSpPr>
        <p:spPr>
          <a:xfrm>
            <a:off x="6981444" y="4295851"/>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Giao thông</a:t>
            </a:r>
            <a:endParaRPr lang="en-US" sz="900" dirty="0"/>
          </a:p>
        </p:txBody>
      </p:sp>
      <p:sp>
        <p:nvSpPr>
          <p:cNvPr id="68" name="Text 53"/>
          <p:cNvSpPr txBox="1"/>
          <p:nvPr/>
        </p:nvSpPr>
        <p:spPr>
          <a:xfrm>
            <a:off x="6981444" y="4476902"/>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Chỉ có 1 hướng tiếp cận từ đường Đỗ Mười</a:t>
            </a:r>
            <a:endParaRPr lang="en-US" sz="900" dirty="0"/>
          </a:p>
        </p:txBody>
      </p:sp>
      <p:sp>
        <p:nvSpPr>
          <p:cNvPr id="69" name="Shape 54"/>
          <p:cNvSpPr/>
          <p:nvPr/>
        </p:nvSpPr>
        <p:spPr>
          <a:xfrm>
            <a:off x="6429146" y="4839005"/>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0" name="Shape 55"/>
          <p:cNvSpPr/>
          <p:nvPr/>
        </p:nvSpPr>
        <p:spPr>
          <a:xfrm>
            <a:off x="6429146" y="4839005"/>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1" name="Shape 56"/>
          <p:cNvSpPr/>
          <p:nvPr/>
        </p:nvSpPr>
        <p:spPr>
          <a:xfrm>
            <a:off x="6562649" y="4962449"/>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2" name="Image 13" descr="preencoded.png"/>
          <p:cNvPicPr>
            <a:picLocks noChangeAspect="1"/>
          </p:cNvPicPr>
          <p:nvPr/>
        </p:nvPicPr>
        <p:blipFill>
          <a:blip r:embed="rId16"/>
          <a:srcRect t="-1100" b="-1100"/>
          <a:stretch/>
        </p:blipFill>
        <p:spPr>
          <a:xfrm>
            <a:off x="6657746" y="5048402"/>
            <a:ext cx="114300" cy="133502"/>
          </a:xfrm>
          <a:prstGeom prst="rect">
            <a:avLst/>
          </a:prstGeom>
        </p:spPr>
      </p:pic>
      <p:sp>
        <p:nvSpPr>
          <p:cNvPr id="73" name="Text 57"/>
          <p:cNvSpPr txBox="1"/>
          <p:nvPr/>
        </p:nvSpPr>
        <p:spPr>
          <a:xfrm>
            <a:off x="6981444" y="494324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Điện nước</a:t>
            </a:r>
            <a:endParaRPr lang="en-US" sz="900" dirty="0"/>
          </a:p>
        </p:txBody>
      </p:sp>
      <p:sp>
        <p:nvSpPr>
          <p:cNvPr id="74" name="Text 58"/>
          <p:cNvSpPr txBox="1"/>
          <p:nvPr/>
        </p:nvSpPr>
        <p:spPr>
          <a:xfrm>
            <a:off x="6981444" y="5124298"/>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điện 3 pha cho thi công</a:t>
            </a:r>
            <a:endParaRPr lang="en-US" sz="900" dirty="0"/>
          </a:p>
        </p:txBody>
      </p:sp>
      <p:sp>
        <p:nvSpPr>
          <p:cNvPr id="75" name="Shape 59"/>
          <p:cNvSpPr/>
          <p:nvPr/>
        </p:nvSpPr>
        <p:spPr>
          <a:xfrm>
            <a:off x="6429146" y="5486400"/>
            <a:ext cx="5000854" cy="552298"/>
          </a:xfrm>
          <a:prstGeom prst="roundRect">
            <a:avLst>
              <a:gd name="adj" fmla="val 45672"/>
            </a:avLst>
          </a:prstGeom>
          <a:solidFill>
            <a:srgbClr val="FFFFFF"/>
          </a:solidFill>
          <a:ln w="12700">
            <a:solidFill>
              <a:srgbClr val="E2E8F0"/>
            </a:solidFill>
            <a:prstDash val="solid"/>
          </a:ln>
        </p:spPr>
        <p:txBody>
          <a:bodyPr/>
          <a:lstStyle/>
          <a:p>
            <a:endParaRPr lang="en-US"/>
          </a:p>
        </p:txBody>
      </p:sp>
      <p:sp>
        <p:nvSpPr>
          <p:cNvPr id="76" name="Shape 60"/>
          <p:cNvSpPr/>
          <p:nvPr/>
        </p:nvSpPr>
        <p:spPr>
          <a:xfrm>
            <a:off x="6429146" y="5486400"/>
            <a:ext cx="38405" cy="552298"/>
          </a:xfrm>
          <a:prstGeom prst="roundRect">
            <a:avLst>
              <a:gd name="adj" fmla="val 656811"/>
            </a:avLst>
          </a:prstGeom>
          <a:solidFill>
            <a:srgbClr val="F7A81B"/>
          </a:solidFill>
          <a:ln w="12700">
            <a:solidFill>
              <a:srgbClr val="F7A81B">
                <a:alpha val="0"/>
              </a:srgbClr>
            </a:solidFill>
            <a:prstDash val="solid"/>
          </a:ln>
        </p:spPr>
        <p:txBody>
          <a:bodyPr/>
          <a:lstStyle/>
          <a:p>
            <a:endParaRPr lang="en-US"/>
          </a:p>
        </p:txBody>
      </p:sp>
      <p:sp>
        <p:nvSpPr>
          <p:cNvPr id="77" name="Shape 61"/>
          <p:cNvSpPr/>
          <p:nvPr/>
        </p:nvSpPr>
        <p:spPr>
          <a:xfrm>
            <a:off x="6562649" y="5609844"/>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78" name="Image 14" descr="preencoded.png"/>
          <p:cNvPicPr>
            <a:picLocks noChangeAspect="1"/>
          </p:cNvPicPr>
          <p:nvPr/>
        </p:nvPicPr>
        <p:blipFill>
          <a:blip r:embed="rId17"/>
          <a:srcRect l="-1507" r="-1507"/>
          <a:stretch/>
        </p:blipFill>
        <p:spPr>
          <a:xfrm>
            <a:off x="6629400" y="5695798"/>
            <a:ext cx="171907" cy="133502"/>
          </a:xfrm>
          <a:prstGeom prst="rect">
            <a:avLst/>
          </a:prstGeom>
        </p:spPr>
      </p:pic>
      <p:sp>
        <p:nvSpPr>
          <p:cNvPr id="79" name="Text 62"/>
          <p:cNvSpPr txBox="1"/>
          <p:nvPr/>
        </p:nvSpPr>
        <p:spPr>
          <a:xfrm>
            <a:off x="6981444" y="5591556"/>
            <a:ext cx="4343400" cy="162763"/>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Dân cư</a:t>
            </a:r>
            <a:endParaRPr lang="en-US" sz="900" dirty="0"/>
          </a:p>
        </p:txBody>
      </p:sp>
      <p:sp>
        <p:nvSpPr>
          <p:cNvPr id="80" name="Text 63"/>
          <p:cNvSpPr txBox="1"/>
          <p:nvPr/>
        </p:nvSpPr>
        <p:spPr>
          <a:xfrm>
            <a:off x="6981444" y="5772607"/>
            <a:ext cx="434340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đã đông đúc, cách ranh 14.5-17m</a:t>
            </a:r>
            <a:endParaRPr lang="en-US" sz="900" dirty="0"/>
          </a:p>
        </p:txBody>
      </p:sp>
      <p:sp>
        <p:nvSpPr>
          <p:cNvPr id="81" name="Text 64"/>
          <p:cNvSpPr txBox="1"/>
          <p:nvPr/>
        </p:nvSpPr>
        <p:spPr>
          <a:xfrm>
            <a:off x="933602" y="6429146"/>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82" name="Image 15" descr="preencoded.png"/>
          <p:cNvPicPr>
            <a:picLocks noChangeAspect="1"/>
          </p:cNvPicPr>
          <p:nvPr/>
        </p:nvPicPr>
        <p:blipFill>
          <a:blip r:embed="rId18"/>
          <a:srcRect l="-1358" r="-1358"/>
          <a:stretch/>
        </p:blipFill>
        <p:spPr>
          <a:xfrm>
            <a:off x="761695" y="6452921"/>
            <a:ext cx="95098" cy="123444"/>
          </a:xfrm>
          <a:prstGeom prst="rect">
            <a:avLst/>
          </a:prstGeom>
        </p:spPr>
      </p:pic>
      <p:sp>
        <p:nvSpPr>
          <p:cNvPr id="83" name="Text 65"/>
          <p:cNvSpPr txBox="1"/>
          <p:nvPr/>
        </p:nvSpPr>
        <p:spPr>
          <a:xfrm>
            <a:off x="10001707" y="6429146"/>
            <a:ext cx="1429207"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3/12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9620402" y="95098"/>
            <a:ext cx="952805" cy="476402"/>
          </a:xfrm>
          <a:prstGeom prst="roundRect">
            <a:avLst>
              <a:gd name="adj" fmla="val 61420"/>
            </a:avLst>
          </a:prstGeom>
          <a:solidFill>
            <a:srgbClr val="F7A81B"/>
          </a:solidFill>
          <a:ln w="12700">
            <a:solidFill>
              <a:srgbClr val="FFFFFF">
                <a:alpha val="0"/>
              </a:srgbClr>
            </a:solidFill>
            <a:prstDash val="solid"/>
          </a:ln>
        </p:spPr>
        <p:txBody>
          <a:bodyPr/>
          <a:lstStyle/>
          <a:p>
            <a:endParaRPr lang="en-US"/>
          </a:p>
        </p:txBody>
      </p:sp>
      <p:sp>
        <p:nvSpPr>
          <p:cNvPr id="7" name="Shape 5"/>
          <p:cNvSpPr/>
          <p:nvPr/>
        </p:nvSpPr>
        <p:spPr>
          <a:xfrm>
            <a:off x="3813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42675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8153705" y="857707"/>
            <a:ext cx="3657600" cy="5619902"/>
          </a:xfrm>
          <a:prstGeom prst="roundRect">
            <a:avLst>
              <a:gd name="adj" fmla="val 1563"/>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8"/>
          <p:cNvSpPr/>
          <p:nvPr/>
        </p:nvSpPr>
        <p:spPr>
          <a:xfrm>
            <a:off x="571500" y="161849"/>
            <a:ext cx="342900" cy="342900"/>
          </a:xfrm>
          <a:prstGeom prst="roundRect">
            <a:avLst>
              <a:gd name="adj" fmla="val 118519"/>
            </a:avLst>
          </a:prstGeom>
          <a:solidFill>
            <a:srgbClr val="F7A81B"/>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657454" y="247802"/>
            <a:ext cx="171907" cy="171907"/>
          </a:xfrm>
          <a:prstGeom prst="rect">
            <a:avLst/>
          </a:prstGeom>
        </p:spPr>
      </p:pic>
      <p:sp>
        <p:nvSpPr>
          <p:cNvPr id="12" name="Text 9"/>
          <p:cNvSpPr txBox="1"/>
          <p:nvPr/>
        </p:nvSpPr>
        <p:spPr>
          <a:xfrm>
            <a:off x="1047902" y="204826"/>
            <a:ext cx="3882542" cy="257861"/>
          </a:xfrm>
          <a:prstGeom prst="rect">
            <a:avLst/>
          </a:prstGeom>
          <a:noFill/>
          <a:ln/>
        </p:spPr>
        <p:txBody>
          <a:bodyPr wrap="square" lIns="0" tIns="0" rIns="0" bIns="0" rtlCol="0" anchor="ctr"/>
          <a:lstStyle/>
          <a:p>
            <a:pPr marL="0" indent="0" algn="l">
              <a:buNone/>
            </a:pPr>
            <a:r>
              <a:rPr lang="en-US" sz="1600" b="1" dirty="0">
                <a:solidFill>
                  <a:srgbClr val="4A5568"/>
                </a:solidFill>
                <a:latin typeface="Montserrat" pitchFamily="34" charset="0"/>
                <a:ea typeface="Montserrat" pitchFamily="34" charset="-122"/>
                <a:cs typeface="Montserrat" pitchFamily="34" charset="-120"/>
              </a:rPr>
              <a:t>ĐIỀU KIỆN KHỞI CÔNG 25/5/2026</a:t>
            </a:r>
            <a:endParaRPr lang="en-US" sz="1600" dirty="0"/>
          </a:p>
        </p:txBody>
      </p:sp>
      <p:sp>
        <p:nvSpPr>
          <p:cNvPr id="13" name="Text 10"/>
          <p:cNvSpPr txBox="1"/>
          <p:nvPr/>
        </p:nvSpPr>
        <p:spPr>
          <a:xfrm>
            <a:off x="9658807" y="147218"/>
            <a:ext cx="876910" cy="22860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ns" pitchFamily="34" charset="0"/>
                <a:ea typeface="Open Sans" pitchFamily="34" charset="-122"/>
                <a:cs typeface="Open Sans" pitchFamily="34" charset="-120"/>
              </a:rPr>
              <a:t>14</a:t>
            </a:r>
            <a:endParaRPr lang="en-US" sz="1800" dirty="0"/>
          </a:p>
        </p:txBody>
      </p:sp>
      <p:sp>
        <p:nvSpPr>
          <p:cNvPr id="14" name="Text 11"/>
          <p:cNvSpPr txBox="1"/>
          <p:nvPr/>
        </p:nvSpPr>
        <p:spPr>
          <a:xfrm>
            <a:off x="9658807" y="375818"/>
            <a:ext cx="876910" cy="143561"/>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Open Sans" pitchFamily="34" charset="0"/>
                <a:ea typeface="Open Sans" pitchFamily="34" charset="-122"/>
                <a:cs typeface="Open Sans" pitchFamily="34" charset="-120"/>
              </a:rPr>
              <a:t>ngày còn lại</a:t>
            </a:r>
            <a:endParaRPr lang="en-US" sz="800" dirty="0"/>
          </a:p>
        </p:txBody>
      </p:sp>
      <p:sp>
        <p:nvSpPr>
          <p:cNvPr id="15" name="Text 12"/>
          <p:cNvSpPr txBox="1"/>
          <p:nvPr/>
        </p:nvSpPr>
        <p:spPr>
          <a:xfrm>
            <a:off x="10868558" y="237744"/>
            <a:ext cx="942746" cy="191110"/>
          </a:xfrm>
          <a:prstGeom prst="rect">
            <a:avLst/>
          </a:prstGeom>
          <a:noFill/>
          <a:ln/>
        </p:spPr>
        <p:txBody>
          <a:bodyPr wrap="square" lIns="0" tIns="0" rIns="0" bIns="0" rtlCol="0" anchor="ctr"/>
          <a:lstStyle/>
          <a:p>
            <a:pPr marL="0" indent="0" algn="l">
              <a:buNone/>
            </a:pPr>
            <a:r>
              <a:rPr lang="en-US" sz="1100" b="1" dirty="0">
                <a:solidFill>
                  <a:srgbClr val="4A5568"/>
                </a:solidFill>
                <a:latin typeface="Open Sans" pitchFamily="34" charset="0"/>
                <a:ea typeface="Open Sans" pitchFamily="34" charset="-122"/>
                <a:cs typeface="Open Sans" pitchFamily="34" charset="-120"/>
              </a:rPr>
              <a:t>25/05/2026</a:t>
            </a:r>
            <a:endParaRPr lang="en-US" sz="1100" dirty="0"/>
          </a:p>
        </p:txBody>
      </p:sp>
      <p:pic>
        <p:nvPicPr>
          <p:cNvPr id="16" name="Image 1" descr="preencoded.png"/>
          <p:cNvPicPr>
            <a:picLocks noChangeAspect="1"/>
          </p:cNvPicPr>
          <p:nvPr/>
        </p:nvPicPr>
        <p:blipFill>
          <a:blip r:embed="rId4"/>
          <a:srcRect t="-556" b="-556"/>
          <a:stretch/>
        </p:blipFill>
        <p:spPr>
          <a:xfrm>
            <a:off x="10668305" y="265176"/>
            <a:ext cx="123444" cy="142646"/>
          </a:xfrm>
          <a:prstGeom prst="rect">
            <a:avLst/>
          </a:prstGeom>
        </p:spPr>
      </p:pic>
      <p:sp>
        <p:nvSpPr>
          <p:cNvPr id="17" name="Shape 13"/>
          <p:cNvSpPr/>
          <p:nvPr/>
        </p:nvSpPr>
        <p:spPr>
          <a:xfrm>
            <a:off x="5715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18" name="Image 2" descr="preencoded.png"/>
          <p:cNvPicPr>
            <a:picLocks noChangeAspect="1"/>
          </p:cNvPicPr>
          <p:nvPr/>
        </p:nvPicPr>
        <p:blipFill>
          <a:blip r:embed="rId5"/>
          <a:srcRect/>
          <a:stretch/>
        </p:blipFill>
        <p:spPr>
          <a:xfrm>
            <a:off x="647395" y="1080821"/>
            <a:ext cx="152705" cy="152705"/>
          </a:xfrm>
          <a:prstGeom prst="rect">
            <a:avLst/>
          </a:prstGeom>
        </p:spPr>
      </p:pic>
      <p:sp>
        <p:nvSpPr>
          <p:cNvPr id="19" name="Text 14"/>
          <p:cNvSpPr txBox="1"/>
          <p:nvPr/>
        </p:nvSpPr>
        <p:spPr>
          <a:xfrm>
            <a:off x="972007" y="1067105"/>
            <a:ext cx="2352751"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Công việc cần làm ngay</a:t>
            </a:r>
            <a:endParaRPr lang="en-US" sz="1200" dirty="0"/>
          </a:p>
        </p:txBody>
      </p:sp>
      <p:sp>
        <p:nvSpPr>
          <p:cNvPr id="20" name="Shape 15"/>
          <p:cNvSpPr/>
          <p:nvPr/>
        </p:nvSpPr>
        <p:spPr>
          <a:xfrm>
            <a:off x="3417113" y="1037844"/>
            <a:ext cx="437998"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21" name="Text 16"/>
          <p:cNvSpPr/>
          <p:nvPr/>
        </p:nvSpPr>
        <p:spPr>
          <a:xfrm>
            <a:off x="3417113" y="1037844"/>
            <a:ext cx="438912"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8/10</a:t>
            </a:r>
            <a:endParaRPr lang="en-US" sz="900" dirty="0"/>
          </a:p>
        </p:txBody>
      </p:sp>
      <p:sp>
        <p:nvSpPr>
          <p:cNvPr id="22" name="Shape 17"/>
          <p:cNvSpPr/>
          <p:nvPr/>
        </p:nvSpPr>
        <p:spPr>
          <a:xfrm>
            <a:off x="5715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23" name="Shape 18"/>
          <p:cNvSpPr/>
          <p:nvPr/>
        </p:nvSpPr>
        <p:spPr>
          <a:xfrm>
            <a:off x="5715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24" name="Shape 19"/>
          <p:cNvSpPr/>
          <p:nvPr/>
        </p:nvSpPr>
        <p:spPr>
          <a:xfrm>
            <a:off x="724205" y="1762049"/>
            <a:ext cx="190195" cy="190195"/>
          </a:xfrm>
          <a:prstGeom prst="roundRect">
            <a:avLst>
              <a:gd name="adj" fmla="val 192308"/>
            </a:avLst>
          </a:prstGeom>
          <a:solidFill>
            <a:srgbClr val="808080"/>
          </a:solidFill>
          <a:ln w="25400">
            <a:solidFill>
              <a:srgbClr val="808080"/>
            </a:solidFill>
            <a:prstDash val="solid"/>
          </a:ln>
        </p:spPr>
        <p:txBody>
          <a:bodyPr/>
          <a:lstStyle/>
          <a:p>
            <a:endParaRPr lang="en-US"/>
          </a:p>
        </p:txBody>
      </p:sp>
      <p:pic>
        <p:nvPicPr>
          <p:cNvPr id="25" name="Image 3" descr="preencoded.png"/>
          <p:cNvPicPr>
            <a:picLocks noChangeAspect="1"/>
          </p:cNvPicPr>
          <p:nvPr/>
        </p:nvPicPr>
        <p:blipFill>
          <a:blip r:embed="rId6"/>
          <a:srcRect l="-1677" r="-1677"/>
          <a:stretch/>
        </p:blipFill>
        <p:spPr>
          <a:xfrm>
            <a:off x="771754" y="1805026"/>
            <a:ext cx="95098" cy="105156"/>
          </a:xfrm>
          <a:prstGeom prst="rect">
            <a:avLst/>
          </a:prstGeom>
        </p:spPr>
      </p:pic>
      <p:sp>
        <p:nvSpPr>
          <p:cNvPr id="26" name="Text 20"/>
          <p:cNvSpPr txBox="1"/>
          <p:nvPr/>
        </p:nvSpPr>
        <p:spPr>
          <a:xfrm>
            <a:off x="1028700" y="1742846"/>
            <a:ext cx="175747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San gạt mặt bằng CT02-1</a:t>
            </a:r>
            <a:endParaRPr lang="en-US" sz="900" dirty="0"/>
          </a:p>
        </p:txBody>
      </p:sp>
      <p:sp>
        <p:nvSpPr>
          <p:cNvPr id="27" name="Shape 21"/>
          <p:cNvSpPr/>
          <p:nvPr/>
        </p:nvSpPr>
        <p:spPr>
          <a:xfrm>
            <a:off x="2558491"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28" name="Text 22"/>
          <p:cNvSpPr/>
          <p:nvPr/>
        </p:nvSpPr>
        <p:spPr>
          <a:xfrm>
            <a:off x="2558491"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29" name="Text 23"/>
          <p:cNvSpPr txBox="1"/>
          <p:nvPr/>
        </p:nvSpPr>
        <p:spPr>
          <a:xfrm>
            <a:off x="10287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Vét bùn, tạo rãnh thoát nước, phơi nền</a:t>
            </a:r>
            <a:endParaRPr lang="en-US" sz="900" dirty="0"/>
          </a:p>
        </p:txBody>
      </p:sp>
      <p:pic>
        <p:nvPicPr>
          <p:cNvPr id="30" name="Image 4" descr="preencoded.png"/>
          <p:cNvPicPr>
            <a:picLocks noChangeAspect="1"/>
          </p:cNvPicPr>
          <p:nvPr/>
        </p:nvPicPr>
        <p:blipFill>
          <a:blip r:embed="rId7"/>
          <a:srcRect/>
          <a:stretch/>
        </p:blipFill>
        <p:spPr>
          <a:xfrm>
            <a:off x="1028700" y="2137867"/>
            <a:ext cx="105156" cy="105156"/>
          </a:xfrm>
          <a:prstGeom prst="rect">
            <a:avLst/>
          </a:prstGeom>
        </p:spPr>
      </p:pic>
      <p:sp>
        <p:nvSpPr>
          <p:cNvPr id="31" name="Text 24"/>
          <p:cNvSpPr txBox="1"/>
          <p:nvPr/>
        </p:nvSpPr>
        <p:spPr>
          <a:xfrm>
            <a:off x="1171346" y="211866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32" name="Shape 25"/>
          <p:cNvSpPr/>
          <p:nvPr/>
        </p:nvSpPr>
        <p:spPr>
          <a:xfrm>
            <a:off x="5715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33" name="Shape 26"/>
          <p:cNvSpPr/>
          <p:nvPr/>
        </p:nvSpPr>
        <p:spPr>
          <a:xfrm>
            <a:off x="5715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34" name="Shape 27"/>
          <p:cNvSpPr/>
          <p:nvPr/>
        </p:nvSpPr>
        <p:spPr>
          <a:xfrm>
            <a:off x="724205" y="2572207"/>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35" name="Text 28"/>
          <p:cNvSpPr txBox="1"/>
          <p:nvPr/>
        </p:nvSpPr>
        <p:spPr>
          <a:xfrm>
            <a:off x="1028700" y="2553005"/>
            <a:ext cx="2108606"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Lắp dựng hàng rào phía Đông</a:t>
            </a:r>
            <a:endParaRPr lang="en-US" sz="900" dirty="0"/>
          </a:p>
        </p:txBody>
      </p:sp>
      <p:sp>
        <p:nvSpPr>
          <p:cNvPr id="36" name="Shape 29"/>
          <p:cNvSpPr/>
          <p:nvPr/>
        </p:nvSpPr>
        <p:spPr>
          <a:xfrm>
            <a:off x="2850185"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37" name="Text 30"/>
          <p:cNvSpPr/>
          <p:nvPr/>
        </p:nvSpPr>
        <p:spPr>
          <a:xfrm>
            <a:off x="2850185"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8" name="Text 31"/>
          <p:cNvSpPr txBox="1"/>
          <p:nvPr/>
        </p:nvSpPr>
        <p:spPr>
          <a:xfrm>
            <a:off x="1028700" y="2752344"/>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Giáp khu dân cư X2A, đảm bảo an toàn</a:t>
            </a:r>
            <a:endParaRPr lang="en-US" sz="900" dirty="0"/>
          </a:p>
        </p:txBody>
      </p:sp>
      <p:pic>
        <p:nvPicPr>
          <p:cNvPr id="39" name="Image 5" descr="preencoded.png"/>
          <p:cNvPicPr>
            <a:picLocks noChangeAspect="1"/>
          </p:cNvPicPr>
          <p:nvPr/>
        </p:nvPicPr>
        <p:blipFill>
          <a:blip r:embed="rId7"/>
          <a:srcRect/>
          <a:stretch/>
        </p:blipFill>
        <p:spPr>
          <a:xfrm>
            <a:off x="1028700" y="2947111"/>
            <a:ext cx="105156" cy="105156"/>
          </a:xfrm>
          <a:prstGeom prst="rect">
            <a:avLst/>
          </a:prstGeom>
        </p:spPr>
      </p:pic>
      <p:sp>
        <p:nvSpPr>
          <p:cNvPr id="40" name="Text 32"/>
          <p:cNvSpPr txBox="1"/>
          <p:nvPr/>
        </p:nvSpPr>
        <p:spPr>
          <a:xfrm>
            <a:off x="1171346" y="2927909"/>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1-2 ngày</a:t>
            </a:r>
            <a:endParaRPr lang="en-US" sz="800" dirty="0"/>
          </a:p>
        </p:txBody>
      </p:sp>
      <p:sp>
        <p:nvSpPr>
          <p:cNvPr id="41" name="Shape 33"/>
          <p:cNvSpPr/>
          <p:nvPr/>
        </p:nvSpPr>
        <p:spPr>
          <a:xfrm>
            <a:off x="5715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42" name="Shape 34"/>
          <p:cNvSpPr/>
          <p:nvPr/>
        </p:nvSpPr>
        <p:spPr>
          <a:xfrm>
            <a:off x="5715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43" name="Shape 35"/>
          <p:cNvSpPr/>
          <p:nvPr/>
        </p:nvSpPr>
        <p:spPr>
          <a:xfrm>
            <a:off x="7242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44" name="Text 36"/>
          <p:cNvSpPr txBox="1"/>
          <p:nvPr/>
        </p:nvSpPr>
        <p:spPr>
          <a:xfrm>
            <a:off x="1028700" y="3362249"/>
            <a:ext cx="2301545"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Hợp đồng đơn vị tổ chức sự kiện</a:t>
            </a:r>
            <a:endParaRPr lang="en-US" sz="900" dirty="0"/>
          </a:p>
        </p:txBody>
      </p:sp>
      <p:sp>
        <p:nvSpPr>
          <p:cNvPr id="45" name="Shape 37"/>
          <p:cNvSpPr/>
          <p:nvPr/>
        </p:nvSpPr>
        <p:spPr>
          <a:xfrm>
            <a:off x="301752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46" name="Text 38"/>
          <p:cNvSpPr/>
          <p:nvPr/>
        </p:nvSpPr>
        <p:spPr>
          <a:xfrm>
            <a:off x="301752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47" name="Text 39"/>
          <p:cNvSpPr txBox="1"/>
          <p:nvPr/>
        </p:nvSpPr>
        <p:spPr>
          <a:xfrm>
            <a:off x="10287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Chuẩn bị hậu cần lễ khởi công</a:t>
            </a:r>
            <a:endParaRPr lang="en-US" sz="900" dirty="0"/>
          </a:p>
        </p:txBody>
      </p:sp>
      <p:pic>
        <p:nvPicPr>
          <p:cNvPr id="48" name="Image 6" descr="preencoded.png"/>
          <p:cNvPicPr>
            <a:picLocks noChangeAspect="1"/>
          </p:cNvPicPr>
          <p:nvPr/>
        </p:nvPicPr>
        <p:blipFill>
          <a:blip r:embed="rId7"/>
          <a:srcRect/>
          <a:stretch/>
        </p:blipFill>
        <p:spPr>
          <a:xfrm>
            <a:off x="1028700" y="3756355"/>
            <a:ext cx="105156" cy="105156"/>
          </a:xfrm>
          <a:prstGeom prst="rect">
            <a:avLst/>
          </a:prstGeom>
        </p:spPr>
      </p:pic>
      <p:sp>
        <p:nvSpPr>
          <p:cNvPr id="49" name="Text 40"/>
          <p:cNvSpPr txBox="1"/>
          <p:nvPr/>
        </p:nvSpPr>
        <p:spPr>
          <a:xfrm>
            <a:off x="1171346" y="3738067"/>
            <a:ext cx="426110"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1 ngày</a:t>
            </a:r>
            <a:endParaRPr lang="en-US" sz="800" dirty="0"/>
          </a:p>
        </p:txBody>
      </p:sp>
      <p:sp>
        <p:nvSpPr>
          <p:cNvPr id="50" name="Shape 41"/>
          <p:cNvSpPr/>
          <p:nvPr/>
        </p:nvSpPr>
        <p:spPr>
          <a:xfrm>
            <a:off x="5715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51" name="Shape 42"/>
          <p:cNvSpPr/>
          <p:nvPr/>
        </p:nvSpPr>
        <p:spPr>
          <a:xfrm>
            <a:off x="5715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52" name="Shape 43"/>
          <p:cNvSpPr/>
          <p:nvPr/>
        </p:nvSpPr>
        <p:spPr>
          <a:xfrm>
            <a:off x="7242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53" name="Text 44"/>
          <p:cNvSpPr txBox="1"/>
          <p:nvPr/>
        </p:nvSpPr>
        <p:spPr>
          <a:xfrm>
            <a:off x="1028700" y="4172407"/>
            <a:ext cx="207477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lập nguồn điện thi công</a:t>
            </a:r>
            <a:endParaRPr lang="en-US" sz="900" dirty="0"/>
          </a:p>
        </p:txBody>
      </p:sp>
      <p:sp>
        <p:nvSpPr>
          <p:cNvPr id="54" name="Shape 45"/>
          <p:cNvSpPr/>
          <p:nvPr/>
        </p:nvSpPr>
        <p:spPr>
          <a:xfrm>
            <a:off x="2822753" y="4181551"/>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55" name="Text 46"/>
          <p:cNvSpPr/>
          <p:nvPr/>
        </p:nvSpPr>
        <p:spPr>
          <a:xfrm>
            <a:off x="2822753" y="4181551"/>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56" name="Text 47"/>
          <p:cNvSpPr txBox="1"/>
          <p:nvPr/>
        </p:nvSpPr>
        <p:spPr>
          <a:xfrm>
            <a:off x="10287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Trạm biến áp 1600kVA, điện 3 pha</a:t>
            </a:r>
            <a:endParaRPr lang="en-US" sz="900" dirty="0"/>
          </a:p>
        </p:txBody>
      </p:sp>
      <p:pic>
        <p:nvPicPr>
          <p:cNvPr id="57" name="Image 7" descr="preencoded.png"/>
          <p:cNvPicPr>
            <a:picLocks noChangeAspect="1"/>
          </p:cNvPicPr>
          <p:nvPr/>
        </p:nvPicPr>
        <p:blipFill>
          <a:blip r:embed="rId7"/>
          <a:srcRect/>
          <a:stretch/>
        </p:blipFill>
        <p:spPr>
          <a:xfrm>
            <a:off x="1028700" y="4566514"/>
            <a:ext cx="105156" cy="105156"/>
          </a:xfrm>
          <a:prstGeom prst="rect">
            <a:avLst/>
          </a:prstGeom>
        </p:spPr>
      </p:pic>
      <p:sp>
        <p:nvSpPr>
          <p:cNvPr id="58" name="Text 48"/>
          <p:cNvSpPr txBox="1"/>
          <p:nvPr/>
        </p:nvSpPr>
        <p:spPr>
          <a:xfrm>
            <a:off x="1171346" y="4547311"/>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5-7 ngày</a:t>
            </a:r>
            <a:endParaRPr lang="en-US" sz="800" dirty="0"/>
          </a:p>
        </p:txBody>
      </p:sp>
      <p:sp>
        <p:nvSpPr>
          <p:cNvPr id="59" name="Shape 49"/>
          <p:cNvSpPr/>
          <p:nvPr/>
        </p:nvSpPr>
        <p:spPr>
          <a:xfrm>
            <a:off x="571500" y="4858207"/>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60" name="Shape 50"/>
          <p:cNvSpPr/>
          <p:nvPr/>
        </p:nvSpPr>
        <p:spPr>
          <a:xfrm>
            <a:off x="571500" y="4858207"/>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61" name="Shape 51"/>
          <p:cNvSpPr/>
          <p:nvPr/>
        </p:nvSpPr>
        <p:spPr>
          <a:xfrm>
            <a:off x="724205" y="5000854"/>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62" name="Text 52"/>
          <p:cNvSpPr txBox="1"/>
          <p:nvPr/>
        </p:nvSpPr>
        <p:spPr>
          <a:xfrm>
            <a:off x="1028700" y="4981651"/>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Xây dựng lán trại công nhân</a:t>
            </a:r>
            <a:endParaRPr lang="en-US" sz="900" dirty="0"/>
          </a:p>
        </p:txBody>
      </p:sp>
      <p:sp>
        <p:nvSpPr>
          <p:cNvPr id="63" name="Shape 53"/>
          <p:cNvSpPr/>
          <p:nvPr/>
        </p:nvSpPr>
        <p:spPr>
          <a:xfrm>
            <a:off x="2760574" y="4990795"/>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64" name="Text 54"/>
          <p:cNvSpPr/>
          <p:nvPr/>
        </p:nvSpPr>
        <p:spPr>
          <a:xfrm>
            <a:off x="2760574" y="4990795"/>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65" name="Text 55"/>
          <p:cNvSpPr txBox="1"/>
          <p:nvPr/>
        </p:nvSpPr>
        <p:spPr>
          <a:xfrm>
            <a:off x="1028700" y="5181905"/>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Văn phòng điều hành, nhà ở tạm</a:t>
            </a:r>
            <a:endParaRPr lang="en-US" sz="900" dirty="0"/>
          </a:p>
        </p:txBody>
      </p:sp>
      <p:pic>
        <p:nvPicPr>
          <p:cNvPr id="66" name="Image 8" descr="preencoded.png"/>
          <p:cNvPicPr>
            <a:picLocks noChangeAspect="1"/>
          </p:cNvPicPr>
          <p:nvPr/>
        </p:nvPicPr>
        <p:blipFill>
          <a:blip r:embed="rId7"/>
          <a:srcRect/>
          <a:stretch/>
        </p:blipFill>
        <p:spPr>
          <a:xfrm>
            <a:off x="1028700" y="5375758"/>
            <a:ext cx="105156" cy="105156"/>
          </a:xfrm>
          <a:prstGeom prst="rect">
            <a:avLst/>
          </a:prstGeom>
        </p:spPr>
      </p:pic>
      <p:sp>
        <p:nvSpPr>
          <p:cNvPr id="67" name="Text 56"/>
          <p:cNvSpPr txBox="1"/>
          <p:nvPr/>
        </p:nvSpPr>
        <p:spPr>
          <a:xfrm>
            <a:off x="1171346" y="5356555"/>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3-4 ngày</a:t>
            </a:r>
            <a:endParaRPr lang="en-US" sz="800" dirty="0"/>
          </a:p>
        </p:txBody>
      </p:sp>
      <p:sp>
        <p:nvSpPr>
          <p:cNvPr id="68" name="Shape 57"/>
          <p:cNvSpPr/>
          <p:nvPr/>
        </p:nvSpPr>
        <p:spPr>
          <a:xfrm>
            <a:off x="4457700" y="1004926"/>
            <a:ext cx="304495" cy="304495"/>
          </a:xfrm>
          <a:prstGeom prst="roundRect">
            <a:avLst>
              <a:gd name="adj" fmla="val 112613"/>
            </a:avLst>
          </a:prstGeom>
          <a:solidFill>
            <a:srgbClr val="F7A81B">
              <a:alpha val="10000"/>
            </a:srgbClr>
          </a:solidFill>
          <a:ln w="12700">
            <a:solidFill>
              <a:srgbClr val="FFFFFF">
                <a:alpha val="0"/>
              </a:srgbClr>
            </a:solidFill>
            <a:prstDash val="solid"/>
          </a:ln>
        </p:spPr>
        <p:txBody>
          <a:bodyPr/>
          <a:lstStyle/>
          <a:p>
            <a:endParaRPr lang="en-US"/>
          </a:p>
        </p:txBody>
      </p:sp>
      <p:pic>
        <p:nvPicPr>
          <p:cNvPr id="69" name="Image 9" descr="preencoded.png"/>
          <p:cNvPicPr>
            <a:picLocks noChangeAspect="1"/>
          </p:cNvPicPr>
          <p:nvPr/>
        </p:nvPicPr>
        <p:blipFill>
          <a:blip r:embed="rId8"/>
          <a:srcRect/>
          <a:stretch/>
        </p:blipFill>
        <p:spPr>
          <a:xfrm>
            <a:off x="4533595" y="1080821"/>
            <a:ext cx="152705" cy="152705"/>
          </a:xfrm>
          <a:prstGeom prst="rect">
            <a:avLst/>
          </a:prstGeom>
        </p:spPr>
      </p:pic>
      <p:sp>
        <p:nvSpPr>
          <p:cNvPr id="70" name="Text 58"/>
          <p:cNvSpPr txBox="1"/>
          <p:nvPr/>
        </p:nvSpPr>
        <p:spPr>
          <a:xfrm>
            <a:off x="4858207" y="1067105"/>
            <a:ext cx="2419502"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Vấn đề cần giải quyết</a:t>
            </a:r>
            <a:endParaRPr lang="en-US" sz="1200" dirty="0"/>
          </a:p>
        </p:txBody>
      </p:sp>
      <p:sp>
        <p:nvSpPr>
          <p:cNvPr id="71" name="Shape 59"/>
          <p:cNvSpPr/>
          <p:nvPr/>
        </p:nvSpPr>
        <p:spPr>
          <a:xfrm>
            <a:off x="7368235" y="1037844"/>
            <a:ext cx="371246" cy="237744"/>
          </a:xfrm>
          <a:prstGeom prst="roundRect">
            <a:avLst>
              <a:gd name="adj" fmla="val 369231"/>
            </a:avLst>
          </a:prstGeom>
          <a:solidFill>
            <a:srgbClr val="F7A81B">
              <a:alpha val="10000"/>
            </a:srgbClr>
          </a:solidFill>
          <a:ln w="12700">
            <a:solidFill>
              <a:srgbClr val="FFFFFF">
                <a:alpha val="0"/>
              </a:srgbClr>
            </a:solidFill>
            <a:prstDash val="solid"/>
          </a:ln>
        </p:spPr>
        <p:txBody>
          <a:bodyPr/>
          <a:lstStyle/>
          <a:p>
            <a:endParaRPr lang="en-US"/>
          </a:p>
        </p:txBody>
      </p:sp>
      <p:sp>
        <p:nvSpPr>
          <p:cNvPr id="72" name="Text 60"/>
          <p:cNvSpPr/>
          <p:nvPr/>
        </p:nvSpPr>
        <p:spPr>
          <a:xfrm>
            <a:off x="7368235" y="1037844"/>
            <a:ext cx="372161"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F7A81B"/>
                </a:solidFill>
                <a:latin typeface="Open Sans" pitchFamily="34" charset="0"/>
                <a:ea typeface="Open Sans" pitchFamily="34" charset="-122"/>
                <a:cs typeface="Open Sans" pitchFamily="34" charset="-120"/>
              </a:rPr>
              <a:t>4/6</a:t>
            </a:r>
            <a:endParaRPr lang="en-US" sz="900" dirty="0"/>
          </a:p>
        </p:txBody>
      </p:sp>
      <p:sp>
        <p:nvSpPr>
          <p:cNvPr id="73" name="Shape 61"/>
          <p:cNvSpPr/>
          <p:nvPr/>
        </p:nvSpPr>
        <p:spPr>
          <a:xfrm>
            <a:off x="4457700" y="1619402"/>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74" name="Shape 62"/>
          <p:cNvSpPr/>
          <p:nvPr/>
        </p:nvSpPr>
        <p:spPr>
          <a:xfrm>
            <a:off x="4457700" y="1619402"/>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75" name="Shape 63"/>
          <p:cNvSpPr/>
          <p:nvPr/>
        </p:nvSpPr>
        <p:spPr>
          <a:xfrm>
            <a:off x="4610405" y="1762049"/>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76" name="Text 64"/>
          <p:cNvSpPr txBox="1"/>
          <p:nvPr/>
        </p:nvSpPr>
        <p:spPr>
          <a:xfrm>
            <a:off x="4914900" y="1742846"/>
            <a:ext cx="1828800"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GPMB chủ ao chưa đồng ý</a:t>
            </a:r>
            <a:endParaRPr lang="en-US" sz="900" dirty="0"/>
          </a:p>
        </p:txBody>
      </p:sp>
      <p:sp>
        <p:nvSpPr>
          <p:cNvPr id="77" name="Shape 65"/>
          <p:cNvSpPr/>
          <p:nvPr/>
        </p:nvSpPr>
        <p:spPr>
          <a:xfrm>
            <a:off x="652790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78" name="Text 66"/>
          <p:cNvSpPr/>
          <p:nvPr/>
        </p:nvSpPr>
        <p:spPr>
          <a:xfrm>
            <a:off x="652790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9" name="Text 67"/>
          <p:cNvSpPr txBox="1"/>
          <p:nvPr/>
        </p:nvSpPr>
        <p:spPr>
          <a:xfrm>
            <a:off x="4914900" y="1943100"/>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đền bù hỗ trợ tài sản trên đất</a:t>
            </a:r>
            <a:endParaRPr lang="en-US" sz="900" dirty="0"/>
          </a:p>
        </p:txBody>
      </p:sp>
      <p:pic>
        <p:nvPicPr>
          <p:cNvPr id="80" name="Image 10" descr="preencoded.png"/>
          <p:cNvPicPr>
            <a:picLocks noChangeAspect="1"/>
          </p:cNvPicPr>
          <p:nvPr/>
        </p:nvPicPr>
        <p:blipFill>
          <a:blip r:embed="rId9"/>
          <a:srcRect/>
          <a:stretch/>
        </p:blipFill>
        <p:spPr>
          <a:xfrm>
            <a:off x="4914900" y="2137867"/>
            <a:ext cx="105156" cy="105156"/>
          </a:xfrm>
          <a:prstGeom prst="rect">
            <a:avLst/>
          </a:prstGeom>
        </p:spPr>
      </p:pic>
      <p:sp>
        <p:nvSpPr>
          <p:cNvPr id="81" name="Text 68"/>
          <p:cNvSpPr txBox="1"/>
          <p:nvPr/>
        </p:nvSpPr>
        <p:spPr>
          <a:xfrm>
            <a:off x="5057546" y="2118665"/>
            <a:ext cx="987552"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Cần xử lý ngay</a:t>
            </a:r>
            <a:endParaRPr lang="en-US" sz="800" dirty="0"/>
          </a:p>
        </p:txBody>
      </p:sp>
      <p:sp>
        <p:nvSpPr>
          <p:cNvPr id="82" name="Shape 69"/>
          <p:cNvSpPr/>
          <p:nvPr/>
        </p:nvSpPr>
        <p:spPr>
          <a:xfrm>
            <a:off x="4457700" y="2428646"/>
            <a:ext cx="3276295" cy="714146"/>
          </a:xfrm>
          <a:prstGeom prst="roundRect">
            <a:avLst>
              <a:gd name="adj" fmla="val 27315"/>
            </a:avLst>
          </a:prstGeom>
          <a:solidFill>
            <a:srgbClr val="F7A81B">
              <a:alpha val="5000"/>
            </a:srgbClr>
          </a:solidFill>
          <a:ln w="12700">
            <a:solidFill>
              <a:srgbClr val="E2E8F0"/>
            </a:solidFill>
            <a:prstDash val="solid"/>
          </a:ln>
        </p:spPr>
        <p:txBody>
          <a:bodyPr/>
          <a:lstStyle/>
          <a:p>
            <a:endParaRPr lang="en-US"/>
          </a:p>
        </p:txBody>
      </p:sp>
      <p:sp>
        <p:nvSpPr>
          <p:cNvPr id="83" name="Shape 70"/>
          <p:cNvSpPr/>
          <p:nvPr/>
        </p:nvSpPr>
        <p:spPr>
          <a:xfrm>
            <a:off x="4457700" y="2428646"/>
            <a:ext cx="38405" cy="714146"/>
          </a:xfrm>
          <a:prstGeom prst="roundRect">
            <a:avLst>
              <a:gd name="adj" fmla="val 507934"/>
            </a:avLst>
          </a:prstGeom>
          <a:solidFill>
            <a:srgbClr val="F7A81B"/>
          </a:solidFill>
          <a:ln w="12700">
            <a:solidFill>
              <a:srgbClr val="F7A81B">
                <a:alpha val="0"/>
              </a:srgbClr>
            </a:solidFill>
            <a:prstDash val="solid"/>
          </a:ln>
        </p:spPr>
        <p:txBody>
          <a:bodyPr/>
          <a:lstStyle/>
          <a:p>
            <a:endParaRPr lang="en-US"/>
          </a:p>
        </p:txBody>
      </p:sp>
      <p:sp>
        <p:nvSpPr>
          <p:cNvPr id="84" name="Shape 71"/>
          <p:cNvSpPr/>
          <p:nvPr/>
        </p:nvSpPr>
        <p:spPr>
          <a:xfrm>
            <a:off x="4610405" y="2572207"/>
            <a:ext cx="190195" cy="190195"/>
          </a:xfrm>
          <a:prstGeom prst="roundRect">
            <a:avLst>
              <a:gd name="adj" fmla="val 192308"/>
            </a:avLst>
          </a:prstGeom>
          <a:noFill/>
          <a:ln w="25400">
            <a:solidFill>
              <a:srgbClr val="F7A81B"/>
            </a:solidFill>
            <a:prstDash val="solid"/>
          </a:ln>
        </p:spPr>
        <p:txBody>
          <a:bodyPr/>
          <a:lstStyle/>
          <a:p>
            <a:endParaRPr lang="en-US"/>
          </a:p>
        </p:txBody>
      </p:sp>
      <p:sp>
        <p:nvSpPr>
          <p:cNvPr id="85" name="Text 72"/>
          <p:cNvSpPr txBox="1"/>
          <p:nvPr/>
        </p:nvSpPr>
        <p:spPr>
          <a:xfrm>
            <a:off x="4914900" y="2553005"/>
            <a:ext cx="16888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Đường vào chưa liên hệ</a:t>
            </a:r>
            <a:endParaRPr lang="en-US" sz="900" dirty="0"/>
          </a:p>
        </p:txBody>
      </p:sp>
      <p:sp>
        <p:nvSpPr>
          <p:cNvPr id="86" name="Shape 73"/>
          <p:cNvSpPr/>
          <p:nvPr/>
        </p:nvSpPr>
        <p:spPr>
          <a:xfrm>
            <a:off x="6389827"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87" name="Text 74"/>
          <p:cNvSpPr/>
          <p:nvPr/>
        </p:nvSpPr>
        <p:spPr>
          <a:xfrm>
            <a:off x="6389827"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88" name="Text 75"/>
          <p:cNvSpPr txBox="1"/>
          <p:nvPr/>
        </p:nvSpPr>
        <p:spPr>
          <a:xfrm>
            <a:off x="4914900" y="2752344"/>
            <a:ext cx="320863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liên hệ chính quyền về đường từ Vành đai 3</a:t>
            </a:r>
            <a:endParaRPr lang="en-US" sz="900" dirty="0"/>
          </a:p>
        </p:txBody>
      </p:sp>
      <p:pic>
        <p:nvPicPr>
          <p:cNvPr id="89" name="Image 11" descr="preencoded.png"/>
          <p:cNvPicPr>
            <a:picLocks noChangeAspect="1"/>
          </p:cNvPicPr>
          <p:nvPr/>
        </p:nvPicPr>
        <p:blipFill>
          <a:blip r:embed="rId10"/>
          <a:srcRect/>
          <a:stretch/>
        </p:blipFill>
        <p:spPr>
          <a:xfrm>
            <a:off x="4914900" y="2947111"/>
            <a:ext cx="105156" cy="105156"/>
          </a:xfrm>
          <a:prstGeom prst="rect">
            <a:avLst/>
          </a:prstGeom>
        </p:spPr>
      </p:pic>
      <p:sp>
        <p:nvSpPr>
          <p:cNvPr id="90" name="Text 76"/>
          <p:cNvSpPr txBox="1"/>
          <p:nvPr/>
        </p:nvSpPr>
        <p:spPr>
          <a:xfrm>
            <a:off x="5057546" y="2927909"/>
            <a:ext cx="566014" cy="143561"/>
          </a:xfrm>
          <a:prstGeom prst="rect">
            <a:avLst/>
          </a:prstGeom>
          <a:noFill/>
          <a:ln/>
        </p:spPr>
        <p:txBody>
          <a:bodyPr wrap="square" lIns="0" tIns="0" rIns="0" bIns="0" rtlCol="0" anchor="ctr"/>
          <a:lstStyle/>
          <a:p>
            <a:pPr marL="0" indent="0" algn="l">
              <a:buNone/>
            </a:pPr>
            <a:r>
              <a:rPr lang="en-US" sz="800" dirty="0">
                <a:solidFill>
                  <a:srgbClr val="F7A81B"/>
                </a:solidFill>
                <a:latin typeface="Open Sans" pitchFamily="34" charset="0"/>
                <a:ea typeface="Open Sans" pitchFamily="34" charset="-122"/>
                <a:cs typeface="Open Sans" pitchFamily="34" charset="-120"/>
              </a:rPr>
              <a:t>3-5 ngày</a:t>
            </a:r>
            <a:endParaRPr lang="en-US" sz="800" dirty="0"/>
          </a:p>
        </p:txBody>
      </p:sp>
      <p:sp>
        <p:nvSpPr>
          <p:cNvPr id="91" name="Shape 77"/>
          <p:cNvSpPr/>
          <p:nvPr/>
        </p:nvSpPr>
        <p:spPr>
          <a:xfrm>
            <a:off x="44577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92" name="Shape 78"/>
          <p:cNvSpPr/>
          <p:nvPr/>
        </p:nvSpPr>
        <p:spPr>
          <a:xfrm>
            <a:off x="44577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93" name="Shape 79"/>
          <p:cNvSpPr/>
          <p:nvPr/>
        </p:nvSpPr>
        <p:spPr>
          <a:xfrm>
            <a:off x="4610405" y="3381451"/>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94" name="Text 80"/>
          <p:cNvSpPr txBox="1"/>
          <p:nvPr/>
        </p:nvSpPr>
        <p:spPr>
          <a:xfrm>
            <a:off x="4914900" y="3362249"/>
            <a:ext cx="199522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Bãi tập kết chưa thỏa thuận</a:t>
            </a:r>
            <a:endParaRPr lang="en-US" sz="900" dirty="0"/>
          </a:p>
        </p:txBody>
      </p:sp>
      <p:sp>
        <p:nvSpPr>
          <p:cNvPr id="95" name="Shape 81"/>
          <p:cNvSpPr/>
          <p:nvPr/>
        </p:nvSpPr>
        <p:spPr>
          <a:xfrm>
            <a:off x="6642202"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96" name="Text 82"/>
          <p:cNvSpPr/>
          <p:nvPr/>
        </p:nvSpPr>
        <p:spPr>
          <a:xfrm>
            <a:off x="6642202"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97" name="Text 83"/>
          <p:cNvSpPr txBox="1"/>
          <p:nvPr/>
        </p:nvSpPr>
        <p:spPr>
          <a:xfrm>
            <a:off x="4914900" y="3562502"/>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Chưa thỏa thuận với quận về 50m đường</a:t>
            </a:r>
            <a:endParaRPr lang="en-US" sz="900" dirty="0"/>
          </a:p>
        </p:txBody>
      </p:sp>
      <p:pic>
        <p:nvPicPr>
          <p:cNvPr id="98" name="Image 12" descr="preencoded.png"/>
          <p:cNvPicPr>
            <a:picLocks noChangeAspect="1"/>
          </p:cNvPicPr>
          <p:nvPr/>
        </p:nvPicPr>
        <p:blipFill>
          <a:blip r:embed="rId7"/>
          <a:srcRect/>
          <a:stretch/>
        </p:blipFill>
        <p:spPr>
          <a:xfrm>
            <a:off x="4914900" y="3756355"/>
            <a:ext cx="105156" cy="105156"/>
          </a:xfrm>
          <a:prstGeom prst="rect">
            <a:avLst/>
          </a:prstGeom>
        </p:spPr>
      </p:pic>
      <p:sp>
        <p:nvSpPr>
          <p:cNvPr id="99" name="Text 84"/>
          <p:cNvSpPr txBox="1"/>
          <p:nvPr/>
        </p:nvSpPr>
        <p:spPr>
          <a:xfrm>
            <a:off x="5057546" y="3738067"/>
            <a:ext cx="566014"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2-3 ngày</a:t>
            </a:r>
            <a:endParaRPr lang="en-US" sz="800" dirty="0"/>
          </a:p>
        </p:txBody>
      </p:sp>
      <p:sp>
        <p:nvSpPr>
          <p:cNvPr id="100" name="Shape 85"/>
          <p:cNvSpPr/>
          <p:nvPr/>
        </p:nvSpPr>
        <p:spPr>
          <a:xfrm>
            <a:off x="44577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01" name="Shape 86"/>
          <p:cNvSpPr/>
          <p:nvPr/>
        </p:nvSpPr>
        <p:spPr>
          <a:xfrm>
            <a:off x="44577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02" name="Shape 87"/>
          <p:cNvSpPr/>
          <p:nvPr/>
        </p:nvSpPr>
        <p:spPr>
          <a:xfrm>
            <a:off x="4610405" y="4190695"/>
            <a:ext cx="190195" cy="190195"/>
          </a:xfrm>
          <a:prstGeom prst="roundRect">
            <a:avLst>
              <a:gd name="adj" fmla="val 192308"/>
            </a:avLst>
          </a:prstGeom>
          <a:noFill/>
          <a:ln w="25400">
            <a:solidFill>
              <a:srgbClr val="CBD5E0"/>
            </a:solidFill>
            <a:prstDash val="solid"/>
          </a:ln>
        </p:spPr>
        <p:txBody>
          <a:bodyPr/>
          <a:lstStyle/>
          <a:p>
            <a:endParaRPr lang="en-US"/>
          </a:p>
        </p:txBody>
      </p:sp>
      <p:sp>
        <p:nvSpPr>
          <p:cNvPr id="103" name="Text 88"/>
          <p:cNvSpPr txBox="1"/>
          <p:nvPr/>
        </p:nvSpPr>
        <p:spPr>
          <a:xfrm>
            <a:off x="4914900" y="4172407"/>
            <a:ext cx="178033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Thiết kế chưa hoàn thiện</a:t>
            </a:r>
            <a:endParaRPr lang="en-US" sz="900" dirty="0"/>
          </a:p>
        </p:txBody>
      </p:sp>
      <p:sp>
        <p:nvSpPr>
          <p:cNvPr id="104" name="Shape 89"/>
          <p:cNvSpPr/>
          <p:nvPr/>
        </p:nvSpPr>
        <p:spPr>
          <a:xfrm>
            <a:off x="6463894"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05" name="Text 90"/>
          <p:cNvSpPr/>
          <p:nvPr/>
        </p:nvSpPr>
        <p:spPr>
          <a:xfrm>
            <a:off x="6463894"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06" name="Text 91"/>
          <p:cNvSpPr txBox="1"/>
          <p:nvPr/>
        </p:nvSpPr>
        <p:spPr>
          <a:xfrm>
            <a:off x="4914900" y="4371746"/>
            <a:ext cx="269565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Bản vẽ kết cấu, kiến trúc còn sơ bộ</a:t>
            </a:r>
            <a:endParaRPr lang="en-US" sz="900" dirty="0"/>
          </a:p>
        </p:txBody>
      </p:sp>
      <p:pic>
        <p:nvPicPr>
          <p:cNvPr id="107" name="Image 13" descr="preencoded.png"/>
          <p:cNvPicPr>
            <a:picLocks noChangeAspect="1"/>
          </p:cNvPicPr>
          <p:nvPr/>
        </p:nvPicPr>
        <p:blipFill>
          <a:blip r:embed="rId7"/>
          <a:srcRect/>
          <a:stretch/>
        </p:blipFill>
        <p:spPr>
          <a:xfrm>
            <a:off x="4914900" y="4566514"/>
            <a:ext cx="105156" cy="105156"/>
          </a:xfrm>
          <a:prstGeom prst="rect">
            <a:avLst/>
          </a:prstGeom>
        </p:spPr>
      </p:pic>
      <p:sp>
        <p:nvSpPr>
          <p:cNvPr id="108" name="Text 92"/>
          <p:cNvSpPr txBox="1"/>
          <p:nvPr/>
        </p:nvSpPr>
        <p:spPr>
          <a:xfrm>
            <a:off x="5057546" y="4547311"/>
            <a:ext cx="924458"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cập nhật</a:t>
            </a:r>
            <a:endParaRPr lang="en-US" sz="800" dirty="0"/>
          </a:p>
        </p:txBody>
      </p:sp>
      <p:sp>
        <p:nvSpPr>
          <p:cNvPr id="109" name="Shape 93"/>
          <p:cNvSpPr/>
          <p:nvPr/>
        </p:nvSpPr>
        <p:spPr>
          <a:xfrm>
            <a:off x="4457700" y="4953305"/>
            <a:ext cx="3276295" cy="1143000"/>
          </a:xfrm>
          <a:prstGeom prst="roundRect">
            <a:avLst>
              <a:gd name="adj" fmla="val 10667"/>
            </a:avLst>
          </a:prstGeom>
          <a:solidFill>
            <a:srgbClr val="808080">
              <a:alpha val="5000"/>
            </a:srgbClr>
          </a:solidFill>
          <a:ln w="12700">
            <a:solidFill>
              <a:srgbClr val="808080">
                <a:alpha val="20000"/>
              </a:srgbClr>
            </a:solidFill>
            <a:prstDash val="solid"/>
          </a:ln>
        </p:spPr>
        <p:txBody>
          <a:bodyPr/>
          <a:lstStyle/>
          <a:p>
            <a:endParaRPr lang="en-US"/>
          </a:p>
        </p:txBody>
      </p:sp>
      <p:pic>
        <p:nvPicPr>
          <p:cNvPr id="110" name="Image 14" descr="preencoded.png"/>
          <p:cNvPicPr>
            <a:picLocks noChangeAspect="1"/>
          </p:cNvPicPr>
          <p:nvPr/>
        </p:nvPicPr>
        <p:blipFill>
          <a:blip r:embed="rId11"/>
          <a:srcRect/>
          <a:stretch/>
        </p:blipFill>
        <p:spPr>
          <a:xfrm>
            <a:off x="4581144" y="5100523"/>
            <a:ext cx="123444" cy="123444"/>
          </a:xfrm>
          <a:prstGeom prst="rect">
            <a:avLst/>
          </a:prstGeom>
        </p:spPr>
      </p:pic>
      <p:sp>
        <p:nvSpPr>
          <p:cNvPr id="111" name="Text 94"/>
          <p:cNvSpPr txBox="1"/>
          <p:nvPr/>
        </p:nvSpPr>
        <p:spPr>
          <a:xfrm>
            <a:off x="4762195" y="5076749"/>
            <a:ext cx="1642262" cy="171907"/>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Biện pháp kiểm soát</a:t>
            </a:r>
            <a:endParaRPr lang="en-US" sz="900" dirty="0"/>
          </a:p>
        </p:txBody>
      </p:sp>
      <p:pic>
        <p:nvPicPr>
          <p:cNvPr id="112" name="Image 15" descr="preencoded.png"/>
          <p:cNvPicPr>
            <a:picLocks noChangeAspect="1"/>
          </p:cNvPicPr>
          <p:nvPr/>
        </p:nvPicPr>
        <p:blipFill>
          <a:blip r:embed="rId12"/>
          <a:srcRect/>
          <a:stretch/>
        </p:blipFill>
        <p:spPr>
          <a:xfrm>
            <a:off x="4581144" y="5348326"/>
            <a:ext cx="95098" cy="95098"/>
          </a:xfrm>
          <a:prstGeom prst="rect">
            <a:avLst/>
          </a:prstGeom>
        </p:spPr>
      </p:pic>
      <p:sp>
        <p:nvSpPr>
          <p:cNvPr id="113" name="Text 95"/>
          <p:cNvSpPr txBox="1"/>
          <p:nvPr/>
        </p:nvSpPr>
        <p:spPr>
          <a:xfrm>
            <a:off x="4733849" y="5324551"/>
            <a:ext cx="1357884"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Auto bơm chống ngập</a:t>
            </a:r>
            <a:endParaRPr lang="en-US" sz="800" dirty="0"/>
          </a:p>
        </p:txBody>
      </p:sp>
      <p:pic>
        <p:nvPicPr>
          <p:cNvPr id="114" name="Image 16" descr="preencoded.png"/>
          <p:cNvPicPr>
            <a:picLocks noChangeAspect="1"/>
          </p:cNvPicPr>
          <p:nvPr/>
        </p:nvPicPr>
        <p:blipFill>
          <a:blip r:embed="rId12"/>
          <a:srcRect/>
          <a:stretch/>
        </p:blipFill>
        <p:spPr>
          <a:xfrm>
            <a:off x="6124651" y="5348326"/>
            <a:ext cx="95098" cy="95098"/>
          </a:xfrm>
          <a:prstGeom prst="rect">
            <a:avLst/>
          </a:prstGeom>
        </p:spPr>
      </p:pic>
      <p:sp>
        <p:nvSpPr>
          <p:cNvPr id="115" name="Text 96"/>
          <p:cNvSpPr txBox="1"/>
          <p:nvPr/>
        </p:nvSpPr>
        <p:spPr>
          <a:xfrm>
            <a:off x="6277356" y="5324551"/>
            <a:ext cx="918972"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Giám sát 24/7</a:t>
            </a:r>
            <a:endParaRPr lang="en-US" sz="800" dirty="0"/>
          </a:p>
        </p:txBody>
      </p:sp>
      <p:pic>
        <p:nvPicPr>
          <p:cNvPr id="116" name="Image 17" descr="preencoded.png"/>
          <p:cNvPicPr>
            <a:picLocks noChangeAspect="1"/>
          </p:cNvPicPr>
          <p:nvPr/>
        </p:nvPicPr>
        <p:blipFill>
          <a:blip r:embed="rId12"/>
          <a:srcRect/>
          <a:stretch/>
        </p:blipFill>
        <p:spPr>
          <a:xfrm>
            <a:off x="4581144" y="5548579"/>
            <a:ext cx="95098" cy="95098"/>
          </a:xfrm>
          <a:prstGeom prst="rect">
            <a:avLst/>
          </a:prstGeom>
        </p:spPr>
      </p:pic>
      <p:sp>
        <p:nvSpPr>
          <p:cNvPr id="117" name="Text 97"/>
          <p:cNvSpPr txBox="1"/>
          <p:nvPr/>
        </p:nvSpPr>
        <p:spPr>
          <a:xfrm>
            <a:off x="4733849" y="5524805"/>
            <a:ext cx="1208837"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Hệ thống cảnh báo</a:t>
            </a:r>
            <a:endParaRPr lang="en-US" sz="800" dirty="0"/>
          </a:p>
        </p:txBody>
      </p:sp>
      <p:pic>
        <p:nvPicPr>
          <p:cNvPr id="118" name="Image 18" descr="preencoded.png"/>
          <p:cNvPicPr>
            <a:picLocks noChangeAspect="1"/>
          </p:cNvPicPr>
          <p:nvPr/>
        </p:nvPicPr>
        <p:blipFill>
          <a:blip r:embed="rId12"/>
          <a:srcRect/>
          <a:stretch/>
        </p:blipFill>
        <p:spPr>
          <a:xfrm>
            <a:off x="6124651" y="5548579"/>
            <a:ext cx="95098" cy="95098"/>
          </a:xfrm>
          <a:prstGeom prst="rect">
            <a:avLst/>
          </a:prstGeom>
        </p:spPr>
      </p:pic>
      <p:sp>
        <p:nvSpPr>
          <p:cNvPr id="119" name="Text 98"/>
          <p:cNvSpPr txBox="1"/>
          <p:nvPr/>
        </p:nvSpPr>
        <p:spPr>
          <a:xfrm>
            <a:off x="6277356" y="5524805"/>
            <a:ext cx="1283818" cy="143561"/>
          </a:xfrm>
          <a:prstGeom prst="rect">
            <a:avLst/>
          </a:prstGeom>
          <a:noFill/>
          <a:ln/>
        </p:spPr>
        <p:txBody>
          <a:bodyPr wrap="square" lIns="0" tIns="0" rIns="0" bIns="0" rtlCol="0" anchor="ctr"/>
          <a:lstStyle/>
          <a:p>
            <a:pPr marL="0" indent="0" algn="l">
              <a:buNone/>
            </a:pPr>
            <a:r>
              <a:rPr lang="en-US" sz="800" dirty="0">
                <a:solidFill>
                  <a:srgbClr val="718096"/>
                </a:solidFill>
                <a:latin typeface="Open Sans" pitchFamily="34" charset="0"/>
                <a:ea typeface="Open Sans" pitchFamily="34" charset="-122"/>
                <a:cs typeface="Open Sans" pitchFamily="34" charset="-120"/>
              </a:rPr>
              <a:t>Đội phản ứng nhanh</a:t>
            </a:r>
            <a:endParaRPr lang="en-US" sz="800" dirty="0"/>
          </a:p>
        </p:txBody>
      </p:sp>
      <p:sp>
        <p:nvSpPr>
          <p:cNvPr id="120" name="Shape 99"/>
          <p:cNvSpPr/>
          <p:nvPr/>
        </p:nvSpPr>
        <p:spPr>
          <a:xfrm>
            <a:off x="8343900" y="1004926"/>
            <a:ext cx="304495" cy="304495"/>
          </a:xfrm>
          <a:prstGeom prst="roundRect">
            <a:avLst>
              <a:gd name="adj" fmla="val 112613"/>
            </a:avLst>
          </a:prstGeom>
          <a:solidFill>
            <a:srgbClr val="808080">
              <a:alpha val="10000"/>
            </a:srgbClr>
          </a:solidFill>
          <a:ln w="12700">
            <a:solidFill>
              <a:srgbClr val="FFFFFF">
                <a:alpha val="0"/>
              </a:srgbClr>
            </a:solidFill>
            <a:prstDash val="solid"/>
          </a:ln>
        </p:spPr>
        <p:txBody>
          <a:bodyPr/>
          <a:lstStyle/>
          <a:p>
            <a:endParaRPr lang="en-US"/>
          </a:p>
        </p:txBody>
      </p:sp>
      <p:pic>
        <p:nvPicPr>
          <p:cNvPr id="121" name="Image 19" descr="preencoded.png"/>
          <p:cNvPicPr>
            <a:picLocks noChangeAspect="1"/>
          </p:cNvPicPr>
          <p:nvPr/>
        </p:nvPicPr>
        <p:blipFill>
          <a:blip r:embed="rId13"/>
          <a:srcRect t="-180" b="-180"/>
          <a:stretch/>
        </p:blipFill>
        <p:spPr>
          <a:xfrm>
            <a:off x="8401507" y="1080821"/>
            <a:ext cx="190195" cy="152705"/>
          </a:xfrm>
          <a:prstGeom prst="rect">
            <a:avLst/>
          </a:prstGeom>
        </p:spPr>
      </p:pic>
      <p:sp>
        <p:nvSpPr>
          <p:cNvPr id="122" name="Text 100"/>
          <p:cNvSpPr txBox="1"/>
          <p:nvPr/>
        </p:nvSpPr>
        <p:spPr>
          <a:xfrm>
            <a:off x="8744407" y="1067105"/>
            <a:ext cx="2257654" cy="181051"/>
          </a:xfrm>
          <a:prstGeom prst="rect">
            <a:avLst/>
          </a:prstGeom>
          <a:noFill/>
          <a:ln/>
        </p:spPr>
        <p:txBody>
          <a:bodyPr wrap="square" lIns="0" tIns="0" rIns="0" bIns="0" rtlCol="0" anchor="ctr"/>
          <a:lstStyle/>
          <a:p>
            <a:pPr marL="0" indent="0" algn="l">
              <a:buNone/>
            </a:pPr>
            <a:r>
              <a:rPr lang="en-US" sz="1200" b="1" dirty="0">
                <a:solidFill>
                  <a:srgbClr val="4A5568"/>
                </a:solidFill>
                <a:latin typeface="Montserrat" pitchFamily="34" charset="0"/>
                <a:ea typeface="Montserrat" pitchFamily="34" charset="-122"/>
                <a:cs typeface="Montserrat" pitchFamily="34" charset="-120"/>
              </a:rPr>
              <a:t>Kiểm soát &amp; Giám sát</a:t>
            </a:r>
            <a:endParaRPr lang="en-US" sz="1200" dirty="0"/>
          </a:p>
        </p:txBody>
      </p:sp>
      <p:sp>
        <p:nvSpPr>
          <p:cNvPr id="123" name="Shape 101"/>
          <p:cNvSpPr/>
          <p:nvPr/>
        </p:nvSpPr>
        <p:spPr>
          <a:xfrm>
            <a:off x="11093501" y="1037844"/>
            <a:ext cx="533095" cy="237744"/>
          </a:xfrm>
          <a:prstGeom prst="roundRect">
            <a:avLst>
              <a:gd name="adj" fmla="val 369231"/>
            </a:avLst>
          </a:prstGeom>
          <a:solidFill>
            <a:srgbClr val="808080">
              <a:alpha val="10000"/>
            </a:srgbClr>
          </a:solidFill>
          <a:ln w="12700">
            <a:solidFill>
              <a:srgbClr val="FFFFFF">
                <a:alpha val="0"/>
              </a:srgbClr>
            </a:solidFill>
            <a:prstDash val="solid"/>
          </a:ln>
        </p:spPr>
        <p:txBody>
          <a:bodyPr/>
          <a:lstStyle/>
          <a:p>
            <a:endParaRPr lang="en-US"/>
          </a:p>
        </p:txBody>
      </p:sp>
      <p:sp>
        <p:nvSpPr>
          <p:cNvPr id="124" name="Text 102"/>
          <p:cNvSpPr/>
          <p:nvPr/>
        </p:nvSpPr>
        <p:spPr>
          <a:xfrm>
            <a:off x="11093501" y="1037844"/>
            <a:ext cx="534010" cy="238658"/>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Active</a:t>
            </a:r>
            <a:endParaRPr lang="en-US" sz="900" dirty="0"/>
          </a:p>
        </p:txBody>
      </p:sp>
      <p:sp>
        <p:nvSpPr>
          <p:cNvPr id="125" name="Shape 103"/>
          <p:cNvSpPr/>
          <p:nvPr/>
        </p:nvSpPr>
        <p:spPr>
          <a:xfrm>
            <a:off x="8343900" y="1619402"/>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26" name="Shape 104"/>
          <p:cNvSpPr/>
          <p:nvPr/>
        </p:nvSpPr>
        <p:spPr>
          <a:xfrm>
            <a:off x="8343900" y="1619402"/>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27" name="Text 105"/>
          <p:cNvSpPr txBox="1"/>
          <p:nvPr/>
        </p:nvSpPr>
        <p:spPr>
          <a:xfrm>
            <a:off x="8496605" y="1742846"/>
            <a:ext cx="1829714"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Hệ thống bơm chống ngập</a:t>
            </a:r>
            <a:endParaRPr lang="en-US" sz="900" dirty="0"/>
          </a:p>
        </p:txBody>
      </p:sp>
      <p:sp>
        <p:nvSpPr>
          <p:cNvPr id="128" name="Shape 106"/>
          <p:cNvSpPr/>
          <p:nvPr/>
        </p:nvSpPr>
        <p:spPr>
          <a:xfrm>
            <a:off x="10131552" y="1752905"/>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29" name="Text 107"/>
          <p:cNvSpPr/>
          <p:nvPr/>
        </p:nvSpPr>
        <p:spPr>
          <a:xfrm>
            <a:off x="10131552" y="1752905"/>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0" name="Text 108"/>
          <p:cNvSpPr txBox="1"/>
          <p:nvPr/>
        </p:nvSpPr>
        <p:spPr>
          <a:xfrm>
            <a:off x="8496605" y="1943100"/>
            <a:ext cx="3406140"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Thiết lập hệ thống bơm tự động cho toàn mặt bằng</a:t>
            </a:r>
            <a:endParaRPr lang="en-US" sz="900" dirty="0"/>
          </a:p>
        </p:txBody>
      </p:sp>
      <p:pic>
        <p:nvPicPr>
          <p:cNvPr id="131" name="Image 20" descr="preencoded.png"/>
          <p:cNvPicPr>
            <a:picLocks noChangeAspect="1"/>
          </p:cNvPicPr>
          <p:nvPr/>
        </p:nvPicPr>
        <p:blipFill>
          <a:blip r:embed="rId14"/>
          <a:srcRect/>
          <a:stretch/>
        </p:blipFill>
        <p:spPr>
          <a:xfrm>
            <a:off x="8496605" y="2137867"/>
            <a:ext cx="105156" cy="105156"/>
          </a:xfrm>
          <a:prstGeom prst="rect">
            <a:avLst/>
          </a:prstGeom>
        </p:spPr>
      </p:pic>
      <p:sp>
        <p:nvSpPr>
          <p:cNvPr id="132" name="Text 109"/>
          <p:cNvSpPr txBox="1"/>
          <p:nvPr/>
        </p:nvSpPr>
        <p:spPr>
          <a:xfrm>
            <a:off x="8639251" y="2118665"/>
            <a:ext cx="911657"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triển khai</a:t>
            </a:r>
            <a:endParaRPr lang="en-US" sz="800" dirty="0"/>
          </a:p>
        </p:txBody>
      </p:sp>
      <p:sp>
        <p:nvSpPr>
          <p:cNvPr id="133" name="Shape 110"/>
          <p:cNvSpPr/>
          <p:nvPr/>
        </p:nvSpPr>
        <p:spPr>
          <a:xfrm>
            <a:off x="8343900" y="2428646"/>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34" name="Shape 111"/>
          <p:cNvSpPr/>
          <p:nvPr/>
        </p:nvSpPr>
        <p:spPr>
          <a:xfrm>
            <a:off x="8343900" y="2428646"/>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35" name="Text 112"/>
          <p:cNvSpPr txBox="1"/>
          <p:nvPr/>
        </p:nvSpPr>
        <p:spPr>
          <a:xfrm>
            <a:off x="8496605" y="2553005"/>
            <a:ext cx="1460297"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Theo dõi địa chất</a:t>
            </a:r>
            <a:endParaRPr lang="en-US" sz="900" dirty="0"/>
          </a:p>
        </p:txBody>
      </p:sp>
      <p:sp>
        <p:nvSpPr>
          <p:cNvPr id="136" name="Shape 113"/>
          <p:cNvSpPr/>
          <p:nvPr/>
        </p:nvSpPr>
        <p:spPr>
          <a:xfrm>
            <a:off x="9578340" y="2562149"/>
            <a:ext cx="323698" cy="152705"/>
          </a:xfrm>
          <a:prstGeom prst="roundRect">
            <a:avLst>
              <a:gd name="adj" fmla="val 598802"/>
            </a:avLst>
          </a:prstGeom>
          <a:solidFill>
            <a:srgbClr val="F7A81B">
              <a:alpha val="10000"/>
            </a:srgbClr>
          </a:solidFill>
          <a:ln w="12700">
            <a:solidFill>
              <a:srgbClr val="FFFFFF">
                <a:alpha val="0"/>
              </a:srgbClr>
            </a:solidFill>
            <a:prstDash val="solid"/>
          </a:ln>
        </p:spPr>
        <p:txBody>
          <a:bodyPr/>
          <a:lstStyle/>
          <a:p>
            <a:endParaRPr lang="en-US"/>
          </a:p>
        </p:txBody>
      </p:sp>
      <p:sp>
        <p:nvSpPr>
          <p:cNvPr id="137" name="Text 114"/>
          <p:cNvSpPr/>
          <p:nvPr/>
        </p:nvSpPr>
        <p:spPr>
          <a:xfrm>
            <a:off x="9578340" y="2562149"/>
            <a:ext cx="324612"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138" name="Text 115"/>
          <p:cNvSpPr txBox="1"/>
          <p:nvPr/>
        </p:nvSpPr>
        <p:spPr>
          <a:xfrm>
            <a:off x="8496605" y="2752344"/>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Giám sát lún, biến dạng liên tục</a:t>
            </a:r>
            <a:endParaRPr lang="en-US" sz="900" dirty="0"/>
          </a:p>
        </p:txBody>
      </p:sp>
      <p:pic>
        <p:nvPicPr>
          <p:cNvPr id="139" name="Image 21" descr="preencoded.png"/>
          <p:cNvPicPr>
            <a:picLocks noChangeAspect="1"/>
          </p:cNvPicPr>
          <p:nvPr/>
        </p:nvPicPr>
        <p:blipFill>
          <a:blip r:embed="rId14"/>
          <a:srcRect/>
          <a:stretch/>
        </p:blipFill>
        <p:spPr>
          <a:xfrm>
            <a:off x="8496605" y="2947111"/>
            <a:ext cx="105156" cy="105156"/>
          </a:xfrm>
          <a:prstGeom prst="rect">
            <a:avLst/>
          </a:prstGeom>
        </p:spPr>
      </p:pic>
      <p:sp>
        <p:nvSpPr>
          <p:cNvPr id="140" name="Text 116"/>
          <p:cNvSpPr txBox="1"/>
          <p:nvPr/>
        </p:nvSpPr>
        <p:spPr>
          <a:xfrm>
            <a:off x="8639251" y="2927909"/>
            <a:ext cx="999439"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hoạt động</a:t>
            </a:r>
            <a:endParaRPr lang="en-US" sz="800" dirty="0"/>
          </a:p>
        </p:txBody>
      </p:sp>
      <p:sp>
        <p:nvSpPr>
          <p:cNvPr id="141" name="Shape 117"/>
          <p:cNvSpPr/>
          <p:nvPr/>
        </p:nvSpPr>
        <p:spPr>
          <a:xfrm>
            <a:off x="8343900" y="3238805"/>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42" name="Shape 118"/>
          <p:cNvSpPr/>
          <p:nvPr/>
        </p:nvSpPr>
        <p:spPr>
          <a:xfrm>
            <a:off x="8343900" y="3238805"/>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43" name="Text 119"/>
          <p:cNvSpPr txBox="1"/>
          <p:nvPr/>
        </p:nvSpPr>
        <p:spPr>
          <a:xfrm>
            <a:off x="8496605" y="3362249"/>
            <a:ext cx="1552651"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Quản lý giao thông</a:t>
            </a:r>
            <a:endParaRPr lang="en-US" sz="900" dirty="0"/>
          </a:p>
        </p:txBody>
      </p:sp>
      <p:sp>
        <p:nvSpPr>
          <p:cNvPr id="144" name="Shape 120"/>
          <p:cNvSpPr/>
          <p:nvPr/>
        </p:nvSpPr>
        <p:spPr>
          <a:xfrm>
            <a:off x="9678010" y="3372307"/>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45" name="Text 121"/>
          <p:cNvSpPr/>
          <p:nvPr/>
        </p:nvSpPr>
        <p:spPr>
          <a:xfrm>
            <a:off x="9678010" y="3372307"/>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46" name="Text 122"/>
          <p:cNvSpPr txBox="1"/>
          <p:nvPr/>
        </p:nvSpPr>
        <p:spPr>
          <a:xfrm>
            <a:off x="8496605" y="3562502"/>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Phân luồng xe, kiểm soát tải trọng</a:t>
            </a:r>
            <a:endParaRPr lang="en-US" sz="900" dirty="0"/>
          </a:p>
        </p:txBody>
      </p:sp>
      <p:pic>
        <p:nvPicPr>
          <p:cNvPr id="147" name="Image 22" descr="preencoded.png"/>
          <p:cNvPicPr>
            <a:picLocks noChangeAspect="1"/>
          </p:cNvPicPr>
          <p:nvPr/>
        </p:nvPicPr>
        <p:blipFill>
          <a:blip r:embed="rId14"/>
          <a:srcRect/>
          <a:stretch/>
        </p:blipFill>
        <p:spPr>
          <a:xfrm>
            <a:off x="8496605" y="3756355"/>
            <a:ext cx="105156" cy="105156"/>
          </a:xfrm>
          <a:prstGeom prst="rect">
            <a:avLst/>
          </a:prstGeom>
        </p:spPr>
      </p:pic>
      <p:sp>
        <p:nvSpPr>
          <p:cNvPr id="148" name="Text 123"/>
          <p:cNvSpPr txBox="1"/>
          <p:nvPr/>
        </p:nvSpPr>
        <p:spPr>
          <a:xfrm>
            <a:off x="8639251" y="3738067"/>
            <a:ext cx="1056132"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Đang triển khai</a:t>
            </a:r>
            <a:endParaRPr lang="en-US" sz="800" dirty="0"/>
          </a:p>
        </p:txBody>
      </p:sp>
      <p:sp>
        <p:nvSpPr>
          <p:cNvPr id="149" name="Shape 124"/>
          <p:cNvSpPr/>
          <p:nvPr/>
        </p:nvSpPr>
        <p:spPr>
          <a:xfrm>
            <a:off x="8343900" y="4048049"/>
            <a:ext cx="3276295" cy="714146"/>
          </a:xfrm>
          <a:prstGeom prst="roundRect">
            <a:avLst>
              <a:gd name="adj" fmla="val 27315"/>
            </a:avLst>
          </a:prstGeom>
          <a:solidFill>
            <a:srgbClr val="F8FAFC"/>
          </a:solidFill>
          <a:ln w="12700">
            <a:solidFill>
              <a:srgbClr val="E2E8F0"/>
            </a:solidFill>
            <a:prstDash val="solid"/>
          </a:ln>
        </p:spPr>
        <p:txBody>
          <a:bodyPr/>
          <a:lstStyle/>
          <a:p>
            <a:endParaRPr lang="en-US"/>
          </a:p>
        </p:txBody>
      </p:sp>
      <p:sp>
        <p:nvSpPr>
          <p:cNvPr id="150" name="Shape 125"/>
          <p:cNvSpPr/>
          <p:nvPr/>
        </p:nvSpPr>
        <p:spPr>
          <a:xfrm>
            <a:off x="8343900" y="4048049"/>
            <a:ext cx="38405" cy="714146"/>
          </a:xfrm>
          <a:prstGeom prst="roundRect">
            <a:avLst>
              <a:gd name="adj" fmla="val 507934"/>
            </a:avLst>
          </a:prstGeom>
          <a:solidFill>
            <a:srgbClr val="808080"/>
          </a:solidFill>
          <a:ln w="12700">
            <a:solidFill>
              <a:srgbClr val="808080">
                <a:alpha val="0"/>
              </a:srgbClr>
            </a:solidFill>
            <a:prstDash val="solid"/>
          </a:ln>
        </p:spPr>
        <p:txBody>
          <a:bodyPr/>
          <a:lstStyle/>
          <a:p>
            <a:endParaRPr lang="en-US"/>
          </a:p>
        </p:txBody>
      </p:sp>
      <p:sp>
        <p:nvSpPr>
          <p:cNvPr id="151" name="Text 126"/>
          <p:cNvSpPr txBox="1"/>
          <p:nvPr/>
        </p:nvSpPr>
        <p:spPr>
          <a:xfrm>
            <a:off x="8496605" y="4172407"/>
            <a:ext cx="1381658"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An toàn lao động</a:t>
            </a:r>
            <a:endParaRPr lang="en-US" sz="900" dirty="0"/>
          </a:p>
        </p:txBody>
      </p:sp>
      <p:sp>
        <p:nvSpPr>
          <p:cNvPr id="152" name="Shape 127"/>
          <p:cNvSpPr/>
          <p:nvPr/>
        </p:nvSpPr>
        <p:spPr>
          <a:xfrm>
            <a:off x="9568282" y="4181551"/>
            <a:ext cx="237744" cy="152705"/>
          </a:xfrm>
          <a:prstGeom prst="roundRect">
            <a:avLst>
              <a:gd name="adj" fmla="val 598802"/>
            </a:avLst>
          </a:prstGeom>
          <a:solidFill>
            <a:srgbClr val="808080">
              <a:alpha val="10000"/>
            </a:srgbClr>
          </a:solidFill>
          <a:ln w="12700">
            <a:solidFill>
              <a:srgbClr val="FFFFFF">
                <a:alpha val="0"/>
              </a:srgbClr>
            </a:solidFill>
            <a:prstDash val="solid"/>
          </a:ln>
        </p:spPr>
        <p:txBody>
          <a:bodyPr/>
          <a:lstStyle/>
          <a:p>
            <a:endParaRPr lang="en-US"/>
          </a:p>
        </p:txBody>
      </p:sp>
      <p:sp>
        <p:nvSpPr>
          <p:cNvPr id="153" name="Text 128"/>
          <p:cNvSpPr/>
          <p:nvPr/>
        </p:nvSpPr>
        <p:spPr>
          <a:xfrm>
            <a:off x="9568282" y="4181551"/>
            <a:ext cx="238658" cy="152705"/>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TB</a:t>
            </a:r>
            <a:endParaRPr lang="en-US" sz="800" dirty="0"/>
          </a:p>
        </p:txBody>
      </p:sp>
      <p:sp>
        <p:nvSpPr>
          <p:cNvPr id="154" name="Text 129"/>
          <p:cNvSpPr txBox="1"/>
          <p:nvPr/>
        </p:nvSpPr>
        <p:spPr>
          <a:xfrm>
            <a:off x="8496605" y="4371746"/>
            <a:ext cx="3001061" cy="143561"/>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Đào tạo HSE, trang bị PPE</a:t>
            </a:r>
            <a:endParaRPr lang="en-US" sz="900" dirty="0"/>
          </a:p>
        </p:txBody>
      </p:sp>
      <p:pic>
        <p:nvPicPr>
          <p:cNvPr id="155" name="Image 23" descr="preencoded.png"/>
          <p:cNvPicPr>
            <a:picLocks noChangeAspect="1"/>
          </p:cNvPicPr>
          <p:nvPr/>
        </p:nvPicPr>
        <p:blipFill>
          <a:blip r:embed="rId14"/>
          <a:srcRect/>
          <a:stretch/>
        </p:blipFill>
        <p:spPr>
          <a:xfrm>
            <a:off x="8496605" y="4566514"/>
            <a:ext cx="105156" cy="105156"/>
          </a:xfrm>
          <a:prstGeom prst="rect">
            <a:avLst/>
          </a:prstGeom>
        </p:spPr>
      </p:pic>
      <p:sp>
        <p:nvSpPr>
          <p:cNvPr id="156" name="Text 130"/>
          <p:cNvSpPr txBox="1"/>
          <p:nvPr/>
        </p:nvSpPr>
        <p:spPr>
          <a:xfrm>
            <a:off x="8639251" y="4547311"/>
            <a:ext cx="928116" cy="143561"/>
          </a:xfrm>
          <a:prstGeom prst="rect">
            <a:avLst/>
          </a:prstGeom>
          <a:noFill/>
          <a:ln/>
        </p:spPr>
        <p:txBody>
          <a:bodyPr wrap="square" lIns="0" tIns="0" rIns="0" bIns="0" rtlCol="0" anchor="ctr"/>
          <a:lstStyle/>
          <a:p>
            <a:pPr marL="0" indent="0" algn="l">
              <a:buNone/>
            </a:pPr>
            <a:r>
              <a:rPr lang="en-US" sz="800" dirty="0">
                <a:solidFill>
                  <a:srgbClr val="808080"/>
                </a:solidFill>
                <a:latin typeface="Open Sans" pitchFamily="34" charset="0"/>
                <a:ea typeface="Open Sans" pitchFamily="34" charset="-122"/>
                <a:cs typeface="Open Sans" pitchFamily="34" charset="-120"/>
              </a:rPr>
              <a:t>Đã hoàn thành</a:t>
            </a:r>
            <a:endParaRPr lang="en-US" sz="800" dirty="0"/>
          </a:p>
        </p:txBody>
      </p:sp>
      <p:sp>
        <p:nvSpPr>
          <p:cNvPr id="157" name="Shape 131"/>
          <p:cNvSpPr/>
          <p:nvPr/>
        </p:nvSpPr>
        <p:spPr>
          <a:xfrm>
            <a:off x="8343900" y="4953305"/>
            <a:ext cx="3276295" cy="1143000"/>
          </a:xfrm>
          <a:prstGeom prst="roundRect">
            <a:avLst>
              <a:gd name="adj" fmla="val 10667"/>
            </a:avLst>
          </a:prstGeom>
          <a:solidFill>
            <a:srgbClr val="F7A81B">
              <a:alpha val="10000"/>
            </a:srgbClr>
          </a:solidFill>
          <a:ln w="12700">
            <a:solidFill>
              <a:srgbClr val="F7A81B">
                <a:alpha val="30000"/>
              </a:srgbClr>
            </a:solidFill>
            <a:prstDash val="solid"/>
          </a:ln>
        </p:spPr>
        <p:txBody>
          <a:bodyPr/>
          <a:lstStyle/>
          <a:p>
            <a:endParaRPr lang="en-US"/>
          </a:p>
        </p:txBody>
      </p:sp>
      <p:pic>
        <p:nvPicPr>
          <p:cNvPr id="158" name="Image 24" descr="preencoded.png"/>
          <p:cNvPicPr>
            <a:picLocks noChangeAspect="1"/>
          </p:cNvPicPr>
          <p:nvPr/>
        </p:nvPicPr>
        <p:blipFill>
          <a:blip r:embed="rId15"/>
          <a:srcRect/>
          <a:stretch/>
        </p:blipFill>
        <p:spPr>
          <a:xfrm>
            <a:off x="8467344" y="5100523"/>
            <a:ext cx="123444" cy="123444"/>
          </a:xfrm>
          <a:prstGeom prst="rect">
            <a:avLst/>
          </a:prstGeom>
        </p:spPr>
      </p:pic>
      <p:sp>
        <p:nvSpPr>
          <p:cNvPr id="159" name="Text 132"/>
          <p:cNvSpPr txBox="1"/>
          <p:nvPr/>
        </p:nvSpPr>
        <p:spPr>
          <a:xfrm>
            <a:off x="8648395" y="5076749"/>
            <a:ext cx="1383487"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Lưu ý quan trọng</a:t>
            </a:r>
            <a:endParaRPr lang="en-US" sz="900" dirty="0"/>
          </a:p>
        </p:txBody>
      </p:sp>
      <p:sp>
        <p:nvSpPr>
          <p:cNvPr id="160" name="Text 133"/>
          <p:cNvSpPr txBox="1"/>
          <p:nvPr/>
        </p:nvSpPr>
        <p:spPr>
          <a:xfrm>
            <a:off x="8467344" y="5305349"/>
            <a:ext cx="3029407" cy="324612"/>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Cần hoàn thành các công việc trước 25/5/2026 để đảm bảo khởi công đúng tiến độ</a:t>
            </a:r>
            <a:endParaRPr lang="en-US" sz="900" dirty="0"/>
          </a:p>
        </p:txBody>
      </p:sp>
      <p:pic>
        <p:nvPicPr>
          <p:cNvPr id="161" name="Image 25" descr="preencoded.png"/>
          <p:cNvPicPr>
            <a:picLocks noChangeAspect="1"/>
          </p:cNvPicPr>
          <p:nvPr/>
        </p:nvPicPr>
        <p:blipFill>
          <a:blip r:embed="rId16"/>
          <a:srcRect l="-1358" r="-1358"/>
          <a:stretch/>
        </p:blipFill>
        <p:spPr>
          <a:xfrm>
            <a:off x="381305" y="6491326"/>
            <a:ext cx="95098" cy="123444"/>
          </a:xfrm>
          <a:prstGeom prst="rect">
            <a:avLst/>
          </a:prstGeom>
        </p:spPr>
      </p:pic>
      <p:sp>
        <p:nvSpPr>
          <p:cNvPr id="162" name="Text 134"/>
          <p:cNvSpPr txBox="1"/>
          <p:nvPr/>
        </p:nvSpPr>
        <p:spPr>
          <a:xfrm>
            <a:off x="552298" y="6439205"/>
            <a:ext cx="2000707" cy="228600"/>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163" name="Text 135"/>
          <p:cNvSpPr txBox="1"/>
          <p:nvPr/>
        </p:nvSpPr>
        <p:spPr>
          <a:xfrm>
            <a:off x="9977933" y="6467551"/>
            <a:ext cx="837590" cy="171907"/>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Trang 4/12</a:t>
            </a:r>
            <a:endParaRPr lang="en-US" sz="900" dirty="0"/>
          </a:p>
        </p:txBody>
      </p:sp>
      <p:pic>
        <p:nvPicPr>
          <p:cNvPr id="164" name="Image 26" descr="preencoded.png"/>
          <p:cNvPicPr>
            <a:picLocks noChangeAspect="1"/>
          </p:cNvPicPr>
          <p:nvPr/>
        </p:nvPicPr>
        <p:blipFill>
          <a:blip r:embed="rId17"/>
          <a:srcRect/>
          <a:stretch/>
        </p:blipFill>
        <p:spPr>
          <a:xfrm>
            <a:off x="10741457" y="6505956"/>
            <a:ext cx="95098" cy="95098"/>
          </a:xfrm>
          <a:prstGeom prst="rect">
            <a:avLst/>
          </a:prstGeom>
        </p:spPr>
      </p:pic>
      <p:sp>
        <p:nvSpPr>
          <p:cNvPr id="165" name="Text 136"/>
          <p:cNvSpPr txBox="1"/>
          <p:nvPr/>
        </p:nvSpPr>
        <p:spPr>
          <a:xfrm>
            <a:off x="10894162" y="6467551"/>
            <a:ext cx="1290218"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Đang triển khai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24689" y="0"/>
            <a:ext cx="12191695" cy="6858000"/>
          </a:xfrm>
          <a:prstGeom prst="rect">
            <a:avLst/>
          </a:prstGeom>
          <a:solidFill>
            <a:srgbClr val="FFFFFF"/>
          </a:solidFill>
          <a:ln w="12700">
            <a:solidFill>
              <a:srgbClr val="FFFFFF">
                <a:alpha val="0"/>
              </a:srgbClr>
            </a:solidFill>
            <a:prstDash val="solid"/>
          </a:ln>
        </p:spPr>
        <p:txBody>
          <a:bodyPr/>
          <a:lstStyle/>
          <a:p>
            <a:endParaRPr lang="en-US" dirty="0"/>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5591556" cy="3066898"/>
          </a:xfrm>
          <a:prstGeom prst="roundRect">
            <a:avLst>
              <a:gd name="adj" fmla="val 2222"/>
            </a:avLst>
          </a:prstGeom>
          <a:solidFill>
            <a:srgbClr val="F8F9FA"/>
          </a:solidFill>
          <a:ln w="12700">
            <a:solidFill>
              <a:srgbClr val="E2E8F0"/>
            </a:solidFill>
            <a:prstDash val="solid"/>
          </a:ln>
        </p:spPr>
        <p:txBody>
          <a:bodyPr/>
          <a:lstStyle/>
          <a:p>
            <a:endParaRPr lang="en-US"/>
          </a:p>
        </p:txBody>
      </p:sp>
      <p:sp>
        <p:nvSpPr>
          <p:cNvPr id="7" name="Shape 5"/>
          <p:cNvSpPr/>
          <p:nvPr/>
        </p:nvSpPr>
        <p:spPr>
          <a:xfrm>
            <a:off x="381305" y="4238244"/>
            <a:ext cx="5591556" cy="2066544"/>
          </a:xfrm>
          <a:prstGeom prst="roundRect">
            <a:avLst>
              <a:gd name="adj" fmla="val 4894"/>
            </a:avLst>
          </a:prstGeom>
          <a:solidFill>
            <a:srgbClr val="F8F9FA"/>
          </a:solidFill>
          <a:ln w="12700">
            <a:solidFill>
              <a:srgbClr val="E2E8F0"/>
            </a:solidFill>
            <a:prstDash val="solid"/>
          </a:ln>
        </p:spPr>
        <p:txBody>
          <a:bodyPr/>
          <a:lstStyle/>
          <a:p>
            <a:endParaRPr lang="en-US"/>
          </a:p>
        </p:txBody>
      </p:sp>
      <p:sp>
        <p:nvSpPr>
          <p:cNvPr id="8" name="Shape 6"/>
          <p:cNvSpPr/>
          <p:nvPr/>
        </p:nvSpPr>
        <p:spPr>
          <a:xfrm>
            <a:off x="6238951" y="952805"/>
            <a:ext cx="5591556" cy="3353105"/>
          </a:xfrm>
          <a:prstGeom prst="roundRect">
            <a:avLst>
              <a:gd name="adj" fmla="val 1859"/>
            </a:avLst>
          </a:prstGeom>
          <a:solidFill>
            <a:srgbClr val="F8F9FA"/>
          </a:solidFill>
          <a:ln w="12700">
            <a:solidFill>
              <a:srgbClr val="E2E8F0"/>
            </a:solidFill>
            <a:prstDash val="solid"/>
          </a:ln>
        </p:spPr>
        <p:txBody>
          <a:bodyPr/>
          <a:lstStyle/>
          <a:p>
            <a:endParaRPr lang="en-US"/>
          </a:p>
        </p:txBody>
      </p:sp>
      <p:sp>
        <p:nvSpPr>
          <p:cNvPr id="10" name="Shape 8"/>
          <p:cNvSpPr/>
          <p:nvPr/>
        </p:nvSpPr>
        <p:spPr>
          <a:xfrm>
            <a:off x="571500"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38805" y="1476756"/>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571500"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3" name="Shape 11"/>
          <p:cNvSpPr/>
          <p:nvPr/>
        </p:nvSpPr>
        <p:spPr>
          <a:xfrm>
            <a:off x="3238805" y="2495398"/>
            <a:ext cx="2542946" cy="923544"/>
          </a:xfrm>
          <a:prstGeom prst="roundRect">
            <a:avLst>
              <a:gd name="adj" fmla="val 16332"/>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71500" y="3524098"/>
            <a:ext cx="5229454" cy="381305"/>
          </a:xfrm>
          <a:prstGeom prst="roundRect">
            <a:avLst>
              <a:gd name="adj" fmla="val 47962"/>
            </a:avLst>
          </a:prstGeom>
          <a:solidFill>
            <a:srgbClr val="F7A81B">
              <a:alpha val="10000"/>
            </a:srgbClr>
          </a:solidFill>
          <a:ln/>
        </p:spPr>
        <p:txBody>
          <a:bodyPr/>
          <a:lstStyle/>
          <a:p>
            <a:endParaRPr lang="en-US"/>
          </a:p>
        </p:txBody>
      </p:sp>
      <p:sp>
        <p:nvSpPr>
          <p:cNvPr id="15" name="Shape 13"/>
          <p:cNvSpPr/>
          <p:nvPr/>
        </p:nvSpPr>
        <p:spPr>
          <a:xfrm>
            <a:off x="571500" y="3524098"/>
            <a:ext cx="38405" cy="381305"/>
          </a:xfrm>
          <a:prstGeom prst="roundRect">
            <a:avLst>
              <a:gd name="adj" fmla="val 476188"/>
            </a:avLst>
          </a:prstGeom>
          <a:solidFill>
            <a:srgbClr val="F7A81B"/>
          </a:solidFill>
          <a:ln w="12700">
            <a:solidFill>
              <a:srgbClr val="F7A81B">
                <a:alpha val="0"/>
              </a:srgbClr>
            </a:solidFill>
            <a:prstDash val="solid"/>
          </a:ln>
        </p:spPr>
        <p:txBody>
          <a:bodyPr/>
          <a:lstStyle/>
          <a:p>
            <a:endParaRPr lang="en-US"/>
          </a:p>
        </p:txBody>
      </p:sp>
      <p:sp>
        <p:nvSpPr>
          <p:cNvPr id="16" name="Shape 14"/>
          <p:cNvSpPr/>
          <p:nvPr/>
        </p:nvSpPr>
        <p:spPr>
          <a:xfrm>
            <a:off x="6429146"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dirty="0"/>
          </a:p>
        </p:txBody>
      </p:sp>
      <p:sp>
        <p:nvSpPr>
          <p:cNvPr id="17" name="Shape 15"/>
          <p:cNvSpPr/>
          <p:nvPr/>
        </p:nvSpPr>
        <p:spPr>
          <a:xfrm>
            <a:off x="8191195"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sp>
        <p:nvSpPr>
          <p:cNvPr id="18" name="Shape 16"/>
          <p:cNvSpPr/>
          <p:nvPr/>
        </p:nvSpPr>
        <p:spPr>
          <a:xfrm>
            <a:off x="9953244" y="5095951"/>
            <a:ext cx="1686154" cy="780898"/>
          </a:xfrm>
          <a:prstGeom prst="roundRect">
            <a:avLst>
              <a:gd name="adj" fmla="val 22848"/>
            </a:avLst>
          </a:prstGeom>
          <a:solidFill>
            <a:srgbClr val="FFFFFF"/>
          </a:solidFill>
          <a:ln w="12700">
            <a:solidFill>
              <a:srgbClr val="E2E8F0"/>
            </a:solidFill>
            <a:prstDash val="solid"/>
          </a:ln>
        </p:spPr>
        <p:txBody>
          <a:bodyPr/>
          <a:lstStyle/>
          <a:p>
            <a:endParaRPr lang="en-US"/>
          </a:p>
        </p:txBody>
      </p:sp>
      <p:pic>
        <p:nvPicPr>
          <p:cNvPr id="19" name="Image 0" descr="preencoded.png"/>
          <p:cNvPicPr>
            <a:picLocks noChangeAspect="1"/>
          </p:cNvPicPr>
          <p:nvPr/>
        </p:nvPicPr>
        <p:blipFill>
          <a:blip r:embed="rId3"/>
          <a:srcRect l="-200" r="-200"/>
          <a:stretch/>
        </p:blipFill>
        <p:spPr>
          <a:xfrm>
            <a:off x="6429146" y="6001207"/>
            <a:ext cx="5191049" cy="75895"/>
          </a:xfrm>
          <a:prstGeom prst="rect">
            <a:avLst/>
          </a:prstGeom>
        </p:spPr>
      </p:pic>
      <p:sp>
        <p:nvSpPr>
          <p:cNvPr id="21" name="Shape 17"/>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2" name="Image 2" descr="preencoded.png"/>
          <p:cNvPicPr>
            <a:picLocks noChangeAspect="1"/>
          </p:cNvPicPr>
          <p:nvPr/>
        </p:nvPicPr>
        <p:blipFill>
          <a:blip r:embed="rId4"/>
          <a:srcRect/>
          <a:stretch/>
        </p:blipFill>
        <p:spPr>
          <a:xfrm>
            <a:off x="476402" y="237744"/>
            <a:ext cx="190195" cy="190195"/>
          </a:xfrm>
          <a:prstGeom prst="rect">
            <a:avLst/>
          </a:prstGeom>
        </p:spPr>
      </p:pic>
      <p:sp>
        <p:nvSpPr>
          <p:cNvPr id="23" name="Text 18"/>
          <p:cNvSpPr txBox="1"/>
          <p:nvPr/>
        </p:nvSpPr>
        <p:spPr>
          <a:xfrm>
            <a:off x="905256" y="190195"/>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DASHBOARD TÀI CHÍNH - NOXH YÊN SỞ</a:t>
            </a:r>
            <a:endParaRPr lang="en-US" sz="1800" dirty="0"/>
          </a:p>
        </p:txBody>
      </p:sp>
      <p:sp>
        <p:nvSpPr>
          <p:cNvPr id="24" name="Text 19"/>
          <p:cNvSpPr txBox="1"/>
          <p:nvPr/>
        </p:nvSpPr>
        <p:spPr>
          <a:xfrm>
            <a:off x="10735970" y="237744"/>
            <a:ext cx="1431036" cy="181051"/>
          </a:xfrm>
          <a:prstGeom prst="rect">
            <a:avLst/>
          </a:prstGeom>
          <a:noFill/>
          <a:ln/>
        </p:spPr>
        <p:txBody>
          <a:bodyPr wrap="square" lIns="0" tIns="0" rIns="0" bIns="0" rtlCol="0" anchor="ctr"/>
          <a:lstStyle/>
          <a:p>
            <a:pPr marL="0" indent="0" algn="l">
              <a:buNone/>
            </a:pPr>
            <a:r>
              <a:rPr lang="en-US" sz="1000" b="1" dirty="0" err="1">
                <a:solidFill>
                  <a:srgbClr val="808080"/>
                </a:solidFill>
                <a:latin typeface="Open Sans" pitchFamily="34" charset="0"/>
                <a:ea typeface="Open Sans" pitchFamily="34" charset="-122"/>
                <a:cs typeface="Open Sans" pitchFamily="34" charset="-120"/>
              </a:rPr>
              <a:t>Ngày</a:t>
            </a:r>
            <a:r>
              <a:rPr lang="en-US" sz="1000" b="1"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5" name="Image 3" descr="preencoded.png"/>
          <p:cNvPicPr>
            <a:picLocks noChangeAspect="1"/>
          </p:cNvPicPr>
          <p:nvPr/>
        </p:nvPicPr>
        <p:blipFill>
          <a:blip r:embed="rId5"/>
          <a:srcRect t="-1100" b="-1100"/>
          <a:stretch/>
        </p:blipFill>
        <p:spPr>
          <a:xfrm>
            <a:off x="10544861" y="264262"/>
            <a:ext cx="114300" cy="133502"/>
          </a:xfrm>
          <a:prstGeom prst="rect">
            <a:avLst/>
          </a:prstGeom>
        </p:spPr>
      </p:pic>
      <p:sp>
        <p:nvSpPr>
          <p:cNvPr id="26" name="Text 20"/>
          <p:cNvSpPr txBox="1"/>
          <p:nvPr/>
        </p:nvSpPr>
        <p:spPr>
          <a:xfrm>
            <a:off x="838505" y="1123798"/>
            <a:ext cx="4924958"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Chỉ số tài chính chính</a:t>
            </a:r>
            <a:endParaRPr lang="en-US" sz="1200" dirty="0"/>
          </a:p>
        </p:txBody>
      </p:sp>
      <p:pic>
        <p:nvPicPr>
          <p:cNvPr id="27" name="Image 4" descr="preencoded.png"/>
          <p:cNvPicPr>
            <a:picLocks noChangeAspect="1"/>
          </p:cNvPicPr>
          <p:nvPr/>
        </p:nvPicPr>
        <p:blipFill>
          <a:blip r:embed="rId6"/>
          <a:srcRect l="-33" r="-33"/>
          <a:stretch/>
        </p:blipFill>
        <p:spPr>
          <a:xfrm>
            <a:off x="571500" y="1133856"/>
            <a:ext cx="171907" cy="152705"/>
          </a:xfrm>
          <a:prstGeom prst="rect">
            <a:avLst/>
          </a:prstGeom>
        </p:spPr>
      </p:pic>
      <p:sp>
        <p:nvSpPr>
          <p:cNvPr id="28" name="Text 21"/>
          <p:cNvSpPr txBox="1"/>
          <p:nvPr/>
        </p:nvSpPr>
        <p:spPr>
          <a:xfrm>
            <a:off x="571500"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1448</a:t>
            </a:r>
            <a:endParaRPr lang="en-US" sz="1900" dirty="0"/>
          </a:p>
        </p:txBody>
      </p:sp>
      <p:sp>
        <p:nvSpPr>
          <p:cNvPr id="29" name="Text 22"/>
          <p:cNvSpPr txBox="1"/>
          <p:nvPr/>
        </p:nvSpPr>
        <p:spPr>
          <a:xfrm>
            <a:off x="571500"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Tổng chi phí (tỷ)</a:t>
            </a:r>
            <a:endParaRPr lang="en-US" sz="900" dirty="0"/>
          </a:p>
        </p:txBody>
      </p:sp>
      <p:sp>
        <p:nvSpPr>
          <p:cNvPr id="30" name="Text 23"/>
          <p:cNvSpPr txBox="1"/>
          <p:nvPr/>
        </p:nvSpPr>
        <p:spPr>
          <a:xfrm>
            <a:off x="3238805" y="1571854"/>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1565</a:t>
            </a:r>
            <a:endParaRPr lang="en-US" sz="1900" dirty="0"/>
          </a:p>
        </p:txBody>
      </p:sp>
      <p:sp>
        <p:nvSpPr>
          <p:cNvPr id="31" name="Text 24"/>
          <p:cNvSpPr txBox="1"/>
          <p:nvPr/>
        </p:nvSpPr>
        <p:spPr>
          <a:xfrm>
            <a:off x="3238805" y="1906524"/>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Doanh thu (tỷ)</a:t>
            </a:r>
            <a:endParaRPr lang="en-US" sz="900" dirty="0"/>
          </a:p>
        </p:txBody>
      </p:sp>
      <p:sp>
        <p:nvSpPr>
          <p:cNvPr id="32" name="Text 25"/>
          <p:cNvSpPr txBox="1"/>
          <p:nvPr/>
        </p:nvSpPr>
        <p:spPr>
          <a:xfrm>
            <a:off x="571500"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117</a:t>
            </a:r>
            <a:endParaRPr lang="en-US" sz="1900" dirty="0"/>
          </a:p>
        </p:txBody>
      </p:sp>
      <p:sp>
        <p:nvSpPr>
          <p:cNvPr id="33" name="Text 26"/>
          <p:cNvSpPr txBox="1"/>
          <p:nvPr/>
        </p:nvSpPr>
        <p:spPr>
          <a:xfrm>
            <a:off x="571500"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Lợi nhuận (tỷ)</a:t>
            </a:r>
            <a:endParaRPr lang="en-US" sz="900" dirty="0"/>
          </a:p>
        </p:txBody>
      </p:sp>
      <p:sp>
        <p:nvSpPr>
          <p:cNvPr id="34" name="Text 27"/>
          <p:cNvSpPr txBox="1"/>
          <p:nvPr/>
        </p:nvSpPr>
        <p:spPr>
          <a:xfrm>
            <a:off x="3238805" y="2590495"/>
            <a:ext cx="2524658" cy="30541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7.5%</a:t>
            </a:r>
            <a:endParaRPr lang="en-US" sz="1900" dirty="0"/>
          </a:p>
        </p:txBody>
      </p:sp>
      <p:sp>
        <p:nvSpPr>
          <p:cNvPr id="35" name="Text 28"/>
          <p:cNvSpPr txBox="1"/>
          <p:nvPr/>
        </p:nvSpPr>
        <p:spPr>
          <a:xfrm>
            <a:off x="3238805" y="2926080"/>
            <a:ext cx="2524658"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Tỷ suất LN</a:t>
            </a:r>
            <a:endParaRPr lang="en-US" sz="900" dirty="0"/>
          </a:p>
        </p:txBody>
      </p:sp>
      <p:sp>
        <p:nvSpPr>
          <p:cNvPr id="36" name="Text 29"/>
          <p:cNvSpPr txBox="1"/>
          <p:nvPr/>
        </p:nvSpPr>
        <p:spPr>
          <a:xfrm>
            <a:off x="870509" y="3554273"/>
            <a:ext cx="4796942" cy="324612"/>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 Phân tích tài chính:</a:t>
            </a:r>
            <a:r>
              <a:rPr lang="en-US" sz="900" dirty="0">
                <a:solidFill>
                  <a:srgbClr val="808080"/>
                </a:solidFill>
                <a:latin typeface="Open Sans" pitchFamily="34" charset="0"/>
                <a:ea typeface="Open Sans" pitchFamily="34" charset="-122"/>
                <a:cs typeface="Open Sans" pitchFamily="34" charset="-120"/>
              </a:rPr>
              <a:t> Dự án có tỷ suất lợi </a:t>
            </a:r>
            <a:r>
              <a:rPr lang="en-US" sz="900" dirty="0" err="1">
                <a:solidFill>
                  <a:srgbClr val="808080"/>
                </a:solidFill>
                <a:latin typeface="Open Sans" pitchFamily="34" charset="0"/>
                <a:ea typeface="Open Sans" pitchFamily="34" charset="-122"/>
                <a:cs typeface="Open Sans" pitchFamily="34" charset="-120"/>
              </a:rPr>
              <a:t>nhuận</a:t>
            </a:r>
            <a:r>
              <a:rPr lang="en-US" sz="900" dirty="0">
                <a:solidFill>
                  <a:srgbClr val="808080"/>
                </a:solidFill>
                <a:latin typeface="Open Sans" pitchFamily="34" charset="0"/>
                <a:ea typeface="Open Sans" pitchFamily="34" charset="-122"/>
                <a:cs typeface="Open Sans" pitchFamily="34" charset="-120"/>
              </a:rPr>
              <a:t> 7.5%</a:t>
            </a:r>
            <a:endParaRPr lang="en-US" sz="900" dirty="0"/>
          </a:p>
        </p:txBody>
      </p:sp>
      <p:pic>
        <p:nvPicPr>
          <p:cNvPr id="37" name="Image 5" descr="preencoded.png"/>
          <p:cNvPicPr>
            <a:picLocks noChangeAspect="1"/>
          </p:cNvPicPr>
          <p:nvPr/>
        </p:nvPicPr>
        <p:blipFill>
          <a:blip r:embed="rId7"/>
          <a:srcRect/>
          <a:stretch/>
        </p:blipFill>
        <p:spPr>
          <a:xfrm>
            <a:off x="714146" y="3568903"/>
            <a:ext cx="123444" cy="123444"/>
          </a:xfrm>
          <a:prstGeom prst="rect">
            <a:avLst/>
          </a:prstGeom>
        </p:spPr>
      </p:pic>
      <p:sp>
        <p:nvSpPr>
          <p:cNvPr id="38" name="Text 30"/>
          <p:cNvSpPr txBox="1"/>
          <p:nvPr/>
        </p:nvSpPr>
        <p:spPr>
          <a:xfrm>
            <a:off x="819302" y="4429354"/>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Phân bổ chi phí theo hạng mục</a:t>
            </a:r>
            <a:endParaRPr lang="en-US" sz="1200" dirty="0"/>
          </a:p>
        </p:txBody>
      </p:sp>
      <p:pic>
        <p:nvPicPr>
          <p:cNvPr id="39" name="Image 6" descr="preencoded.png"/>
          <p:cNvPicPr>
            <a:picLocks noChangeAspect="1"/>
          </p:cNvPicPr>
          <p:nvPr/>
        </p:nvPicPr>
        <p:blipFill>
          <a:blip r:embed="rId8"/>
          <a:srcRect/>
          <a:stretch/>
        </p:blipFill>
        <p:spPr>
          <a:xfrm>
            <a:off x="571500" y="4438498"/>
            <a:ext cx="152705" cy="152705"/>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2217200731"/>
              </p:ext>
            </p:extLst>
          </p:nvPr>
        </p:nvGraphicFramePr>
        <p:xfrm>
          <a:off x="571500" y="4809744"/>
          <a:ext cx="5191048" cy="1267360"/>
        </p:xfrm>
        <a:graphic>
          <a:graphicData uri="http://schemas.openxmlformats.org/drawingml/2006/table">
            <a:tbl>
              <a:tblPr/>
              <a:tblGrid>
                <a:gridCol w="2299716">
                  <a:extLst>
                    <a:ext uri="{9D8B030D-6E8A-4147-A177-3AD203B41FA5}">
                      <a16:colId xmlns:a16="http://schemas.microsoft.com/office/drawing/2014/main" val="20000"/>
                    </a:ext>
                  </a:extLst>
                </a:gridCol>
                <a:gridCol w="1582826">
                  <a:extLst>
                    <a:ext uri="{9D8B030D-6E8A-4147-A177-3AD203B41FA5}">
                      <a16:colId xmlns:a16="http://schemas.microsoft.com/office/drawing/2014/main" val="20001"/>
                    </a:ext>
                  </a:extLst>
                </a:gridCol>
                <a:gridCol w="1308506">
                  <a:extLst>
                    <a:ext uri="{9D8B030D-6E8A-4147-A177-3AD203B41FA5}">
                      <a16:colId xmlns:a16="http://schemas.microsoft.com/office/drawing/2014/main" val="20002"/>
                    </a:ext>
                  </a:extLst>
                </a:gridCol>
              </a:tblGrid>
              <a:tr h="316840">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Hạng mục</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Chi phí (tỷ)</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Tỷ trọng</a:t>
                      </a:r>
                      <a:endParaRPr lang="en-US" sz="975" dirty="0">
                        <a:latin typeface="Open Sans" charset="0"/>
                        <a:ea typeface="Open Sans" charset="0"/>
                        <a:cs typeface="Open Sans" charset="0"/>
                      </a:endParaRPr>
                    </a:p>
                  </a:txBody>
                  <a:tcPr marL="114300" marR="114300"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E2E8F0"/>
                    </a:solidFill>
                  </a:tcPr>
                </a:tc>
                <a:extLst>
                  <a:ext uri="{0D108BD9-81ED-4DB2-BD59-A6C34878D82A}">
                    <a16:rowId xmlns:a16="http://schemas.microsoft.com/office/drawing/2014/main" val="10000"/>
                  </a:ext>
                </a:extLst>
              </a:tr>
              <a:tr h="316840">
                <a:tc>
                  <a:txBody>
                    <a:bodyPr/>
                    <a:lstStyle/>
                    <a:p>
                      <a:pPr marL="0" indent="0">
                        <a:buNone/>
                      </a:pPr>
                      <a:r>
                        <a:rPr lang="en-US" sz="975" b="1" dirty="0">
                          <a:solidFill>
                            <a:srgbClr val="808080"/>
                          </a:solidFill>
                          <a:latin typeface="Open Sans" pitchFamily="34" charset="0"/>
                          <a:ea typeface="Open Sans" pitchFamily="34" charset="-122"/>
                          <a:cs typeface="Open Sans" pitchFamily="34" charset="-120"/>
                        </a:rPr>
                        <a:t>Phần ngầm</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808080"/>
                          </a:solidFill>
                          <a:latin typeface="Open Sans" pitchFamily="34" charset="0"/>
                          <a:ea typeface="Open Sans" pitchFamily="34" charset="-122"/>
                          <a:cs typeface="Open Sans" pitchFamily="34" charset="-120"/>
                        </a:rPr>
                        <a:t>308</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21%</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Phần thân</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314</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22%</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6840">
                <a:tc>
                  <a:txBody>
                    <a:bodyPr/>
                    <a:lstStyle/>
                    <a:p>
                      <a:pPr marL="0" indent="0">
                        <a:buNone/>
                      </a:pPr>
                      <a:r>
                        <a:rPr lang="en-US" sz="975" dirty="0">
                          <a:solidFill>
                            <a:srgbClr val="808080"/>
                          </a:solidFill>
                          <a:latin typeface="Open Sans" pitchFamily="34" charset="0"/>
                          <a:ea typeface="Open Sans" pitchFamily="34" charset="-122"/>
                          <a:cs typeface="Open Sans" pitchFamily="34" charset="-120"/>
                        </a:rPr>
                        <a:t>Hoàn thiện &amp; </a:t>
                      </a:r>
                      <a:r>
                        <a:rPr lang="en-US" sz="975" dirty="0" err="1">
                          <a:solidFill>
                            <a:srgbClr val="808080"/>
                          </a:solidFill>
                          <a:latin typeface="Open Sans" pitchFamily="34" charset="0"/>
                          <a:ea typeface="Open Sans" pitchFamily="34" charset="-122"/>
                          <a:cs typeface="Open Sans" pitchFamily="34" charset="-120"/>
                        </a:rPr>
                        <a:t>Cơ</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điện</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thiết</a:t>
                      </a:r>
                      <a:r>
                        <a:rPr lang="en-US" sz="975" dirty="0">
                          <a:solidFill>
                            <a:srgbClr val="808080"/>
                          </a:solidFill>
                          <a:latin typeface="Open Sans" pitchFamily="34" charset="0"/>
                          <a:ea typeface="Open Sans" pitchFamily="34" charset="-122"/>
                          <a:cs typeface="Open Sans" pitchFamily="34" charset="-120"/>
                        </a:rPr>
                        <a:t> </a:t>
                      </a:r>
                      <a:r>
                        <a:rPr lang="en-US" sz="975" dirty="0" err="1">
                          <a:solidFill>
                            <a:srgbClr val="808080"/>
                          </a:solidFill>
                          <a:latin typeface="Open Sans" pitchFamily="34" charset="0"/>
                          <a:ea typeface="Open Sans" pitchFamily="34" charset="-122"/>
                          <a:cs typeface="Open Sans" pitchFamily="34" charset="-120"/>
                        </a:rPr>
                        <a:t>bị</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dirty="0">
                          <a:solidFill>
                            <a:srgbClr val="808080"/>
                          </a:solidFill>
                          <a:latin typeface="Open Sans" pitchFamily="34" charset="0"/>
                          <a:ea typeface="Open Sans" pitchFamily="34" charset="-122"/>
                          <a:cs typeface="Open Sans" pitchFamily="34" charset="-120"/>
                        </a:rPr>
                        <a:t>826</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r">
                        <a:buNone/>
                      </a:pPr>
                      <a:r>
                        <a:rPr lang="en-US" sz="975" b="1" dirty="0">
                          <a:solidFill>
                            <a:srgbClr val="F7A81B"/>
                          </a:solidFill>
                          <a:latin typeface="Open Sans" pitchFamily="34" charset="0"/>
                          <a:ea typeface="Open Sans" pitchFamily="34" charset="-122"/>
                          <a:cs typeface="Open Sans" pitchFamily="34" charset="-120"/>
                        </a:rPr>
                        <a:t>57%</a:t>
                      </a:r>
                      <a:endParaRPr lang="en-US" sz="975" dirty="0">
                        <a:latin typeface="Open Sans" charset="0"/>
                        <a:ea typeface="Open Sans" charset="0"/>
                        <a:cs typeface="Open Sans" charset="0"/>
                      </a:endParaRPr>
                    </a:p>
                  </a:txBody>
                  <a:tcPr marL="114300" marR="114300"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1" name="Text 31"/>
          <p:cNvSpPr txBox="1"/>
          <p:nvPr/>
        </p:nvSpPr>
        <p:spPr>
          <a:xfrm>
            <a:off x="6676949" y="1123798"/>
            <a:ext cx="4944161"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Biểu đồ tỷ lệ lợi nhuận</a:t>
            </a:r>
            <a:endParaRPr lang="en-US" sz="1200" dirty="0"/>
          </a:p>
        </p:txBody>
      </p:sp>
      <p:pic>
        <p:nvPicPr>
          <p:cNvPr id="42" name="Image 7" descr="preencoded.png"/>
          <p:cNvPicPr>
            <a:picLocks noChangeAspect="1"/>
          </p:cNvPicPr>
          <p:nvPr/>
        </p:nvPicPr>
        <p:blipFill>
          <a:blip r:embed="rId9"/>
          <a:srcRect/>
          <a:stretch/>
        </p:blipFill>
        <p:spPr>
          <a:xfrm>
            <a:off x="6429146" y="1133856"/>
            <a:ext cx="152705" cy="152705"/>
          </a:xfrm>
          <a:prstGeom prst="rect">
            <a:avLst/>
          </a:prstGeom>
        </p:spPr>
      </p:pic>
      <p:pic>
        <p:nvPicPr>
          <p:cNvPr id="43" name="Image 8" descr="preencoded.png"/>
          <p:cNvPicPr>
            <a:picLocks noChangeAspect="1"/>
          </p:cNvPicPr>
          <p:nvPr/>
        </p:nvPicPr>
        <p:blipFill>
          <a:blip r:embed="rId10"/>
          <a:srcRect/>
          <a:stretch/>
        </p:blipFill>
        <p:spPr>
          <a:xfrm>
            <a:off x="7972654" y="1524305"/>
            <a:ext cx="2095805" cy="2095805"/>
          </a:xfrm>
          <a:prstGeom prst="rect">
            <a:avLst/>
          </a:prstGeom>
        </p:spPr>
      </p:pic>
      <p:pic>
        <p:nvPicPr>
          <p:cNvPr id="44" name="Image 9" descr="preencoded.png"/>
          <p:cNvPicPr>
            <a:picLocks noChangeAspect="1"/>
          </p:cNvPicPr>
          <p:nvPr/>
        </p:nvPicPr>
        <p:blipFill>
          <a:blip r:embed="rId11"/>
          <a:srcRect/>
          <a:stretch/>
        </p:blipFill>
        <p:spPr>
          <a:xfrm>
            <a:off x="8210398" y="1762049"/>
            <a:ext cx="1619402" cy="1619402"/>
          </a:xfrm>
          <a:prstGeom prst="rect">
            <a:avLst/>
          </a:prstGeom>
        </p:spPr>
      </p:pic>
      <p:sp>
        <p:nvSpPr>
          <p:cNvPr id="45" name="Text 32"/>
          <p:cNvSpPr txBox="1"/>
          <p:nvPr/>
        </p:nvSpPr>
        <p:spPr>
          <a:xfrm>
            <a:off x="8522208" y="2286000"/>
            <a:ext cx="1143000" cy="342900"/>
          </a:xfrm>
          <a:prstGeom prst="rect">
            <a:avLst/>
          </a:prstGeom>
          <a:noFill/>
          <a:ln/>
        </p:spPr>
        <p:txBody>
          <a:bodyPr wrap="square" lIns="0" tIns="0" rIns="0" bIns="0" rtlCol="0" anchor="ctr"/>
          <a:lstStyle/>
          <a:p>
            <a:pPr marL="0" indent="0" algn="l">
              <a:buNone/>
            </a:pPr>
            <a:r>
              <a:rPr lang="en-US" sz="2700" b="1" dirty="0">
                <a:solidFill>
                  <a:srgbClr val="F7A81B"/>
                </a:solidFill>
                <a:latin typeface="Open Sans" pitchFamily="34" charset="0"/>
                <a:ea typeface="Open Sans" pitchFamily="34" charset="-122"/>
                <a:cs typeface="Open Sans" pitchFamily="34" charset="-120"/>
              </a:rPr>
              <a:t>7.5%</a:t>
            </a:r>
            <a:endParaRPr lang="en-US" sz="2700" dirty="0"/>
          </a:p>
        </p:txBody>
      </p:sp>
      <p:sp>
        <p:nvSpPr>
          <p:cNvPr id="46" name="Text 33"/>
          <p:cNvSpPr txBox="1"/>
          <p:nvPr/>
        </p:nvSpPr>
        <p:spPr>
          <a:xfrm>
            <a:off x="8696858" y="2676449"/>
            <a:ext cx="84124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Lợi nhuận</a:t>
            </a:r>
            <a:endParaRPr lang="en-US" sz="1000" dirty="0"/>
          </a:p>
        </p:txBody>
      </p:sp>
      <p:sp>
        <p:nvSpPr>
          <p:cNvPr id="47" name="Text 34"/>
          <p:cNvSpPr txBox="1"/>
          <p:nvPr/>
        </p:nvSpPr>
        <p:spPr>
          <a:xfrm>
            <a:off x="7972654" y="3762756"/>
            <a:ext cx="2095805" cy="257861"/>
          </a:xfrm>
          <a:prstGeom prst="rect">
            <a:avLst/>
          </a:prstGeom>
          <a:noFill/>
          <a:ln/>
        </p:spPr>
        <p:txBody>
          <a:bodyPr wrap="square" lIns="0" tIns="0" rIns="0" bIns="0" rtlCol="0" anchor="ctr"/>
          <a:lstStyle/>
          <a:p>
            <a:pPr marL="0" indent="0" algn="ctr">
              <a:buNone/>
            </a:pPr>
            <a:r>
              <a:rPr lang="en-US" sz="1500" b="1" dirty="0">
                <a:solidFill>
                  <a:srgbClr val="808080"/>
                </a:solidFill>
                <a:latin typeface="Open Sans" pitchFamily="34" charset="0"/>
                <a:ea typeface="Open Sans" pitchFamily="34" charset="-122"/>
                <a:cs typeface="Open Sans" pitchFamily="34" charset="-120"/>
              </a:rPr>
              <a:t>117 tỷ VNĐ</a:t>
            </a:r>
            <a:endParaRPr lang="en-US" sz="1500" dirty="0"/>
          </a:p>
        </p:txBody>
      </p:sp>
      <p:sp>
        <p:nvSpPr>
          <p:cNvPr id="48" name="Text 35"/>
          <p:cNvSpPr txBox="1"/>
          <p:nvPr/>
        </p:nvSpPr>
        <p:spPr>
          <a:xfrm>
            <a:off x="6696151" y="4714646"/>
            <a:ext cx="4924958" cy="181051"/>
          </a:xfrm>
          <a:prstGeom prst="rect">
            <a:avLst/>
          </a:prstGeom>
          <a:noFill/>
          <a:ln/>
        </p:spPr>
        <p:txBody>
          <a:bodyPr wrap="square" lIns="0" tIns="0" rIns="0" bIns="0" rtlCol="0" anchor="ctr"/>
          <a:lstStyle/>
          <a:p>
            <a:pPr marL="0" indent="0" algn="l">
              <a:buNone/>
            </a:pPr>
            <a:endParaRPr lang="en-US" sz="1200" dirty="0"/>
          </a:p>
        </p:txBody>
      </p:sp>
      <p:sp>
        <p:nvSpPr>
          <p:cNvPr id="50" name="Text 36"/>
          <p:cNvSpPr txBox="1"/>
          <p:nvPr/>
        </p:nvSpPr>
        <p:spPr>
          <a:xfrm>
            <a:off x="6429146" y="5191049"/>
            <a:ext cx="1666951" cy="257861"/>
          </a:xfrm>
          <a:prstGeom prst="rect">
            <a:avLst/>
          </a:prstGeom>
          <a:noFill/>
          <a:ln/>
        </p:spPr>
        <p:txBody>
          <a:bodyPr wrap="square" lIns="0" tIns="0" rIns="0" bIns="0" rtlCol="0" anchor="ctr"/>
          <a:lstStyle/>
          <a:p>
            <a:pPr marL="0" indent="0" algn="ctr">
              <a:buNone/>
            </a:pPr>
            <a:endParaRPr lang="en-US" sz="1600" dirty="0"/>
          </a:p>
        </p:txBody>
      </p:sp>
      <p:sp>
        <p:nvSpPr>
          <p:cNvPr id="51" name="Text 37"/>
          <p:cNvSpPr txBox="1"/>
          <p:nvPr/>
        </p:nvSpPr>
        <p:spPr>
          <a:xfrm>
            <a:off x="6429146"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2" name="Text 38"/>
          <p:cNvSpPr txBox="1"/>
          <p:nvPr/>
        </p:nvSpPr>
        <p:spPr>
          <a:xfrm>
            <a:off x="8191195" y="5191049"/>
            <a:ext cx="1666951" cy="257861"/>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24</a:t>
            </a:r>
            <a:endParaRPr lang="en-US" sz="1600" dirty="0"/>
          </a:p>
        </p:txBody>
      </p:sp>
      <p:sp>
        <p:nvSpPr>
          <p:cNvPr id="53" name="Text 39"/>
          <p:cNvSpPr txBox="1"/>
          <p:nvPr/>
        </p:nvSpPr>
        <p:spPr>
          <a:xfrm>
            <a:off x="8191195" y="5461711"/>
            <a:ext cx="1666951" cy="162763"/>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Tháng thi công</a:t>
            </a:r>
            <a:endParaRPr lang="en-US" sz="900" dirty="0"/>
          </a:p>
        </p:txBody>
      </p:sp>
      <p:sp>
        <p:nvSpPr>
          <p:cNvPr id="55" name="Text 41"/>
          <p:cNvSpPr txBox="1"/>
          <p:nvPr/>
        </p:nvSpPr>
        <p:spPr>
          <a:xfrm>
            <a:off x="9953244" y="5461711"/>
            <a:ext cx="1666951" cy="162763"/>
          </a:xfrm>
          <a:prstGeom prst="rect">
            <a:avLst/>
          </a:prstGeom>
          <a:noFill/>
          <a:ln/>
        </p:spPr>
        <p:txBody>
          <a:bodyPr wrap="square" lIns="0" tIns="0" rIns="0" bIns="0" rtlCol="0" anchor="ctr"/>
          <a:lstStyle/>
          <a:p>
            <a:pPr marL="0" indent="0" algn="ctr">
              <a:buNone/>
            </a:pPr>
            <a:endParaRPr lang="en-US" sz="900" dirty="0"/>
          </a:p>
        </p:txBody>
      </p:sp>
      <p:sp>
        <p:nvSpPr>
          <p:cNvPr id="56" name="Text 42"/>
          <p:cNvSpPr txBox="1"/>
          <p:nvPr/>
        </p:nvSpPr>
        <p:spPr>
          <a:xfrm>
            <a:off x="6429146" y="6124651"/>
            <a:ext cx="1388974" cy="143561"/>
          </a:xfrm>
          <a:prstGeom prst="rect">
            <a:avLst/>
          </a:prstGeom>
          <a:noFill/>
          <a:ln/>
        </p:spPr>
        <p:txBody>
          <a:bodyPr wrap="square" lIns="0" tIns="0" rIns="0" bIns="0" rtlCol="0" anchor="ctr"/>
          <a:lstStyle/>
          <a:p>
            <a:pPr marL="0" indent="0" algn="l">
              <a:buNone/>
            </a:pPr>
            <a:endParaRPr lang="en-US" sz="800" dirty="0"/>
          </a:p>
        </p:txBody>
      </p:sp>
      <p:sp>
        <p:nvSpPr>
          <p:cNvPr id="58" name="Text 44"/>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9" name="Image 11" descr="preencoded.png"/>
          <p:cNvPicPr>
            <a:picLocks noChangeAspect="1"/>
          </p:cNvPicPr>
          <p:nvPr/>
        </p:nvPicPr>
        <p:blipFill>
          <a:blip r:embed="rId12"/>
          <a:srcRect l="-1358" r="-1358"/>
          <a:stretch/>
        </p:blipFill>
        <p:spPr>
          <a:xfrm>
            <a:off x="381305" y="6549847"/>
            <a:ext cx="95098" cy="123444"/>
          </a:xfrm>
          <a:prstGeom prst="rect">
            <a:avLst/>
          </a:prstGeom>
        </p:spPr>
      </p:pic>
      <p:sp>
        <p:nvSpPr>
          <p:cNvPr id="60" name="Text 45"/>
          <p:cNvSpPr txBox="1"/>
          <p:nvPr/>
        </p:nvSpPr>
        <p:spPr>
          <a:xfrm>
            <a:off x="10858500" y="6524244"/>
            <a:ext cx="952805" cy="171907"/>
          </a:xfrm>
          <a:prstGeom prst="rect">
            <a:avLst/>
          </a:prstGeom>
          <a:noFill/>
          <a:ln/>
        </p:spPr>
        <p:txBody>
          <a:bodyPr wrap="square" lIns="0" tIns="0" rIns="0" bIns="0" rtlCol="0" anchor="ctr"/>
          <a:lstStyle/>
          <a:p>
            <a:pPr marL="0" indent="0" algn="r">
              <a:buNone/>
            </a:pPr>
            <a:r>
              <a:rPr lang="en-US" sz="900" b="1" dirty="0">
                <a:solidFill>
                  <a:srgbClr val="808080"/>
                </a:solidFill>
                <a:latin typeface="Open Sans" pitchFamily="34" charset="0"/>
                <a:ea typeface="Open Sans" pitchFamily="34" charset="-122"/>
                <a:cs typeface="Open Sans" pitchFamily="34" charset="-120"/>
              </a:rPr>
              <a:t>Trang 5/12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5591556" cy="3685946"/>
          </a:xfrm>
          <a:prstGeom prst="roundRect">
            <a:avLst>
              <a:gd name="adj" fmla="val 1538"/>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381305" y="4619549"/>
            <a:ext cx="5591556" cy="1733702"/>
          </a:xfrm>
          <a:prstGeom prst="roundRect">
            <a:avLst>
              <a:gd name="adj" fmla="val 6955"/>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191402" y="857707"/>
            <a:ext cx="5639105"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571500" y="3857854"/>
            <a:ext cx="5210251"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0" name="Shape 8"/>
          <p:cNvSpPr/>
          <p:nvPr/>
        </p:nvSpPr>
        <p:spPr>
          <a:xfrm>
            <a:off x="571500" y="5095951"/>
            <a:ext cx="5229454" cy="1133856"/>
          </a:xfrm>
          <a:prstGeom prst="roundRect">
            <a:avLst>
              <a:gd name="adj" fmla="val 10843"/>
            </a:avLst>
          </a:prstGeom>
          <a:solidFill>
            <a:srgbClr val="F7A81B">
              <a:alpha val="5000"/>
            </a:srgbClr>
          </a:solidFill>
          <a:ln w="25400">
            <a:solidFill>
              <a:srgbClr val="F7A81B"/>
            </a:solidFill>
            <a:prstDash val="solid"/>
          </a:ln>
        </p:spPr>
        <p:txBody>
          <a:bodyPr/>
          <a:lstStyle/>
          <a:p>
            <a:endParaRPr lang="en-US"/>
          </a:p>
        </p:txBody>
      </p:sp>
      <p:sp>
        <p:nvSpPr>
          <p:cNvPr id="11" name="Shape 9"/>
          <p:cNvSpPr/>
          <p:nvPr/>
        </p:nvSpPr>
        <p:spPr>
          <a:xfrm>
            <a:off x="6381598" y="1524305"/>
            <a:ext cx="5277002" cy="714146"/>
          </a:xfrm>
          <a:prstGeom prst="roundRect">
            <a:avLst>
              <a:gd name="adj" fmla="val 20487"/>
            </a:avLst>
          </a:prstGeom>
          <a:solidFill>
            <a:srgbClr val="FAFAFA"/>
          </a:solidFill>
          <a:ln/>
        </p:spPr>
        <p:txBody>
          <a:bodyPr/>
          <a:lstStyle/>
          <a:p>
            <a:endParaRPr lang="en-US"/>
          </a:p>
        </p:txBody>
      </p:sp>
      <p:sp>
        <p:nvSpPr>
          <p:cNvPr id="12" name="Shape 10"/>
          <p:cNvSpPr/>
          <p:nvPr/>
        </p:nvSpPr>
        <p:spPr>
          <a:xfrm>
            <a:off x="6381598" y="15243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3" name="Shape 11"/>
          <p:cNvSpPr/>
          <p:nvPr/>
        </p:nvSpPr>
        <p:spPr>
          <a:xfrm>
            <a:off x="6381598" y="2381098"/>
            <a:ext cx="5277002" cy="714146"/>
          </a:xfrm>
          <a:prstGeom prst="roundRect">
            <a:avLst>
              <a:gd name="adj" fmla="val 20487"/>
            </a:avLst>
          </a:prstGeom>
          <a:solidFill>
            <a:srgbClr val="FAFAFA"/>
          </a:solidFill>
          <a:ln/>
        </p:spPr>
        <p:txBody>
          <a:bodyPr/>
          <a:lstStyle/>
          <a:p>
            <a:endParaRPr lang="en-US"/>
          </a:p>
        </p:txBody>
      </p:sp>
      <p:sp>
        <p:nvSpPr>
          <p:cNvPr id="14" name="Shape 12"/>
          <p:cNvSpPr/>
          <p:nvPr/>
        </p:nvSpPr>
        <p:spPr>
          <a:xfrm>
            <a:off x="6381598" y="2381098"/>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5" name="Shape 13"/>
          <p:cNvSpPr/>
          <p:nvPr/>
        </p:nvSpPr>
        <p:spPr>
          <a:xfrm>
            <a:off x="6381598" y="3238805"/>
            <a:ext cx="5277002" cy="714146"/>
          </a:xfrm>
          <a:prstGeom prst="roundRect">
            <a:avLst>
              <a:gd name="adj" fmla="val 20487"/>
            </a:avLst>
          </a:prstGeom>
          <a:solidFill>
            <a:srgbClr val="FAFAFA"/>
          </a:solidFill>
          <a:ln/>
        </p:spPr>
        <p:txBody>
          <a:bodyPr/>
          <a:lstStyle/>
          <a:p>
            <a:endParaRPr lang="en-US"/>
          </a:p>
        </p:txBody>
      </p:sp>
      <p:sp>
        <p:nvSpPr>
          <p:cNvPr id="16" name="Shape 14"/>
          <p:cNvSpPr/>
          <p:nvPr/>
        </p:nvSpPr>
        <p:spPr>
          <a:xfrm>
            <a:off x="6381598" y="3238805"/>
            <a:ext cx="38405" cy="714146"/>
          </a:xfrm>
          <a:prstGeom prst="roundRect">
            <a:avLst>
              <a:gd name="adj" fmla="val 380950"/>
            </a:avLst>
          </a:prstGeom>
          <a:solidFill>
            <a:srgbClr val="808080"/>
          </a:solidFill>
          <a:ln w="12700">
            <a:solidFill>
              <a:srgbClr val="808080">
                <a:alpha val="0"/>
              </a:srgbClr>
            </a:solidFill>
            <a:prstDash val="solid"/>
          </a:ln>
        </p:spPr>
        <p:txBody>
          <a:bodyPr/>
          <a:lstStyle/>
          <a:p>
            <a:endParaRPr lang="en-US"/>
          </a:p>
        </p:txBody>
      </p:sp>
      <p:sp>
        <p:nvSpPr>
          <p:cNvPr id="17" name="Shape 15"/>
          <p:cNvSpPr/>
          <p:nvPr/>
        </p:nvSpPr>
        <p:spPr>
          <a:xfrm>
            <a:off x="6381598" y="4143146"/>
            <a:ext cx="5257800" cy="2066544"/>
          </a:xfrm>
          <a:prstGeom prst="roundRect">
            <a:avLst>
              <a:gd name="adj" fmla="val 3263"/>
            </a:avLst>
          </a:prstGeom>
          <a:solidFill>
            <a:srgbClr val="F7A81B">
              <a:alpha val="5000"/>
            </a:srgbClr>
          </a:solidFill>
          <a:ln w="12700">
            <a:solidFill>
              <a:srgbClr val="F7A81B">
                <a:alpha val="30000"/>
              </a:srgbClr>
            </a:solidFill>
            <a:prstDash val="solid"/>
          </a:ln>
        </p:spPr>
        <p:txBody>
          <a:bodyPr/>
          <a:lstStyle/>
          <a:p>
            <a:endParaRPr lang="en-US"/>
          </a:p>
        </p:txBody>
      </p:sp>
      <p:sp>
        <p:nvSpPr>
          <p:cNvPr id="18" name="Shape 16"/>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9" name="Image 0" descr="preencoded.png"/>
          <p:cNvPicPr>
            <a:picLocks noChangeAspect="1"/>
          </p:cNvPicPr>
          <p:nvPr/>
        </p:nvPicPr>
        <p:blipFill>
          <a:blip r:embed="rId3"/>
          <a:srcRect/>
          <a:stretch/>
        </p:blipFill>
        <p:spPr>
          <a:xfrm>
            <a:off x="452628" y="237744"/>
            <a:ext cx="237744" cy="190195"/>
          </a:xfrm>
          <a:prstGeom prst="rect">
            <a:avLst/>
          </a:prstGeom>
        </p:spPr>
      </p:pic>
      <p:sp>
        <p:nvSpPr>
          <p:cNvPr id="20" name="Text 17"/>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SO SÁNH BPTC - PA1 vs PA2</a:t>
            </a:r>
            <a:endParaRPr lang="en-US" sz="1800" dirty="0"/>
          </a:p>
        </p:txBody>
      </p:sp>
      <p:sp>
        <p:nvSpPr>
          <p:cNvPr id="21" name="Text 18"/>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2"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23" name="Text 19"/>
          <p:cNvSpPr txBox="1"/>
          <p:nvPr/>
        </p:nvSpPr>
        <p:spPr>
          <a:xfrm>
            <a:off x="819302" y="1000354"/>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So sánh chi tiết PA1 vs PA2</a:t>
            </a:r>
            <a:endParaRPr lang="en-US" sz="1300" dirty="0"/>
          </a:p>
        </p:txBody>
      </p:sp>
      <p:pic>
        <p:nvPicPr>
          <p:cNvPr id="24" name="Image 2" descr="preencoded.png"/>
          <p:cNvPicPr>
            <a:picLocks noChangeAspect="1"/>
          </p:cNvPicPr>
          <p:nvPr/>
        </p:nvPicPr>
        <p:blipFill>
          <a:blip r:embed="rId5"/>
          <a:srcRect/>
          <a:stretch/>
        </p:blipFill>
        <p:spPr>
          <a:xfrm>
            <a:off x="571500" y="1028700"/>
            <a:ext cx="152705" cy="15270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 y="1333195"/>
          <a:ext cx="5191049" cy="2276855"/>
        </p:xfrm>
        <a:graphic>
          <a:graphicData uri="http://schemas.openxmlformats.org/drawingml/2006/table">
            <a:tbl>
              <a:tblPr/>
              <a:tblGrid>
                <a:gridCol w="1557223">
                  <a:extLst>
                    <a:ext uri="{9D8B030D-6E8A-4147-A177-3AD203B41FA5}">
                      <a16:colId xmlns:a16="http://schemas.microsoft.com/office/drawing/2014/main" val="20000"/>
                    </a:ext>
                  </a:extLst>
                </a:gridCol>
                <a:gridCol w="1816913">
                  <a:extLst>
                    <a:ext uri="{9D8B030D-6E8A-4147-A177-3AD203B41FA5}">
                      <a16:colId xmlns:a16="http://schemas.microsoft.com/office/drawing/2014/main" val="20001"/>
                    </a:ext>
                  </a:extLst>
                </a:gridCol>
                <a:gridCol w="1816913">
                  <a:extLst>
                    <a:ext uri="{9D8B030D-6E8A-4147-A177-3AD203B41FA5}">
                      <a16:colId xmlns:a16="http://schemas.microsoft.com/office/drawing/2014/main" val="20002"/>
                    </a:ext>
                  </a:extLst>
                </a:gridCol>
              </a:tblGrid>
              <a:tr h="325265">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Chỉ tiêu</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F7A81B"/>
                          </a:solidFill>
                          <a:latin typeface="Open Sans" pitchFamily="34" charset="0"/>
                          <a:ea typeface="Open Sans" pitchFamily="34" charset="-122"/>
                          <a:cs typeface="Open Sans" pitchFamily="34" charset="-120"/>
                        </a:rPr>
                        <a:t>PA1 - Đào mở</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tc>
                  <a:txBody>
                    <a:bodyPr/>
                    <a:lstStyle/>
                    <a:p>
                      <a:pPr marL="0" indent="0" algn="l">
                        <a:buNone/>
                      </a:pPr>
                      <a:r>
                        <a:rPr lang="en-US" sz="975" b="1" dirty="0">
                          <a:solidFill>
                            <a:srgbClr val="808080"/>
                          </a:solidFill>
                          <a:latin typeface="Open Sans" pitchFamily="34" charset="0"/>
                          <a:ea typeface="Open Sans" pitchFamily="34" charset="-122"/>
                          <a:cs typeface="Open Sans" pitchFamily="34" charset="-120"/>
                        </a:rPr>
                        <a:t>PA2 - Semi topdown</a:t>
                      </a:r>
                      <a:endParaRPr lang="en-US" sz="97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(VNĐ)</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35,821,839,062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37,664,824,427</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F0F0F0"/>
                      </a:solidFill>
                      <a:prstDash val="solid"/>
                      <a:round/>
                      <a:headEnd type="none" w="med" len="med"/>
                      <a:tailEnd type="none" w="med" len="med"/>
                    </a:lnB>
                    <a:solidFill>
                      <a:srgbClr val="F7A81B">
                        <a:alpha val="5000"/>
                      </a:srgbClr>
                    </a:solidFill>
                  </a:tcPr>
                </a:tc>
                <a:extLst>
                  <a:ext uri="{0D108BD9-81ED-4DB2-BD59-A6C34878D82A}">
                    <a16:rowId xmlns:a16="http://schemas.microsoft.com/office/drawing/2014/main" val="10001"/>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Thời gian (ngày)</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270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330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2"/>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Cừ Larsen</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11,187,020,000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13,008,980,000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3"/>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Hệ văng chống</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24,634,819,062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17,692,804,752</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4"/>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phát sinh</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0</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tc>
                  <a:txBody>
                    <a:bodyPr/>
                    <a:lstStyle/>
                    <a:p>
                      <a:pPr marL="0" indent="0" algn="l">
                        <a:buNone/>
                      </a:pPr>
                      <a:r>
                        <a:rPr lang="en-US" sz="900" dirty="0">
                          <a:solidFill>
                            <a:srgbClr val="808080"/>
                          </a:solidFill>
                          <a:latin typeface="Open Sans" pitchFamily="34" charset="0"/>
                          <a:ea typeface="Open Sans" pitchFamily="34" charset="-122"/>
                          <a:cs typeface="Open Sans" pitchFamily="34" charset="-120"/>
                        </a:rPr>
                        <a:t>6,963,039,675</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9525" cap="flat" cmpd="sng" algn="ctr">
                      <a:solidFill>
                        <a:srgbClr val="F0F0F0"/>
                      </a:solidFill>
                      <a:prstDash val="solid"/>
                      <a:round/>
                      <a:headEnd type="none" w="med" len="med"/>
                      <a:tailEnd type="none" w="med" len="med"/>
                    </a:lnB>
                  </a:tcPr>
                </a:tc>
                <a:extLst>
                  <a:ext uri="{0D108BD9-81ED-4DB2-BD59-A6C34878D82A}">
                    <a16:rowId xmlns:a16="http://schemas.microsoft.com/office/drawing/2014/main" val="10005"/>
                  </a:ext>
                </a:extLst>
              </a:tr>
              <a:tr h="325265">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Tổng chi phí</a:t>
                      </a:r>
                      <a:endParaRPr lang="en-US" sz="1200" dirty="0"/>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F7A81B"/>
                          </a:solidFill>
                          <a:latin typeface="Open Sans" pitchFamily="34" charset="0"/>
                          <a:ea typeface="Open Sans" pitchFamily="34" charset="-122"/>
                          <a:cs typeface="Open Sans" pitchFamily="34" charset="-120"/>
                        </a:rPr>
                        <a:t>35.82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tc>
                  <a:txBody>
                    <a:bodyPr/>
                    <a:lstStyle/>
                    <a:p>
                      <a:pPr marL="0" indent="0" algn="l">
                        <a:buNone/>
                      </a:pPr>
                      <a:r>
                        <a:rPr lang="en-US" sz="900" b="1" dirty="0">
                          <a:solidFill>
                            <a:srgbClr val="808080"/>
                          </a:solidFill>
                          <a:latin typeface="Open Sans" pitchFamily="34" charset="0"/>
                          <a:ea typeface="Open Sans" pitchFamily="34" charset="-122"/>
                          <a:cs typeface="Open Sans" pitchFamily="34" charset="-120"/>
                        </a:rPr>
                        <a:t>37.66 tỷ</a:t>
                      </a:r>
                      <a:endParaRPr lang="en-US" sz="900"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F0F0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808080">
                        <a:alpha val="5000"/>
                      </a:srgbClr>
                    </a:solidFill>
                  </a:tcPr>
                </a:tc>
                <a:extLst>
                  <a:ext uri="{0D108BD9-81ED-4DB2-BD59-A6C34878D82A}">
                    <a16:rowId xmlns:a16="http://schemas.microsoft.com/office/drawing/2014/main" val="10006"/>
                  </a:ext>
                </a:extLst>
              </a:tr>
            </a:tbl>
          </a:graphicData>
        </a:graphic>
      </p:graphicFrame>
      <p:sp>
        <p:nvSpPr>
          <p:cNvPr id="26" name="Text 20"/>
          <p:cNvSpPr txBox="1"/>
          <p:nvPr/>
        </p:nvSpPr>
        <p:spPr>
          <a:xfrm>
            <a:off x="571500" y="3924605"/>
            <a:ext cx="5191963" cy="228600"/>
          </a:xfrm>
          <a:prstGeom prst="rect">
            <a:avLst/>
          </a:prstGeom>
          <a:noFill/>
          <a:ln/>
        </p:spPr>
        <p:txBody>
          <a:bodyPr wrap="square" lIns="0" tIns="0" rIns="0" bIns="0" rtlCol="0" anchor="ctr"/>
          <a:lstStyle/>
          <a:p>
            <a:pPr marL="0" indent="0" algn="ctr">
              <a:buNone/>
            </a:pPr>
            <a:r>
              <a:rPr lang="en-US" sz="1500" b="1" dirty="0">
                <a:solidFill>
                  <a:srgbClr val="F7A81B"/>
                </a:solidFill>
                <a:latin typeface="Open Sans" pitchFamily="34" charset="0"/>
                <a:ea typeface="Open Sans" pitchFamily="34" charset="-122"/>
                <a:cs typeface="Open Sans" pitchFamily="34" charset="-120"/>
              </a:rPr>
              <a:t>1.84 tỷ VNĐ</a:t>
            </a:r>
            <a:endParaRPr lang="en-US" sz="1500" dirty="0"/>
          </a:p>
        </p:txBody>
      </p:sp>
      <p:sp>
        <p:nvSpPr>
          <p:cNvPr id="27" name="Text 21"/>
          <p:cNvSpPr txBox="1"/>
          <p:nvPr/>
        </p:nvSpPr>
        <p:spPr>
          <a:xfrm>
            <a:off x="571500" y="4153205"/>
            <a:ext cx="5191963" cy="171907"/>
          </a:xfrm>
          <a:prstGeom prst="rect">
            <a:avLst/>
          </a:prstGeom>
          <a:noFill/>
          <a:ln/>
        </p:spPr>
        <p:txBody>
          <a:bodyPr wrap="square" lIns="0" tIns="0" rIns="0" bIns="0" rtlCol="0" anchor="ctr"/>
          <a:lstStyle/>
          <a:p>
            <a:pPr marL="0" indent="0" algn="ctr">
              <a:buNone/>
            </a:pPr>
            <a:r>
              <a:rPr lang="en-US" sz="900" dirty="0">
                <a:solidFill>
                  <a:srgbClr val="808080"/>
                </a:solidFill>
                <a:latin typeface="Open Sans" pitchFamily="34" charset="0"/>
                <a:ea typeface="Open Sans" pitchFamily="34" charset="-122"/>
                <a:cs typeface="Open Sans" pitchFamily="34" charset="-120"/>
              </a:rPr>
              <a:t>Tiết kiệm khi chọn PA1</a:t>
            </a:r>
            <a:endParaRPr lang="en-US" sz="900" dirty="0"/>
          </a:p>
        </p:txBody>
      </p:sp>
      <p:sp>
        <p:nvSpPr>
          <p:cNvPr id="28" name="Text 22"/>
          <p:cNvSpPr txBox="1"/>
          <p:nvPr/>
        </p:nvSpPr>
        <p:spPr>
          <a:xfrm>
            <a:off x="819302" y="4762195"/>
            <a:ext cx="494416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Kiến nghị lựa chọn</a:t>
            </a:r>
            <a:endParaRPr lang="en-US" sz="1300" dirty="0"/>
          </a:p>
        </p:txBody>
      </p:sp>
      <p:pic>
        <p:nvPicPr>
          <p:cNvPr id="29" name="Image 3" descr="preencoded.png"/>
          <p:cNvPicPr>
            <a:picLocks noChangeAspect="1"/>
          </p:cNvPicPr>
          <p:nvPr/>
        </p:nvPicPr>
        <p:blipFill>
          <a:blip r:embed="rId6"/>
          <a:srcRect/>
          <a:stretch/>
        </p:blipFill>
        <p:spPr>
          <a:xfrm>
            <a:off x="571500" y="4791456"/>
            <a:ext cx="152705" cy="152705"/>
          </a:xfrm>
          <a:prstGeom prst="rect">
            <a:avLst/>
          </a:prstGeom>
        </p:spPr>
      </p:pic>
      <p:sp>
        <p:nvSpPr>
          <p:cNvPr id="30" name="Text 23"/>
          <p:cNvSpPr txBox="1"/>
          <p:nvPr/>
        </p:nvSpPr>
        <p:spPr>
          <a:xfrm>
            <a:off x="951890" y="5219395"/>
            <a:ext cx="4668012"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Đề xuất: PA1 - Đào mở</a:t>
            </a:r>
            <a:endParaRPr lang="en-US" sz="1100" dirty="0"/>
          </a:p>
        </p:txBody>
      </p:sp>
      <p:pic>
        <p:nvPicPr>
          <p:cNvPr id="31" name="Image 4" descr="preencoded.png"/>
          <p:cNvPicPr>
            <a:picLocks noChangeAspect="1"/>
          </p:cNvPicPr>
          <p:nvPr/>
        </p:nvPicPr>
        <p:blipFill>
          <a:blip r:embed="rId7"/>
          <a:srcRect l="-428" r="-428"/>
          <a:stretch/>
        </p:blipFill>
        <p:spPr>
          <a:xfrm>
            <a:off x="714146" y="5243170"/>
            <a:ext cx="161849" cy="142646"/>
          </a:xfrm>
          <a:prstGeom prst="rect">
            <a:avLst/>
          </a:prstGeom>
        </p:spPr>
      </p:pic>
      <p:sp>
        <p:nvSpPr>
          <p:cNvPr id="32" name="Text 24"/>
          <p:cNvSpPr txBox="1"/>
          <p:nvPr/>
        </p:nvSpPr>
        <p:spPr>
          <a:xfrm>
            <a:off x="714146" y="5467198"/>
            <a:ext cx="4905756" cy="514807"/>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Dựa trên phân tích chi phí và thời gian, PA1 có lợi thế rõ ràng với tiết kiệm 1.84 tỷ VNĐ và nhanh hơn 60 ngày. Phương pháp này phù hợp với điều kiện mặt bằng và giảm thiểu rủi ro kỹ thuật.</a:t>
            </a:r>
            <a:endParaRPr lang="en-US" sz="900" dirty="0"/>
          </a:p>
        </p:txBody>
      </p:sp>
      <p:sp>
        <p:nvSpPr>
          <p:cNvPr id="33" name="Text 25"/>
          <p:cNvSpPr txBox="1"/>
          <p:nvPr/>
        </p:nvSpPr>
        <p:spPr>
          <a:xfrm>
            <a:off x="6629400" y="1047902"/>
            <a:ext cx="49917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Phân tích rủi ro &amp; Biện pháp giảm thiểu</a:t>
            </a:r>
            <a:endParaRPr lang="en-US" sz="1300" dirty="0"/>
          </a:p>
        </p:txBody>
      </p:sp>
      <p:pic>
        <p:nvPicPr>
          <p:cNvPr id="34" name="Image 5" descr="preencoded.png"/>
          <p:cNvPicPr>
            <a:picLocks noChangeAspect="1"/>
          </p:cNvPicPr>
          <p:nvPr/>
        </p:nvPicPr>
        <p:blipFill>
          <a:blip r:embed="rId8"/>
          <a:srcRect/>
          <a:stretch/>
        </p:blipFill>
        <p:spPr>
          <a:xfrm>
            <a:off x="6381598" y="1076249"/>
            <a:ext cx="152705" cy="152705"/>
          </a:xfrm>
          <a:prstGeom prst="rect">
            <a:avLst/>
          </a:prstGeom>
        </p:spPr>
      </p:pic>
      <p:pic>
        <p:nvPicPr>
          <p:cNvPr id="35" name="Image 6" descr="preencoded.png"/>
          <p:cNvPicPr>
            <a:picLocks noChangeAspect="1"/>
          </p:cNvPicPr>
          <p:nvPr/>
        </p:nvPicPr>
        <p:blipFill>
          <a:blip r:embed="rId9"/>
          <a:srcRect/>
          <a:stretch/>
        </p:blipFill>
        <p:spPr>
          <a:xfrm>
            <a:off x="6524244" y="1666951"/>
            <a:ext cx="133502" cy="133502"/>
          </a:xfrm>
          <a:prstGeom prst="rect">
            <a:avLst/>
          </a:prstGeom>
        </p:spPr>
      </p:pic>
      <p:sp>
        <p:nvSpPr>
          <p:cNvPr id="36" name="Text 26"/>
          <p:cNvSpPr txBox="1"/>
          <p:nvPr/>
        </p:nvSpPr>
        <p:spPr>
          <a:xfrm>
            <a:off x="6772046" y="1638605"/>
            <a:ext cx="3924605"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kỹ thuật</a:t>
            </a:r>
            <a:endParaRPr lang="en-US" sz="1000" dirty="0"/>
          </a:p>
        </p:txBody>
      </p:sp>
      <p:sp>
        <p:nvSpPr>
          <p:cNvPr id="37" name="Text 27"/>
          <p:cNvSpPr txBox="1"/>
          <p:nvPr/>
        </p:nvSpPr>
        <p:spPr>
          <a:xfrm>
            <a:off x="6772046" y="1857146"/>
            <a:ext cx="4610405"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Lớp đất sét pha trạng thái dẻo chảy, ảnh hưởng đến thi công kết cấu</a:t>
            </a:r>
            <a:endParaRPr lang="en-US" sz="900" dirty="0"/>
          </a:p>
        </p:txBody>
      </p:sp>
      <p:pic>
        <p:nvPicPr>
          <p:cNvPr id="38" name="Image 7" descr="preencoded.png"/>
          <p:cNvPicPr>
            <a:picLocks noChangeAspect="1"/>
          </p:cNvPicPr>
          <p:nvPr/>
        </p:nvPicPr>
        <p:blipFill>
          <a:blip r:embed="rId9"/>
          <a:srcRect/>
          <a:stretch/>
        </p:blipFill>
        <p:spPr>
          <a:xfrm>
            <a:off x="6524244" y="2523744"/>
            <a:ext cx="133502" cy="133502"/>
          </a:xfrm>
          <a:prstGeom prst="rect">
            <a:avLst/>
          </a:prstGeom>
        </p:spPr>
      </p:pic>
      <p:sp>
        <p:nvSpPr>
          <p:cNvPr id="39" name="Text 28"/>
          <p:cNvSpPr txBox="1"/>
          <p:nvPr/>
        </p:nvSpPr>
        <p:spPr>
          <a:xfrm>
            <a:off x="6772046" y="2495398"/>
            <a:ext cx="3296412"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tiến độ</a:t>
            </a:r>
            <a:endParaRPr lang="en-US" sz="1000" dirty="0"/>
          </a:p>
        </p:txBody>
      </p:sp>
      <p:sp>
        <p:nvSpPr>
          <p:cNvPr id="40" name="Text 29"/>
          <p:cNvSpPr txBox="1"/>
          <p:nvPr/>
        </p:nvSpPr>
        <p:spPr>
          <a:xfrm>
            <a:off x="6772046" y="2714854"/>
            <a:ext cx="3904488"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Thời tiết, thiếu nhân công, vật tư có thể làm chậm tiến độ</a:t>
            </a:r>
            <a:endParaRPr lang="en-US" sz="900" dirty="0"/>
          </a:p>
        </p:txBody>
      </p:sp>
      <p:pic>
        <p:nvPicPr>
          <p:cNvPr id="41" name="Image 8" descr="preencoded.png"/>
          <p:cNvPicPr>
            <a:picLocks noChangeAspect="1"/>
          </p:cNvPicPr>
          <p:nvPr/>
        </p:nvPicPr>
        <p:blipFill>
          <a:blip r:embed="rId9"/>
          <a:srcRect/>
          <a:stretch/>
        </p:blipFill>
        <p:spPr>
          <a:xfrm>
            <a:off x="6524244" y="3381451"/>
            <a:ext cx="133502" cy="133502"/>
          </a:xfrm>
          <a:prstGeom prst="rect">
            <a:avLst/>
          </a:prstGeom>
        </p:spPr>
      </p:pic>
      <p:sp>
        <p:nvSpPr>
          <p:cNvPr id="42" name="Text 30"/>
          <p:cNvSpPr txBox="1"/>
          <p:nvPr/>
        </p:nvSpPr>
        <p:spPr>
          <a:xfrm>
            <a:off x="6772046" y="3353105"/>
            <a:ext cx="3057754"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Rủi ro an toàn</a:t>
            </a:r>
            <a:endParaRPr lang="en-US" sz="1000" dirty="0"/>
          </a:p>
        </p:txBody>
      </p:sp>
      <p:sp>
        <p:nvSpPr>
          <p:cNvPr id="43" name="Text 31"/>
          <p:cNvSpPr txBox="1"/>
          <p:nvPr/>
        </p:nvSpPr>
        <p:spPr>
          <a:xfrm>
            <a:off x="6772046" y="3571646"/>
            <a:ext cx="3631082" cy="181051"/>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Công tác văng chống, cừ larsen cần giám sát chặt chẽ</a:t>
            </a:r>
            <a:endParaRPr lang="en-US" sz="900" dirty="0"/>
          </a:p>
        </p:txBody>
      </p:sp>
      <p:sp>
        <p:nvSpPr>
          <p:cNvPr id="44" name="Text 32"/>
          <p:cNvSpPr txBox="1"/>
          <p:nvPr/>
        </p:nvSpPr>
        <p:spPr>
          <a:xfrm>
            <a:off x="6828739" y="4286707"/>
            <a:ext cx="4602175" cy="191110"/>
          </a:xfrm>
          <a:prstGeom prst="rect">
            <a:avLst/>
          </a:prstGeom>
          <a:noFill/>
          <a:ln/>
        </p:spPr>
        <p:txBody>
          <a:bodyPr wrap="square" lIns="0" tIns="0" rIns="0" bIns="0" rtlCol="0" anchor="ctr"/>
          <a:lstStyle/>
          <a:p>
            <a:pPr marL="0" indent="0" algn="l">
              <a:buNone/>
            </a:pPr>
            <a:r>
              <a:rPr lang="en-US" sz="1100" b="1" dirty="0">
                <a:solidFill>
                  <a:srgbClr val="F7A81B"/>
                </a:solidFill>
                <a:latin typeface="Open Sans" pitchFamily="34" charset="0"/>
                <a:ea typeface="Open Sans" pitchFamily="34" charset="-122"/>
                <a:cs typeface="Open Sans" pitchFamily="34" charset="-120"/>
              </a:rPr>
              <a:t> Biện pháp giảm thiểu</a:t>
            </a:r>
            <a:endParaRPr lang="en-US" sz="1100" dirty="0"/>
          </a:p>
        </p:txBody>
      </p:sp>
      <p:sp>
        <p:nvSpPr>
          <p:cNvPr id="45" name="Text 33"/>
          <p:cNvSpPr txBox="1"/>
          <p:nvPr/>
        </p:nvSpPr>
        <p:spPr>
          <a:xfrm>
            <a:off x="6572707" y="4572000"/>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Hệ văng chống:</a:t>
            </a:r>
            <a:r>
              <a:rPr lang="en-US" sz="900" dirty="0">
                <a:solidFill>
                  <a:srgbClr val="555555"/>
                </a:solidFill>
                <a:latin typeface="Open Sans" pitchFamily="34" charset="0"/>
                <a:ea typeface="Open Sans" pitchFamily="34" charset="-122"/>
                <a:cs typeface="Open Sans" pitchFamily="34" charset="-120"/>
              </a:rPr>
              <a:t> Thiết kế chắc chắn, quan trắc liên tục biến dạng</a:t>
            </a:r>
            <a:endParaRPr lang="en-US" sz="900" dirty="0"/>
          </a:p>
        </p:txBody>
      </p:sp>
      <p:sp>
        <p:nvSpPr>
          <p:cNvPr id="46" name="Text 34"/>
          <p:cNvSpPr txBox="1"/>
          <p:nvPr/>
        </p:nvSpPr>
        <p:spPr>
          <a:xfrm>
            <a:off x="6572707" y="4812487"/>
            <a:ext cx="4858207" cy="372161"/>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Nước ngầm:</a:t>
            </a:r>
            <a:r>
              <a:rPr lang="en-US" sz="900" dirty="0">
                <a:solidFill>
                  <a:srgbClr val="555555"/>
                </a:solidFill>
                <a:latin typeface="Open Sans" pitchFamily="34" charset="0"/>
                <a:ea typeface="Open Sans" pitchFamily="34" charset="-122"/>
                <a:cs typeface="Open Sans" pitchFamily="34" charset="-120"/>
              </a:rPr>
              <a:t> Chia nhỏ giai đoạn đào, QA/QC chống thấm kỹ, thiết lập hệ thống bơm tự động</a:t>
            </a:r>
            <a:endParaRPr lang="en-US" sz="900" dirty="0"/>
          </a:p>
        </p:txBody>
      </p:sp>
      <p:sp>
        <p:nvSpPr>
          <p:cNvPr id="47" name="Text 35"/>
          <p:cNvSpPr txBox="1"/>
          <p:nvPr/>
        </p:nvSpPr>
        <p:spPr>
          <a:xfrm>
            <a:off x="6572707" y="5234940"/>
            <a:ext cx="55440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Công trình lân cận:</a:t>
            </a:r>
            <a:r>
              <a:rPr lang="en-US" sz="900" dirty="0">
                <a:solidFill>
                  <a:srgbClr val="555555"/>
                </a:solidFill>
                <a:latin typeface="Open Sans" pitchFamily="34" charset="0"/>
                <a:ea typeface="Open Sans" pitchFamily="34" charset="-122"/>
                <a:cs typeface="Open Sans" pitchFamily="34" charset="-120"/>
              </a:rPr>
              <a:t> Quan trắc độ lún/chuyển dịch; chuẩn bị sẵn giằng chống dự phòng</a:t>
            </a:r>
            <a:endParaRPr lang="en-US" sz="900" dirty="0"/>
          </a:p>
        </p:txBody>
      </p:sp>
      <p:sp>
        <p:nvSpPr>
          <p:cNvPr id="48" name="Text 36"/>
          <p:cNvSpPr txBox="1"/>
          <p:nvPr/>
        </p:nvSpPr>
        <p:spPr>
          <a:xfrm>
            <a:off x="6572707" y="5475427"/>
            <a:ext cx="4858207" cy="191110"/>
          </a:xfrm>
          <a:prstGeom prst="rect">
            <a:avLst/>
          </a:prstGeom>
          <a:noFill/>
          <a:ln/>
        </p:spPr>
        <p:txBody>
          <a:bodyPr wrap="square" lIns="0" tIns="0" rIns="0" bIns="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a:t>
            </a:r>
            <a:r>
              <a:rPr lang="en-US" sz="900" b="1" dirty="0">
                <a:solidFill>
                  <a:srgbClr val="555555"/>
                </a:solidFill>
                <a:latin typeface="Open Sans" pitchFamily="34" charset="0"/>
                <a:ea typeface="Open Sans" pitchFamily="34" charset="-122"/>
                <a:cs typeface="Open Sans" pitchFamily="34" charset="-120"/>
              </a:rPr>
              <a:t>Thời tiết:</a:t>
            </a:r>
            <a:r>
              <a:rPr lang="en-US" sz="900" dirty="0">
                <a:solidFill>
                  <a:srgbClr val="555555"/>
                </a:solidFill>
                <a:latin typeface="Open Sans" pitchFamily="34" charset="0"/>
                <a:ea typeface="Open Sans" pitchFamily="34" charset="-122"/>
                <a:cs typeface="Open Sans" pitchFamily="34" charset="-120"/>
              </a:rPr>
              <a:t> Tận dụng các cửa sổ thời tiết thuận lợi, che chắn hố móng</a:t>
            </a:r>
            <a:endParaRPr lang="en-US" sz="900" dirty="0"/>
          </a:p>
        </p:txBody>
      </p:sp>
      <p:pic>
        <p:nvPicPr>
          <p:cNvPr id="49" name="Image 9" descr="preencoded.png"/>
          <p:cNvPicPr>
            <a:picLocks noChangeAspect="1"/>
          </p:cNvPicPr>
          <p:nvPr/>
        </p:nvPicPr>
        <p:blipFill>
          <a:blip r:embed="rId10"/>
          <a:srcRect/>
          <a:stretch/>
        </p:blipFill>
        <p:spPr>
          <a:xfrm>
            <a:off x="6572707" y="4313225"/>
            <a:ext cx="142646" cy="142646"/>
          </a:xfrm>
          <a:prstGeom prst="rect">
            <a:avLst/>
          </a:prstGeom>
        </p:spPr>
      </p:pic>
      <p:sp>
        <p:nvSpPr>
          <p:cNvPr id="50" name="Text 3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1" name="Image 10" descr="preencoded.png"/>
          <p:cNvPicPr>
            <a:picLocks noChangeAspect="1"/>
          </p:cNvPicPr>
          <p:nvPr/>
        </p:nvPicPr>
        <p:blipFill>
          <a:blip r:embed="rId11"/>
          <a:srcRect l="-1358" r="-1358"/>
          <a:stretch/>
        </p:blipFill>
        <p:spPr>
          <a:xfrm>
            <a:off x="381305" y="6549847"/>
            <a:ext cx="95098" cy="123444"/>
          </a:xfrm>
          <a:prstGeom prst="rect">
            <a:avLst/>
          </a:prstGeom>
        </p:spPr>
      </p:pic>
      <p:sp>
        <p:nvSpPr>
          <p:cNvPr id="52" name="Text 3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6/12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E2E8F0"/>
          </a:solidFill>
          <a:ln w="12700">
            <a:solidFill>
              <a:srgbClr val="E2E8F0">
                <a:alpha val="0"/>
              </a:srgbClr>
            </a:solidFill>
            <a:prstDash val="solid"/>
          </a:ln>
        </p:spPr>
        <p:txBody>
          <a:bodyPr/>
          <a:lstStyle/>
          <a:p>
            <a:endParaRPr lang="en-US"/>
          </a:p>
        </p:txBody>
      </p:sp>
      <p:sp>
        <p:nvSpPr>
          <p:cNvPr id="6" name="Shape 4"/>
          <p:cNvSpPr/>
          <p:nvPr/>
        </p:nvSpPr>
        <p:spPr>
          <a:xfrm>
            <a:off x="381305" y="857707"/>
            <a:ext cx="5591556" cy="5495544"/>
          </a:xfrm>
          <a:prstGeom prst="roundRect">
            <a:avLst>
              <a:gd name="adj" fmla="val 923"/>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71500" y="5191049"/>
            <a:ext cx="5210251" cy="1019556"/>
          </a:xfrm>
          <a:prstGeom prst="roundRect">
            <a:avLst>
              <a:gd name="adj" fmla="val 16764"/>
            </a:avLst>
          </a:prstGeom>
          <a:solidFill>
            <a:srgbClr val="F7A81B">
              <a:alpha val="5000"/>
            </a:srgbClr>
          </a:solidFill>
          <a:ln w="12700">
            <a:solidFill>
              <a:srgbClr val="F7A81B">
                <a:alpha val="30000"/>
              </a:srgbClr>
            </a:solidFill>
            <a:prstDash val="solid"/>
          </a:ln>
        </p:spPr>
        <p:txBody>
          <a:bodyPr/>
          <a:lstStyle/>
          <a:p>
            <a:endParaRPr lang="en-US"/>
          </a:p>
        </p:txBody>
      </p:sp>
      <p:sp>
        <p:nvSpPr>
          <p:cNvPr id="8" name="Shape 6"/>
          <p:cNvSpPr/>
          <p:nvPr/>
        </p:nvSpPr>
        <p:spPr>
          <a:xfrm>
            <a:off x="6238951" y="857707"/>
            <a:ext cx="5591556" cy="3353105"/>
          </a:xfrm>
          <a:prstGeom prst="roundRect">
            <a:avLst>
              <a:gd name="adj" fmla="val 2479"/>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9286646"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10524744" y="2572207"/>
            <a:ext cx="1162202" cy="733349"/>
          </a:xfrm>
          <a:prstGeom prst="roundRect">
            <a:avLst>
              <a:gd name="adj" fmla="val 32387"/>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6238951" y="4429354"/>
            <a:ext cx="5591556" cy="1923898"/>
          </a:xfrm>
          <a:prstGeom prst="roundRect">
            <a:avLst>
              <a:gd name="adj" fmla="val 7529"/>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0" y="6572707"/>
            <a:ext cx="12191695" cy="295351"/>
          </a:xfrm>
          <a:prstGeom prst="rect">
            <a:avLst/>
          </a:prstGeom>
          <a:solidFill>
            <a:srgbClr val="FFFFFF"/>
          </a:solidFill>
          <a:ln/>
        </p:spPr>
        <p:txBody>
          <a:bodyPr/>
          <a:lstStyle/>
          <a:p>
            <a:endParaRPr lang="en-US"/>
          </a:p>
        </p:txBody>
      </p:sp>
      <p:sp>
        <p:nvSpPr>
          <p:cNvPr id="13" name="Shape 11"/>
          <p:cNvSpPr/>
          <p:nvPr/>
        </p:nvSpPr>
        <p:spPr>
          <a:xfrm>
            <a:off x="0" y="6572707"/>
            <a:ext cx="1219169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14" name="Shape 1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476402" y="237744"/>
            <a:ext cx="190195" cy="190195"/>
          </a:xfrm>
          <a:prstGeom prst="rect">
            <a:avLst/>
          </a:prstGeom>
        </p:spPr>
      </p:pic>
      <p:sp>
        <p:nvSpPr>
          <p:cNvPr id="16" name="Text 13"/>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kern="0" spc="38" dirty="0">
                <a:solidFill>
                  <a:srgbClr val="808080"/>
                </a:solidFill>
                <a:latin typeface="Montserrat" pitchFamily="34" charset="0"/>
                <a:ea typeface="Montserrat" pitchFamily="34" charset="-122"/>
                <a:cs typeface="Montserrat" pitchFamily="34" charset="-120"/>
              </a:rPr>
              <a:t>CHIẾN LƯỢC PHÂN GÓI THẦU</a:t>
            </a:r>
            <a:endParaRPr lang="en-US" sz="1800" dirty="0"/>
          </a:p>
        </p:txBody>
      </p:sp>
      <p:sp>
        <p:nvSpPr>
          <p:cNvPr id="17" name="Text 14"/>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8" name="Image 1" descr="preencoded.png"/>
          <p:cNvPicPr>
            <a:picLocks noChangeAspect="1"/>
          </p:cNvPicPr>
          <p:nvPr/>
        </p:nvPicPr>
        <p:blipFill>
          <a:blip r:embed="rId4"/>
          <a:srcRect t="-1100" b="-1100"/>
          <a:stretch/>
        </p:blipFill>
        <p:spPr>
          <a:xfrm>
            <a:off x="10564063" y="264262"/>
            <a:ext cx="114300" cy="133502"/>
          </a:xfrm>
          <a:prstGeom prst="rect">
            <a:avLst/>
          </a:prstGeom>
        </p:spPr>
      </p:pic>
      <p:sp>
        <p:nvSpPr>
          <p:cNvPr id="19" name="Text 15"/>
          <p:cNvSpPr txBox="1"/>
          <p:nvPr/>
        </p:nvSpPr>
        <p:spPr>
          <a:xfrm>
            <a:off x="838505" y="1047902"/>
            <a:ext cx="492495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Phân chia gói thầu chi tiết</a:t>
            </a:r>
            <a:endParaRPr lang="en-US" sz="1300" dirty="0"/>
          </a:p>
        </p:txBody>
      </p:sp>
      <p:pic>
        <p:nvPicPr>
          <p:cNvPr id="20" name="Image 2" descr="preencoded.png"/>
          <p:cNvPicPr>
            <a:picLocks noChangeAspect="1"/>
          </p:cNvPicPr>
          <p:nvPr/>
        </p:nvPicPr>
        <p:blipFill>
          <a:blip r:embed="rId5"/>
          <a:srcRect/>
          <a:stretch/>
        </p:blipFill>
        <p:spPr>
          <a:xfrm>
            <a:off x="571500" y="1059790"/>
            <a:ext cx="171907" cy="171907"/>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876792017"/>
              </p:ext>
            </p:extLst>
          </p:nvPr>
        </p:nvGraphicFramePr>
        <p:xfrm>
          <a:off x="571500" y="1524305"/>
          <a:ext cx="5191963" cy="3267153"/>
        </p:xfrm>
        <a:graphic>
          <a:graphicData uri="http://schemas.openxmlformats.org/drawingml/2006/table">
            <a:tbl>
              <a:tblPr/>
              <a:tblGrid>
                <a:gridCol w="934517">
                  <a:extLst>
                    <a:ext uri="{9D8B030D-6E8A-4147-A177-3AD203B41FA5}">
                      <a16:colId xmlns:a16="http://schemas.microsoft.com/office/drawing/2014/main" val="20000"/>
                    </a:ext>
                  </a:extLst>
                </a:gridCol>
                <a:gridCol w="1401775">
                  <a:extLst>
                    <a:ext uri="{9D8B030D-6E8A-4147-A177-3AD203B41FA5}">
                      <a16:colId xmlns:a16="http://schemas.microsoft.com/office/drawing/2014/main" val="20001"/>
                    </a:ext>
                  </a:extLst>
                </a:gridCol>
                <a:gridCol w="779069">
                  <a:extLst>
                    <a:ext uri="{9D8B030D-6E8A-4147-A177-3AD203B41FA5}">
                      <a16:colId xmlns:a16="http://schemas.microsoft.com/office/drawing/2014/main" val="20002"/>
                    </a:ext>
                  </a:extLst>
                </a:gridCol>
                <a:gridCol w="1037844">
                  <a:extLst>
                    <a:ext uri="{9D8B030D-6E8A-4147-A177-3AD203B41FA5}">
                      <a16:colId xmlns:a16="http://schemas.microsoft.com/office/drawing/2014/main" val="20003"/>
                    </a:ext>
                  </a:extLst>
                </a:gridCol>
                <a:gridCol w="1038758">
                  <a:extLst>
                    <a:ext uri="{9D8B030D-6E8A-4147-A177-3AD203B41FA5}">
                      <a16:colId xmlns:a16="http://schemas.microsoft.com/office/drawing/2014/main" val="20004"/>
                    </a:ext>
                  </a:extLst>
                </a:gridCol>
              </a:tblGrid>
              <a:tr h="363017">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tc>
                  <a:txBody>
                    <a:bodyPr/>
                    <a:lstStyle/>
                    <a:p>
                      <a:pPr marL="0" indent="0" algn="l">
                        <a:buNone/>
                      </a:pPr>
                      <a:endParaRPr lang="en-US" sz="825" dirty="0">
                        <a:latin typeface="Open Sans" charset="0"/>
                        <a:ea typeface="Open Sans" charset="0"/>
                        <a:cs typeface="Open Sans" charset="0"/>
                      </a:endParaRPr>
                    </a:p>
                  </a:txBody>
                  <a:tcPr marL="75895" marR="75895" marT="95098" marB="95098"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0" cap="flat" cmpd="sng" algn="ctr">
                      <a:solidFill>
                        <a:srgbClr val="CBD5E0"/>
                      </a:solidFill>
                      <a:prstDash val="solid"/>
                      <a:round/>
                      <a:headEnd type="none" w="med" len="med"/>
                      <a:tailEnd type="none" w="med" len="med"/>
                    </a:lnT>
                    <a:lnB w="19050" cap="flat" cmpd="sng" algn="ctr">
                      <a:solidFill>
                        <a:srgbClr val="CBD5E0"/>
                      </a:solidFill>
                      <a:prstDash val="solid"/>
                      <a:round/>
                      <a:headEnd type="none" w="med" len="med"/>
                      <a:tailEnd type="none" w="med" len="med"/>
                    </a:lnB>
                    <a:solidFill>
                      <a:srgbClr val="EDF2F7"/>
                    </a:solidFill>
                  </a:tcPr>
                </a:tc>
                <a:extLst>
                  <a:ext uri="{0D108BD9-81ED-4DB2-BD59-A6C34878D82A}">
                    <a16:rowId xmlns:a16="http://schemas.microsoft.com/office/drawing/2014/main" val="10000"/>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19050" cap="flat" cmpd="sng" algn="ctr">
                      <a:solidFill>
                        <a:srgbClr val="CBD5E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2"/>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4"/>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6"/>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3017">
                <a:tc>
                  <a:txBody>
                    <a:bodyPr/>
                    <a:lstStyle/>
                    <a:p>
                      <a:pPr marL="0" indent="0">
                        <a:buNone/>
                      </a:pPr>
                      <a:endParaRPr lang="en-US" sz="1200" dirty="0"/>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tc>
                  <a:txBody>
                    <a:bodyPr/>
                    <a:lstStyle/>
                    <a:p>
                      <a:pPr marL="0" indent="0">
                        <a:buNone/>
                      </a:pPr>
                      <a:endParaRPr lang="en-US" sz="900" dirty="0">
                        <a:latin typeface="Open Sans" charset="0"/>
                        <a:ea typeface="Open Sans" charset="0"/>
                        <a:cs typeface="Open Sans" charset="0"/>
                      </a:endParaRPr>
                    </a:p>
                  </a:txBody>
                  <a:tcPr marL="75895" marR="75895" marT="75895" marB="75895" anchor="ctr">
                    <a:lnL w="0" cap="flat" cmpd="sng" algn="ctr">
                      <a:solidFill>
                        <a:srgbClr val="CBD5E0"/>
                      </a:solidFill>
                      <a:prstDash val="solid"/>
                      <a:round/>
                      <a:headEnd type="none" w="med" len="med"/>
                      <a:tailEnd type="none" w="med" len="med"/>
                    </a:lnL>
                    <a:lnR w="0" cap="flat" cmpd="sng" algn="ctr">
                      <a:solidFill>
                        <a:srgbClr val="CBD5E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00000">
                        <a:alpha val="2000"/>
                      </a:srgbClr>
                    </a:solidFill>
                  </a:tcPr>
                </a:tc>
                <a:extLst>
                  <a:ext uri="{0D108BD9-81ED-4DB2-BD59-A6C34878D82A}">
                    <a16:rowId xmlns:a16="http://schemas.microsoft.com/office/drawing/2014/main" val="10008"/>
                  </a:ext>
                </a:extLst>
              </a:tr>
            </a:tbl>
          </a:graphicData>
        </a:graphic>
      </p:graphicFrame>
      <p:sp>
        <p:nvSpPr>
          <p:cNvPr id="22" name="Text 16"/>
          <p:cNvSpPr txBox="1"/>
          <p:nvPr/>
        </p:nvSpPr>
        <p:spPr>
          <a:xfrm>
            <a:off x="923544" y="5286146"/>
            <a:ext cx="4696358"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Tổng quan phân chia</a:t>
            </a:r>
            <a:endParaRPr lang="en-US" sz="1000" dirty="0"/>
          </a:p>
        </p:txBody>
      </p:sp>
      <p:pic>
        <p:nvPicPr>
          <p:cNvPr id="23" name="Image 3" descr="preencoded.png"/>
          <p:cNvPicPr>
            <a:picLocks noChangeAspect="1"/>
          </p:cNvPicPr>
          <p:nvPr/>
        </p:nvPicPr>
        <p:blipFill>
          <a:blip r:embed="rId6"/>
          <a:srcRect/>
          <a:stretch/>
        </p:blipFill>
        <p:spPr>
          <a:xfrm>
            <a:off x="714146" y="5312664"/>
            <a:ext cx="133502" cy="133502"/>
          </a:xfrm>
          <a:prstGeom prst="rect">
            <a:avLst/>
          </a:prstGeom>
        </p:spPr>
      </p:pic>
      <p:sp>
        <p:nvSpPr>
          <p:cNvPr id="24" name="Text 17"/>
          <p:cNvSpPr txBox="1"/>
          <p:nvPr/>
        </p:nvSpPr>
        <p:spPr>
          <a:xfrm>
            <a:off x="714146" y="5572354"/>
            <a:ext cx="1519733"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a:t>
            </a:r>
            <a:endParaRPr lang="en-US" sz="900" dirty="0"/>
          </a:p>
        </p:txBody>
      </p:sp>
      <p:sp>
        <p:nvSpPr>
          <p:cNvPr id="25" name="Text 18"/>
          <p:cNvSpPr txBox="1"/>
          <p:nvPr/>
        </p:nvSpPr>
        <p:spPr>
          <a:xfrm>
            <a:off x="4669841" y="5572354"/>
            <a:ext cx="1371600" cy="171907"/>
          </a:xfrm>
          <a:prstGeom prst="rect">
            <a:avLst/>
          </a:prstGeom>
          <a:noFill/>
          <a:ln/>
        </p:spPr>
        <p:txBody>
          <a:bodyPr wrap="square" lIns="0" tIns="0" rIns="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67% (859.37 tỷ)</a:t>
            </a:r>
            <a:endParaRPr lang="en-US" sz="900" dirty="0"/>
          </a:p>
        </p:txBody>
      </p:sp>
      <p:sp>
        <p:nvSpPr>
          <p:cNvPr id="26" name="Text 19"/>
          <p:cNvSpPr txBox="1"/>
          <p:nvPr/>
        </p:nvSpPr>
        <p:spPr>
          <a:xfrm>
            <a:off x="714146" y="5838444"/>
            <a:ext cx="1173175"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thi</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công</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a:t>
            </a:r>
            <a:endParaRPr lang="en-US" sz="900" dirty="0"/>
          </a:p>
        </p:txBody>
      </p:sp>
      <p:sp>
        <p:nvSpPr>
          <p:cNvPr id="27" name="Text 20"/>
          <p:cNvSpPr txBox="1"/>
          <p:nvPr/>
        </p:nvSpPr>
        <p:spPr>
          <a:xfrm>
            <a:off x="4669841" y="5838444"/>
            <a:ext cx="1371600" cy="171907"/>
          </a:xfrm>
          <a:prstGeom prst="rect">
            <a:avLst/>
          </a:prstGeom>
          <a:noFill/>
          <a:ln/>
        </p:spPr>
        <p:txBody>
          <a:bodyPr wrap="square" lIns="0" tIns="0" rIns="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33% (408.1 tỷ)</a:t>
            </a:r>
            <a:endParaRPr lang="en-US" sz="900" dirty="0"/>
          </a:p>
        </p:txBody>
      </p:sp>
      <p:sp>
        <p:nvSpPr>
          <p:cNvPr id="28" name="Text 21"/>
          <p:cNvSpPr txBox="1"/>
          <p:nvPr/>
        </p:nvSpPr>
        <p:spPr>
          <a:xfrm>
            <a:off x="6715354" y="1047902"/>
            <a:ext cx="4905756"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Tỷ lệ phân chia gói thầu</a:t>
            </a:r>
            <a:endParaRPr lang="en-US" sz="1300" dirty="0"/>
          </a:p>
        </p:txBody>
      </p:sp>
      <p:pic>
        <p:nvPicPr>
          <p:cNvPr id="29" name="Image 4" descr="preencoded.png"/>
          <p:cNvPicPr>
            <a:picLocks noChangeAspect="1"/>
          </p:cNvPicPr>
          <p:nvPr/>
        </p:nvPicPr>
        <p:blipFill>
          <a:blip r:embed="rId7"/>
          <a:srcRect t="-842" b="-842"/>
          <a:stretch/>
        </p:blipFill>
        <p:spPr>
          <a:xfrm>
            <a:off x="6429146" y="1059790"/>
            <a:ext cx="190195" cy="171907"/>
          </a:xfrm>
          <a:prstGeom prst="rect">
            <a:avLst/>
          </a:prstGeom>
        </p:spPr>
      </p:pic>
      <p:pic>
        <p:nvPicPr>
          <p:cNvPr id="30" name="Image 5" descr="preencoded.png"/>
          <p:cNvPicPr>
            <a:picLocks noChangeAspect="1"/>
          </p:cNvPicPr>
          <p:nvPr/>
        </p:nvPicPr>
        <p:blipFill>
          <a:blip r:embed="rId8"/>
          <a:srcRect t="-6" b="-6"/>
          <a:stretch/>
        </p:blipFill>
        <p:spPr>
          <a:xfrm>
            <a:off x="6572707" y="1524305"/>
            <a:ext cx="2476195" cy="2286000"/>
          </a:xfrm>
          <a:prstGeom prst="rect">
            <a:avLst/>
          </a:prstGeom>
        </p:spPr>
      </p:pic>
      <p:sp>
        <p:nvSpPr>
          <p:cNvPr id="31" name="Shape 22"/>
          <p:cNvSpPr/>
          <p:nvPr/>
        </p:nvSpPr>
        <p:spPr>
          <a:xfrm>
            <a:off x="9334195" y="1733702"/>
            <a:ext cx="133502" cy="133502"/>
          </a:xfrm>
          <a:prstGeom prst="roundRect">
            <a:avLst>
              <a:gd name="adj" fmla="val 293543"/>
            </a:avLst>
          </a:prstGeom>
          <a:solidFill>
            <a:srgbClr val="F7A81B"/>
          </a:solidFill>
          <a:ln w="12700">
            <a:solidFill>
              <a:srgbClr val="FFFFFF">
                <a:alpha val="0"/>
              </a:srgbClr>
            </a:solidFill>
            <a:prstDash val="solid"/>
          </a:ln>
        </p:spPr>
        <p:txBody>
          <a:bodyPr/>
          <a:lstStyle/>
          <a:p>
            <a:endParaRPr lang="en-US"/>
          </a:p>
        </p:txBody>
      </p:sp>
      <p:sp>
        <p:nvSpPr>
          <p:cNvPr id="32" name="Text 23"/>
          <p:cNvSpPr txBox="1"/>
          <p:nvPr/>
        </p:nvSpPr>
        <p:spPr>
          <a:xfrm>
            <a:off x="9562795" y="1714500"/>
            <a:ext cx="1553566" cy="171907"/>
          </a:xfrm>
          <a:prstGeom prst="rect">
            <a:avLst/>
          </a:prstGeom>
          <a:noFill/>
          <a:ln/>
        </p:spPr>
        <p:txBody>
          <a:bodyPr wrap="square" lIns="0" tIns="0" rIns="0" bIns="0" rtlCol="0" anchor="ctr"/>
          <a:lstStyle/>
          <a:p>
            <a:r>
              <a:rPr lang="en-US" sz="900" dirty="0" err="1">
                <a:solidFill>
                  <a:srgbClr val="4A5568"/>
                </a:solidFill>
                <a:latin typeface="Open Sans" pitchFamily="34" charset="0"/>
                <a:ea typeface="Open Sans" pitchFamily="34" charset="-122"/>
                <a:cs typeface="Open Sans" pitchFamily="34" charset="-120"/>
              </a:rPr>
              <a:t>Thuê</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thầu</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phụ</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và</a:t>
            </a:r>
            <a:r>
              <a:rPr lang="en-US" sz="900" dirty="0">
                <a:solidFill>
                  <a:srgbClr val="4A5568"/>
                </a:solidFill>
                <a:latin typeface="Open Sans" pitchFamily="34" charset="0"/>
                <a:ea typeface="Open Sans" pitchFamily="34" charset="-122"/>
                <a:cs typeface="Open Sans" pitchFamily="34" charset="-120"/>
              </a:rPr>
              <a:t> NCC (67%)</a:t>
            </a:r>
            <a:endParaRPr lang="en-US" sz="900" dirty="0"/>
          </a:p>
        </p:txBody>
      </p:sp>
      <p:sp>
        <p:nvSpPr>
          <p:cNvPr id="33" name="Shape 24"/>
          <p:cNvSpPr/>
          <p:nvPr/>
        </p:nvSpPr>
        <p:spPr>
          <a:xfrm>
            <a:off x="9334195" y="2018995"/>
            <a:ext cx="133502" cy="133502"/>
          </a:xfrm>
          <a:prstGeom prst="roundRect">
            <a:avLst>
              <a:gd name="adj" fmla="val 293543"/>
            </a:avLst>
          </a:prstGeom>
          <a:solidFill>
            <a:srgbClr val="808080"/>
          </a:solidFill>
          <a:ln w="12700">
            <a:solidFill>
              <a:srgbClr val="FFFFFF">
                <a:alpha val="0"/>
              </a:srgbClr>
            </a:solidFill>
            <a:prstDash val="solid"/>
          </a:ln>
        </p:spPr>
        <p:txBody>
          <a:bodyPr/>
          <a:lstStyle/>
          <a:p>
            <a:endParaRPr lang="en-US"/>
          </a:p>
        </p:txBody>
      </p:sp>
      <p:sp>
        <p:nvSpPr>
          <p:cNvPr id="34" name="Text 25"/>
          <p:cNvSpPr txBox="1"/>
          <p:nvPr/>
        </p:nvSpPr>
        <p:spPr>
          <a:xfrm>
            <a:off x="9562795" y="2000707"/>
            <a:ext cx="1553566" cy="171907"/>
          </a:xfrm>
          <a:prstGeom prst="rect">
            <a:avLst/>
          </a:prstGeom>
          <a:noFill/>
          <a:ln/>
        </p:spPr>
        <p:txBody>
          <a:bodyPr wrap="square" lIns="0" tIns="0" rIns="0" bIns="0" rtlCol="0" anchor="ctr"/>
          <a:lstStyle/>
          <a:p>
            <a:r>
              <a:rPr lang="en-US" sz="900" dirty="0">
                <a:solidFill>
                  <a:srgbClr val="4A5568"/>
                </a:solidFill>
                <a:latin typeface="Open Sans" pitchFamily="34" charset="0"/>
                <a:ea typeface="Open Sans" pitchFamily="34" charset="-122"/>
                <a:cs typeface="Open Sans" pitchFamily="34" charset="-120"/>
              </a:rPr>
              <a:t>ECC </a:t>
            </a:r>
            <a:r>
              <a:rPr lang="en-US" sz="900" dirty="0" err="1">
                <a:solidFill>
                  <a:srgbClr val="4A5568"/>
                </a:solidFill>
                <a:latin typeface="Open Sans" pitchFamily="34" charset="0"/>
                <a:ea typeface="Open Sans" pitchFamily="34" charset="-122"/>
                <a:cs typeface="Open Sans" pitchFamily="34" charset="-120"/>
              </a:rPr>
              <a:t>trực</a:t>
            </a:r>
            <a:r>
              <a:rPr lang="en-US" sz="900" dirty="0">
                <a:solidFill>
                  <a:srgbClr val="4A5568"/>
                </a:solidFill>
                <a:latin typeface="Open Sans" pitchFamily="34" charset="0"/>
                <a:ea typeface="Open Sans" pitchFamily="34" charset="-122"/>
                <a:cs typeface="Open Sans" pitchFamily="34" charset="-120"/>
              </a:rPr>
              <a:t> </a:t>
            </a:r>
            <a:r>
              <a:rPr lang="en-US" sz="900" dirty="0" err="1">
                <a:solidFill>
                  <a:srgbClr val="4A5568"/>
                </a:solidFill>
                <a:latin typeface="Open Sans" pitchFamily="34" charset="0"/>
                <a:ea typeface="Open Sans" pitchFamily="34" charset="-122"/>
                <a:cs typeface="Open Sans" pitchFamily="34" charset="-120"/>
              </a:rPr>
              <a:t>tiếp</a:t>
            </a:r>
            <a:r>
              <a:rPr lang="en-US" sz="900" dirty="0">
                <a:solidFill>
                  <a:srgbClr val="4A5568"/>
                </a:solidFill>
                <a:latin typeface="Open Sans" pitchFamily="34" charset="0"/>
                <a:ea typeface="Open Sans" pitchFamily="34" charset="-122"/>
                <a:cs typeface="Open Sans" pitchFamily="34" charset="-120"/>
              </a:rPr>
              <a:t> (33%)</a:t>
            </a:r>
            <a:endParaRPr lang="en-US" sz="900" dirty="0"/>
          </a:p>
        </p:txBody>
      </p:sp>
      <p:sp>
        <p:nvSpPr>
          <p:cNvPr id="35" name="Text 26"/>
          <p:cNvSpPr txBox="1"/>
          <p:nvPr/>
        </p:nvSpPr>
        <p:spPr>
          <a:xfrm>
            <a:off x="9286646" y="2686507"/>
            <a:ext cx="1143000" cy="286207"/>
          </a:xfrm>
          <a:prstGeom prst="rect">
            <a:avLst/>
          </a:prstGeom>
          <a:noFill/>
          <a:ln/>
        </p:spPr>
        <p:txBody>
          <a:bodyPr wrap="square" lIns="0" tIns="0" rIns="0" bIns="0" rtlCol="0" anchor="ctr"/>
          <a:lstStyle/>
          <a:p>
            <a:pPr marL="0" indent="0" algn="ctr">
              <a:buNone/>
            </a:pPr>
            <a:r>
              <a:rPr lang="en-US" sz="1600" b="1" dirty="0">
                <a:solidFill>
                  <a:srgbClr val="F7A81B"/>
                </a:solidFill>
                <a:latin typeface="Open Sans" pitchFamily="34" charset="0"/>
                <a:ea typeface="Open Sans" pitchFamily="34" charset="-122"/>
                <a:cs typeface="Open Sans" pitchFamily="34" charset="-120"/>
              </a:rPr>
              <a:t>68.3%</a:t>
            </a:r>
            <a:endParaRPr lang="en-US" sz="1600" dirty="0"/>
          </a:p>
        </p:txBody>
      </p:sp>
      <p:sp>
        <p:nvSpPr>
          <p:cNvPr id="36" name="Text 27"/>
          <p:cNvSpPr txBox="1"/>
          <p:nvPr/>
        </p:nvSpPr>
        <p:spPr>
          <a:xfrm>
            <a:off x="9286646"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Trực tiếp</a:t>
            </a:r>
            <a:endParaRPr lang="en-US" sz="800" dirty="0"/>
          </a:p>
        </p:txBody>
      </p:sp>
      <p:sp>
        <p:nvSpPr>
          <p:cNvPr id="37" name="Text 28"/>
          <p:cNvSpPr txBox="1"/>
          <p:nvPr/>
        </p:nvSpPr>
        <p:spPr>
          <a:xfrm>
            <a:off x="10524744" y="2686507"/>
            <a:ext cx="1143000" cy="286207"/>
          </a:xfrm>
          <a:prstGeom prst="rect">
            <a:avLst/>
          </a:prstGeom>
          <a:noFill/>
          <a:ln/>
        </p:spPr>
        <p:txBody>
          <a:bodyPr wrap="square" lIns="0" tIns="0" rIns="0" bIns="0" rtlCol="0" anchor="ctr"/>
          <a:lstStyle/>
          <a:p>
            <a:pPr marL="0" indent="0" algn="ctr">
              <a:buNone/>
            </a:pPr>
            <a:r>
              <a:rPr lang="en-US" sz="1600" b="1" dirty="0">
                <a:solidFill>
                  <a:srgbClr val="808080"/>
                </a:solidFill>
                <a:latin typeface="Open Sans" pitchFamily="34" charset="0"/>
                <a:ea typeface="Open Sans" pitchFamily="34" charset="-122"/>
                <a:cs typeface="Open Sans" pitchFamily="34" charset="-120"/>
              </a:rPr>
              <a:t>31.7%</a:t>
            </a:r>
            <a:endParaRPr lang="en-US" sz="1600" dirty="0"/>
          </a:p>
        </p:txBody>
      </p:sp>
      <p:sp>
        <p:nvSpPr>
          <p:cNvPr id="38" name="Text 29"/>
          <p:cNvSpPr txBox="1"/>
          <p:nvPr/>
        </p:nvSpPr>
        <p:spPr>
          <a:xfrm>
            <a:off x="10524744" y="3010205"/>
            <a:ext cx="1143000" cy="143561"/>
          </a:xfrm>
          <a:prstGeom prst="rect">
            <a:avLst/>
          </a:prstGeom>
          <a:noFill/>
          <a:ln/>
        </p:spPr>
        <p:txBody>
          <a:bodyPr wrap="square" lIns="0" tIns="0" rIns="0" bIns="0" rtlCol="0" anchor="ctr"/>
          <a:lstStyle/>
          <a:p>
            <a:pPr marL="0" indent="0" algn="ctr">
              <a:buNone/>
            </a:pPr>
            <a:r>
              <a:rPr lang="en-US" sz="800" kern="0" spc="41" dirty="0">
                <a:solidFill>
                  <a:srgbClr val="718096"/>
                </a:solidFill>
                <a:latin typeface="Open Sans" pitchFamily="34" charset="0"/>
                <a:ea typeface="Open Sans" pitchFamily="34" charset="-122"/>
                <a:cs typeface="Open Sans" pitchFamily="34" charset="-120"/>
              </a:rPr>
              <a:t>Thầu phụ</a:t>
            </a:r>
            <a:endParaRPr lang="en-US" sz="800" dirty="0"/>
          </a:p>
        </p:txBody>
      </p:sp>
      <p:sp>
        <p:nvSpPr>
          <p:cNvPr id="39" name="Text 30"/>
          <p:cNvSpPr txBox="1"/>
          <p:nvPr/>
        </p:nvSpPr>
        <p:spPr>
          <a:xfrm>
            <a:off x="6743700" y="4619549"/>
            <a:ext cx="48774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Mô hình triển khai</a:t>
            </a:r>
            <a:endParaRPr lang="en-US" sz="1300" dirty="0"/>
          </a:p>
        </p:txBody>
      </p:sp>
      <p:pic>
        <p:nvPicPr>
          <p:cNvPr id="40" name="Image 6" descr="preencoded.png"/>
          <p:cNvPicPr>
            <a:picLocks noChangeAspect="1"/>
          </p:cNvPicPr>
          <p:nvPr/>
        </p:nvPicPr>
        <p:blipFill>
          <a:blip r:embed="rId9"/>
          <a:srcRect l="-1064" r="-1064"/>
          <a:stretch/>
        </p:blipFill>
        <p:spPr>
          <a:xfrm>
            <a:off x="6429146" y="4631436"/>
            <a:ext cx="219456" cy="171907"/>
          </a:xfrm>
          <a:prstGeom prst="rect">
            <a:avLst/>
          </a:prstGeom>
        </p:spPr>
      </p:pic>
      <p:sp>
        <p:nvSpPr>
          <p:cNvPr id="41" name="Text 31"/>
          <p:cNvSpPr txBox="1"/>
          <p:nvPr/>
        </p:nvSpPr>
        <p:spPr>
          <a:xfrm>
            <a:off x="6524244"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Chủ đầu tư</a:t>
            </a:r>
            <a:endParaRPr lang="en-US" sz="900" dirty="0"/>
          </a:p>
        </p:txBody>
      </p:sp>
      <p:sp>
        <p:nvSpPr>
          <p:cNvPr id="42" name="Text 32"/>
          <p:cNvSpPr txBox="1"/>
          <p:nvPr/>
        </p:nvSpPr>
        <p:spPr>
          <a:xfrm>
            <a:off x="6524244"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Liên danh ITF &amp; Tiền Phong</a:t>
            </a:r>
            <a:endParaRPr lang="en-US" sz="1000" dirty="0"/>
          </a:p>
        </p:txBody>
      </p:sp>
      <p:sp>
        <p:nvSpPr>
          <p:cNvPr id="43" name="Text 33"/>
          <p:cNvSpPr txBox="1"/>
          <p:nvPr/>
        </p:nvSpPr>
        <p:spPr>
          <a:xfrm>
            <a:off x="9191549" y="51435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Tổng thầu</a:t>
            </a:r>
            <a:endParaRPr lang="en-US" sz="900" dirty="0"/>
          </a:p>
        </p:txBody>
      </p:sp>
      <p:sp>
        <p:nvSpPr>
          <p:cNvPr id="44" name="Text 34"/>
          <p:cNvSpPr txBox="1"/>
          <p:nvPr/>
        </p:nvSpPr>
        <p:spPr>
          <a:xfrm>
            <a:off x="9191549" y="53629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VNCN E&amp;C</a:t>
            </a:r>
            <a:endParaRPr lang="en-US" sz="1000" dirty="0"/>
          </a:p>
        </p:txBody>
      </p:sp>
      <p:sp>
        <p:nvSpPr>
          <p:cNvPr id="45" name="Text 35"/>
          <p:cNvSpPr txBox="1"/>
          <p:nvPr/>
        </p:nvSpPr>
        <p:spPr>
          <a:xfrm>
            <a:off x="6524244"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Ban XD</a:t>
            </a:r>
            <a:endParaRPr lang="en-US" sz="900" dirty="0"/>
          </a:p>
        </p:txBody>
      </p:sp>
      <p:sp>
        <p:nvSpPr>
          <p:cNvPr id="46" name="Text 36"/>
          <p:cNvSpPr txBox="1"/>
          <p:nvPr/>
        </p:nvSpPr>
        <p:spPr>
          <a:xfrm>
            <a:off x="6524244" y="5934456"/>
            <a:ext cx="2382012" cy="181051"/>
          </a:xfrm>
          <a:prstGeom prst="rect">
            <a:avLst/>
          </a:prstGeom>
          <a:noFill/>
          <a:ln/>
        </p:spPr>
        <p:txBody>
          <a:bodyPr wrap="square" lIns="0" tIns="0" rIns="0" bIns="0" rtlCol="0" anchor="ctr"/>
          <a:lstStyle/>
          <a:p>
            <a:pPr marL="0" indent="0" algn="l">
              <a:buNone/>
            </a:pPr>
            <a:r>
              <a:rPr lang="en-US" sz="1000" b="1" dirty="0">
                <a:solidFill>
                  <a:srgbClr val="2D3748"/>
                </a:solidFill>
                <a:latin typeface="Open Sans" pitchFamily="34" charset="0"/>
                <a:ea typeface="Open Sans" pitchFamily="34" charset="-122"/>
                <a:cs typeface="Open Sans" pitchFamily="34" charset="-120"/>
              </a:rPr>
              <a:t>Thi công phần thô</a:t>
            </a:r>
            <a:endParaRPr lang="en-US" sz="1000" dirty="0"/>
          </a:p>
        </p:txBody>
      </p:sp>
      <p:sp>
        <p:nvSpPr>
          <p:cNvPr id="47" name="Text 37"/>
          <p:cNvSpPr txBox="1"/>
          <p:nvPr/>
        </p:nvSpPr>
        <p:spPr>
          <a:xfrm>
            <a:off x="9191549" y="5715000"/>
            <a:ext cx="2382012" cy="162763"/>
          </a:xfrm>
          <a:prstGeom prst="rect">
            <a:avLst/>
          </a:prstGeom>
          <a:noFill/>
          <a:ln/>
        </p:spPr>
        <p:txBody>
          <a:bodyPr wrap="square" lIns="0" tIns="0" rIns="0" bIns="0" rtlCol="0" anchor="ctr"/>
          <a:lstStyle/>
          <a:p>
            <a:pPr marL="0" indent="0" algn="l">
              <a:buNone/>
            </a:pPr>
            <a:r>
              <a:rPr lang="en-US" sz="900" dirty="0">
                <a:solidFill>
                  <a:srgbClr val="718096"/>
                </a:solidFill>
                <a:latin typeface="Open Sans" pitchFamily="34" charset="0"/>
                <a:ea typeface="Open Sans" pitchFamily="34" charset="-122"/>
                <a:cs typeface="Open Sans" pitchFamily="34" charset="-120"/>
              </a:rPr>
              <a:t>ECC</a:t>
            </a:r>
            <a:endParaRPr lang="en-US" sz="900" dirty="0"/>
          </a:p>
        </p:txBody>
      </p:sp>
      <p:sp>
        <p:nvSpPr>
          <p:cNvPr id="48" name="Text 38"/>
          <p:cNvSpPr txBox="1"/>
          <p:nvPr/>
        </p:nvSpPr>
        <p:spPr>
          <a:xfrm>
            <a:off x="9191549" y="5934456"/>
            <a:ext cx="2382012"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Công ty thi công trực tiếp</a:t>
            </a:r>
            <a:endParaRPr lang="en-US" sz="1000" dirty="0"/>
          </a:p>
        </p:txBody>
      </p:sp>
      <p:sp>
        <p:nvSpPr>
          <p:cNvPr id="49" name="Text 39"/>
          <p:cNvSpPr txBox="1"/>
          <p:nvPr/>
        </p:nvSpPr>
        <p:spPr>
          <a:xfrm>
            <a:off x="543154" y="6629400"/>
            <a:ext cx="3648456"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50" name="Image 7" descr="preencoded.png"/>
          <p:cNvPicPr>
            <a:picLocks noChangeAspect="1"/>
          </p:cNvPicPr>
          <p:nvPr/>
        </p:nvPicPr>
        <p:blipFill>
          <a:blip r:embed="rId10"/>
          <a:srcRect l="-133" r="-133"/>
          <a:stretch/>
        </p:blipFill>
        <p:spPr>
          <a:xfrm>
            <a:off x="381305" y="6653174"/>
            <a:ext cx="85954" cy="114300"/>
          </a:xfrm>
          <a:prstGeom prst="rect">
            <a:avLst/>
          </a:prstGeom>
        </p:spPr>
      </p:pic>
      <p:sp>
        <p:nvSpPr>
          <p:cNvPr id="51" name="Text 40"/>
          <p:cNvSpPr txBox="1"/>
          <p:nvPr/>
        </p:nvSpPr>
        <p:spPr>
          <a:xfrm>
            <a:off x="10477195" y="6629400"/>
            <a:ext cx="1334110" cy="162763"/>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7/12</a:t>
            </a:r>
            <a:endParaRPr lang="en-US" sz="900" dirty="0"/>
          </a:p>
        </p:txBody>
      </p:sp>
      <p:pic>
        <p:nvPicPr>
          <p:cNvPr id="52" name="Picture 51">
            <a:extLst>
              <a:ext uri="{FF2B5EF4-FFF2-40B4-BE49-F238E27FC236}">
                <a16:creationId xmlns:a16="http://schemas.microsoft.com/office/drawing/2014/main" id="{10887C7C-C4C7-BFE4-0E35-9AC4FBB63771}"/>
              </a:ext>
            </a:extLst>
          </p:cNvPr>
          <p:cNvPicPr>
            <a:picLocks noChangeAspect="1"/>
          </p:cNvPicPr>
          <p:nvPr/>
        </p:nvPicPr>
        <p:blipFill>
          <a:blip r:embed="rId11"/>
          <a:stretch>
            <a:fillRect/>
          </a:stretch>
        </p:blipFill>
        <p:spPr>
          <a:xfrm>
            <a:off x="381305" y="1517599"/>
            <a:ext cx="5591556" cy="3518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471830" y="200254"/>
            <a:ext cx="200254" cy="267005"/>
          </a:xfrm>
          <a:prstGeom prst="rect">
            <a:avLst/>
          </a:prstGeom>
        </p:spPr>
      </p:pic>
      <p:sp>
        <p:nvSpPr>
          <p:cNvPr id="7" name="Text 4"/>
          <p:cNvSpPr txBox="1"/>
          <p:nvPr/>
        </p:nvSpPr>
        <p:spPr>
          <a:xfrm>
            <a:off x="905256" y="190195"/>
            <a:ext cx="571500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THÀNH LẬP CÔNG TY ECC</a:t>
            </a:r>
            <a:endParaRPr lang="en-US" sz="1800" dirty="0"/>
          </a:p>
        </p:txBody>
      </p:sp>
      <p:sp>
        <p:nvSpPr>
          <p:cNvPr id="8" name="Text 5"/>
          <p:cNvSpPr txBox="1"/>
          <p:nvPr/>
        </p:nvSpPr>
        <p:spPr>
          <a:xfrm>
            <a:off x="10477195" y="237744"/>
            <a:ext cx="133411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9" name="Image 1" descr="preencoded.png"/>
          <p:cNvPicPr>
            <a:picLocks noChangeAspect="1"/>
          </p:cNvPicPr>
          <p:nvPr/>
        </p:nvPicPr>
        <p:blipFill>
          <a:blip r:embed="rId4"/>
          <a:srcRect t="-1100" b="-1100"/>
          <a:stretch/>
        </p:blipFill>
        <p:spPr>
          <a:xfrm>
            <a:off x="10287000" y="261518"/>
            <a:ext cx="114300" cy="133502"/>
          </a:xfrm>
          <a:prstGeom prst="rect">
            <a:avLst/>
          </a:prstGeom>
        </p:spPr>
      </p:pic>
      <p:sp>
        <p:nvSpPr>
          <p:cNvPr id="10" name="Shape 6"/>
          <p:cNvSpPr/>
          <p:nvPr/>
        </p:nvSpPr>
        <p:spPr>
          <a:xfrm>
            <a:off x="381305" y="857707"/>
            <a:ext cx="5572354"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Text 7"/>
          <p:cNvSpPr txBox="1"/>
          <p:nvPr/>
        </p:nvSpPr>
        <p:spPr>
          <a:xfrm>
            <a:off x="857707" y="1086307"/>
            <a:ext cx="4867351"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Mục tiêu thành lập ECC</a:t>
            </a:r>
            <a:endParaRPr lang="en-US" sz="1300" dirty="0"/>
          </a:p>
        </p:txBody>
      </p:sp>
      <p:pic>
        <p:nvPicPr>
          <p:cNvPr id="12" name="Image 2" descr="preencoded.png"/>
          <p:cNvPicPr>
            <a:picLocks noChangeAspect="1"/>
          </p:cNvPicPr>
          <p:nvPr/>
        </p:nvPicPr>
        <p:blipFill>
          <a:blip r:embed="rId5"/>
          <a:srcRect/>
          <a:stretch/>
        </p:blipFill>
        <p:spPr>
          <a:xfrm>
            <a:off x="609905" y="1114654"/>
            <a:ext cx="152705" cy="152705"/>
          </a:xfrm>
          <a:prstGeom prst="rect">
            <a:avLst/>
          </a:prstGeom>
        </p:spPr>
      </p:pic>
      <p:sp>
        <p:nvSpPr>
          <p:cNvPr id="13" name="Shape 8"/>
          <p:cNvSpPr/>
          <p:nvPr/>
        </p:nvSpPr>
        <p:spPr>
          <a:xfrm>
            <a:off x="6099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4" name="Image 3" descr="preencoded.png"/>
          <p:cNvPicPr>
            <a:picLocks noChangeAspect="1"/>
          </p:cNvPicPr>
          <p:nvPr/>
        </p:nvPicPr>
        <p:blipFill>
          <a:blip r:embed="rId6"/>
          <a:srcRect/>
          <a:stretch/>
        </p:blipFill>
        <p:spPr>
          <a:xfrm>
            <a:off x="1276502" y="1723644"/>
            <a:ext cx="228600" cy="228600"/>
          </a:xfrm>
          <a:prstGeom prst="rect">
            <a:avLst/>
          </a:prstGeom>
        </p:spPr>
      </p:pic>
      <p:sp>
        <p:nvSpPr>
          <p:cNvPr id="15" name="Text 9"/>
          <p:cNvSpPr txBox="1"/>
          <p:nvPr/>
        </p:nvSpPr>
        <p:spPr>
          <a:xfrm>
            <a:off x="532181" y="2095805"/>
            <a:ext cx="1726387"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Kiểm soát chất lượng</a:t>
            </a:r>
            <a:endParaRPr lang="en-US" sz="900" dirty="0"/>
          </a:p>
        </p:txBody>
      </p:sp>
      <p:sp>
        <p:nvSpPr>
          <p:cNvPr id="16" name="Shape 10"/>
          <p:cNvSpPr/>
          <p:nvPr/>
        </p:nvSpPr>
        <p:spPr>
          <a:xfrm>
            <a:off x="2381098"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17" name="Image 4" descr="preencoded.png"/>
          <p:cNvPicPr>
            <a:picLocks noChangeAspect="1"/>
          </p:cNvPicPr>
          <p:nvPr/>
        </p:nvPicPr>
        <p:blipFill>
          <a:blip r:embed="rId7"/>
          <a:srcRect/>
          <a:stretch/>
        </p:blipFill>
        <p:spPr>
          <a:xfrm>
            <a:off x="3047695" y="1723644"/>
            <a:ext cx="228600" cy="228600"/>
          </a:xfrm>
          <a:prstGeom prst="rect">
            <a:avLst/>
          </a:prstGeom>
        </p:spPr>
      </p:pic>
      <p:sp>
        <p:nvSpPr>
          <p:cNvPr id="18" name="Text 11"/>
          <p:cNvSpPr txBox="1"/>
          <p:nvPr/>
        </p:nvSpPr>
        <p:spPr>
          <a:xfrm>
            <a:off x="2476195" y="2095805"/>
            <a:ext cx="1381658" cy="152705"/>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Tăng lợi nhuận</a:t>
            </a:r>
            <a:endParaRPr lang="en-US" sz="900" dirty="0"/>
          </a:p>
        </p:txBody>
      </p:sp>
      <p:sp>
        <p:nvSpPr>
          <p:cNvPr id="19" name="Shape 12"/>
          <p:cNvSpPr/>
          <p:nvPr/>
        </p:nvSpPr>
        <p:spPr>
          <a:xfrm>
            <a:off x="4153205" y="1505102"/>
            <a:ext cx="1571854" cy="1047902"/>
          </a:xfrm>
          <a:prstGeom prst="roundRect">
            <a:avLst>
              <a:gd name="adj" fmla="val 15865"/>
            </a:avLst>
          </a:prstGeom>
          <a:solidFill>
            <a:srgbClr val="F8F9FA"/>
          </a:solidFill>
          <a:ln w="12700">
            <a:solidFill>
              <a:srgbClr val="E2E8F0"/>
            </a:solidFill>
            <a:prstDash val="solid"/>
          </a:ln>
        </p:spPr>
        <p:txBody>
          <a:bodyPr/>
          <a:lstStyle/>
          <a:p>
            <a:endParaRPr lang="en-US"/>
          </a:p>
        </p:txBody>
      </p:sp>
      <p:pic>
        <p:nvPicPr>
          <p:cNvPr id="20" name="Image 5" descr="preencoded.png"/>
          <p:cNvPicPr>
            <a:picLocks noChangeAspect="1"/>
          </p:cNvPicPr>
          <p:nvPr/>
        </p:nvPicPr>
        <p:blipFill>
          <a:blip r:embed="rId8"/>
          <a:srcRect l="-80" r="-80"/>
          <a:stretch/>
        </p:blipFill>
        <p:spPr>
          <a:xfrm>
            <a:off x="4791456" y="1723644"/>
            <a:ext cx="286207" cy="228600"/>
          </a:xfrm>
          <a:prstGeom prst="rect">
            <a:avLst/>
          </a:prstGeom>
        </p:spPr>
      </p:pic>
      <p:sp>
        <p:nvSpPr>
          <p:cNvPr id="21" name="Text 13"/>
          <p:cNvSpPr txBox="1"/>
          <p:nvPr/>
        </p:nvSpPr>
        <p:spPr>
          <a:xfrm>
            <a:off x="4248302" y="2095805"/>
            <a:ext cx="1381658" cy="305410"/>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Giảm phụ thuộc thầu phụ</a:t>
            </a:r>
            <a:endParaRPr lang="en-US" sz="900" dirty="0"/>
          </a:p>
        </p:txBody>
      </p:sp>
      <p:sp>
        <p:nvSpPr>
          <p:cNvPr id="22" name="Shape 14"/>
          <p:cNvSpPr/>
          <p:nvPr/>
        </p:nvSpPr>
        <p:spPr>
          <a:xfrm>
            <a:off x="609905" y="2743200"/>
            <a:ext cx="5115154" cy="714146"/>
          </a:xfrm>
          <a:prstGeom prst="roundRect">
            <a:avLst>
              <a:gd name="adj" fmla="val 34144"/>
            </a:avLst>
          </a:prstGeom>
          <a:solidFill>
            <a:srgbClr val="F7A81B">
              <a:alpha val="10000"/>
            </a:srgbClr>
          </a:solidFill>
          <a:ln w="12700">
            <a:solidFill>
              <a:srgbClr val="F7A81B">
                <a:alpha val="30000"/>
              </a:srgbClr>
            </a:solidFill>
            <a:prstDash val="solid"/>
          </a:ln>
        </p:spPr>
        <p:txBody>
          <a:bodyPr/>
          <a:lstStyle/>
          <a:p>
            <a:endParaRPr lang="en-US"/>
          </a:p>
        </p:txBody>
      </p:sp>
      <p:sp>
        <p:nvSpPr>
          <p:cNvPr id="23" name="Text 15"/>
          <p:cNvSpPr txBox="1"/>
          <p:nvPr/>
        </p:nvSpPr>
        <p:spPr>
          <a:xfrm>
            <a:off x="971093" y="2809951"/>
            <a:ext cx="4601261"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 Phạm vi công việc</a:t>
            </a:r>
            <a:endParaRPr lang="en-US" sz="1000" dirty="0"/>
          </a:p>
        </p:txBody>
      </p:sp>
      <p:pic>
        <p:nvPicPr>
          <p:cNvPr id="24" name="Image 6" descr="preencoded.png"/>
          <p:cNvPicPr>
            <a:picLocks noChangeAspect="1"/>
          </p:cNvPicPr>
          <p:nvPr/>
        </p:nvPicPr>
        <p:blipFill>
          <a:blip r:embed="rId9"/>
          <a:srcRect/>
          <a:stretch/>
        </p:blipFill>
        <p:spPr>
          <a:xfrm>
            <a:off x="761695" y="2833726"/>
            <a:ext cx="133502" cy="133502"/>
          </a:xfrm>
          <a:prstGeom prst="rect">
            <a:avLst/>
          </a:prstGeom>
        </p:spPr>
      </p:pic>
      <p:sp>
        <p:nvSpPr>
          <p:cNvPr id="25" name="Text 16"/>
          <p:cNvSpPr txBox="1"/>
          <p:nvPr/>
        </p:nvSpPr>
        <p:spPr>
          <a:xfrm>
            <a:off x="761695" y="3029407"/>
            <a:ext cx="5241341"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BTCT móng, hầm, thân + hoàn thiện ướt (xây trát, ốp, lát, sơn, bả...)</a:t>
            </a:r>
            <a:endParaRPr lang="en-US" sz="900" dirty="0"/>
          </a:p>
        </p:txBody>
      </p:sp>
      <p:sp>
        <p:nvSpPr>
          <p:cNvPr id="26" name="Shape 17"/>
          <p:cNvSpPr/>
          <p:nvPr/>
        </p:nvSpPr>
        <p:spPr>
          <a:xfrm>
            <a:off x="381305" y="3857854"/>
            <a:ext cx="5572354"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7" name="Text 18"/>
          <p:cNvSpPr txBox="1"/>
          <p:nvPr/>
        </p:nvSpPr>
        <p:spPr>
          <a:xfrm>
            <a:off x="876910" y="4048049"/>
            <a:ext cx="4848149"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Sơ đồ tổ chức</a:t>
            </a:r>
            <a:endParaRPr lang="en-US" sz="1300" dirty="0"/>
          </a:p>
        </p:txBody>
      </p:sp>
      <p:pic>
        <p:nvPicPr>
          <p:cNvPr id="28" name="Image 7" descr="preencoded.png"/>
          <p:cNvPicPr>
            <a:picLocks noChangeAspect="1"/>
          </p:cNvPicPr>
          <p:nvPr/>
        </p:nvPicPr>
        <p:blipFill>
          <a:blip r:embed="rId10"/>
          <a:srcRect l="-33" r="-33"/>
          <a:stretch/>
        </p:blipFill>
        <p:spPr>
          <a:xfrm>
            <a:off x="609905" y="4076395"/>
            <a:ext cx="171907" cy="152705"/>
          </a:xfrm>
          <a:prstGeom prst="rect">
            <a:avLst/>
          </a:prstGeom>
        </p:spPr>
      </p:pic>
      <p:sp>
        <p:nvSpPr>
          <p:cNvPr id="29" name="Shape 19"/>
          <p:cNvSpPr/>
          <p:nvPr/>
        </p:nvSpPr>
        <p:spPr>
          <a:xfrm>
            <a:off x="2447849" y="4429354"/>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0" name="Text 20"/>
          <p:cNvSpPr txBox="1"/>
          <p:nvPr/>
        </p:nvSpPr>
        <p:spPr>
          <a:xfrm>
            <a:off x="2542946" y="4505249"/>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PMO</a:t>
            </a:r>
            <a:endParaRPr lang="en-US" sz="900" dirty="0"/>
          </a:p>
        </p:txBody>
      </p:sp>
      <p:sp>
        <p:nvSpPr>
          <p:cNvPr id="31" name="Text 21"/>
          <p:cNvSpPr txBox="1"/>
          <p:nvPr/>
        </p:nvSpPr>
        <p:spPr>
          <a:xfrm>
            <a:off x="2542946" y="4677156"/>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Quản lý dự án</a:t>
            </a:r>
            <a:endParaRPr lang="en-US" sz="800" dirty="0"/>
          </a:p>
        </p:txBody>
      </p:sp>
      <p:sp>
        <p:nvSpPr>
          <p:cNvPr id="32" name="Shape 22"/>
          <p:cNvSpPr/>
          <p:nvPr/>
        </p:nvSpPr>
        <p:spPr>
          <a:xfrm>
            <a:off x="609905"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3" name="Text 23"/>
          <p:cNvSpPr txBox="1"/>
          <p:nvPr/>
        </p:nvSpPr>
        <p:spPr>
          <a:xfrm>
            <a:off x="705002"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Site Teams</a:t>
            </a:r>
            <a:endParaRPr lang="en-US" sz="900" dirty="0"/>
          </a:p>
        </p:txBody>
      </p:sp>
      <p:sp>
        <p:nvSpPr>
          <p:cNvPr id="34" name="Text 24"/>
          <p:cNvSpPr txBox="1"/>
          <p:nvPr/>
        </p:nvSpPr>
        <p:spPr>
          <a:xfrm>
            <a:off x="705002"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 công</a:t>
            </a:r>
            <a:endParaRPr lang="en-US" sz="800" dirty="0"/>
          </a:p>
        </p:txBody>
      </p:sp>
      <p:sp>
        <p:nvSpPr>
          <p:cNvPr id="35" name="Shape 25"/>
          <p:cNvSpPr/>
          <p:nvPr/>
        </p:nvSpPr>
        <p:spPr>
          <a:xfrm>
            <a:off x="2447849"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6" name="Text 26"/>
          <p:cNvSpPr txBox="1"/>
          <p:nvPr/>
        </p:nvSpPr>
        <p:spPr>
          <a:xfrm>
            <a:off x="2542946"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QS</a:t>
            </a:r>
            <a:endParaRPr lang="en-US" sz="900" dirty="0"/>
          </a:p>
        </p:txBody>
      </p:sp>
      <p:sp>
        <p:nvSpPr>
          <p:cNvPr id="37" name="Text 27"/>
          <p:cNvSpPr txBox="1"/>
          <p:nvPr/>
        </p:nvSpPr>
        <p:spPr>
          <a:xfrm>
            <a:off x="2542946" y="5296205"/>
            <a:ext cx="1239012"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Quantity Surveyor</a:t>
            </a:r>
            <a:endParaRPr lang="en-US" sz="800" dirty="0"/>
          </a:p>
        </p:txBody>
      </p:sp>
      <p:sp>
        <p:nvSpPr>
          <p:cNvPr id="38" name="Shape 28"/>
          <p:cNvSpPr/>
          <p:nvPr/>
        </p:nvSpPr>
        <p:spPr>
          <a:xfrm>
            <a:off x="4295851" y="5048402"/>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39" name="Text 29"/>
          <p:cNvSpPr txBox="1"/>
          <p:nvPr/>
        </p:nvSpPr>
        <p:spPr>
          <a:xfrm>
            <a:off x="4390949" y="5124298"/>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HSE/QAQC</a:t>
            </a:r>
            <a:endParaRPr lang="en-US" sz="900" dirty="0"/>
          </a:p>
        </p:txBody>
      </p:sp>
      <p:sp>
        <p:nvSpPr>
          <p:cNvPr id="40" name="Text 30"/>
          <p:cNvSpPr txBox="1"/>
          <p:nvPr/>
        </p:nvSpPr>
        <p:spPr>
          <a:xfrm>
            <a:off x="4288536" y="5296205"/>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An toàn &amp; Chất lượng</a:t>
            </a:r>
            <a:endParaRPr lang="en-US" sz="800" dirty="0"/>
          </a:p>
        </p:txBody>
      </p:sp>
      <p:sp>
        <p:nvSpPr>
          <p:cNvPr id="41" name="Shape 31"/>
          <p:cNvSpPr/>
          <p:nvPr/>
        </p:nvSpPr>
        <p:spPr>
          <a:xfrm>
            <a:off x="2447849" y="5667451"/>
            <a:ext cx="1429207" cy="523951"/>
          </a:xfrm>
          <a:prstGeom prst="roundRect">
            <a:avLst>
              <a:gd name="adj" fmla="val 63462"/>
            </a:avLst>
          </a:prstGeom>
          <a:solidFill>
            <a:srgbClr val="F8F9FA"/>
          </a:solidFill>
          <a:ln w="12700">
            <a:solidFill>
              <a:srgbClr val="F7A81B"/>
            </a:solidFill>
            <a:prstDash val="solid"/>
          </a:ln>
        </p:spPr>
        <p:txBody>
          <a:bodyPr/>
          <a:lstStyle/>
          <a:p>
            <a:endParaRPr lang="en-US"/>
          </a:p>
        </p:txBody>
      </p:sp>
      <p:sp>
        <p:nvSpPr>
          <p:cNvPr id="42" name="Text 32"/>
          <p:cNvSpPr txBox="1"/>
          <p:nvPr/>
        </p:nvSpPr>
        <p:spPr>
          <a:xfrm>
            <a:off x="2542946" y="5743346"/>
            <a:ext cx="1239012" cy="171907"/>
          </a:xfrm>
          <a:prstGeom prst="rect">
            <a:avLst/>
          </a:prstGeom>
          <a:noFill/>
          <a:ln/>
        </p:spPr>
        <p:txBody>
          <a:bodyPr wrap="square" lIns="0" tIns="0" rIns="0" bIns="0" rtlCol="0" anchor="ctr"/>
          <a:lstStyle/>
          <a:p>
            <a:pPr marL="0" indent="0" algn="ctr">
              <a:buNone/>
            </a:pPr>
            <a:r>
              <a:rPr lang="en-US" sz="900" b="1" dirty="0">
                <a:solidFill>
                  <a:srgbClr val="808080"/>
                </a:solidFill>
                <a:latin typeface="Open Sans" pitchFamily="34" charset="0"/>
                <a:ea typeface="Open Sans" pitchFamily="34" charset="-122"/>
                <a:cs typeface="Open Sans" pitchFamily="34" charset="-120"/>
              </a:rPr>
              <a:t>Plant/Formwork</a:t>
            </a:r>
            <a:endParaRPr lang="en-US" sz="900" dirty="0"/>
          </a:p>
        </p:txBody>
      </p:sp>
      <p:sp>
        <p:nvSpPr>
          <p:cNvPr id="43" name="Text 33"/>
          <p:cNvSpPr txBox="1"/>
          <p:nvPr/>
        </p:nvSpPr>
        <p:spPr>
          <a:xfrm>
            <a:off x="2440534" y="5915254"/>
            <a:ext cx="1443838" cy="143561"/>
          </a:xfrm>
          <a:prstGeom prst="rect">
            <a:avLst/>
          </a:prstGeom>
          <a:noFill/>
          <a:ln/>
        </p:spPr>
        <p:txBody>
          <a:bodyPr wrap="square" lIns="0" tIns="0" rIns="0" bIns="0" rtlCol="0" anchor="ctr"/>
          <a:lstStyle/>
          <a:p>
            <a:pPr marL="0" indent="0" algn="ctr">
              <a:buNone/>
            </a:pPr>
            <a:r>
              <a:rPr lang="en-US" sz="800" dirty="0">
                <a:solidFill>
                  <a:srgbClr val="A0AEC0"/>
                </a:solidFill>
                <a:latin typeface="Open Sans" pitchFamily="34" charset="0"/>
                <a:ea typeface="Open Sans" pitchFamily="34" charset="-122"/>
                <a:cs typeface="Open Sans" pitchFamily="34" charset="-120"/>
              </a:rPr>
              <a:t>Thiết bị &amp; Ván khuôn</a:t>
            </a:r>
            <a:endParaRPr lang="en-US" sz="800" dirty="0"/>
          </a:p>
        </p:txBody>
      </p:sp>
      <p:sp>
        <p:nvSpPr>
          <p:cNvPr id="44" name="Shape 34"/>
          <p:cNvSpPr/>
          <p:nvPr/>
        </p:nvSpPr>
        <p:spPr>
          <a:xfrm>
            <a:off x="6191402" y="857707"/>
            <a:ext cx="5619902" cy="2762402"/>
          </a:xfrm>
          <a:prstGeom prst="roundRect">
            <a:avLst>
              <a:gd name="adj" fmla="val 273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45" name="Text 35"/>
          <p:cNvSpPr txBox="1"/>
          <p:nvPr/>
        </p:nvSpPr>
        <p:spPr>
          <a:xfrm>
            <a:off x="6687007" y="1086307"/>
            <a:ext cx="4895698"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Đầu tư ban đầu</a:t>
            </a:r>
            <a:endParaRPr lang="en-US" sz="1300" dirty="0"/>
          </a:p>
        </p:txBody>
      </p:sp>
      <p:pic>
        <p:nvPicPr>
          <p:cNvPr id="46" name="Image 8" descr="preencoded.png"/>
          <p:cNvPicPr>
            <a:picLocks noChangeAspect="1"/>
          </p:cNvPicPr>
          <p:nvPr/>
        </p:nvPicPr>
        <p:blipFill>
          <a:blip r:embed="rId11"/>
          <a:srcRect l="-33" r="-33"/>
          <a:stretch/>
        </p:blipFill>
        <p:spPr>
          <a:xfrm>
            <a:off x="6420002" y="1114654"/>
            <a:ext cx="171907" cy="152705"/>
          </a:xfrm>
          <a:prstGeom prst="rect">
            <a:avLst/>
          </a:prstGeom>
        </p:spPr>
      </p:pic>
      <p:sp>
        <p:nvSpPr>
          <p:cNvPr id="47" name="Shape 36"/>
          <p:cNvSpPr/>
          <p:nvPr/>
        </p:nvSpPr>
        <p:spPr>
          <a:xfrm>
            <a:off x="6420002" y="1505102"/>
            <a:ext cx="2381098" cy="418795"/>
          </a:xfrm>
          <a:prstGeom prst="rect">
            <a:avLst/>
          </a:prstGeom>
          <a:solidFill>
            <a:srgbClr val="F8F9FA"/>
          </a:solidFill>
          <a:ln/>
        </p:spPr>
        <p:txBody>
          <a:bodyPr/>
          <a:lstStyle/>
          <a:p>
            <a:endParaRPr lang="en-US"/>
          </a:p>
        </p:txBody>
      </p:sp>
      <p:sp>
        <p:nvSpPr>
          <p:cNvPr id="48" name="Shape 37"/>
          <p:cNvSpPr/>
          <p:nvPr/>
        </p:nvSpPr>
        <p:spPr>
          <a:xfrm>
            <a:off x="6420002" y="1904695"/>
            <a:ext cx="2381098"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49" name="Text 38"/>
          <p:cNvSpPr txBox="1"/>
          <p:nvPr/>
        </p:nvSpPr>
        <p:spPr>
          <a:xfrm>
            <a:off x="6420002" y="1505102"/>
            <a:ext cx="2382012"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Hạng mục</a:t>
            </a:r>
            <a:endParaRPr lang="en-US" sz="900" dirty="0"/>
          </a:p>
        </p:txBody>
      </p:sp>
      <p:sp>
        <p:nvSpPr>
          <p:cNvPr id="50" name="Shape 39"/>
          <p:cNvSpPr/>
          <p:nvPr/>
        </p:nvSpPr>
        <p:spPr>
          <a:xfrm>
            <a:off x="8801100" y="1505102"/>
            <a:ext cx="1143000" cy="418795"/>
          </a:xfrm>
          <a:prstGeom prst="rect">
            <a:avLst/>
          </a:prstGeom>
          <a:solidFill>
            <a:srgbClr val="F8F9FA"/>
          </a:solidFill>
          <a:ln/>
        </p:spPr>
        <p:txBody>
          <a:bodyPr/>
          <a:lstStyle/>
          <a:p>
            <a:endParaRPr lang="en-US"/>
          </a:p>
        </p:txBody>
      </p:sp>
      <p:sp>
        <p:nvSpPr>
          <p:cNvPr id="51" name="Shape 40"/>
          <p:cNvSpPr/>
          <p:nvPr/>
        </p:nvSpPr>
        <p:spPr>
          <a:xfrm>
            <a:off x="8801100" y="1904695"/>
            <a:ext cx="1143000"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2" name="Text 41"/>
          <p:cNvSpPr txBox="1"/>
          <p:nvPr/>
        </p:nvSpPr>
        <p:spPr>
          <a:xfrm>
            <a:off x="8801100" y="1505102"/>
            <a:ext cx="1143000"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Chi phí (tỷ)</a:t>
            </a:r>
            <a:endParaRPr lang="en-US" sz="900" dirty="0"/>
          </a:p>
        </p:txBody>
      </p:sp>
      <p:sp>
        <p:nvSpPr>
          <p:cNvPr id="53" name="Shape 42"/>
          <p:cNvSpPr/>
          <p:nvPr/>
        </p:nvSpPr>
        <p:spPr>
          <a:xfrm>
            <a:off x="9944100" y="1505102"/>
            <a:ext cx="1638605" cy="418795"/>
          </a:xfrm>
          <a:prstGeom prst="rect">
            <a:avLst/>
          </a:prstGeom>
          <a:solidFill>
            <a:srgbClr val="F8F9FA"/>
          </a:solidFill>
          <a:ln/>
        </p:spPr>
        <p:txBody>
          <a:bodyPr/>
          <a:lstStyle/>
          <a:p>
            <a:endParaRPr lang="en-US"/>
          </a:p>
        </p:txBody>
      </p:sp>
      <p:sp>
        <p:nvSpPr>
          <p:cNvPr id="54" name="Shape 43"/>
          <p:cNvSpPr/>
          <p:nvPr/>
        </p:nvSpPr>
        <p:spPr>
          <a:xfrm>
            <a:off x="9944100" y="1904695"/>
            <a:ext cx="163860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55" name="Text 44"/>
          <p:cNvSpPr txBox="1"/>
          <p:nvPr/>
        </p:nvSpPr>
        <p:spPr>
          <a:xfrm>
            <a:off x="9944100" y="1505102"/>
            <a:ext cx="1638605" cy="286207"/>
          </a:xfrm>
          <a:prstGeom prst="rect">
            <a:avLst/>
          </a:prstGeom>
          <a:solidFill>
            <a:srgbClr val="FFFFFF">
              <a:alpha val="0"/>
            </a:srgbClr>
          </a:solidFill>
          <a:ln>
            <a:solidFill>
              <a:srgbClr val="FFFFFF">
                <a:alpha val="0"/>
              </a:srgbClr>
            </a:solidFill>
          </a:ln>
        </p:spPr>
        <p:txBody>
          <a:bodyPr wrap="square" lIns="114300" tIns="114300" rIns="114300" bIns="0" rtlCol="0" anchor="ctr"/>
          <a:lstStyle/>
          <a:p>
            <a:pPr marL="0" indent="0" algn="l">
              <a:buNone/>
            </a:pPr>
            <a:r>
              <a:rPr lang="en-US" sz="900" b="1" dirty="0">
                <a:solidFill>
                  <a:srgbClr val="808080"/>
                </a:solidFill>
                <a:latin typeface="Open Sans" pitchFamily="34" charset="0"/>
                <a:ea typeface="Open Sans" pitchFamily="34" charset="-122"/>
                <a:cs typeface="Open Sans" pitchFamily="34" charset="-120"/>
              </a:rPr>
              <a:t>Ghi chú</a:t>
            </a:r>
            <a:endParaRPr lang="en-US" sz="900" dirty="0"/>
          </a:p>
        </p:txBody>
      </p:sp>
      <p:sp>
        <p:nvSpPr>
          <p:cNvPr id="56" name="Shape 45"/>
          <p:cNvSpPr/>
          <p:nvPr/>
        </p:nvSpPr>
        <p:spPr>
          <a:xfrm>
            <a:off x="6420002" y="22860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7" name="Text 46"/>
          <p:cNvSpPr txBox="1"/>
          <p:nvPr/>
        </p:nvSpPr>
        <p:spPr>
          <a:xfrm>
            <a:off x="6420002" y="19046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Ván khuôn</a:t>
            </a:r>
            <a:endParaRPr lang="en-US" sz="900" dirty="0"/>
          </a:p>
        </p:txBody>
      </p:sp>
      <p:sp>
        <p:nvSpPr>
          <p:cNvPr id="58" name="Shape 47"/>
          <p:cNvSpPr/>
          <p:nvPr/>
        </p:nvSpPr>
        <p:spPr>
          <a:xfrm>
            <a:off x="8801100" y="22860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9" name="Text 48"/>
          <p:cNvSpPr txBox="1"/>
          <p:nvPr/>
        </p:nvSpPr>
        <p:spPr>
          <a:xfrm>
            <a:off x="8801100" y="19046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32.91</a:t>
            </a:r>
            <a:endParaRPr lang="en-US" sz="900" dirty="0"/>
          </a:p>
        </p:txBody>
      </p:sp>
      <p:sp>
        <p:nvSpPr>
          <p:cNvPr id="60" name="Shape 49"/>
          <p:cNvSpPr/>
          <p:nvPr/>
        </p:nvSpPr>
        <p:spPr>
          <a:xfrm>
            <a:off x="9944100" y="22860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1" name="Text 50"/>
          <p:cNvSpPr txBox="1"/>
          <p:nvPr/>
        </p:nvSpPr>
        <p:spPr>
          <a:xfrm>
            <a:off x="9944100" y="19046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Đầu tư ban đầu</a:t>
            </a:r>
            <a:endParaRPr lang="en-US" sz="900" dirty="0"/>
          </a:p>
        </p:txBody>
      </p:sp>
      <p:sp>
        <p:nvSpPr>
          <p:cNvPr id="62" name="Shape 51"/>
          <p:cNvSpPr/>
          <p:nvPr/>
        </p:nvSpPr>
        <p:spPr>
          <a:xfrm>
            <a:off x="6420002" y="2686507"/>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3" name="Text 52"/>
          <p:cNvSpPr txBox="1"/>
          <p:nvPr/>
        </p:nvSpPr>
        <p:spPr>
          <a:xfrm>
            <a:off x="6420002" y="2305202"/>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a:t>
            </a:r>
            <a:r>
              <a:rPr lang="en-US" sz="900" dirty="0" err="1">
                <a:solidFill>
                  <a:srgbClr val="808080"/>
                </a:solidFill>
                <a:latin typeface="Open Sans" pitchFamily="34" charset="0"/>
                <a:ea typeface="Open Sans" pitchFamily="34" charset="-122"/>
                <a:cs typeface="Open Sans" pitchFamily="34" charset="-120"/>
              </a:rPr>
              <a:t>bị</a:t>
            </a:r>
            <a:r>
              <a:rPr lang="en-US" sz="900" dirty="0">
                <a:solidFill>
                  <a:srgbClr val="808080"/>
                </a:solidFill>
                <a:latin typeface="Open Sans" pitchFamily="34" charset="0"/>
                <a:ea typeface="Open Sans" pitchFamily="34" charset="-122"/>
                <a:cs typeface="Open Sans" pitchFamily="34" charset="-120"/>
              </a:rPr>
              <a:t> </a:t>
            </a:r>
            <a:r>
              <a:rPr lang="en-US" sz="900" dirty="0" err="1">
                <a:solidFill>
                  <a:srgbClr val="808080"/>
                </a:solidFill>
                <a:latin typeface="Open Sans" pitchFamily="34" charset="0"/>
                <a:ea typeface="Open Sans" pitchFamily="34" charset="-122"/>
                <a:cs typeface="Open Sans" pitchFamily="34" charset="-120"/>
              </a:rPr>
              <a:t>CapEx</a:t>
            </a:r>
            <a:endParaRPr lang="en-US" sz="900" dirty="0"/>
          </a:p>
        </p:txBody>
      </p:sp>
      <p:sp>
        <p:nvSpPr>
          <p:cNvPr id="64" name="Shape 53"/>
          <p:cNvSpPr/>
          <p:nvPr/>
        </p:nvSpPr>
        <p:spPr>
          <a:xfrm>
            <a:off x="8801100" y="2686507"/>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5" name="Text 54"/>
          <p:cNvSpPr txBox="1"/>
          <p:nvPr/>
        </p:nvSpPr>
        <p:spPr>
          <a:xfrm>
            <a:off x="8801100" y="2305202"/>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14.81</a:t>
            </a:r>
            <a:endParaRPr lang="en-US" sz="900" dirty="0"/>
          </a:p>
        </p:txBody>
      </p:sp>
      <p:sp>
        <p:nvSpPr>
          <p:cNvPr id="66" name="Shape 55"/>
          <p:cNvSpPr/>
          <p:nvPr/>
        </p:nvSpPr>
        <p:spPr>
          <a:xfrm>
            <a:off x="9944100" y="2686507"/>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7" name="Text 56"/>
          <p:cNvSpPr txBox="1"/>
          <p:nvPr/>
        </p:nvSpPr>
        <p:spPr>
          <a:xfrm>
            <a:off x="9944100" y="2305202"/>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Mua sắm thiết bị</a:t>
            </a:r>
            <a:endParaRPr lang="en-US" sz="900" dirty="0"/>
          </a:p>
        </p:txBody>
      </p:sp>
      <p:sp>
        <p:nvSpPr>
          <p:cNvPr id="68" name="Shape 57"/>
          <p:cNvSpPr/>
          <p:nvPr/>
        </p:nvSpPr>
        <p:spPr>
          <a:xfrm>
            <a:off x="6420002" y="3086100"/>
            <a:ext cx="2381098" cy="9144"/>
          </a:xfrm>
          <a:prstGeom prst="rect">
            <a:avLst/>
          </a:prstGeom>
          <a:solidFill>
            <a:srgbClr val="E2E8F0"/>
          </a:solidFill>
          <a:ln w="12700">
            <a:solidFill>
              <a:srgbClr val="E2E8F0">
                <a:alpha val="0"/>
              </a:srgbClr>
            </a:solidFill>
            <a:prstDash val="solid"/>
          </a:ln>
        </p:spPr>
        <p:txBody>
          <a:bodyPr/>
          <a:lstStyle/>
          <a:p>
            <a:endParaRPr lang="en-US"/>
          </a:p>
        </p:txBody>
      </p:sp>
      <p:sp>
        <p:nvSpPr>
          <p:cNvPr id="69" name="Text 58"/>
          <p:cNvSpPr txBox="1"/>
          <p:nvPr/>
        </p:nvSpPr>
        <p:spPr>
          <a:xfrm>
            <a:off x="6420002" y="2704795"/>
            <a:ext cx="2382012"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thiết bị</a:t>
            </a:r>
            <a:endParaRPr lang="en-US" sz="900" dirty="0"/>
          </a:p>
        </p:txBody>
      </p:sp>
      <p:sp>
        <p:nvSpPr>
          <p:cNvPr id="70" name="Shape 59"/>
          <p:cNvSpPr/>
          <p:nvPr/>
        </p:nvSpPr>
        <p:spPr>
          <a:xfrm>
            <a:off x="8801100" y="3086100"/>
            <a:ext cx="1143000"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1" name="Text 60"/>
          <p:cNvSpPr txBox="1"/>
          <p:nvPr/>
        </p:nvSpPr>
        <p:spPr>
          <a:xfrm>
            <a:off x="8801100" y="2704795"/>
            <a:ext cx="1143000"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b="1" dirty="0">
                <a:solidFill>
                  <a:srgbClr val="F7A81B"/>
                </a:solidFill>
                <a:latin typeface="Open Sans" pitchFamily="34" charset="0"/>
                <a:ea typeface="Open Sans" pitchFamily="34" charset="-122"/>
                <a:cs typeface="Open Sans" pitchFamily="34" charset="-120"/>
              </a:rPr>
              <a:t>13.83</a:t>
            </a:r>
            <a:endParaRPr lang="en-US" sz="900" dirty="0"/>
          </a:p>
        </p:txBody>
      </p:sp>
      <p:sp>
        <p:nvSpPr>
          <p:cNvPr id="72" name="Shape 61"/>
          <p:cNvSpPr/>
          <p:nvPr/>
        </p:nvSpPr>
        <p:spPr>
          <a:xfrm>
            <a:off x="9944100" y="3086100"/>
            <a:ext cx="16386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73" name="Text 62"/>
          <p:cNvSpPr txBox="1"/>
          <p:nvPr/>
        </p:nvSpPr>
        <p:spPr>
          <a:xfrm>
            <a:off x="9944100" y="2704795"/>
            <a:ext cx="1638605" cy="277063"/>
          </a:xfrm>
          <a:prstGeom prst="rect">
            <a:avLst/>
          </a:prstGeom>
          <a:solidFill>
            <a:srgbClr val="FFFFFF">
              <a:alpha val="0"/>
            </a:srgbClr>
          </a:solidFill>
          <a:ln>
            <a:solidFill>
              <a:srgbClr val="FFFFFF">
                <a:alpha val="0"/>
              </a:srgbClr>
            </a:solidFill>
          </a:ln>
        </p:spPr>
        <p:txBody>
          <a:bodyPr wrap="square" lIns="114300" tIns="101600" rIns="11430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Giáo, cần phân phối</a:t>
            </a:r>
            <a:endParaRPr lang="en-US" sz="900" dirty="0"/>
          </a:p>
        </p:txBody>
      </p:sp>
      <p:sp>
        <p:nvSpPr>
          <p:cNvPr id="74" name="Text 63"/>
          <p:cNvSpPr txBox="1"/>
          <p:nvPr/>
        </p:nvSpPr>
        <p:spPr>
          <a:xfrm>
            <a:off x="6420002" y="3105302"/>
            <a:ext cx="2382012"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Tổng đầu tư</a:t>
            </a:r>
            <a:endParaRPr lang="en-US" sz="1000" dirty="0"/>
          </a:p>
        </p:txBody>
      </p:sp>
      <p:sp>
        <p:nvSpPr>
          <p:cNvPr id="75" name="Text 64"/>
          <p:cNvSpPr txBox="1"/>
          <p:nvPr/>
        </p:nvSpPr>
        <p:spPr>
          <a:xfrm>
            <a:off x="8801100" y="3105302"/>
            <a:ext cx="1143000"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61.55</a:t>
            </a:r>
            <a:endParaRPr lang="en-US" sz="1000" dirty="0"/>
          </a:p>
        </p:txBody>
      </p:sp>
      <p:sp>
        <p:nvSpPr>
          <p:cNvPr id="76" name="Text 65"/>
          <p:cNvSpPr txBox="1"/>
          <p:nvPr/>
        </p:nvSpPr>
        <p:spPr>
          <a:xfrm>
            <a:off x="9944100" y="3105302"/>
            <a:ext cx="1638605" cy="409651"/>
          </a:xfrm>
          <a:prstGeom prst="rect">
            <a:avLst/>
          </a:prstGeom>
          <a:solidFill>
            <a:srgbClr val="F7A81B"/>
          </a:solidFill>
          <a:ln>
            <a:solidFill>
              <a:srgbClr val="FFFFFF">
                <a:alpha val="0"/>
              </a:srgbClr>
            </a:solidFill>
          </a:ln>
        </p:spPr>
        <p:txBody>
          <a:bodyPr wrap="square" lIns="114300" tIns="114300" rIns="114300" bIns="114300" rtlCol="0" anchor="ctr"/>
          <a:lstStyle/>
          <a:p>
            <a:pPr marL="0" indent="0" algn="l">
              <a:buNone/>
            </a:pPr>
            <a:r>
              <a:rPr lang="en-US" sz="1000" b="1" dirty="0">
                <a:solidFill>
                  <a:srgbClr val="FFFFFF"/>
                </a:solidFill>
                <a:latin typeface="Open Sans" pitchFamily="34" charset="0"/>
                <a:ea typeface="Open Sans" pitchFamily="34" charset="-122"/>
                <a:cs typeface="Open Sans" pitchFamily="34" charset="-120"/>
              </a:rPr>
              <a:t>-</a:t>
            </a:r>
            <a:endParaRPr lang="en-US" sz="1000" dirty="0"/>
          </a:p>
        </p:txBody>
      </p:sp>
      <p:sp>
        <p:nvSpPr>
          <p:cNvPr id="77" name="Shape 66"/>
          <p:cNvSpPr/>
          <p:nvPr/>
        </p:nvSpPr>
        <p:spPr>
          <a:xfrm>
            <a:off x="6191402" y="3857854"/>
            <a:ext cx="5619902" cy="2476195"/>
          </a:xfrm>
          <a:prstGeom prst="roundRect">
            <a:avLst>
              <a:gd name="adj" fmla="val 34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8" name="Text 67"/>
          <p:cNvSpPr txBox="1"/>
          <p:nvPr/>
        </p:nvSpPr>
        <p:spPr>
          <a:xfrm>
            <a:off x="6667805" y="4048049"/>
            <a:ext cx="49149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KPIs theo dõi</a:t>
            </a:r>
            <a:endParaRPr lang="en-US" sz="1300" dirty="0"/>
          </a:p>
        </p:txBody>
      </p:sp>
      <p:pic>
        <p:nvPicPr>
          <p:cNvPr id="79" name="Image 9" descr="preencoded.png"/>
          <p:cNvPicPr>
            <a:picLocks noChangeAspect="1"/>
          </p:cNvPicPr>
          <p:nvPr/>
        </p:nvPicPr>
        <p:blipFill>
          <a:blip r:embed="rId12"/>
          <a:srcRect/>
          <a:stretch/>
        </p:blipFill>
        <p:spPr>
          <a:xfrm>
            <a:off x="6420002" y="4076395"/>
            <a:ext cx="152705" cy="152705"/>
          </a:xfrm>
          <a:prstGeom prst="rect">
            <a:avLst/>
          </a:prstGeom>
        </p:spPr>
      </p:pic>
      <p:sp>
        <p:nvSpPr>
          <p:cNvPr id="80" name="Shape 68"/>
          <p:cNvSpPr/>
          <p:nvPr/>
        </p:nvSpPr>
        <p:spPr>
          <a:xfrm>
            <a:off x="6420002"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1" name="Text 69"/>
          <p:cNvSpPr txBox="1"/>
          <p:nvPr/>
        </p:nvSpPr>
        <p:spPr>
          <a:xfrm>
            <a:off x="6515100"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95%</a:t>
            </a:r>
            <a:endParaRPr lang="en-US" sz="1900" dirty="0"/>
          </a:p>
        </p:txBody>
      </p:sp>
      <p:sp>
        <p:nvSpPr>
          <p:cNvPr id="82" name="Text 70"/>
          <p:cNvSpPr txBox="1"/>
          <p:nvPr/>
        </p:nvSpPr>
        <p:spPr>
          <a:xfrm>
            <a:off x="6515100"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TIẾN ĐỘ</a:t>
            </a:r>
            <a:endParaRPr lang="en-US" sz="800" dirty="0"/>
          </a:p>
        </p:txBody>
      </p:sp>
      <p:sp>
        <p:nvSpPr>
          <p:cNvPr id="83" name="Shape 71"/>
          <p:cNvSpPr/>
          <p:nvPr/>
        </p:nvSpPr>
        <p:spPr>
          <a:xfrm>
            <a:off x="9096451" y="4429354"/>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4" name="Text 72"/>
          <p:cNvSpPr txBox="1"/>
          <p:nvPr/>
        </p:nvSpPr>
        <p:spPr>
          <a:xfrm>
            <a:off x="9191549" y="4524451"/>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&lt;1%</a:t>
            </a:r>
            <a:endParaRPr lang="en-US" sz="1900" dirty="0"/>
          </a:p>
        </p:txBody>
      </p:sp>
      <p:sp>
        <p:nvSpPr>
          <p:cNvPr id="85" name="Text 73"/>
          <p:cNvSpPr txBox="1"/>
          <p:nvPr/>
        </p:nvSpPr>
        <p:spPr>
          <a:xfrm>
            <a:off x="9191549" y="4867351"/>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REWORK</a:t>
            </a:r>
            <a:endParaRPr lang="en-US" sz="800" dirty="0"/>
          </a:p>
        </p:txBody>
      </p:sp>
      <p:sp>
        <p:nvSpPr>
          <p:cNvPr id="86" name="Shape 74"/>
          <p:cNvSpPr/>
          <p:nvPr/>
        </p:nvSpPr>
        <p:spPr>
          <a:xfrm>
            <a:off x="6420002"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87" name="Text 75"/>
          <p:cNvSpPr txBox="1"/>
          <p:nvPr/>
        </p:nvSpPr>
        <p:spPr>
          <a:xfrm>
            <a:off x="6515100"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0</a:t>
            </a:r>
            <a:endParaRPr lang="en-US" sz="1900" dirty="0"/>
          </a:p>
        </p:txBody>
      </p:sp>
      <p:sp>
        <p:nvSpPr>
          <p:cNvPr id="88" name="Text 76"/>
          <p:cNvSpPr txBox="1"/>
          <p:nvPr/>
        </p:nvSpPr>
        <p:spPr>
          <a:xfrm>
            <a:off x="6515100"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TAI NẠN</a:t>
            </a:r>
            <a:endParaRPr lang="en-US" sz="800" dirty="0"/>
          </a:p>
        </p:txBody>
      </p:sp>
      <p:sp>
        <p:nvSpPr>
          <p:cNvPr id="89" name="Shape 77"/>
          <p:cNvSpPr/>
          <p:nvPr/>
        </p:nvSpPr>
        <p:spPr>
          <a:xfrm>
            <a:off x="9096451" y="5333695"/>
            <a:ext cx="2486254" cy="761695"/>
          </a:xfrm>
          <a:prstGeom prst="roundRect">
            <a:avLst>
              <a:gd name="adj" fmla="val 30012"/>
            </a:avLst>
          </a:prstGeom>
          <a:solidFill>
            <a:srgbClr val="F8F9FA"/>
          </a:solidFill>
          <a:ln w="12700">
            <a:solidFill>
              <a:srgbClr val="E2E8F0"/>
            </a:solidFill>
            <a:prstDash val="solid"/>
          </a:ln>
        </p:spPr>
        <p:txBody>
          <a:bodyPr/>
          <a:lstStyle/>
          <a:p>
            <a:endParaRPr lang="en-US"/>
          </a:p>
        </p:txBody>
      </p:sp>
      <p:sp>
        <p:nvSpPr>
          <p:cNvPr id="90" name="Text 78"/>
          <p:cNvSpPr txBox="1"/>
          <p:nvPr/>
        </p:nvSpPr>
        <p:spPr>
          <a:xfrm>
            <a:off x="9191549" y="5429707"/>
            <a:ext cx="2296058" cy="342900"/>
          </a:xfrm>
          <a:prstGeom prst="rect">
            <a:avLst/>
          </a:prstGeom>
          <a:noFill/>
          <a:ln/>
        </p:spPr>
        <p:txBody>
          <a:bodyPr wrap="square" lIns="0" tIns="0" rIns="0" bIns="0" rtlCol="0" anchor="ctr"/>
          <a:lstStyle/>
          <a:p>
            <a:pPr marL="0" indent="0" algn="ctr">
              <a:buNone/>
            </a:pPr>
            <a:r>
              <a:rPr lang="en-US" sz="1900" b="1" dirty="0">
                <a:solidFill>
                  <a:srgbClr val="F7A81B"/>
                </a:solidFill>
                <a:latin typeface="Open Sans" pitchFamily="34" charset="0"/>
                <a:ea typeface="Open Sans" pitchFamily="34" charset="-122"/>
                <a:cs typeface="Open Sans" pitchFamily="34" charset="-120"/>
              </a:rPr>
              <a:t>100%</a:t>
            </a:r>
            <a:endParaRPr lang="en-US" sz="1900" dirty="0"/>
          </a:p>
        </p:txBody>
      </p:sp>
      <p:sp>
        <p:nvSpPr>
          <p:cNvPr id="91" name="Text 79"/>
          <p:cNvSpPr txBox="1"/>
          <p:nvPr/>
        </p:nvSpPr>
        <p:spPr>
          <a:xfrm>
            <a:off x="9191549" y="5772607"/>
            <a:ext cx="2296058" cy="143561"/>
          </a:xfrm>
          <a:prstGeom prst="rect">
            <a:avLst/>
          </a:prstGeom>
          <a:noFill/>
          <a:ln/>
        </p:spPr>
        <p:txBody>
          <a:bodyPr wrap="square" lIns="0" tIns="0" rIns="0" bIns="0" rtlCol="0" anchor="ctr"/>
          <a:lstStyle/>
          <a:p>
            <a:pPr marL="0" indent="0" algn="ctr">
              <a:buNone/>
            </a:pPr>
            <a:r>
              <a:rPr lang="en-US" sz="800" b="1" dirty="0">
                <a:solidFill>
                  <a:srgbClr val="808080"/>
                </a:solidFill>
                <a:latin typeface="Open Sans" pitchFamily="34" charset="0"/>
                <a:ea typeface="Open Sans" pitchFamily="34" charset="-122"/>
                <a:cs typeface="Open Sans" pitchFamily="34" charset="-120"/>
              </a:rPr>
              <a:t>HỢP ĐỒNG</a:t>
            </a:r>
            <a:endParaRPr lang="en-US" sz="800" dirty="0"/>
          </a:p>
        </p:txBody>
      </p:sp>
      <p:pic>
        <p:nvPicPr>
          <p:cNvPr id="92" name="Image 10" descr="preencoded.png"/>
          <p:cNvPicPr>
            <a:picLocks noChangeAspect="1"/>
          </p:cNvPicPr>
          <p:nvPr/>
        </p:nvPicPr>
        <p:blipFill>
          <a:blip r:embed="rId13"/>
          <a:srcRect l="-2083" r="-2083"/>
          <a:stretch/>
        </p:blipFill>
        <p:spPr>
          <a:xfrm>
            <a:off x="381305" y="6476695"/>
            <a:ext cx="11430000" cy="9144"/>
          </a:xfrm>
          <a:prstGeom prst="rect">
            <a:avLst/>
          </a:prstGeom>
        </p:spPr>
      </p:pic>
      <p:sp>
        <p:nvSpPr>
          <p:cNvPr id="93" name="Text 80"/>
          <p:cNvSpPr txBox="1"/>
          <p:nvPr/>
        </p:nvSpPr>
        <p:spPr>
          <a:xfrm>
            <a:off x="581558" y="6590995"/>
            <a:ext cx="3610051"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Báo cáo trình Hội đồng Chủ đầu tư</a:t>
            </a:r>
            <a:endParaRPr lang="en-US" sz="1000" dirty="0"/>
          </a:p>
        </p:txBody>
      </p:sp>
      <p:pic>
        <p:nvPicPr>
          <p:cNvPr id="94" name="Image 11" descr="preencoded.png"/>
          <p:cNvPicPr>
            <a:picLocks noChangeAspect="1"/>
          </p:cNvPicPr>
          <p:nvPr/>
        </p:nvPicPr>
        <p:blipFill>
          <a:blip r:embed="rId14"/>
          <a:srcRect l="-2512" r="-2512"/>
          <a:stretch/>
        </p:blipFill>
        <p:spPr>
          <a:xfrm>
            <a:off x="381305" y="6614770"/>
            <a:ext cx="105156" cy="133502"/>
          </a:xfrm>
          <a:prstGeom prst="rect">
            <a:avLst/>
          </a:prstGeom>
        </p:spPr>
      </p:pic>
      <p:sp>
        <p:nvSpPr>
          <p:cNvPr id="95" name="Text 81"/>
          <p:cNvSpPr txBox="1"/>
          <p:nvPr/>
        </p:nvSpPr>
        <p:spPr>
          <a:xfrm>
            <a:off x="10477195" y="6590995"/>
            <a:ext cx="914400"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Trang 8/12</a:t>
            </a:r>
            <a:endParaRPr lang="en-US" sz="1000" dirty="0"/>
          </a:p>
        </p:txBody>
      </p:sp>
      <p:sp>
        <p:nvSpPr>
          <p:cNvPr id="96" name="Shape 82"/>
          <p:cNvSpPr/>
          <p:nvPr/>
        </p:nvSpPr>
        <p:spPr>
          <a:xfrm>
            <a:off x="11334902" y="6601054"/>
            <a:ext cx="1104595" cy="219456"/>
          </a:xfrm>
          <a:prstGeom prst="roundRect">
            <a:avLst>
              <a:gd name="adj" fmla="val 144928"/>
            </a:avLst>
          </a:prstGeom>
          <a:solidFill>
            <a:srgbClr val="F7A81B"/>
          </a:solidFill>
          <a:ln w="12700">
            <a:solidFill>
              <a:srgbClr val="FFFFFF">
                <a:alpha val="0"/>
              </a:srgbClr>
            </a:solidFill>
            <a:prstDash val="solid"/>
          </a:ln>
        </p:spPr>
        <p:txBody>
          <a:bodyPr/>
          <a:lstStyle/>
          <a:p>
            <a:endParaRPr lang="en-US"/>
          </a:p>
        </p:txBody>
      </p:sp>
      <p:sp>
        <p:nvSpPr>
          <p:cNvPr id="97" name="Text 83"/>
          <p:cNvSpPr txBox="1"/>
          <p:nvPr/>
        </p:nvSpPr>
        <p:spPr>
          <a:xfrm>
            <a:off x="11334902" y="6601054"/>
            <a:ext cx="1105510" cy="21945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800" b="1" dirty="0">
                <a:solidFill>
                  <a:srgbClr val="FFFFFF"/>
                </a:solidFill>
                <a:latin typeface="Open Sans" pitchFamily="34" charset="0"/>
                <a:ea typeface="Open Sans" pitchFamily="34" charset="-122"/>
                <a:cs typeface="Open Sans" pitchFamily="34" charset="-120"/>
              </a:rPr>
              <a:t>Đang cập nhật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8F9FA"/>
          </a:solidFill>
          <a:ln/>
        </p:spPr>
        <p:txBody>
          <a:bodyPr/>
          <a:lstStyle/>
          <a:p>
            <a:endParaRPr lang="en-US"/>
          </a:p>
        </p:txBody>
      </p:sp>
      <p:sp>
        <p:nvSpPr>
          <p:cNvPr id="5" name="Shape 3"/>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286207" y="809244"/>
            <a:ext cx="11639398" cy="5591556"/>
          </a:xfrm>
          <a:prstGeom prst="roundRect">
            <a:avLst>
              <a:gd name="adj" fmla="val 66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476402" y="952805"/>
            <a:ext cx="6896405" cy="5324551"/>
          </a:xfrm>
          <a:prstGeom prst="roundRect">
            <a:avLst>
              <a:gd name="adj" fmla="val 492"/>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3924605" y="1533449"/>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9" name="Shape 7"/>
          <p:cNvSpPr/>
          <p:nvPr/>
        </p:nvSpPr>
        <p:spPr>
          <a:xfrm>
            <a:off x="3924605" y="2152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0" name="Shape 8"/>
          <p:cNvSpPr/>
          <p:nvPr/>
        </p:nvSpPr>
        <p:spPr>
          <a:xfrm flipH="1">
            <a:off x="3878886" y="2771546"/>
            <a:ext cx="45719" cy="599848"/>
          </a:xfrm>
          <a:prstGeom prst="rect">
            <a:avLst/>
          </a:prstGeom>
          <a:solidFill>
            <a:srgbClr val="CBD5E0"/>
          </a:solidFill>
          <a:ln w="12700">
            <a:solidFill>
              <a:srgbClr val="FFFFFF">
                <a:alpha val="0"/>
              </a:srgbClr>
            </a:solidFill>
            <a:prstDash val="solid"/>
          </a:ln>
        </p:spPr>
        <p:txBody>
          <a:bodyPr/>
          <a:lstStyle/>
          <a:p>
            <a:endParaRPr lang="en-US"/>
          </a:p>
        </p:txBody>
      </p:sp>
      <p:pic>
        <p:nvPicPr>
          <p:cNvPr id="11" name="Image 0" descr="preencoded.png"/>
          <p:cNvPicPr>
            <a:picLocks noChangeAspect="1"/>
          </p:cNvPicPr>
          <p:nvPr/>
        </p:nvPicPr>
        <p:blipFill>
          <a:blip r:embed="rId3"/>
          <a:srcRect t="-395" b="-395"/>
          <a:stretch/>
        </p:blipFill>
        <p:spPr>
          <a:xfrm>
            <a:off x="2305202" y="3390595"/>
            <a:ext cx="3238805" cy="19202"/>
          </a:xfrm>
          <a:prstGeom prst="rect">
            <a:avLst/>
          </a:prstGeom>
        </p:spPr>
      </p:pic>
      <p:pic>
        <p:nvPicPr>
          <p:cNvPr id="12" name="Image 1" descr="preencoded.png"/>
          <p:cNvPicPr>
            <a:picLocks noChangeAspect="1"/>
          </p:cNvPicPr>
          <p:nvPr/>
        </p:nvPicPr>
        <p:blipFill>
          <a:blip r:embed="rId4"/>
          <a:srcRect l="-342" r="-342"/>
          <a:stretch/>
        </p:blipFill>
        <p:spPr>
          <a:xfrm>
            <a:off x="2305202" y="3390595"/>
            <a:ext cx="19202" cy="333756"/>
          </a:xfrm>
          <a:prstGeom prst="rect">
            <a:avLst/>
          </a:prstGeom>
        </p:spPr>
      </p:pic>
      <p:pic>
        <p:nvPicPr>
          <p:cNvPr id="13" name="Image 2" descr="preencoded.png"/>
          <p:cNvPicPr>
            <a:picLocks noChangeAspect="1"/>
          </p:cNvPicPr>
          <p:nvPr/>
        </p:nvPicPr>
        <p:blipFill>
          <a:blip r:embed="rId4"/>
          <a:srcRect l="-342" r="-342"/>
          <a:stretch/>
        </p:blipFill>
        <p:spPr>
          <a:xfrm>
            <a:off x="5544007" y="3390595"/>
            <a:ext cx="19202" cy="333756"/>
          </a:xfrm>
          <a:prstGeom prst="rect">
            <a:avLst/>
          </a:prstGeom>
        </p:spPr>
      </p:pic>
      <p:sp>
        <p:nvSpPr>
          <p:cNvPr id="14" name="Shape 9"/>
          <p:cNvSpPr/>
          <p:nvPr/>
        </p:nvSpPr>
        <p:spPr>
          <a:xfrm>
            <a:off x="2305202"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5" name="Shape 10"/>
          <p:cNvSpPr/>
          <p:nvPr/>
        </p:nvSpPr>
        <p:spPr>
          <a:xfrm>
            <a:off x="5544007" y="4438498"/>
            <a:ext cx="19202" cy="95098"/>
          </a:xfrm>
          <a:prstGeom prst="rect">
            <a:avLst/>
          </a:prstGeom>
          <a:solidFill>
            <a:srgbClr val="CBD5E0"/>
          </a:solidFill>
          <a:ln w="12700">
            <a:solidFill>
              <a:srgbClr val="FFFFFF">
                <a:alpha val="0"/>
              </a:srgbClr>
            </a:solidFill>
            <a:prstDash val="solid"/>
          </a:ln>
        </p:spPr>
        <p:txBody>
          <a:bodyPr/>
          <a:lstStyle/>
          <a:p>
            <a:endParaRPr lang="en-US"/>
          </a:p>
        </p:txBody>
      </p:sp>
      <p:sp>
        <p:nvSpPr>
          <p:cNvPr id="16" name="Shape 11"/>
          <p:cNvSpPr/>
          <p:nvPr/>
        </p:nvSpPr>
        <p:spPr>
          <a:xfrm>
            <a:off x="2971800" y="1057046"/>
            <a:ext cx="1904695" cy="476402"/>
          </a:xfrm>
          <a:prstGeom prst="roundRect">
            <a:avLst>
              <a:gd name="adj" fmla="val 61420"/>
            </a:avLst>
          </a:prstGeom>
          <a:solidFill>
            <a:srgbClr val="808080"/>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7" name="Text 12"/>
          <p:cNvSpPr txBox="1"/>
          <p:nvPr/>
        </p:nvSpPr>
        <p:spPr>
          <a:xfrm>
            <a:off x="3477463" y="1143000"/>
            <a:ext cx="89611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Montserrat" pitchFamily="34" charset="0"/>
                <a:ea typeface="Montserrat" pitchFamily="34" charset="-122"/>
                <a:cs typeface="Montserrat" pitchFamily="34" charset="-120"/>
              </a:rPr>
              <a:t>CHỦ ĐẦU TƯ</a:t>
            </a:r>
            <a:endParaRPr lang="en-US" sz="1000" dirty="0"/>
          </a:p>
        </p:txBody>
      </p:sp>
      <p:sp>
        <p:nvSpPr>
          <p:cNvPr id="18" name="Text 13"/>
          <p:cNvSpPr txBox="1"/>
          <p:nvPr/>
        </p:nvSpPr>
        <p:spPr>
          <a:xfrm>
            <a:off x="3321101" y="1314907"/>
            <a:ext cx="1440180" cy="133502"/>
          </a:xfrm>
          <a:prstGeom prst="rect">
            <a:avLst/>
          </a:prstGeom>
          <a:noFill/>
          <a:ln/>
        </p:spPr>
        <p:txBody>
          <a:bodyPr wrap="square" lIns="0" tIns="0" rIns="0" bIns="0" rtlCol="0" anchor="ctr"/>
          <a:lstStyle/>
          <a:p>
            <a:pPr marL="0" indent="0" algn="l">
              <a:buNone/>
            </a:pPr>
            <a:r>
              <a:rPr lang="en-US" sz="800" dirty="0">
                <a:solidFill>
                  <a:srgbClr val="F0F0F0"/>
                </a:solidFill>
                <a:latin typeface="Open Sans" pitchFamily="34" charset="0"/>
                <a:ea typeface="Open Sans" pitchFamily="34" charset="-122"/>
                <a:cs typeface="Open Sans" pitchFamily="34" charset="-120"/>
              </a:rPr>
              <a:t>Liên danh ITF &amp; Tiền Phong</a:t>
            </a:r>
            <a:endParaRPr lang="en-US" sz="800" dirty="0"/>
          </a:p>
        </p:txBody>
      </p:sp>
      <p:sp>
        <p:nvSpPr>
          <p:cNvPr id="19" name="Shape 14"/>
          <p:cNvSpPr/>
          <p:nvPr/>
        </p:nvSpPr>
        <p:spPr>
          <a:xfrm>
            <a:off x="2400300" y="1628546"/>
            <a:ext cx="30476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0" name="Text 15"/>
          <p:cNvSpPr txBox="1"/>
          <p:nvPr/>
        </p:nvSpPr>
        <p:spPr>
          <a:xfrm>
            <a:off x="3104998" y="1733702"/>
            <a:ext cx="1724558"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TỔNG THẦU VNCN E&amp;C</a:t>
            </a:r>
            <a:endParaRPr lang="en-US" sz="1100" dirty="0"/>
          </a:p>
        </p:txBody>
      </p:sp>
      <p:sp>
        <p:nvSpPr>
          <p:cNvPr id="21" name="Text 16"/>
          <p:cNvSpPr txBox="1"/>
          <p:nvPr/>
        </p:nvSpPr>
        <p:spPr>
          <a:xfrm>
            <a:off x="3414674" y="1914754"/>
            <a:ext cx="1723644"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toàn bộ </a:t>
            </a:r>
            <a:r>
              <a:rPr lang="en-US" sz="800" dirty="0" err="1">
                <a:solidFill>
                  <a:srgbClr val="FFFAF0"/>
                </a:solidFill>
                <a:latin typeface="Open Sans" pitchFamily="34" charset="0"/>
                <a:ea typeface="Open Sans" pitchFamily="34" charset="-122"/>
                <a:cs typeface="Open Sans" pitchFamily="34" charset="-120"/>
              </a:rPr>
              <a:t>dự</a:t>
            </a:r>
            <a:r>
              <a:rPr lang="en-US" sz="800" dirty="0">
                <a:solidFill>
                  <a:srgbClr val="FFFAF0"/>
                </a:solidFill>
                <a:latin typeface="Open Sans" pitchFamily="34" charset="0"/>
                <a:ea typeface="Open Sans" pitchFamily="34" charset="-122"/>
                <a:cs typeface="Open Sans" pitchFamily="34" charset="-120"/>
              </a:rPr>
              <a:t> </a:t>
            </a:r>
            <a:r>
              <a:rPr lang="en-US" sz="800" dirty="0" err="1">
                <a:solidFill>
                  <a:srgbClr val="FFFAF0"/>
                </a:solidFill>
                <a:latin typeface="Open Sans" pitchFamily="34" charset="0"/>
                <a:ea typeface="Open Sans" pitchFamily="34" charset="-122"/>
                <a:cs typeface="Open Sans" pitchFamily="34" charset="-120"/>
              </a:rPr>
              <a:t>án</a:t>
            </a:r>
            <a:r>
              <a:rPr lang="en-US" sz="800" dirty="0">
                <a:solidFill>
                  <a:srgbClr val="FFFAF0"/>
                </a:solidFill>
                <a:latin typeface="Open Sans" pitchFamily="34" charset="0"/>
                <a:ea typeface="Open Sans" pitchFamily="34" charset="-122"/>
                <a:cs typeface="Open Sans" pitchFamily="34" charset="-120"/>
              </a:rPr>
              <a:t>)</a:t>
            </a:r>
            <a:endParaRPr lang="en-US" sz="800" dirty="0"/>
          </a:p>
        </p:txBody>
      </p:sp>
      <p:sp>
        <p:nvSpPr>
          <p:cNvPr id="22" name="Shape 17"/>
          <p:cNvSpPr/>
          <p:nvPr/>
        </p:nvSpPr>
        <p:spPr>
          <a:xfrm>
            <a:off x="2115007" y="2247595"/>
            <a:ext cx="3619195" cy="523951"/>
          </a:xfrm>
          <a:prstGeom prst="roundRect">
            <a:avLst>
              <a:gd name="adj" fmla="val 50769"/>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3" name="Text 18"/>
          <p:cNvSpPr txBox="1"/>
          <p:nvPr/>
        </p:nvSpPr>
        <p:spPr>
          <a:xfrm>
            <a:off x="2914802" y="2352751"/>
            <a:ext cx="2162556"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BAN QUẢN LÝ DỰ ÁN (QLDA)</a:t>
            </a:r>
            <a:endParaRPr lang="en-US" sz="1100" dirty="0"/>
          </a:p>
        </p:txBody>
      </p:sp>
      <p:sp>
        <p:nvSpPr>
          <p:cNvPr id="24" name="Text 19"/>
          <p:cNvSpPr txBox="1"/>
          <p:nvPr/>
        </p:nvSpPr>
        <p:spPr>
          <a:xfrm>
            <a:off x="3048610" y="2533802"/>
            <a:ext cx="2085746"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(5 Kỹ sư - Quản lý thi công &amp; thầu phụ)</a:t>
            </a:r>
            <a:endParaRPr lang="en-US" sz="800" dirty="0"/>
          </a:p>
        </p:txBody>
      </p:sp>
      <p:sp>
        <p:nvSpPr>
          <p:cNvPr id="25" name="Shape 20"/>
          <p:cNvSpPr/>
          <p:nvPr/>
        </p:nvSpPr>
        <p:spPr>
          <a:xfrm>
            <a:off x="972007" y="2866644"/>
            <a:ext cx="2667305" cy="761695"/>
          </a:xfrm>
          <a:prstGeom prst="roundRect">
            <a:avLst>
              <a:gd name="adj" fmla="val 24010"/>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6" name="Text 21"/>
          <p:cNvSpPr txBox="1"/>
          <p:nvPr/>
        </p:nvSpPr>
        <p:spPr>
          <a:xfrm>
            <a:off x="1613002" y="3000146"/>
            <a:ext cx="1390802" cy="152705"/>
          </a:xfrm>
          <a:prstGeom prst="rect">
            <a:avLst/>
          </a:prstGeom>
          <a:noFill/>
          <a:ln/>
        </p:spPr>
        <p:txBody>
          <a:bodyPr wrap="square" lIns="0" tIns="0" rIns="0" bIns="0" rtlCol="0" anchor="ctr"/>
          <a:lstStyle/>
          <a:p>
            <a:pPr marL="0" indent="0" algn="l">
              <a:buNone/>
            </a:pPr>
            <a:r>
              <a:rPr lang="en-US" sz="900" b="1" dirty="0">
                <a:solidFill>
                  <a:srgbClr val="FFFFFF"/>
                </a:solidFill>
                <a:latin typeface="Montserrat" pitchFamily="34" charset="0"/>
                <a:ea typeface="Montserrat" pitchFamily="34" charset="-122"/>
                <a:cs typeface="Montserrat" pitchFamily="34" charset="-120"/>
              </a:rPr>
              <a:t>KHỐI BAN XÂY DỰNG</a:t>
            </a:r>
            <a:endParaRPr lang="en-US" sz="900" dirty="0"/>
          </a:p>
        </p:txBody>
      </p:sp>
      <p:sp>
        <p:nvSpPr>
          <p:cNvPr id="27" name="Text 22"/>
          <p:cNvSpPr txBox="1"/>
          <p:nvPr/>
        </p:nvSpPr>
        <p:spPr>
          <a:xfrm>
            <a:off x="1541678" y="3152851"/>
            <a:ext cx="1825142" cy="133502"/>
          </a:xfrm>
          <a:prstGeom prst="rect">
            <a:avLst/>
          </a:prstGeom>
          <a:noFill/>
          <a:ln/>
        </p:spPr>
        <p:txBody>
          <a:bodyPr wrap="square" lIns="0" tIns="0" rIns="0" bIns="0" rtlCol="0" anchor="ctr"/>
          <a:lstStyle/>
          <a:p>
            <a:pPr marL="0" indent="0" algn="l">
              <a:buNone/>
            </a:pPr>
            <a:r>
              <a:rPr lang="en-US" sz="800" dirty="0">
                <a:solidFill>
                  <a:srgbClr val="FFFAF0"/>
                </a:solidFill>
                <a:latin typeface="Open Sans" pitchFamily="34" charset="0"/>
                <a:ea typeface="Open Sans" pitchFamily="34" charset="-122"/>
                <a:cs typeface="Open Sans" pitchFamily="34" charset="-120"/>
              </a:rPr>
              <a:t>(Quản lý ECC - Tự thực hiện 68.3%)</a:t>
            </a:r>
            <a:endParaRPr lang="en-US" sz="800" dirty="0"/>
          </a:p>
        </p:txBody>
      </p:sp>
      <p:sp>
        <p:nvSpPr>
          <p:cNvPr id="28" name="Shape 23"/>
          <p:cNvSpPr/>
          <p:nvPr/>
        </p:nvSpPr>
        <p:spPr>
          <a:xfrm>
            <a:off x="1181405" y="3323844"/>
            <a:ext cx="2247595" cy="171907"/>
          </a:xfrm>
          <a:prstGeom prst="roundRect">
            <a:avLst>
              <a:gd name="adj" fmla="val 531916"/>
            </a:avLst>
          </a:prstGeom>
          <a:solidFill>
            <a:srgbClr val="FFFFFF">
              <a:alpha val="20000"/>
            </a:srgbClr>
          </a:solidFill>
          <a:ln w="12700">
            <a:solidFill>
              <a:srgbClr val="FFFFFF">
                <a:alpha val="0"/>
              </a:srgbClr>
            </a:solidFill>
            <a:prstDash val="solid"/>
          </a:ln>
        </p:spPr>
        <p:txBody>
          <a:bodyPr/>
          <a:lstStyle/>
          <a:p>
            <a:endParaRPr lang="en-US"/>
          </a:p>
        </p:txBody>
      </p:sp>
      <p:sp>
        <p:nvSpPr>
          <p:cNvPr id="29" name="Text 24"/>
          <p:cNvSpPr/>
          <p:nvPr/>
        </p:nvSpPr>
        <p:spPr>
          <a:xfrm>
            <a:off x="1181405" y="3323844"/>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30 KS | 132 CN | 68.3% khối lượng</a:t>
            </a:r>
            <a:endParaRPr lang="en-US" sz="800" dirty="0"/>
          </a:p>
        </p:txBody>
      </p:sp>
      <p:sp>
        <p:nvSpPr>
          <p:cNvPr id="30" name="Shape 25"/>
          <p:cNvSpPr/>
          <p:nvPr/>
        </p:nvSpPr>
        <p:spPr>
          <a:xfrm>
            <a:off x="4209898" y="2866644"/>
            <a:ext cx="2704795" cy="800100"/>
          </a:xfrm>
          <a:prstGeom prst="roundRect">
            <a:avLst>
              <a:gd name="adj" fmla="val 2176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31" name="Text 26"/>
          <p:cNvSpPr txBox="1"/>
          <p:nvPr/>
        </p:nvSpPr>
        <p:spPr>
          <a:xfrm>
            <a:off x="4761281" y="3019349"/>
            <a:ext cx="1610258" cy="152705"/>
          </a:xfrm>
          <a:prstGeom prst="rect">
            <a:avLst/>
          </a:prstGeom>
          <a:noFill/>
          <a:ln/>
        </p:spPr>
        <p:txBody>
          <a:bodyPr wrap="square" lIns="0" tIns="0" rIns="0" bIns="0" rtlCol="0" anchor="ctr"/>
          <a:lstStyle/>
          <a:p>
            <a:pPr marL="0" indent="0" algn="l">
              <a:buNone/>
            </a:pPr>
            <a:r>
              <a:rPr lang="en-US" sz="900" b="1" dirty="0">
                <a:solidFill>
                  <a:srgbClr val="808080"/>
                </a:solidFill>
                <a:latin typeface="Montserrat" pitchFamily="34" charset="0"/>
                <a:ea typeface="Montserrat" pitchFamily="34" charset="-122"/>
                <a:cs typeface="Montserrat" pitchFamily="34" charset="-120"/>
              </a:rPr>
              <a:t>KHỐI BAN QL THẦU PHỤ</a:t>
            </a:r>
            <a:endParaRPr lang="en-US" sz="900" dirty="0"/>
          </a:p>
        </p:txBody>
      </p:sp>
      <p:sp>
        <p:nvSpPr>
          <p:cNvPr id="32" name="Text 27"/>
          <p:cNvSpPr txBox="1"/>
          <p:nvPr/>
        </p:nvSpPr>
        <p:spPr>
          <a:xfrm>
            <a:off x="4824374" y="3172054"/>
            <a:ext cx="1757477" cy="133502"/>
          </a:xfrm>
          <a:prstGeom prst="rect">
            <a:avLst/>
          </a:prstGeom>
          <a:noFill/>
          <a:ln/>
        </p:spPr>
        <p:txBody>
          <a:bodyPr wrap="square" lIns="0" tIns="0" rIns="0" bIns="0" rtlCol="0" anchor="ctr"/>
          <a:lstStyle/>
          <a:p>
            <a:pPr marL="0" indent="0" algn="l">
              <a:buNone/>
            </a:pPr>
            <a:r>
              <a:rPr lang="en-US" sz="800" dirty="0">
                <a:solidFill>
                  <a:srgbClr val="4A5568"/>
                </a:solidFill>
                <a:latin typeface="Open Sans" pitchFamily="34" charset="0"/>
                <a:ea typeface="Open Sans" pitchFamily="34" charset="-122"/>
                <a:cs typeface="Open Sans" pitchFamily="34" charset="-120"/>
              </a:rPr>
              <a:t>(Quản lý thầu phụ chuyên ngành)</a:t>
            </a:r>
            <a:endParaRPr lang="en-US" sz="800" dirty="0"/>
          </a:p>
        </p:txBody>
      </p:sp>
      <p:sp>
        <p:nvSpPr>
          <p:cNvPr id="33" name="Shape 28"/>
          <p:cNvSpPr/>
          <p:nvPr/>
        </p:nvSpPr>
        <p:spPr>
          <a:xfrm>
            <a:off x="4438498" y="3343046"/>
            <a:ext cx="2247595" cy="171907"/>
          </a:xfrm>
          <a:prstGeom prst="roundRect">
            <a:avLst>
              <a:gd name="adj" fmla="val 531916"/>
            </a:avLst>
          </a:prstGeom>
          <a:solidFill>
            <a:srgbClr val="EDF2F7"/>
          </a:solidFill>
          <a:ln w="12700">
            <a:solidFill>
              <a:srgbClr val="FFFFFF">
                <a:alpha val="0"/>
              </a:srgbClr>
            </a:solidFill>
            <a:prstDash val="solid"/>
          </a:ln>
        </p:spPr>
        <p:txBody>
          <a:bodyPr/>
          <a:lstStyle/>
          <a:p>
            <a:endParaRPr lang="en-US"/>
          </a:p>
        </p:txBody>
      </p:sp>
      <p:sp>
        <p:nvSpPr>
          <p:cNvPr id="34" name="Text 29"/>
          <p:cNvSpPr/>
          <p:nvPr/>
        </p:nvSpPr>
        <p:spPr>
          <a:xfrm>
            <a:off x="4438498" y="3343046"/>
            <a:ext cx="2248510" cy="171907"/>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6 KS | 98 CN | 31.7% khối lượng</a:t>
            </a:r>
            <a:endParaRPr lang="en-US" sz="800" dirty="0"/>
          </a:p>
        </p:txBody>
      </p:sp>
      <p:sp>
        <p:nvSpPr>
          <p:cNvPr id="35" name="Shape 30"/>
          <p:cNvSpPr/>
          <p:nvPr/>
        </p:nvSpPr>
        <p:spPr>
          <a:xfrm>
            <a:off x="685800" y="3724351"/>
            <a:ext cx="3238805" cy="714146"/>
          </a:xfrm>
          <a:prstGeom prst="roundRect">
            <a:avLst>
              <a:gd name="adj" fmla="val 27315"/>
            </a:avLst>
          </a:prstGeom>
          <a:solidFill>
            <a:srgbClr val="F7A81B"/>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36" name="Text 31"/>
          <p:cNvSpPr txBox="1"/>
          <p:nvPr/>
        </p:nvSpPr>
        <p:spPr>
          <a:xfrm>
            <a:off x="1412748" y="3866998"/>
            <a:ext cx="1791310" cy="181051"/>
          </a:xfrm>
          <a:prstGeom prst="rect">
            <a:avLst/>
          </a:prstGeom>
          <a:noFill/>
          <a:ln/>
        </p:spPr>
        <p:txBody>
          <a:bodyPr wrap="square" lIns="0" tIns="0" rIns="0" bIns="0" rtlCol="0" anchor="ctr"/>
          <a:lstStyle/>
          <a:p>
            <a:pPr marL="0" indent="0" algn="l">
              <a:buNone/>
            </a:pPr>
            <a:r>
              <a:rPr lang="en-US" sz="1100" b="1" dirty="0">
                <a:solidFill>
                  <a:srgbClr val="FFFFFF"/>
                </a:solidFill>
                <a:latin typeface="Montserrat" pitchFamily="34" charset="0"/>
                <a:ea typeface="Montserrat" pitchFamily="34" charset="-122"/>
                <a:cs typeface="Montserrat" pitchFamily="34" charset="-120"/>
              </a:rPr>
              <a:t>CÔNG TY THI CÔNG ECC</a:t>
            </a:r>
            <a:endParaRPr lang="en-US" sz="1100" dirty="0"/>
          </a:p>
        </p:txBody>
      </p:sp>
      <p:sp>
        <p:nvSpPr>
          <p:cNvPr id="37" name="Shape 32"/>
          <p:cNvSpPr/>
          <p:nvPr/>
        </p:nvSpPr>
        <p:spPr>
          <a:xfrm>
            <a:off x="1175918" y="4095598"/>
            <a:ext cx="1190549"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38" name="Text 33"/>
          <p:cNvSpPr/>
          <p:nvPr/>
        </p:nvSpPr>
        <p:spPr>
          <a:xfrm>
            <a:off x="1175918" y="4095598"/>
            <a:ext cx="1191463"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Tự thực hiện - 68.3%</a:t>
            </a:r>
            <a:endParaRPr lang="en-US" sz="800" dirty="0"/>
          </a:p>
        </p:txBody>
      </p:sp>
      <p:sp>
        <p:nvSpPr>
          <p:cNvPr id="39" name="Shape 34"/>
          <p:cNvSpPr/>
          <p:nvPr/>
        </p:nvSpPr>
        <p:spPr>
          <a:xfrm>
            <a:off x="2508199" y="4095598"/>
            <a:ext cx="933602" cy="200254"/>
          </a:xfrm>
          <a:prstGeom prst="roundRect">
            <a:avLst>
              <a:gd name="adj" fmla="val 456620"/>
            </a:avLst>
          </a:prstGeom>
          <a:solidFill>
            <a:srgbClr val="FFFFFF">
              <a:alpha val="20000"/>
            </a:srgbClr>
          </a:solidFill>
          <a:ln w="12700">
            <a:solidFill>
              <a:srgbClr val="FFFFFF">
                <a:alpha val="0"/>
              </a:srgbClr>
            </a:solidFill>
            <a:prstDash val="solid"/>
          </a:ln>
        </p:spPr>
        <p:txBody>
          <a:bodyPr/>
          <a:lstStyle/>
          <a:p>
            <a:endParaRPr lang="en-US"/>
          </a:p>
        </p:txBody>
      </p:sp>
      <p:sp>
        <p:nvSpPr>
          <p:cNvPr id="40" name="Text 35"/>
          <p:cNvSpPr/>
          <p:nvPr/>
        </p:nvSpPr>
        <p:spPr>
          <a:xfrm>
            <a:off x="2508199" y="4095598"/>
            <a:ext cx="933602"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FFFFFF"/>
                </a:solidFill>
                <a:latin typeface="Open Sans" pitchFamily="34" charset="0"/>
                <a:ea typeface="Open Sans" pitchFamily="34" charset="-122"/>
                <a:cs typeface="Open Sans" pitchFamily="34" charset="-120"/>
              </a:rPr>
              <a:t>132 Công nhân</a:t>
            </a:r>
            <a:endParaRPr lang="en-US" sz="800" dirty="0"/>
          </a:p>
        </p:txBody>
      </p:sp>
      <p:sp>
        <p:nvSpPr>
          <p:cNvPr id="41" name="Shape 36"/>
          <p:cNvSpPr/>
          <p:nvPr/>
        </p:nvSpPr>
        <p:spPr>
          <a:xfrm>
            <a:off x="4114800" y="3724351"/>
            <a:ext cx="3086100" cy="752551"/>
          </a:xfrm>
          <a:prstGeom prst="roundRect">
            <a:avLst>
              <a:gd name="adj" fmla="val 24609"/>
            </a:avLst>
          </a:prstGeom>
          <a:solidFill>
            <a:srgbClr val="F8FAFC"/>
          </a:solidFill>
          <a:ln w="25400">
            <a:solidFill>
              <a:srgbClr val="808080"/>
            </a:solidFill>
            <a:prstDash val="solid"/>
          </a:ln>
          <a:effectLst>
            <a:outerShdw blurRad="63500" dist="38100" dir="16200000" algn="bl" rotWithShape="0">
              <a:srgbClr val="000000">
                <a:alpha val="5000"/>
              </a:srgbClr>
            </a:outerShdw>
          </a:effectLst>
        </p:spPr>
        <p:txBody>
          <a:bodyPr/>
          <a:lstStyle/>
          <a:p>
            <a:endParaRPr lang="en-US"/>
          </a:p>
        </p:txBody>
      </p:sp>
      <p:sp>
        <p:nvSpPr>
          <p:cNvPr id="42" name="Text 37"/>
          <p:cNvSpPr txBox="1"/>
          <p:nvPr/>
        </p:nvSpPr>
        <p:spPr>
          <a:xfrm>
            <a:off x="4892040" y="3886200"/>
            <a:ext cx="1534363" cy="181051"/>
          </a:xfrm>
          <a:prstGeom prst="rect">
            <a:avLst/>
          </a:prstGeom>
          <a:noFill/>
          <a:ln/>
        </p:spPr>
        <p:txBody>
          <a:bodyPr wrap="square" lIns="0" tIns="0" rIns="0" bIns="0" rtlCol="0" anchor="ctr"/>
          <a:lstStyle/>
          <a:p>
            <a:pPr marL="0" indent="0" algn="l">
              <a:buNone/>
            </a:pPr>
            <a:r>
              <a:rPr lang="en-US" sz="1100" b="1" dirty="0">
                <a:solidFill>
                  <a:srgbClr val="808080"/>
                </a:solidFill>
                <a:latin typeface="Montserrat" pitchFamily="34" charset="0"/>
                <a:ea typeface="Montserrat" pitchFamily="34" charset="-122"/>
                <a:cs typeface="Montserrat" pitchFamily="34" charset="-120"/>
              </a:rPr>
              <a:t>CÁC NHÀ THẦU PHỤ</a:t>
            </a:r>
            <a:endParaRPr lang="en-US" sz="1100" dirty="0"/>
          </a:p>
        </p:txBody>
      </p:sp>
      <p:sp>
        <p:nvSpPr>
          <p:cNvPr id="43" name="Shape 38"/>
          <p:cNvSpPr/>
          <p:nvPr/>
        </p:nvSpPr>
        <p:spPr>
          <a:xfrm>
            <a:off x="4514393" y="4114800"/>
            <a:ext cx="1285646"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4" name="Text 39"/>
          <p:cNvSpPr/>
          <p:nvPr/>
        </p:nvSpPr>
        <p:spPr>
          <a:xfrm>
            <a:off x="4514393" y="4114800"/>
            <a:ext cx="128656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Chuyên ngành - 31.7%</a:t>
            </a:r>
            <a:endParaRPr lang="en-US" sz="800" dirty="0"/>
          </a:p>
        </p:txBody>
      </p:sp>
      <p:sp>
        <p:nvSpPr>
          <p:cNvPr id="45" name="Shape 40"/>
          <p:cNvSpPr/>
          <p:nvPr/>
        </p:nvSpPr>
        <p:spPr>
          <a:xfrm>
            <a:off x="5935370" y="4114800"/>
            <a:ext cx="866851" cy="200254"/>
          </a:xfrm>
          <a:prstGeom prst="roundRect">
            <a:avLst>
              <a:gd name="adj" fmla="val 456620"/>
            </a:avLst>
          </a:prstGeom>
          <a:solidFill>
            <a:srgbClr val="EDF2F7"/>
          </a:solidFill>
          <a:ln w="12700">
            <a:solidFill>
              <a:srgbClr val="FFFFFF">
                <a:alpha val="0"/>
              </a:srgbClr>
            </a:solidFill>
            <a:prstDash val="solid"/>
          </a:ln>
        </p:spPr>
        <p:txBody>
          <a:bodyPr/>
          <a:lstStyle/>
          <a:p>
            <a:endParaRPr lang="en-US"/>
          </a:p>
        </p:txBody>
      </p:sp>
      <p:sp>
        <p:nvSpPr>
          <p:cNvPr id="46" name="Text 41"/>
          <p:cNvSpPr/>
          <p:nvPr/>
        </p:nvSpPr>
        <p:spPr>
          <a:xfrm>
            <a:off x="5935370" y="4114800"/>
            <a:ext cx="866851" cy="200254"/>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dirty="0">
                <a:solidFill>
                  <a:srgbClr val="4A5568"/>
                </a:solidFill>
                <a:latin typeface="Open Sans" pitchFamily="34" charset="0"/>
                <a:ea typeface="Open Sans" pitchFamily="34" charset="-122"/>
                <a:cs typeface="Open Sans" pitchFamily="34" charset="-120"/>
              </a:rPr>
              <a:t>98 Công nhân</a:t>
            </a:r>
            <a:endParaRPr lang="en-US" sz="800" dirty="0"/>
          </a:p>
        </p:txBody>
      </p:sp>
      <p:sp>
        <p:nvSpPr>
          <p:cNvPr id="47" name="Shape 42"/>
          <p:cNvSpPr/>
          <p:nvPr/>
        </p:nvSpPr>
        <p:spPr>
          <a:xfrm>
            <a:off x="685800"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48" name="Text 43"/>
          <p:cNvSpPr txBox="1"/>
          <p:nvPr/>
        </p:nvSpPr>
        <p:spPr>
          <a:xfrm>
            <a:off x="978916" y="4604207"/>
            <a:ext cx="289865" cy="151790"/>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49" name="Text 44"/>
          <p:cNvSpPr txBox="1"/>
          <p:nvPr/>
        </p:nvSpPr>
        <p:spPr>
          <a:xfrm>
            <a:off x="844498" y="4727650"/>
            <a:ext cx="656539" cy="17190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Móng &amp; Hầm</a:t>
            </a:r>
            <a:endParaRPr lang="en-US" sz="800" dirty="0"/>
          </a:p>
        </p:txBody>
      </p:sp>
      <p:sp>
        <p:nvSpPr>
          <p:cNvPr id="50" name="Text 45"/>
          <p:cNvSpPr txBox="1"/>
          <p:nvPr/>
        </p:nvSpPr>
        <p:spPr>
          <a:xfrm>
            <a:off x="905256" y="4894682"/>
            <a:ext cx="489612" cy="124358"/>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125 </a:t>
            </a:r>
            <a:r>
              <a:rPr lang="en-US" sz="800" dirty="0" err="1">
                <a:solidFill>
                  <a:srgbClr val="F7A81B"/>
                </a:solidFill>
                <a:latin typeface="Open Sans" pitchFamily="34" charset="0"/>
                <a:ea typeface="Open Sans" pitchFamily="34" charset="-122"/>
                <a:cs typeface="Open Sans" pitchFamily="34" charset="-120"/>
              </a:rPr>
              <a:t>người</a:t>
            </a:r>
            <a:endParaRPr lang="en-US" sz="800" dirty="0"/>
          </a:p>
        </p:txBody>
      </p:sp>
      <p:sp>
        <p:nvSpPr>
          <p:cNvPr id="51" name="Shape 46"/>
          <p:cNvSpPr/>
          <p:nvPr/>
        </p:nvSpPr>
        <p:spPr>
          <a:xfrm>
            <a:off x="1686154"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2" name="Text 47"/>
          <p:cNvSpPr txBox="1"/>
          <p:nvPr/>
        </p:nvSpPr>
        <p:spPr>
          <a:xfrm>
            <a:off x="1993392" y="4590033"/>
            <a:ext cx="346557" cy="18013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BTCT</a:t>
            </a:r>
            <a:endParaRPr lang="en-US" sz="800" dirty="0"/>
          </a:p>
        </p:txBody>
      </p:sp>
      <p:sp>
        <p:nvSpPr>
          <p:cNvPr id="53" name="Text 48"/>
          <p:cNvSpPr txBox="1"/>
          <p:nvPr/>
        </p:nvSpPr>
        <p:spPr>
          <a:xfrm>
            <a:off x="1990649" y="4722977"/>
            <a:ext cx="377647" cy="186537"/>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Thân</a:t>
            </a:r>
            <a:endParaRPr lang="en-US" sz="800" dirty="0"/>
          </a:p>
        </p:txBody>
      </p:sp>
      <p:sp>
        <p:nvSpPr>
          <p:cNvPr id="54" name="Text 49"/>
          <p:cNvSpPr txBox="1"/>
          <p:nvPr/>
        </p:nvSpPr>
        <p:spPr>
          <a:xfrm>
            <a:off x="1902410" y="4899557"/>
            <a:ext cx="518007" cy="142901"/>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200 </a:t>
            </a:r>
            <a:r>
              <a:rPr lang="en-US" sz="800" dirty="0" err="1">
                <a:solidFill>
                  <a:srgbClr val="F7A81B"/>
                </a:solidFill>
                <a:latin typeface="Open Sans" pitchFamily="34" charset="0"/>
                <a:ea typeface="Open Sans" pitchFamily="34" charset="-122"/>
                <a:cs typeface="Open Sans" pitchFamily="34" charset="-120"/>
              </a:rPr>
              <a:t>người</a:t>
            </a:r>
            <a:endParaRPr lang="en-US" sz="800" dirty="0"/>
          </a:p>
        </p:txBody>
      </p:sp>
      <p:sp>
        <p:nvSpPr>
          <p:cNvPr id="55" name="Shape 50"/>
          <p:cNvSpPr/>
          <p:nvPr/>
        </p:nvSpPr>
        <p:spPr>
          <a:xfrm>
            <a:off x="2686507"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56" name="Text 51"/>
          <p:cNvSpPr txBox="1"/>
          <p:nvPr/>
        </p:nvSpPr>
        <p:spPr>
          <a:xfrm>
            <a:off x="2811780" y="4629607"/>
            <a:ext cx="673913"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Hoàn thiện</a:t>
            </a:r>
            <a:endParaRPr lang="en-US" sz="800" dirty="0"/>
          </a:p>
        </p:txBody>
      </p:sp>
      <p:sp>
        <p:nvSpPr>
          <p:cNvPr id="57" name="Text 52"/>
          <p:cNvSpPr txBox="1"/>
          <p:nvPr/>
        </p:nvSpPr>
        <p:spPr>
          <a:xfrm>
            <a:off x="3060497" y="4753051"/>
            <a:ext cx="177394"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Ướt</a:t>
            </a:r>
            <a:endParaRPr lang="en-US" sz="800" dirty="0"/>
          </a:p>
        </p:txBody>
      </p:sp>
      <p:sp>
        <p:nvSpPr>
          <p:cNvPr id="58" name="Text 53"/>
          <p:cNvSpPr txBox="1"/>
          <p:nvPr/>
        </p:nvSpPr>
        <p:spPr>
          <a:xfrm>
            <a:off x="2899562" y="4899557"/>
            <a:ext cx="497433" cy="119483"/>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260 </a:t>
            </a:r>
            <a:r>
              <a:rPr lang="en-US" sz="800" dirty="0" err="1">
                <a:solidFill>
                  <a:srgbClr val="F7A81B"/>
                </a:solidFill>
                <a:latin typeface="Open Sans" pitchFamily="34" charset="0"/>
                <a:ea typeface="Open Sans" pitchFamily="34" charset="-122"/>
                <a:cs typeface="Open Sans" pitchFamily="34" charset="-120"/>
              </a:rPr>
              <a:t>người</a:t>
            </a:r>
            <a:endParaRPr lang="en-US" sz="800" dirty="0"/>
          </a:p>
        </p:txBody>
      </p:sp>
      <p:sp>
        <p:nvSpPr>
          <p:cNvPr id="59" name="Shape 54"/>
          <p:cNvSpPr/>
          <p:nvPr/>
        </p:nvSpPr>
        <p:spPr>
          <a:xfrm>
            <a:off x="3685946" y="4533595"/>
            <a:ext cx="923544" cy="543154"/>
          </a:xfrm>
          <a:prstGeom prst="roundRect">
            <a:avLst>
              <a:gd name="adj" fmla="val 47256"/>
            </a:avLst>
          </a:prstGeom>
          <a:solidFill>
            <a:srgbClr val="F7A81B">
              <a:alpha val="5000"/>
            </a:srgbClr>
          </a:solidFill>
          <a:ln w="12700">
            <a:solidFill>
              <a:srgbClr val="F7A81B"/>
            </a:solidFill>
            <a:prstDash val="solid"/>
          </a:ln>
        </p:spPr>
        <p:txBody>
          <a:bodyPr/>
          <a:lstStyle/>
          <a:p>
            <a:endParaRPr lang="en-US"/>
          </a:p>
        </p:txBody>
      </p:sp>
      <p:sp>
        <p:nvSpPr>
          <p:cNvPr id="60" name="Text 55"/>
          <p:cNvSpPr txBox="1"/>
          <p:nvPr/>
        </p:nvSpPr>
        <p:spPr>
          <a:xfrm>
            <a:off x="3915461" y="4629607"/>
            <a:ext cx="472745" cy="124358"/>
          </a:xfrm>
          <a:prstGeom prst="rect">
            <a:avLst/>
          </a:prstGeom>
          <a:noFill/>
          <a:ln/>
        </p:spPr>
        <p:txBody>
          <a:bodyPr wrap="square" lIns="0" tIns="0" rIns="0" bIns="0" rtlCol="0" anchor="ctr"/>
          <a:lstStyle/>
          <a:p>
            <a:pPr marL="0" indent="0" algn="ctr">
              <a:buNone/>
            </a:pPr>
            <a:r>
              <a:rPr lang="en-US" sz="800" b="1" dirty="0">
                <a:solidFill>
                  <a:srgbClr val="F7A81B"/>
                </a:solidFill>
                <a:latin typeface="Montserrat" pitchFamily="34" charset="0"/>
                <a:ea typeface="Montserrat" pitchFamily="34" charset="-122"/>
                <a:cs typeface="Montserrat" pitchFamily="34" charset="-120"/>
              </a:rPr>
              <a:t>Quản lý</a:t>
            </a:r>
            <a:endParaRPr lang="en-US" sz="800" dirty="0"/>
          </a:p>
        </p:txBody>
      </p:sp>
      <p:sp>
        <p:nvSpPr>
          <p:cNvPr id="61" name="Text 56"/>
          <p:cNvSpPr txBox="1"/>
          <p:nvPr/>
        </p:nvSpPr>
        <p:spPr>
          <a:xfrm>
            <a:off x="4010558" y="4761787"/>
            <a:ext cx="303581" cy="156463"/>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ECC</a:t>
            </a:r>
            <a:endParaRPr lang="en-US" sz="800" dirty="0"/>
          </a:p>
        </p:txBody>
      </p:sp>
      <p:sp>
        <p:nvSpPr>
          <p:cNvPr id="62" name="Text 57"/>
          <p:cNvSpPr txBox="1"/>
          <p:nvPr/>
        </p:nvSpPr>
        <p:spPr>
          <a:xfrm>
            <a:off x="3934206" y="4909514"/>
            <a:ext cx="472744" cy="144475"/>
          </a:xfrm>
          <a:prstGeom prst="rect">
            <a:avLst/>
          </a:prstGeom>
          <a:noFill/>
          <a:ln/>
        </p:spPr>
        <p:txBody>
          <a:bodyPr wrap="square" lIns="0" tIns="0" rIns="0" bIns="0" rtlCol="0" anchor="ctr"/>
          <a:lstStyle/>
          <a:p>
            <a:pPr marL="0" indent="0" algn="ctr">
              <a:buNone/>
            </a:pPr>
            <a:r>
              <a:rPr lang="en-US" sz="800" dirty="0">
                <a:solidFill>
                  <a:srgbClr val="F7A81B"/>
                </a:solidFill>
                <a:latin typeface="Open Sans" pitchFamily="34" charset="0"/>
                <a:ea typeface="Open Sans" pitchFamily="34" charset="-122"/>
                <a:cs typeface="Open Sans" pitchFamily="34" charset="-120"/>
              </a:rPr>
              <a:t>42 </a:t>
            </a:r>
            <a:r>
              <a:rPr lang="en-US" sz="800" dirty="0" err="1">
                <a:solidFill>
                  <a:srgbClr val="F7A81B"/>
                </a:solidFill>
                <a:latin typeface="Open Sans" pitchFamily="34" charset="0"/>
                <a:ea typeface="Open Sans" pitchFamily="34" charset="-122"/>
                <a:cs typeface="Open Sans" pitchFamily="34" charset="-120"/>
              </a:rPr>
              <a:t>người</a:t>
            </a:r>
            <a:endParaRPr lang="en-US" sz="800" dirty="0"/>
          </a:p>
        </p:txBody>
      </p:sp>
      <p:sp>
        <p:nvSpPr>
          <p:cNvPr id="63" name="Shape 58"/>
          <p:cNvSpPr/>
          <p:nvPr/>
        </p:nvSpPr>
        <p:spPr>
          <a:xfrm>
            <a:off x="4781398" y="4533594"/>
            <a:ext cx="923544" cy="695859"/>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4" name="Text 59"/>
          <p:cNvSpPr txBox="1"/>
          <p:nvPr/>
        </p:nvSpPr>
        <p:spPr>
          <a:xfrm>
            <a:off x="4978908" y="4629607"/>
            <a:ext cx="536753"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Cọc, Đất</a:t>
            </a:r>
            <a:endParaRPr lang="en-US" sz="800" dirty="0"/>
          </a:p>
        </p:txBody>
      </p:sp>
      <p:sp>
        <p:nvSpPr>
          <p:cNvPr id="65" name="Text 60"/>
          <p:cNvSpPr txBox="1"/>
          <p:nvPr/>
        </p:nvSpPr>
        <p:spPr>
          <a:xfrm>
            <a:off x="4894783" y="4753051"/>
            <a:ext cx="700430"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&amp; Văng chống</a:t>
            </a:r>
            <a:endParaRPr lang="en-US" sz="800" dirty="0"/>
          </a:p>
        </p:txBody>
      </p:sp>
      <p:sp>
        <p:nvSpPr>
          <p:cNvPr id="66" name="Text 61"/>
          <p:cNvSpPr txBox="1"/>
          <p:nvPr/>
        </p:nvSpPr>
        <p:spPr>
          <a:xfrm>
            <a:off x="5047487" y="4938054"/>
            <a:ext cx="427939" cy="124358"/>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90 </a:t>
            </a:r>
            <a:r>
              <a:rPr lang="en-US" sz="800" dirty="0" err="1">
                <a:solidFill>
                  <a:srgbClr val="808080"/>
                </a:solidFill>
                <a:latin typeface="Open Sans" pitchFamily="34" charset="0"/>
                <a:ea typeface="Open Sans" pitchFamily="34" charset="-122"/>
                <a:cs typeface="Open Sans" pitchFamily="34" charset="-120"/>
              </a:rPr>
              <a:t>người</a:t>
            </a:r>
            <a:endParaRPr lang="en-US" sz="800" dirty="0"/>
          </a:p>
        </p:txBody>
      </p:sp>
      <p:sp>
        <p:nvSpPr>
          <p:cNvPr id="67" name="Shape 62"/>
          <p:cNvSpPr/>
          <p:nvPr/>
        </p:nvSpPr>
        <p:spPr>
          <a:xfrm>
            <a:off x="5781751" y="4533595"/>
            <a:ext cx="923544" cy="695858"/>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68" name="Text 63"/>
          <p:cNvSpPr txBox="1"/>
          <p:nvPr/>
        </p:nvSpPr>
        <p:spPr>
          <a:xfrm>
            <a:off x="6009437" y="4629607"/>
            <a:ext cx="470916" cy="124358"/>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Cơ điện</a:t>
            </a:r>
            <a:endParaRPr lang="en-US" sz="800" dirty="0"/>
          </a:p>
        </p:txBody>
      </p:sp>
      <p:sp>
        <p:nvSpPr>
          <p:cNvPr id="69" name="Text 64"/>
          <p:cNvSpPr txBox="1"/>
          <p:nvPr/>
        </p:nvSpPr>
        <p:spPr>
          <a:xfrm>
            <a:off x="5980176" y="4753051"/>
            <a:ext cx="530352"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ME &amp; PCCC</a:t>
            </a:r>
            <a:endParaRPr lang="en-US" sz="800" dirty="0"/>
          </a:p>
        </p:txBody>
      </p:sp>
      <p:sp>
        <p:nvSpPr>
          <p:cNvPr id="70" name="Text 65"/>
          <p:cNvSpPr txBox="1"/>
          <p:nvPr/>
        </p:nvSpPr>
        <p:spPr>
          <a:xfrm>
            <a:off x="6026860" y="4952289"/>
            <a:ext cx="503783" cy="133502"/>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150 </a:t>
            </a:r>
            <a:r>
              <a:rPr lang="en-US" sz="800" dirty="0" err="1">
                <a:solidFill>
                  <a:srgbClr val="808080"/>
                </a:solidFill>
                <a:latin typeface="Open Sans" pitchFamily="34" charset="0"/>
                <a:ea typeface="Open Sans" pitchFamily="34" charset="-122"/>
                <a:cs typeface="Open Sans" pitchFamily="34" charset="-120"/>
              </a:rPr>
              <a:t>người</a:t>
            </a:r>
            <a:endParaRPr lang="en-US" sz="800" dirty="0"/>
          </a:p>
        </p:txBody>
      </p:sp>
      <p:sp>
        <p:nvSpPr>
          <p:cNvPr id="71" name="Shape 66"/>
          <p:cNvSpPr/>
          <p:nvPr/>
        </p:nvSpPr>
        <p:spPr>
          <a:xfrm>
            <a:off x="6782104" y="4533595"/>
            <a:ext cx="701345" cy="695858"/>
          </a:xfrm>
          <a:prstGeom prst="roundRect">
            <a:avLst>
              <a:gd name="adj" fmla="val 47256"/>
            </a:avLst>
          </a:prstGeom>
          <a:solidFill>
            <a:srgbClr val="FFFFFF"/>
          </a:solidFill>
          <a:ln w="12700">
            <a:solidFill>
              <a:srgbClr val="CBD5E0"/>
            </a:solidFill>
            <a:prstDash val="solid"/>
          </a:ln>
        </p:spPr>
        <p:txBody>
          <a:bodyPr/>
          <a:lstStyle/>
          <a:p>
            <a:endParaRPr lang="en-US"/>
          </a:p>
        </p:txBody>
      </p:sp>
      <p:sp>
        <p:nvSpPr>
          <p:cNvPr id="72" name="Text 67"/>
          <p:cNvSpPr txBox="1"/>
          <p:nvPr/>
        </p:nvSpPr>
        <p:spPr>
          <a:xfrm>
            <a:off x="6878117" y="4567428"/>
            <a:ext cx="523951" cy="247802"/>
          </a:xfrm>
          <a:prstGeom prst="rect">
            <a:avLst/>
          </a:prstGeom>
          <a:noFill/>
          <a:ln/>
        </p:spPr>
        <p:txBody>
          <a:bodyPr wrap="square" lIns="0" tIns="0" rIns="0" bIns="0" rtlCol="0" anchor="ctr"/>
          <a:lstStyle/>
          <a:p>
            <a:pPr marL="0" indent="0" algn="ctr">
              <a:buNone/>
            </a:pPr>
            <a:r>
              <a:rPr lang="en-US" sz="800" b="1" dirty="0">
                <a:solidFill>
                  <a:srgbClr val="808080"/>
                </a:solidFill>
                <a:latin typeface="Montserrat" pitchFamily="34" charset="0"/>
                <a:ea typeface="Montserrat" pitchFamily="34" charset="-122"/>
                <a:cs typeface="Montserrat" pitchFamily="34" charset="-120"/>
              </a:rPr>
              <a:t>Hoàn thiện</a:t>
            </a:r>
            <a:endParaRPr lang="en-US" sz="800" dirty="0"/>
          </a:p>
        </p:txBody>
      </p:sp>
      <p:sp>
        <p:nvSpPr>
          <p:cNvPr id="73" name="Text 68"/>
          <p:cNvSpPr txBox="1"/>
          <p:nvPr/>
        </p:nvSpPr>
        <p:spPr>
          <a:xfrm>
            <a:off x="7046205" y="4819344"/>
            <a:ext cx="200457" cy="124358"/>
          </a:xfrm>
          <a:prstGeom prst="rect">
            <a:avLst/>
          </a:prstGeom>
          <a:noFill/>
          <a:ln/>
        </p:spPr>
        <p:txBody>
          <a:bodyPr wrap="square" lIns="0" tIns="0" rIns="0" bIns="0" rtlCol="0" anchor="ctr"/>
          <a:lstStyle/>
          <a:p>
            <a:pPr marL="0" indent="0" algn="ctr">
              <a:buNone/>
            </a:pPr>
            <a:r>
              <a:rPr lang="en-US" sz="800" dirty="0">
                <a:solidFill>
                  <a:srgbClr val="555555"/>
                </a:solidFill>
                <a:latin typeface="Open Sans" pitchFamily="34" charset="0"/>
                <a:ea typeface="Open Sans" pitchFamily="34" charset="-122"/>
                <a:cs typeface="Open Sans" pitchFamily="34" charset="-120"/>
              </a:rPr>
              <a:t>Khô</a:t>
            </a:r>
            <a:endParaRPr lang="en-US" sz="800" dirty="0"/>
          </a:p>
        </p:txBody>
      </p:sp>
      <p:sp>
        <p:nvSpPr>
          <p:cNvPr id="74" name="Text 69"/>
          <p:cNvSpPr txBox="1"/>
          <p:nvPr/>
        </p:nvSpPr>
        <p:spPr>
          <a:xfrm>
            <a:off x="6848347" y="4947668"/>
            <a:ext cx="523950" cy="13548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175 </a:t>
            </a:r>
            <a:r>
              <a:rPr lang="en-US" sz="800" dirty="0" err="1">
                <a:solidFill>
                  <a:srgbClr val="808080"/>
                </a:solidFill>
                <a:latin typeface="Open Sans" pitchFamily="34" charset="0"/>
                <a:ea typeface="Open Sans" pitchFamily="34" charset="-122"/>
                <a:cs typeface="Open Sans" pitchFamily="34" charset="-120"/>
              </a:rPr>
              <a:t>người</a:t>
            </a:r>
            <a:endParaRPr lang="en-US" sz="800" dirty="0"/>
          </a:p>
        </p:txBody>
      </p:sp>
      <p:sp>
        <p:nvSpPr>
          <p:cNvPr id="75" name="Shape 70"/>
          <p:cNvSpPr/>
          <p:nvPr/>
        </p:nvSpPr>
        <p:spPr>
          <a:xfrm>
            <a:off x="7505395" y="952805"/>
            <a:ext cx="4229100" cy="5324551"/>
          </a:xfrm>
          <a:prstGeom prst="roundRect">
            <a:avLst>
              <a:gd name="adj" fmla="val 779"/>
            </a:avLst>
          </a:prstGeom>
          <a:solidFill>
            <a:srgbClr val="FFFFFF"/>
          </a:solidFill>
          <a:ln w="12700">
            <a:solidFill>
              <a:srgbClr val="E2E8F0"/>
            </a:solidFill>
            <a:prstDash val="solid"/>
          </a:ln>
        </p:spPr>
        <p:txBody>
          <a:bodyPr/>
          <a:lstStyle/>
          <a:p>
            <a:endParaRPr lang="en-US" dirty="0"/>
          </a:p>
        </p:txBody>
      </p:sp>
      <p:sp>
        <p:nvSpPr>
          <p:cNvPr id="76" name="Text 71"/>
          <p:cNvSpPr txBox="1"/>
          <p:nvPr/>
        </p:nvSpPr>
        <p:spPr>
          <a:xfrm>
            <a:off x="7944307" y="1057046"/>
            <a:ext cx="3619195" cy="181051"/>
          </a:xfrm>
          <a:prstGeom prst="rect">
            <a:avLst/>
          </a:prstGeom>
          <a:noFill/>
          <a:ln/>
        </p:spPr>
        <p:txBody>
          <a:bodyPr wrap="square" lIns="0" tIns="0" rIns="0" bIns="0" rtlCol="0" anchor="ctr"/>
          <a:lstStyle/>
          <a:p>
            <a:pPr marL="0" indent="0" algn="l">
              <a:buNone/>
            </a:pPr>
            <a:r>
              <a:rPr lang="en-US" sz="1200" b="1" dirty="0">
                <a:solidFill>
                  <a:srgbClr val="808080"/>
                </a:solidFill>
                <a:latin typeface="Montserrat" pitchFamily="34" charset="0"/>
                <a:ea typeface="Montserrat" pitchFamily="34" charset="-122"/>
                <a:cs typeface="Montserrat" pitchFamily="34" charset="-120"/>
              </a:rPr>
              <a:t> Danh sách nhân sự chi tiết </a:t>
            </a:r>
            <a:endParaRPr lang="en-US" sz="1200" dirty="0"/>
          </a:p>
        </p:txBody>
      </p:sp>
      <p:pic>
        <p:nvPicPr>
          <p:cNvPr id="77" name="Image 3" descr="preencoded.png"/>
          <p:cNvPicPr>
            <a:picLocks noChangeAspect="1"/>
          </p:cNvPicPr>
          <p:nvPr/>
        </p:nvPicPr>
        <p:blipFill>
          <a:blip r:embed="rId5"/>
          <a:srcRect t="-180" b="-180"/>
          <a:stretch/>
        </p:blipFill>
        <p:spPr>
          <a:xfrm>
            <a:off x="7658100" y="1071677"/>
            <a:ext cx="190195" cy="152705"/>
          </a:xfrm>
          <a:prstGeom prst="rect">
            <a:avLst/>
          </a:prstGeom>
        </p:spPr>
      </p:pic>
      <p:graphicFrame>
        <p:nvGraphicFramePr>
          <p:cNvPr id="78" name="Table 0"/>
          <p:cNvGraphicFramePr>
            <a:graphicFrameLocks noGrp="1"/>
          </p:cNvGraphicFramePr>
          <p:nvPr>
            <p:extLst>
              <p:ext uri="{D42A27DB-BD31-4B8C-83A1-F6EECF244321}">
                <p14:modId xmlns:p14="http://schemas.microsoft.com/office/powerpoint/2010/main" val="3089278191"/>
              </p:ext>
            </p:extLst>
          </p:nvPr>
        </p:nvGraphicFramePr>
        <p:xfrm>
          <a:off x="7658100" y="1390802"/>
          <a:ext cx="3923691" cy="3524747"/>
        </p:xfrm>
        <a:graphic>
          <a:graphicData uri="http://schemas.openxmlformats.org/drawingml/2006/table">
            <a:tbl>
              <a:tblPr/>
              <a:tblGrid>
                <a:gridCol w="1176833">
                  <a:extLst>
                    <a:ext uri="{9D8B030D-6E8A-4147-A177-3AD203B41FA5}">
                      <a16:colId xmlns:a16="http://schemas.microsoft.com/office/drawing/2014/main" val="20000"/>
                    </a:ext>
                  </a:extLst>
                </a:gridCol>
                <a:gridCol w="588874">
                  <a:extLst>
                    <a:ext uri="{9D8B030D-6E8A-4147-A177-3AD203B41FA5}">
                      <a16:colId xmlns:a16="http://schemas.microsoft.com/office/drawing/2014/main" val="20001"/>
                    </a:ext>
                  </a:extLst>
                </a:gridCol>
                <a:gridCol w="1176833">
                  <a:extLst>
                    <a:ext uri="{9D8B030D-6E8A-4147-A177-3AD203B41FA5}">
                      <a16:colId xmlns:a16="http://schemas.microsoft.com/office/drawing/2014/main" val="20002"/>
                    </a:ext>
                  </a:extLst>
                </a:gridCol>
                <a:gridCol w="981151">
                  <a:extLst>
                    <a:ext uri="{9D8B030D-6E8A-4147-A177-3AD203B41FA5}">
                      <a16:colId xmlns:a16="http://schemas.microsoft.com/office/drawing/2014/main" val="20003"/>
                    </a:ext>
                  </a:extLst>
                </a:gridCol>
              </a:tblGrid>
              <a:tr h="281026">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Vị trí</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Số lượng</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Thuộc ban</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tc>
                  <a:txBody>
                    <a:bodyPr/>
                    <a:lstStyle/>
                    <a:p>
                      <a:pPr marL="0" indent="0" algn="l">
                        <a:buNone/>
                      </a:pPr>
                      <a:r>
                        <a:rPr lang="en-US" sz="825" b="1" dirty="0">
                          <a:solidFill>
                            <a:srgbClr val="FFFFFF"/>
                          </a:solidFill>
                          <a:latin typeface="Open Sans" pitchFamily="34" charset="0"/>
                          <a:ea typeface="Open Sans" pitchFamily="34" charset="-122"/>
                          <a:cs typeface="Open Sans" pitchFamily="34" charset="-120"/>
                        </a:rPr>
                        <a:t>Ghi chú</a:t>
                      </a:r>
                      <a:endParaRPr lang="en-US" sz="825" dirty="0">
                        <a:latin typeface="Open Sans" charset="0"/>
                        <a:ea typeface="Open Sans" charset="0"/>
                        <a:cs typeface="Open Sans" charset="0"/>
                      </a:endParaRPr>
                    </a:p>
                  </a:txBody>
                  <a:tcPr marL="95098" marR="95098" marT="75895" marB="75895"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7A81B"/>
                    </a:solidFill>
                  </a:tcPr>
                </a:tc>
                <a:extLst>
                  <a:ext uri="{0D108BD9-81ED-4DB2-BD59-A6C34878D82A}">
                    <a16:rowId xmlns:a16="http://schemas.microsoft.com/office/drawing/2014/main" val="10000"/>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Giám đốc DA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Tổng thầu</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Quản </a:t>
                      </a:r>
                      <a:r>
                        <a:rPr lang="en-US" sz="825" dirty="0" err="1">
                          <a:solidFill>
                            <a:srgbClr val="4A5568"/>
                          </a:solidFill>
                          <a:latin typeface="Open Sans" pitchFamily="34" charset="0"/>
                          <a:ea typeface="Open Sans" pitchFamily="34" charset="-122"/>
                          <a:cs typeface="Open Sans" pitchFamily="34" charset="-120"/>
                        </a:rPr>
                        <a:t>lý</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chung</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trưởng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err="1">
                          <a:solidFill>
                            <a:srgbClr val="4A5568"/>
                          </a:solidFill>
                          <a:latin typeface="Open Sans" pitchFamily="34" charset="0"/>
                          <a:ea typeface="Open Sans" pitchFamily="34" charset="-122"/>
                          <a:cs typeface="Open Sans" pitchFamily="34" charset="-120"/>
                        </a:rPr>
                        <a:t>Điều</a:t>
                      </a:r>
                      <a:r>
                        <a:rPr lang="en-US" sz="825" dirty="0">
                          <a:solidFill>
                            <a:srgbClr val="4A5568"/>
                          </a:solidFill>
                          <a:latin typeface="Open Sans" pitchFamily="34" charset="0"/>
                          <a:ea typeface="Open Sans" pitchFamily="34" charset="-122"/>
                          <a:cs typeface="Open Sans" pitchFamily="34" charset="-120"/>
                        </a:rPr>
                        <a:t> </a:t>
                      </a:r>
                      <a:r>
                        <a:rPr lang="en-US" sz="825" dirty="0" err="1">
                          <a:solidFill>
                            <a:srgbClr val="4A5568"/>
                          </a:solidFill>
                          <a:latin typeface="Open Sans" pitchFamily="34" charset="0"/>
                          <a:ea typeface="Open Sans" pitchFamily="34" charset="-122"/>
                          <a:cs typeface="Open Sans" pitchFamily="34" charset="-120"/>
                        </a:rPr>
                        <a:t>hành</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Chỉ</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huy</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phó</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Kỹ thuật</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BQL</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 KS</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81026">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Quản </a:t>
                      </a:r>
                      <a:r>
                        <a:rPr lang="en-US" sz="825" b="1" dirty="0" err="1">
                          <a:solidFill>
                            <a:srgbClr val="4A5568"/>
                          </a:solidFill>
                          <a:latin typeface="Open Sans" pitchFamily="34" charset="0"/>
                          <a:ea typeface="Open Sans" pitchFamily="34" charset="-122"/>
                          <a:cs typeface="Open Sans" pitchFamily="34" charset="-120"/>
                        </a:rPr>
                        <a:t>lý</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thiết</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kế</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Ban XD</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QS/QC/QA</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Trắc</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đạc</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SXTT</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16</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Kỹ</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sư</a:t>
                      </a:r>
                      <a:r>
                        <a:rPr lang="en-US" sz="825" b="1" dirty="0">
                          <a:solidFill>
                            <a:srgbClr val="4A5568"/>
                          </a:solidFill>
                          <a:latin typeface="Open Sans" pitchFamily="34" charset="0"/>
                          <a:ea typeface="Open Sans" pitchFamily="34" charset="-122"/>
                          <a:cs typeface="Open Sans" pitchFamily="34" charset="-120"/>
                        </a:rPr>
                        <a:t> an </a:t>
                      </a:r>
                      <a:r>
                        <a:rPr lang="en-US" sz="825" b="1" dirty="0" err="1">
                          <a:solidFill>
                            <a:srgbClr val="4A5568"/>
                          </a:solidFill>
                          <a:latin typeface="Open Sans" pitchFamily="34" charset="0"/>
                          <a:ea typeface="Open Sans" pitchFamily="34" charset="-122"/>
                          <a:cs typeface="Open Sans" pitchFamily="34" charset="-120"/>
                        </a:rPr>
                        <a:t>toàn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11237">
                <a:tc>
                  <a:txBody>
                    <a:bodyPr/>
                    <a:lstStyle/>
                    <a:p>
                      <a:pPr marL="0" indent="0">
                        <a:buNone/>
                      </a:pPr>
                      <a:r>
                        <a:rPr lang="en-US" sz="825" b="1" dirty="0">
                          <a:solidFill>
                            <a:srgbClr val="4A5568"/>
                          </a:solidFill>
                          <a:latin typeface="Open Sans" pitchFamily="34" charset="0"/>
                          <a:ea typeface="Open Sans" pitchFamily="34" charset="-122"/>
                          <a:cs typeface="Open Sans" pitchFamily="34" charset="-120"/>
                        </a:rPr>
                        <a:t>Thư </a:t>
                      </a:r>
                      <a:r>
                        <a:rPr lang="en-US" sz="825" b="1" dirty="0" err="1">
                          <a:solidFill>
                            <a:srgbClr val="4A5568"/>
                          </a:solidFill>
                          <a:latin typeface="Open Sans" pitchFamily="34" charset="0"/>
                          <a:ea typeface="Open Sans" pitchFamily="34" charset="-122"/>
                          <a:cs typeface="Open Sans" pitchFamily="34" charset="-120"/>
                        </a:rPr>
                        <a:t>ký</a:t>
                      </a:r>
                      <a:r>
                        <a:rPr lang="en-US" sz="825" b="1" dirty="0">
                          <a:solidFill>
                            <a:srgbClr val="4A5568"/>
                          </a:solidFill>
                          <a:latin typeface="Open Sans" pitchFamily="34" charset="0"/>
                          <a:ea typeface="Open Sans" pitchFamily="34" charset="-122"/>
                          <a:cs typeface="Open Sans" pitchFamily="34" charset="-120"/>
                        </a:rPr>
                        <a:t>/</a:t>
                      </a:r>
                      <a:r>
                        <a:rPr lang="en-US" sz="825" b="1" dirty="0" err="1">
                          <a:solidFill>
                            <a:srgbClr val="4A5568"/>
                          </a:solidFill>
                          <a:latin typeface="Open Sans" pitchFamily="34" charset="0"/>
                          <a:ea typeface="Open Sans" pitchFamily="34" charset="-122"/>
                          <a:cs typeface="Open Sans" pitchFamily="34" charset="-120"/>
                        </a:rPr>
                        <a:t>kế</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toán</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ECC</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81026">
                <a:tc>
                  <a:txBody>
                    <a:bodyPr/>
                    <a:lstStyle/>
                    <a:p>
                      <a:pPr marL="0" indent="0">
                        <a:buNone/>
                      </a:pPr>
                      <a:r>
                        <a:rPr lang="en-US" sz="825" b="1" dirty="0" err="1">
                          <a:solidFill>
                            <a:srgbClr val="4A5568"/>
                          </a:solidFill>
                          <a:latin typeface="Open Sans" pitchFamily="34" charset="0"/>
                          <a:ea typeface="Open Sans" pitchFamily="34" charset="-122"/>
                          <a:cs typeface="Open Sans" pitchFamily="34" charset="-120"/>
                        </a:rPr>
                        <a:t>Tổng</a:t>
                      </a:r>
                      <a:r>
                        <a:rPr lang="en-US" sz="825" b="1" dirty="0">
                          <a:solidFill>
                            <a:srgbClr val="4A5568"/>
                          </a:solidFill>
                          <a:latin typeface="Open Sans" pitchFamily="34" charset="0"/>
                          <a:ea typeface="Open Sans" pitchFamily="34" charset="-122"/>
                          <a:cs typeface="Open Sans" pitchFamily="34" charset="-120"/>
                        </a:rPr>
                        <a:t> </a:t>
                      </a:r>
                      <a:r>
                        <a:rPr lang="en-US" sz="825" b="1" dirty="0" err="1">
                          <a:solidFill>
                            <a:srgbClr val="4A5568"/>
                          </a:solidFill>
                          <a:latin typeface="Open Sans" pitchFamily="34" charset="0"/>
                          <a:ea typeface="Open Sans" pitchFamily="34" charset="-122"/>
                          <a:cs typeface="Open Sans" pitchFamily="34" charset="-120"/>
                        </a:rPr>
                        <a:t>cộng</a:t>
                      </a:r>
                      <a:endParaRPr lang="en-US" sz="1200" dirty="0"/>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825" dirty="0">
                          <a:solidFill>
                            <a:srgbClr val="4A5568"/>
                          </a:solidFill>
                          <a:latin typeface="Open Sans" pitchFamily="34" charset="0"/>
                          <a:ea typeface="Open Sans" pitchFamily="34" charset="-122"/>
                          <a:cs typeface="Open Sans" pitchFamily="34" charset="-120"/>
                        </a:rPr>
                        <a:t>42</a:t>
                      </a: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endParaRPr lang="en-US" sz="825" dirty="0">
                        <a:latin typeface="Open Sans" charset="0"/>
                        <a:ea typeface="Open Sans" charset="0"/>
                        <a:cs typeface="Open Sans" charset="0"/>
                      </a:endParaRPr>
                    </a:p>
                  </a:txBody>
                  <a:tcPr marL="95098" marR="95098" marT="57607" marB="57607"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9" name="Text 72"/>
          <p:cNvSpPr txBox="1"/>
          <p:nvPr/>
        </p:nvSpPr>
        <p:spPr>
          <a:xfrm>
            <a:off x="7848294" y="5972860"/>
            <a:ext cx="3715207" cy="152705"/>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a:t>
            </a:r>
            <a:r>
              <a:rPr lang="en-US" sz="900" dirty="0">
                <a:solidFill>
                  <a:srgbClr val="4A5568"/>
                </a:solidFill>
                <a:latin typeface="Open Sans" pitchFamily="34" charset="0"/>
                <a:ea typeface="Open Sans" pitchFamily="34" charset="-122"/>
                <a:cs typeface="Open Sans" pitchFamily="34" charset="-120"/>
              </a:rPr>
              <a:t> 42 Kỹ </a:t>
            </a:r>
            <a:r>
              <a:rPr lang="en-US" sz="900" dirty="0" err="1">
                <a:solidFill>
                  <a:srgbClr val="4A5568"/>
                </a:solidFill>
                <a:latin typeface="Open Sans" pitchFamily="34" charset="0"/>
                <a:ea typeface="Open Sans" pitchFamily="34" charset="-122"/>
                <a:cs typeface="Open Sans" pitchFamily="34" charset="-120"/>
              </a:rPr>
              <a:t>sư</a:t>
            </a:r>
            <a:r>
              <a:rPr lang="en-US" sz="900" dirty="0">
                <a:solidFill>
                  <a:srgbClr val="4A5568"/>
                </a:solidFill>
                <a:latin typeface="Open Sans" pitchFamily="34" charset="0"/>
                <a:ea typeface="Open Sans" pitchFamily="34" charset="-122"/>
                <a:cs typeface="Open Sans" pitchFamily="34" charset="-120"/>
              </a:rPr>
              <a:t> |TB 308 Công </a:t>
            </a:r>
            <a:r>
              <a:rPr lang="en-US" sz="900" dirty="0" err="1">
                <a:solidFill>
                  <a:srgbClr val="4A5568"/>
                </a:solidFill>
                <a:latin typeface="Open Sans" pitchFamily="34" charset="0"/>
                <a:ea typeface="Open Sans" pitchFamily="34" charset="-122"/>
                <a:cs typeface="Open Sans" pitchFamily="34" charset="-120"/>
              </a:rPr>
              <a:t>nhân</a:t>
            </a:r>
            <a:r>
              <a:rPr lang="en-US" sz="900" dirty="0">
                <a:solidFill>
                  <a:srgbClr val="4A5568"/>
                </a:solidFill>
                <a:latin typeface="Open Sans" pitchFamily="34" charset="0"/>
                <a:ea typeface="Open Sans" pitchFamily="34" charset="-122"/>
                <a:cs typeface="Open Sans" pitchFamily="34" charset="-120"/>
              </a:rPr>
              <a:t>/</a:t>
            </a:r>
            <a:r>
              <a:rPr lang="en-US" sz="900" dirty="0" err="1">
                <a:solidFill>
                  <a:srgbClr val="4A5568"/>
                </a:solidFill>
                <a:latin typeface="Open Sans" pitchFamily="34" charset="0"/>
                <a:ea typeface="Open Sans" pitchFamily="34" charset="-122"/>
                <a:cs typeface="Open Sans" pitchFamily="34" charset="-120"/>
              </a:rPr>
              <a:t>Tháng</a:t>
            </a:r>
            <a:endParaRPr lang="en-US" sz="900" dirty="0"/>
          </a:p>
        </p:txBody>
      </p:sp>
      <p:sp>
        <p:nvSpPr>
          <p:cNvPr id="81" name="Shape 7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82" name="Image 4" descr="preencoded.png"/>
          <p:cNvPicPr>
            <a:picLocks noChangeAspect="1"/>
          </p:cNvPicPr>
          <p:nvPr/>
        </p:nvPicPr>
        <p:blipFill>
          <a:blip r:embed="rId6"/>
          <a:srcRect l="-1282" r="-1282"/>
          <a:stretch/>
        </p:blipFill>
        <p:spPr>
          <a:xfrm>
            <a:off x="461772" y="237744"/>
            <a:ext cx="219456" cy="190195"/>
          </a:xfrm>
          <a:prstGeom prst="rect">
            <a:avLst/>
          </a:prstGeom>
        </p:spPr>
      </p:pic>
      <p:sp>
        <p:nvSpPr>
          <p:cNvPr id="83" name="Text 75"/>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SƠ ĐỒ TỔ CHỨC CÔNG TRƯỜNG - DỰ ÁN NOXH YÊN SỞ</a:t>
            </a:r>
            <a:endParaRPr lang="en-US" sz="1800" dirty="0"/>
          </a:p>
        </p:txBody>
      </p:sp>
      <p:sp>
        <p:nvSpPr>
          <p:cNvPr id="84" name="Text 76"/>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85" name="Image 5" descr="preencoded.png"/>
          <p:cNvPicPr>
            <a:picLocks noChangeAspect="1"/>
          </p:cNvPicPr>
          <p:nvPr/>
        </p:nvPicPr>
        <p:blipFill>
          <a:blip r:embed="rId7"/>
          <a:srcRect t="-1100" b="-1100"/>
          <a:stretch/>
        </p:blipFill>
        <p:spPr>
          <a:xfrm>
            <a:off x="10564063" y="264262"/>
            <a:ext cx="114300" cy="133502"/>
          </a:xfrm>
          <a:prstGeom prst="rect">
            <a:avLst/>
          </a:prstGeom>
        </p:spPr>
      </p:pic>
      <p:sp>
        <p:nvSpPr>
          <p:cNvPr id="86" name="Text 77"/>
          <p:cNvSpPr txBox="1"/>
          <p:nvPr/>
        </p:nvSpPr>
        <p:spPr>
          <a:xfrm>
            <a:off x="553212" y="6524244"/>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87" name="Image 6" descr="preencoded.png"/>
          <p:cNvPicPr>
            <a:picLocks noChangeAspect="1"/>
          </p:cNvPicPr>
          <p:nvPr/>
        </p:nvPicPr>
        <p:blipFill>
          <a:blip r:embed="rId8"/>
          <a:srcRect l="-1358" r="-1358"/>
          <a:stretch/>
        </p:blipFill>
        <p:spPr>
          <a:xfrm>
            <a:off x="381305" y="6549847"/>
            <a:ext cx="95098" cy="123444"/>
          </a:xfrm>
          <a:prstGeom prst="rect">
            <a:avLst/>
          </a:prstGeom>
        </p:spPr>
      </p:pic>
      <p:sp>
        <p:nvSpPr>
          <p:cNvPr id="88" name="Text 78"/>
          <p:cNvSpPr txBox="1"/>
          <p:nvPr/>
        </p:nvSpPr>
        <p:spPr>
          <a:xfrm>
            <a:off x="10477195" y="6524244"/>
            <a:ext cx="13341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9/15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
          </a:xfrm>
          <a:prstGeom prst="rect">
            <a:avLst/>
          </a:prstGeom>
          <a:solidFill>
            <a:srgbClr val="FFFFFF"/>
          </a:solidFill>
          <a:ln/>
        </p:spPr>
        <p:txBody>
          <a:bodyPr/>
          <a:lstStyle/>
          <a:p>
            <a:endParaRPr lang="en-US"/>
          </a:p>
        </p:txBody>
      </p:sp>
      <p:sp>
        <p:nvSpPr>
          <p:cNvPr id="5" name="Shape 3"/>
          <p:cNvSpPr/>
          <p:nvPr/>
        </p:nvSpPr>
        <p:spPr>
          <a:xfrm>
            <a:off x="0" y="666598"/>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857707"/>
            <a:ext cx="11449202" cy="5544007"/>
          </a:xfrm>
          <a:prstGeom prst="roundRect">
            <a:avLst>
              <a:gd name="adj" fmla="val 680"/>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7"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8" name="Shape 5"/>
          <p:cNvSpPr/>
          <p:nvPr/>
        </p:nvSpPr>
        <p:spPr>
          <a:xfrm>
            <a:off x="6001207" y="952805"/>
            <a:ext cx="1619402" cy="571500"/>
          </a:xfrm>
          <a:prstGeom prst="roundRect">
            <a:avLst>
              <a:gd name="adj" fmla="val 42667"/>
            </a:avLst>
          </a:prstGeom>
          <a:solidFill>
            <a:srgbClr val="F7A81B"/>
          </a:solidFill>
          <a:ln w="12700">
            <a:solidFill>
              <a:srgbClr val="FFFFFF">
                <a:alpha val="0"/>
              </a:srgbClr>
            </a:solidFill>
            <a:prstDash val="solid"/>
          </a:ln>
        </p:spPr>
        <p:txBody>
          <a:bodyPr/>
          <a:lstStyle/>
          <a:p>
            <a:endParaRPr lang="en-US"/>
          </a:p>
        </p:txBody>
      </p:sp>
      <p:sp>
        <p:nvSpPr>
          <p:cNvPr id="9" name="Shape 6"/>
          <p:cNvSpPr/>
          <p:nvPr/>
        </p:nvSpPr>
        <p:spPr>
          <a:xfrm>
            <a:off x="7810805" y="952805"/>
            <a:ext cx="1619402" cy="571500"/>
          </a:xfrm>
          <a:prstGeom prst="roundRect">
            <a:avLst>
              <a:gd name="adj" fmla="val 42667"/>
            </a:avLst>
          </a:prstGeom>
          <a:solidFill>
            <a:srgbClr val="808080"/>
          </a:solidFill>
          <a:ln w="12700">
            <a:solidFill>
              <a:srgbClr val="FFFFFF">
                <a:alpha val="0"/>
              </a:srgbClr>
            </a:solidFill>
            <a:prstDash val="solid"/>
          </a:ln>
        </p:spPr>
        <p:txBody>
          <a:bodyPr/>
          <a:lstStyle/>
          <a:p>
            <a:endParaRPr lang="en-US"/>
          </a:p>
        </p:txBody>
      </p:sp>
      <p:sp>
        <p:nvSpPr>
          <p:cNvPr id="10" name="Shape 7"/>
          <p:cNvSpPr/>
          <p:nvPr/>
        </p:nvSpPr>
        <p:spPr>
          <a:xfrm>
            <a:off x="9620402" y="952805"/>
            <a:ext cx="1638605" cy="590702"/>
          </a:xfrm>
          <a:prstGeom prst="roundRect">
            <a:avLst>
              <a:gd name="adj" fmla="val 39948"/>
            </a:avLst>
          </a:prstGeom>
          <a:solidFill>
            <a:srgbClr val="F7A81B">
              <a:alpha val="10000"/>
            </a:srgbClr>
          </a:solidFill>
          <a:ln w="12700">
            <a:solidFill>
              <a:srgbClr val="F7A81B"/>
            </a:solidFill>
            <a:prstDash val="solid"/>
          </a:ln>
        </p:spPr>
        <p:txBody>
          <a:bodyPr/>
          <a:lstStyle/>
          <a:p>
            <a:endParaRPr lang="en-US"/>
          </a:p>
        </p:txBody>
      </p:sp>
      <p:sp>
        <p:nvSpPr>
          <p:cNvPr id="11" name="Shape 8"/>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12" name="Image 1" descr="preencoded.png"/>
          <p:cNvPicPr>
            <a:picLocks noChangeAspect="1"/>
          </p:cNvPicPr>
          <p:nvPr/>
        </p:nvPicPr>
        <p:blipFill>
          <a:blip r:embed="rId4"/>
          <a:srcRect/>
          <a:stretch/>
        </p:blipFill>
        <p:spPr>
          <a:xfrm>
            <a:off x="452628" y="237744"/>
            <a:ext cx="237744" cy="190195"/>
          </a:xfrm>
          <a:prstGeom prst="rect">
            <a:avLst/>
          </a:prstGeom>
        </p:spPr>
      </p:pic>
      <p:sp>
        <p:nvSpPr>
          <p:cNvPr id="13" name="Text 9"/>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BIỂU ĐỒ HUY ĐỘNG NHÂN CÔNG ECC</a:t>
            </a:r>
            <a:endParaRPr lang="en-US" sz="1800" dirty="0"/>
          </a:p>
        </p:txBody>
      </p:sp>
      <p:sp>
        <p:nvSpPr>
          <p:cNvPr id="14" name="Text 10"/>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5" name="Image 2" descr="preencoded.png"/>
          <p:cNvPicPr>
            <a:picLocks noChangeAspect="1"/>
          </p:cNvPicPr>
          <p:nvPr/>
        </p:nvPicPr>
        <p:blipFill>
          <a:blip r:embed="rId5"/>
          <a:srcRect t="-1100" b="-1100"/>
          <a:stretch/>
        </p:blipFill>
        <p:spPr>
          <a:xfrm>
            <a:off x="10564063" y="264262"/>
            <a:ext cx="114300" cy="133502"/>
          </a:xfrm>
          <a:prstGeom prst="rect">
            <a:avLst/>
          </a:prstGeom>
        </p:spPr>
      </p:pic>
      <p:sp>
        <p:nvSpPr>
          <p:cNvPr id="16" name="Text 11"/>
          <p:cNvSpPr txBox="1"/>
          <p:nvPr/>
        </p:nvSpPr>
        <p:spPr>
          <a:xfrm>
            <a:off x="933602" y="1047902"/>
            <a:ext cx="4484218"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Nhu cầu nhân lực trực tiếp (24 tháng)</a:t>
            </a:r>
            <a:endParaRPr lang="en-US" sz="1500" dirty="0"/>
          </a:p>
        </p:txBody>
      </p:sp>
      <p:pic>
        <p:nvPicPr>
          <p:cNvPr id="17" name="Image 3" descr="preencoded.png"/>
          <p:cNvPicPr>
            <a:picLocks noChangeAspect="1"/>
          </p:cNvPicPr>
          <p:nvPr/>
        </p:nvPicPr>
        <p:blipFill>
          <a:blip r:embed="rId6"/>
          <a:srcRect/>
          <a:stretch/>
        </p:blipFill>
        <p:spPr>
          <a:xfrm>
            <a:off x="666598" y="1076249"/>
            <a:ext cx="171907" cy="171907"/>
          </a:xfrm>
          <a:prstGeom prst="rect">
            <a:avLst/>
          </a:prstGeom>
        </p:spPr>
      </p:pic>
      <p:sp>
        <p:nvSpPr>
          <p:cNvPr id="18" name="Text 12"/>
          <p:cNvSpPr txBox="1"/>
          <p:nvPr/>
        </p:nvSpPr>
        <p:spPr>
          <a:xfrm>
            <a:off x="6048756"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1000</a:t>
            </a:r>
            <a:endParaRPr lang="en-US" sz="1600" dirty="0"/>
          </a:p>
        </p:txBody>
      </p:sp>
      <p:sp>
        <p:nvSpPr>
          <p:cNvPr id="19" name="Text 13"/>
          <p:cNvSpPr txBox="1"/>
          <p:nvPr/>
        </p:nvSpPr>
        <p:spPr>
          <a:xfrm>
            <a:off x="6048756"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Tối đa (GĐ Thân)</a:t>
            </a:r>
            <a:endParaRPr lang="en-US" sz="800" dirty="0"/>
          </a:p>
        </p:txBody>
      </p:sp>
      <p:sp>
        <p:nvSpPr>
          <p:cNvPr id="20" name="Text 14"/>
          <p:cNvSpPr txBox="1"/>
          <p:nvPr/>
        </p:nvSpPr>
        <p:spPr>
          <a:xfrm>
            <a:off x="7858354" y="1057046"/>
            <a:ext cx="1524305" cy="210312"/>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308</a:t>
            </a:r>
            <a:endParaRPr lang="en-US" sz="1600" dirty="0"/>
          </a:p>
        </p:txBody>
      </p:sp>
      <p:sp>
        <p:nvSpPr>
          <p:cNvPr id="21" name="Text 15"/>
          <p:cNvSpPr txBox="1"/>
          <p:nvPr/>
        </p:nvSpPr>
        <p:spPr>
          <a:xfrm>
            <a:off x="7858354" y="1285646"/>
            <a:ext cx="1524305" cy="133502"/>
          </a:xfrm>
          <a:prstGeom prst="rect">
            <a:avLst/>
          </a:prstGeom>
          <a:noFill/>
          <a:ln/>
        </p:spPr>
        <p:txBody>
          <a:bodyPr wrap="square" lIns="0" tIns="0" rIns="0" bIns="0" rtlCol="0" anchor="ctr"/>
          <a:lstStyle/>
          <a:p>
            <a:pPr marL="0" indent="0" algn="ctr">
              <a:buNone/>
            </a:pPr>
            <a:r>
              <a:rPr lang="en-US" sz="800" b="1" kern="0" spc="22" dirty="0">
                <a:solidFill>
                  <a:srgbClr val="FFFFFF"/>
                </a:solidFill>
                <a:latin typeface="Open Sans" pitchFamily="34" charset="0"/>
                <a:ea typeface="Open Sans" pitchFamily="34" charset="-122"/>
                <a:cs typeface="Open Sans" pitchFamily="34" charset="-120"/>
              </a:rPr>
              <a:t>Trung bình / Tháng</a:t>
            </a:r>
            <a:endParaRPr lang="en-US" sz="800" dirty="0"/>
          </a:p>
        </p:txBody>
      </p:sp>
      <p:sp>
        <p:nvSpPr>
          <p:cNvPr id="22" name="Text 16"/>
          <p:cNvSpPr txBox="1"/>
          <p:nvPr/>
        </p:nvSpPr>
        <p:spPr>
          <a:xfrm>
            <a:off x="9667951" y="1067105"/>
            <a:ext cx="1524305" cy="191110"/>
          </a:xfrm>
          <a:prstGeom prst="rect">
            <a:avLst/>
          </a:prstGeom>
          <a:noFill/>
          <a:ln/>
        </p:spPr>
        <p:txBody>
          <a:bodyPr wrap="square" lIns="0" tIns="0" rIns="0" bIns="0" rtlCol="0" anchor="ctr"/>
          <a:lstStyle/>
          <a:p>
            <a:pPr marL="0" indent="0" algn="ctr">
              <a:buNone/>
            </a:pPr>
            <a:r>
              <a:rPr lang="en-US" sz="1500" b="1" dirty="0">
                <a:solidFill>
                  <a:srgbClr val="F7A81B"/>
                </a:solidFill>
                <a:latin typeface="Montserrat" pitchFamily="34" charset="0"/>
                <a:ea typeface="Montserrat" pitchFamily="34" charset="-122"/>
                <a:cs typeface="Montserrat" pitchFamily="34" charset="-120"/>
              </a:rPr>
              <a:t>364 </a:t>
            </a:r>
            <a:r>
              <a:rPr lang="en-US" sz="1500" b="1" dirty="0" err="1">
                <a:solidFill>
                  <a:srgbClr val="F7A81B"/>
                </a:solidFill>
                <a:latin typeface="Montserrat" pitchFamily="34" charset="0"/>
                <a:ea typeface="Montserrat" pitchFamily="34" charset="-122"/>
                <a:cs typeface="Montserrat" pitchFamily="34" charset="-120"/>
              </a:rPr>
              <a:t>Tỷ</a:t>
            </a:r>
            <a:endParaRPr lang="en-US" sz="1500" dirty="0"/>
          </a:p>
        </p:txBody>
      </p:sp>
      <p:sp>
        <p:nvSpPr>
          <p:cNvPr id="23" name="Text 17"/>
          <p:cNvSpPr txBox="1"/>
          <p:nvPr/>
        </p:nvSpPr>
        <p:spPr>
          <a:xfrm>
            <a:off x="9667951" y="1276502"/>
            <a:ext cx="1524305" cy="133502"/>
          </a:xfrm>
          <a:prstGeom prst="rect">
            <a:avLst/>
          </a:prstGeom>
          <a:noFill/>
          <a:ln/>
        </p:spPr>
        <p:txBody>
          <a:bodyPr wrap="square" lIns="0" tIns="0" rIns="0" bIns="0" rtlCol="0" anchor="ctr"/>
          <a:lstStyle/>
          <a:p>
            <a:pPr marL="0" indent="0" algn="ctr">
              <a:buNone/>
            </a:pPr>
            <a:r>
              <a:rPr lang="en-US" sz="800" b="1" kern="0" spc="22" dirty="0">
                <a:solidFill>
                  <a:srgbClr val="808080"/>
                </a:solidFill>
                <a:latin typeface="Open Sans" pitchFamily="34" charset="0"/>
                <a:ea typeface="Open Sans" pitchFamily="34" charset="-122"/>
                <a:cs typeface="Open Sans" pitchFamily="34" charset="-120"/>
              </a:rPr>
              <a:t>Tổng ngân sách</a:t>
            </a:r>
            <a:endParaRPr lang="en-US" sz="800" dirty="0"/>
          </a:p>
        </p:txBody>
      </p:sp>
      <p:sp>
        <p:nvSpPr>
          <p:cNvPr id="25" name="Shape 18"/>
          <p:cNvSpPr/>
          <p:nvPr/>
        </p:nvSpPr>
        <p:spPr>
          <a:xfrm>
            <a:off x="571500" y="5905195"/>
            <a:ext cx="11048695" cy="342900"/>
          </a:xfrm>
          <a:prstGeom prst="roundRect">
            <a:avLst>
              <a:gd name="adj" fmla="val 118519"/>
            </a:avLst>
          </a:prstGeom>
          <a:solidFill>
            <a:srgbClr val="F7A81B">
              <a:alpha val="5000"/>
            </a:srgbClr>
          </a:solidFill>
          <a:ln w="12700">
            <a:solidFill>
              <a:srgbClr val="F7A81B">
                <a:alpha val="20000"/>
              </a:srgbClr>
            </a:solidFill>
            <a:prstDash val="solid"/>
          </a:ln>
        </p:spPr>
        <p:txBody>
          <a:bodyPr/>
          <a:lstStyle/>
          <a:p>
            <a:endParaRPr lang="en-US"/>
          </a:p>
        </p:txBody>
      </p:sp>
      <p:sp>
        <p:nvSpPr>
          <p:cNvPr id="26" name="Shape 19"/>
          <p:cNvSpPr/>
          <p:nvPr/>
        </p:nvSpPr>
        <p:spPr>
          <a:xfrm>
            <a:off x="3824021" y="6001207"/>
            <a:ext cx="152705" cy="152705"/>
          </a:xfrm>
          <a:prstGeom prst="roundRect">
            <a:avLst>
              <a:gd name="adj" fmla="val 299401"/>
            </a:avLst>
          </a:prstGeom>
          <a:solidFill>
            <a:srgbClr val="1A365D">
              <a:alpha val="80000"/>
            </a:srgbClr>
          </a:solidFill>
          <a:ln w="12700">
            <a:solidFill>
              <a:srgbClr val="FFFFFF">
                <a:alpha val="0"/>
              </a:srgbClr>
            </a:solidFill>
            <a:prstDash val="solid"/>
          </a:ln>
        </p:spPr>
        <p:txBody>
          <a:bodyPr/>
          <a:lstStyle/>
          <a:p>
            <a:endParaRPr lang="en-US"/>
          </a:p>
        </p:txBody>
      </p:sp>
      <p:sp>
        <p:nvSpPr>
          <p:cNvPr id="27" name="Text 20"/>
          <p:cNvSpPr txBox="1"/>
          <p:nvPr/>
        </p:nvSpPr>
        <p:spPr>
          <a:xfrm>
            <a:off x="4052621" y="5991149"/>
            <a:ext cx="160020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phổ thông</a:t>
            </a:r>
            <a:endParaRPr lang="en-US" sz="900" dirty="0"/>
          </a:p>
        </p:txBody>
      </p:sp>
      <p:sp>
        <p:nvSpPr>
          <p:cNvPr id="28" name="Shape 21"/>
          <p:cNvSpPr/>
          <p:nvPr/>
        </p:nvSpPr>
        <p:spPr>
          <a:xfrm>
            <a:off x="5591556" y="6001207"/>
            <a:ext cx="152705" cy="152705"/>
          </a:xfrm>
          <a:prstGeom prst="roundRect">
            <a:avLst>
              <a:gd name="adj" fmla="val 299401"/>
            </a:avLst>
          </a:prstGeom>
          <a:solidFill>
            <a:srgbClr val="F7A81B">
              <a:alpha val="80000"/>
            </a:srgbClr>
          </a:solidFill>
          <a:ln w="12700">
            <a:solidFill>
              <a:srgbClr val="FFFFFF">
                <a:alpha val="0"/>
              </a:srgbClr>
            </a:solidFill>
            <a:prstDash val="solid"/>
          </a:ln>
        </p:spPr>
        <p:txBody>
          <a:bodyPr/>
          <a:lstStyle/>
          <a:p>
            <a:endParaRPr lang="en-US"/>
          </a:p>
        </p:txBody>
      </p:sp>
      <p:sp>
        <p:nvSpPr>
          <p:cNvPr id="29" name="Text 22"/>
          <p:cNvSpPr txBox="1"/>
          <p:nvPr/>
        </p:nvSpPr>
        <p:spPr>
          <a:xfrm>
            <a:off x="5820156" y="5991149"/>
            <a:ext cx="150784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Công nhân kỹ thuật</a:t>
            </a:r>
            <a:endParaRPr lang="en-US" sz="900" dirty="0"/>
          </a:p>
        </p:txBody>
      </p:sp>
      <p:sp>
        <p:nvSpPr>
          <p:cNvPr id="30" name="Shape 23"/>
          <p:cNvSpPr/>
          <p:nvPr/>
        </p:nvSpPr>
        <p:spPr>
          <a:xfrm>
            <a:off x="7231075" y="6001207"/>
            <a:ext cx="152705" cy="152705"/>
          </a:xfrm>
          <a:prstGeom prst="roundRect">
            <a:avLst>
              <a:gd name="adj" fmla="val 299401"/>
            </a:avLst>
          </a:prstGeom>
          <a:solidFill>
            <a:srgbClr val="808080">
              <a:alpha val="80000"/>
            </a:srgbClr>
          </a:solidFill>
          <a:ln w="12700">
            <a:solidFill>
              <a:srgbClr val="FFFFFF">
                <a:alpha val="0"/>
              </a:srgbClr>
            </a:solidFill>
            <a:prstDash val="solid"/>
          </a:ln>
        </p:spPr>
        <p:txBody>
          <a:bodyPr/>
          <a:lstStyle/>
          <a:p>
            <a:endParaRPr lang="en-US"/>
          </a:p>
        </p:txBody>
      </p:sp>
      <p:sp>
        <p:nvSpPr>
          <p:cNvPr id="31" name="Text 24"/>
          <p:cNvSpPr txBox="1"/>
          <p:nvPr/>
        </p:nvSpPr>
        <p:spPr>
          <a:xfrm>
            <a:off x="7459675" y="5991149"/>
            <a:ext cx="1251814"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Quản lý &amp; Kỹ sư</a:t>
            </a:r>
            <a:endParaRPr lang="en-US" sz="900" dirty="0"/>
          </a:p>
        </p:txBody>
      </p:sp>
      <p:sp>
        <p:nvSpPr>
          <p:cNvPr id="32" name="Text 25"/>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33" name="Image 5" descr="preencoded.png"/>
          <p:cNvPicPr>
            <a:picLocks noChangeAspect="1"/>
          </p:cNvPicPr>
          <p:nvPr/>
        </p:nvPicPr>
        <p:blipFill>
          <a:blip r:embed="rId7"/>
          <a:srcRect l="-1358" r="-1358"/>
          <a:stretch/>
        </p:blipFill>
        <p:spPr>
          <a:xfrm>
            <a:off x="381305" y="6614770"/>
            <a:ext cx="95098" cy="123444"/>
          </a:xfrm>
          <a:prstGeom prst="rect">
            <a:avLst/>
          </a:prstGeom>
        </p:spPr>
      </p:pic>
      <p:sp>
        <p:nvSpPr>
          <p:cNvPr id="34" name="Text 26"/>
          <p:cNvSpPr txBox="1"/>
          <p:nvPr/>
        </p:nvSpPr>
        <p:spPr>
          <a:xfrm>
            <a:off x="9905695" y="6590995"/>
            <a:ext cx="1905610" cy="171907"/>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10/15</a:t>
            </a:r>
            <a:endParaRPr lang="en-US" sz="900" dirty="0"/>
          </a:p>
        </p:txBody>
      </p:sp>
      <p:pic>
        <p:nvPicPr>
          <p:cNvPr id="36" name="Picture 35">
            <a:extLst>
              <a:ext uri="{FF2B5EF4-FFF2-40B4-BE49-F238E27FC236}">
                <a16:creationId xmlns:a16="http://schemas.microsoft.com/office/drawing/2014/main" id="{2D138136-A5EC-2C0A-6E09-B327BF8573C0}"/>
              </a:ext>
            </a:extLst>
          </p:cNvPr>
          <p:cNvPicPr>
            <a:picLocks noChangeAspect="1"/>
          </p:cNvPicPr>
          <p:nvPr/>
        </p:nvPicPr>
        <p:blipFill>
          <a:blip r:embed="rId8"/>
          <a:stretch>
            <a:fillRect/>
          </a:stretch>
        </p:blipFill>
        <p:spPr>
          <a:xfrm>
            <a:off x="585398" y="1619403"/>
            <a:ext cx="11041016"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780898"/>
          </a:xfrm>
          <a:prstGeom prst="rect">
            <a:avLst/>
          </a:prstGeom>
          <a:solidFill>
            <a:srgbClr val="F8F9FA"/>
          </a:solidFill>
          <a:ln/>
        </p:spPr>
        <p:txBody>
          <a:bodyPr/>
          <a:lstStyle/>
          <a:p>
            <a:endParaRPr lang="en-US"/>
          </a:p>
        </p:txBody>
      </p:sp>
      <p:sp>
        <p:nvSpPr>
          <p:cNvPr id="5" name="Shape 3"/>
          <p:cNvSpPr/>
          <p:nvPr/>
        </p:nvSpPr>
        <p:spPr>
          <a:xfrm>
            <a:off x="0" y="7616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952805"/>
            <a:ext cx="7258507" cy="5447995"/>
          </a:xfrm>
          <a:prstGeom prst="roundRect">
            <a:avLst>
              <a:gd name="adj" fmla="val 70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7" name="Shape 5"/>
          <p:cNvSpPr/>
          <p:nvPr/>
        </p:nvSpPr>
        <p:spPr>
          <a:xfrm>
            <a:off x="7810805" y="952805"/>
            <a:ext cx="4019702" cy="5447995"/>
          </a:xfrm>
          <a:prstGeom prst="roundRect">
            <a:avLst>
              <a:gd name="adj" fmla="val 1294"/>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8" name="Shape 6"/>
          <p:cNvSpPr/>
          <p:nvPr/>
        </p:nvSpPr>
        <p:spPr>
          <a:xfrm>
            <a:off x="8039405" y="1571854"/>
            <a:ext cx="3590849" cy="1399946"/>
          </a:xfrm>
          <a:prstGeom prst="roundRect">
            <a:avLst>
              <a:gd name="adj" fmla="val 7109"/>
            </a:avLst>
          </a:prstGeom>
          <a:solidFill>
            <a:srgbClr val="F0FFF4"/>
          </a:solidFill>
          <a:ln w="12700">
            <a:solidFill>
              <a:srgbClr val="E2E8F0"/>
            </a:solidFill>
            <a:prstDash val="solid"/>
          </a:ln>
        </p:spPr>
        <p:txBody>
          <a:bodyPr/>
          <a:lstStyle/>
          <a:p>
            <a:endParaRPr lang="en-US"/>
          </a:p>
        </p:txBody>
      </p:sp>
      <p:sp>
        <p:nvSpPr>
          <p:cNvPr id="9" name="Shape 7"/>
          <p:cNvSpPr/>
          <p:nvPr/>
        </p:nvSpPr>
        <p:spPr>
          <a:xfrm>
            <a:off x="8039405" y="1571854"/>
            <a:ext cx="38405" cy="1399946"/>
          </a:xfrm>
          <a:prstGeom prst="roundRect">
            <a:avLst>
              <a:gd name="adj" fmla="val 259150"/>
            </a:avLst>
          </a:prstGeom>
          <a:solidFill>
            <a:srgbClr val="48BB78"/>
          </a:solidFill>
          <a:ln w="12700">
            <a:solidFill>
              <a:srgbClr val="48BB78">
                <a:alpha val="0"/>
              </a:srgbClr>
            </a:solidFill>
            <a:prstDash val="solid"/>
          </a:ln>
        </p:spPr>
        <p:txBody>
          <a:bodyPr/>
          <a:lstStyle/>
          <a:p>
            <a:endParaRPr lang="en-US"/>
          </a:p>
        </p:txBody>
      </p:sp>
      <p:sp>
        <p:nvSpPr>
          <p:cNvPr id="10" name="Shape 8"/>
          <p:cNvSpPr/>
          <p:nvPr/>
        </p:nvSpPr>
        <p:spPr>
          <a:xfrm>
            <a:off x="8039405" y="3095244"/>
            <a:ext cx="3590849" cy="1399946"/>
          </a:xfrm>
          <a:prstGeom prst="roundRect">
            <a:avLst>
              <a:gd name="adj" fmla="val 7109"/>
            </a:avLst>
          </a:prstGeom>
          <a:solidFill>
            <a:srgbClr val="FFF5F5"/>
          </a:solidFill>
          <a:ln w="12700">
            <a:solidFill>
              <a:srgbClr val="E2E8F0"/>
            </a:solidFill>
            <a:prstDash val="solid"/>
          </a:ln>
        </p:spPr>
        <p:txBody>
          <a:bodyPr/>
          <a:lstStyle/>
          <a:p>
            <a:endParaRPr lang="en-US"/>
          </a:p>
        </p:txBody>
      </p:sp>
      <p:sp>
        <p:nvSpPr>
          <p:cNvPr id="11" name="Shape 9"/>
          <p:cNvSpPr/>
          <p:nvPr/>
        </p:nvSpPr>
        <p:spPr>
          <a:xfrm>
            <a:off x="8039405" y="3095244"/>
            <a:ext cx="38405" cy="1399946"/>
          </a:xfrm>
          <a:prstGeom prst="roundRect">
            <a:avLst>
              <a:gd name="adj" fmla="val 259150"/>
            </a:avLst>
          </a:prstGeom>
          <a:solidFill>
            <a:srgbClr val="E53E3E"/>
          </a:solidFill>
          <a:ln w="12700">
            <a:solidFill>
              <a:srgbClr val="E53E3E">
                <a:alpha val="0"/>
              </a:srgbClr>
            </a:solidFill>
            <a:prstDash val="solid"/>
          </a:ln>
        </p:spPr>
        <p:txBody>
          <a:bodyPr/>
          <a:lstStyle/>
          <a:p>
            <a:endParaRPr lang="en-US"/>
          </a:p>
        </p:txBody>
      </p:sp>
      <p:sp>
        <p:nvSpPr>
          <p:cNvPr id="12" name="Shape 10"/>
          <p:cNvSpPr/>
          <p:nvPr/>
        </p:nvSpPr>
        <p:spPr>
          <a:xfrm>
            <a:off x="8039405" y="4619549"/>
            <a:ext cx="3590849" cy="1399946"/>
          </a:xfrm>
          <a:prstGeom prst="roundRect">
            <a:avLst>
              <a:gd name="adj" fmla="val 7109"/>
            </a:avLst>
          </a:prstGeom>
          <a:solidFill>
            <a:srgbClr val="FDFBF7"/>
          </a:solidFill>
          <a:ln w="12700">
            <a:solidFill>
              <a:srgbClr val="E2E8F0"/>
            </a:solidFill>
            <a:prstDash val="solid"/>
          </a:ln>
        </p:spPr>
        <p:txBody>
          <a:bodyPr/>
          <a:lstStyle/>
          <a:p>
            <a:endParaRPr lang="en-US"/>
          </a:p>
        </p:txBody>
      </p:sp>
      <p:sp>
        <p:nvSpPr>
          <p:cNvPr id="13" name="Shape 11"/>
          <p:cNvSpPr/>
          <p:nvPr/>
        </p:nvSpPr>
        <p:spPr>
          <a:xfrm>
            <a:off x="8039405" y="4619549"/>
            <a:ext cx="38405" cy="1399946"/>
          </a:xfrm>
          <a:prstGeom prst="roundRect">
            <a:avLst>
              <a:gd name="adj" fmla="val 259150"/>
            </a:avLst>
          </a:prstGeom>
          <a:solidFill>
            <a:srgbClr val="F7A81B"/>
          </a:solidFill>
          <a:ln w="12700">
            <a:solidFill>
              <a:srgbClr val="F7A81B">
                <a:alpha val="0"/>
              </a:srgbClr>
            </a:solidFill>
            <a:prstDash val="solid"/>
          </a:ln>
        </p:spPr>
        <p:txBody>
          <a:bodyPr/>
          <a:lstStyle/>
          <a:p>
            <a:endParaRPr lang="en-US"/>
          </a:p>
        </p:txBody>
      </p:sp>
      <p:pic>
        <p:nvPicPr>
          <p:cNvPr id="14" name="Image 0" descr="preencoded.png"/>
          <p:cNvPicPr>
            <a:picLocks noChangeAspect="1"/>
          </p:cNvPicPr>
          <p:nvPr/>
        </p:nvPicPr>
        <p:blipFill>
          <a:blip r:embed="rId3"/>
          <a:srcRect l="-2083" r="-2083"/>
          <a:stretch/>
        </p:blipFill>
        <p:spPr>
          <a:xfrm>
            <a:off x="381305" y="6524244"/>
            <a:ext cx="11430000" cy="9144"/>
          </a:xfrm>
          <a:prstGeom prst="rect">
            <a:avLst/>
          </a:prstGeom>
        </p:spPr>
      </p:pic>
      <p:sp>
        <p:nvSpPr>
          <p:cNvPr id="15" name="Shape 12"/>
          <p:cNvSpPr/>
          <p:nvPr/>
        </p:nvSpPr>
        <p:spPr>
          <a:xfrm>
            <a:off x="609905" y="1571854"/>
            <a:ext cx="6801307" cy="4162349"/>
          </a:xfrm>
          <a:prstGeom prst="roundRect">
            <a:avLst>
              <a:gd name="adj" fmla="val 804"/>
            </a:avLst>
          </a:prstGeom>
          <a:solidFill>
            <a:srgbClr val="FFFFFF"/>
          </a:solidFill>
          <a:ln w="12700">
            <a:solidFill>
              <a:srgbClr val="E2E8F0"/>
            </a:solidFill>
            <a:prstDash val="solid"/>
          </a:ln>
        </p:spPr>
        <p:txBody>
          <a:bodyPr/>
          <a:lstStyle/>
          <a:p>
            <a:endParaRPr lang="en-US"/>
          </a:p>
        </p:txBody>
      </p:sp>
      <p:pic>
        <p:nvPicPr>
          <p:cNvPr id="16" name="Image 1" descr="preencoded.png"/>
          <p:cNvPicPr>
            <a:picLocks noChangeAspect="1"/>
          </p:cNvPicPr>
          <p:nvPr/>
        </p:nvPicPr>
        <p:blipFill>
          <a:blip r:embed="rId4"/>
          <a:srcRect t="-14" b="-14"/>
          <a:stretch/>
        </p:blipFill>
        <p:spPr>
          <a:xfrm>
            <a:off x="619049" y="1580998"/>
            <a:ext cx="6782105" cy="476402"/>
          </a:xfrm>
          <a:prstGeom prst="rect">
            <a:avLst/>
          </a:prstGeom>
        </p:spPr>
      </p:pic>
      <p:sp>
        <p:nvSpPr>
          <p:cNvPr id="17" name="Text 13"/>
          <p:cNvSpPr txBox="1"/>
          <p:nvPr/>
        </p:nvSpPr>
        <p:spPr>
          <a:xfrm>
            <a:off x="619049" y="1733702"/>
            <a:ext cx="1810512"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VỊ TRÍ</a:t>
            </a:r>
            <a:endParaRPr lang="en-US" sz="900" dirty="0"/>
          </a:p>
        </p:txBody>
      </p:sp>
      <p:sp>
        <p:nvSpPr>
          <p:cNvPr id="18" name="Text 14"/>
          <p:cNvSpPr txBox="1"/>
          <p:nvPr/>
        </p:nvSpPr>
        <p:spPr>
          <a:xfrm>
            <a:off x="2421331"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MỨC LƯƠNG DỰ ÁN</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19" name="Text 15"/>
          <p:cNvSpPr txBox="1"/>
          <p:nvPr/>
        </p:nvSpPr>
        <p:spPr>
          <a:xfrm>
            <a:off x="4081882" y="1682496"/>
            <a:ext cx="1666951" cy="277063"/>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THỊ TRƯỜNG HÀ NỘI</a:t>
            </a:r>
            <a:endParaRPr lang="en-US" sz="900" dirty="0"/>
          </a:p>
          <a:p>
            <a:pPr marL="0" indent="0" algn="ctr">
              <a:buNone/>
            </a:pPr>
            <a:r>
              <a:rPr lang="en-US" sz="900" b="1" dirty="0">
                <a:solidFill>
                  <a:srgbClr val="FFFFFF"/>
                </a:solidFill>
                <a:latin typeface="Open Sans" pitchFamily="34" charset="0"/>
                <a:ea typeface="Open Sans" pitchFamily="34" charset="-122"/>
                <a:cs typeface="Open Sans" pitchFamily="34" charset="-120"/>
              </a:rPr>
              <a:t>(triệu VND/tháng)</a:t>
            </a:r>
            <a:endParaRPr lang="en-US" sz="900" dirty="0"/>
          </a:p>
        </p:txBody>
      </p:sp>
      <p:sp>
        <p:nvSpPr>
          <p:cNvPr id="20" name="Text 16"/>
          <p:cNvSpPr txBox="1"/>
          <p:nvPr/>
        </p:nvSpPr>
        <p:spPr>
          <a:xfrm>
            <a:off x="5741518" y="1751076"/>
            <a:ext cx="1666951" cy="143561"/>
          </a:xfrm>
          <a:prstGeom prst="rect">
            <a:avLst/>
          </a:prstGeom>
          <a:noFill/>
          <a:ln/>
        </p:spPr>
        <p:txBody>
          <a:bodyPr wrap="square" lIns="0" tIns="0" rIns="0" bIns="0" rtlCol="0" anchor="ctr"/>
          <a:lstStyle/>
          <a:p>
            <a:pPr marL="0" indent="0" algn="ctr">
              <a:buNone/>
            </a:pPr>
            <a:r>
              <a:rPr lang="en-US" sz="900" b="1" dirty="0">
                <a:solidFill>
                  <a:srgbClr val="FFFFFF"/>
                </a:solidFill>
                <a:latin typeface="Open Sans" pitchFamily="34" charset="0"/>
                <a:ea typeface="Open Sans" pitchFamily="34" charset="-122"/>
                <a:cs typeface="Open Sans" pitchFamily="34" charset="-120"/>
              </a:rPr>
              <a:t>CHÊNH LỆCH (%)</a:t>
            </a:r>
            <a:endParaRPr lang="en-US" sz="900" dirty="0"/>
          </a:p>
        </p:txBody>
      </p:sp>
      <p:sp>
        <p:nvSpPr>
          <p:cNvPr id="21" name="Shape 17"/>
          <p:cNvSpPr/>
          <p:nvPr/>
        </p:nvSpPr>
        <p:spPr>
          <a:xfrm>
            <a:off x="619049" y="2057400"/>
            <a:ext cx="6782105" cy="580644"/>
          </a:xfrm>
          <a:prstGeom prst="rect">
            <a:avLst/>
          </a:prstGeom>
          <a:solidFill>
            <a:srgbClr val="F7FAFC"/>
          </a:solidFill>
          <a:ln/>
        </p:spPr>
        <p:txBody>
          <a:bodyPr/>
          <a:lstStyle/>
          <a:p>
            <a:endParaRPr lang="en-US"/>
          </a:p>
        </p:txBody>
      </p:sp>
      <p:sp>
        <p:nvSpPr>
          <p:cNvPr id="22" name="Shape 18"/>
          <p:cNvSpPr/>
          <p:nvPr/>
        </p:nvSpPr>
        <p:spPr>
          <a:xfrm>
            <a:off x="619049" y="2628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3" name="Text 19"/>
          <p:cNvSpPr txBox="1"/>
          <p:nvPr/>
        </p:nvSpPr>
        <p:spPr>
          <a:xfrm>
            <a:off x="619049" y="2257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phổ thông</a:t>
            </a:r>
            <a:endParaRPr lang="en-US" sz="900" dirty="0"/>
          </a:p>
        </p:txBody>
      </p:sp>
      <p:sp>
        <p:nvSpPr>
          <p:cNvPr id="24" name="Text 20"/>
          <p:cNvSpPr txBox="1"/>
          <p:nvPr/>
        </p:nvSpPr>
        <p:spPr>
          <a:xfrm>
            <a:off x="2421331"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20.0</a:t>
            </a:r>
            <a:endParaRPr lang="en-US" sz="900" dirty="0"/>
          </a:p>
        </p:txBody>
      </p:sp>
      <p:sp>
        <p:nvSpPr>
          <p:cNvPr id="25" name="Text 21"/>
          <p:cNvSpPr txBox="1"/>
          <p:nvPr/>
        </p:nvSpPr>
        <p:spPr>
          <a:xfrm>
            <a:off x="4081882" y="2257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18.0</a:t>
            </a:r>
            <a:endParaRPr lang="en-US" sz="900" dirty="0"/>
          </a:p>
        </p:txBody>
      </p:sp>
      <p:sp>
        <p:nvSpPr>
          <p:cNvPr id="26" name="Text 22"/>
          <p:cNvSpPr txBox="1"/>
          <p:nvPr/>
        </p:nvSpPr>
        <p:spPr>
          <a:xfrm>
            <a:off x="5741518" y="2257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+11%</a:t>
            </a:r>
            <a:endParaRPr lang="en-US" sz="900" dirty="0"/>
          </a:p>
        </p:txBody>
      </p:sp>
      <p:sp>
        <p:nvSpPr>
          <p:cNvPr id="27" name="Shape 23"/>
          <p:cNvSpPr/>
          <p:nvPr/>
        </p:nvSpPr>
        <p:spPr>
          <a:xfrm>
            <a:off x="619049" y="2628900"/>
            <a:ext cx="6782105" cy="580644"/>
          </a:xfrm>
          <a:prstGeom prst="rect">
            <a:avLst/>
          </a:prstGeom>
          <a:solidFill>
            <a:srgbClr val="FFFFFF"/>
          </a:solidFill>
          <a:ln/>
        </p:spPr>
        <p:txBody>
          <a:bodyPr/>
          <a:lstStyle/>
          <a:p>
            <a:endParaRPr lang="en-US"/>
          </a:p>
        </p:txBody>
      </p:sp>
      <p:sp>
        <p:nvSpPr>
          <p:cNvPr id="28" name="Shape 24"/>
          <p:cNvSpPr/>
          <p:nvPr/>
        </p:nvSpPr>
        <p:spPr>
          <a:xfrm>
            <a:off x="619049" y="3200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29" name="Text 25"/>
          <p:cNvSpPr txBox="1"/>
          <p:nvPr/>
        </p:nvSpPr>
        <p:spPr>
          <a:xfrm>
            <a:off x="619049" y="2829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có tay nghề</a:t>
            </a:r>
            <a:endParaRPr lang="en-US" sz="900" dirty="0"/>
          </a:p>
        </p:txBody>
      </p:sp>
      <p:sp>
        <p:nvSpPr>
          <p:cNvPr id="30" name="Text 26"/>
          <p:cNvSpPr txBox="1"/>
          <p:nvPr/>
        </p:nvSpPr>
        <p:spPr>
          <a:xfrm>
            <a:off x="2421331"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23.0</a:t>
            </a:r>
            <a:endParaRPr lang="en-US" sz="900" dirty="0"/>
          </a:p>
        </p:txBody>
      </p:sp>
      <p:sp>
        <p:nvSpPr>
          <p:cNvPr id="31" name="Text 27"/>
          <p:cNvSpPr txBox="1"/>
          <p:nvPr/>
        </p:nvSpPr>
        <p:spPr>
          <a:xfrm>
            <a:off x="4081882" y="2829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22.0</a:t>
            </a:r>
            <a:endParaRPr lang="en-US" sz="900" dirty="0"/>
          </a:p>
        </p:txBody>
      </p:sp>
      <p:sp>
        <p:nvSpPr>
          <p:cNvPr id="32" name="Text 28"/>
          <p:cNvSpPr txBox="1"/>
          <p:nvPr/>
        </p:nvSpPr>
        <p:spPr>
          <a:xfrm>
            <a:off x="5741518" y="2829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+5%</a:t>
            </a:r>
            <a:endParaRPr lang="en-US" sz="900" dirty="0"/>
          </a:p>
        </p:txBody>
      </p:sp>
      <p:sp>
        <p:nvSpPr>
          <p:cNvPr id="33" name="Shape 29"/>
          <p:cNvSpPr/>
          <p:nvPr/>
        </p:nvSpPr>
        <p:spPr>
          <a:xfrm>
            <a:off x="619049" y="3200400"/>
            <a:ext cx="6782105" cy="580644"/>
          </a:xfrm>
          <a:prstGeom prst="rect">
            <a:avLst/>
          </a:prstGeom>
          <a:solidFill>
            <a:srgbClr val="F7FAFC"/>
          </a:solidFill>
          <a:ln/>
        </p:spPr>
        <p:txBody>
          <a:bodyPr/>
          <a:lstStyle/>
          <a:p>
            <a:endParaRPr lang="en-US"/>
          </a:p>
        </p:txBody>
      </p:sp>
      <p:sp>
        <p:nvSpPr>
          <p:cNvPr id="34" name="Shape 30"/>
          <p:cNvSpPr/>
          <p:nvPr/>
        </p:nvSpPr>
        <p:spPr>
          <a:xfrm>
            <a:off x="619049" y="3771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35" name="Text 31"/>
          <p:cNvSpPr txBox="1"/>
          <p:nvPr/>
        </p:nvSpPr>
        <p:spPr>
          <a:xfrm>
            <a:off x="619049" y="3400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Công nhân kỹ thuật</a:t>
            </a:r>
            <a:endParaRPr lang="en-US" sz="900" dirty="0"/>
          </a:p>
        </p:txBody>
      </p:sp>
      <p:sp>
        <p:nvSpPr>
          <p:cNvPr id="36" name="Text 32"/>
          <p:cNvSpPr txBox="1"/>
          <p:nvPr/>
        </p:nvSpPr>
        <p:spPr>
          <a:xfrm>
            <a:off x="2421331"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25.0</a:t>
            </a:r>
            <a:endParaRPr lang="en-US" sz="900" dirty="0"/>
          </a:p>
        </p:txBody>
      </p:sp>
      <p:sp>
        <p:nvSpPr>
          <p:cNvPr id="37" name="Text 33"/>
          <p:cNvSpPr txBox="1"/>
          <p:nvPr/>
        </p:nvSpPr>
        <p:spPr>
          <a:xfrm>
            <a:off x="4081882" y="3400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24.0</a:t>
            </a:r>
            <a:endParaRPr lang="en-US" sz="900" dirty="0"/>
          </a:p>
        </p:txBody>
      </p:sp>
      <p:sp>
        <p:nvSpPr>
          <p:cNvPr id="38" name="Text 34"/>
          <p:cNvSpPr txBox="1"/>
          <p:nvPr/>
        </p:nvSpPr>
        <p:spPr>
          <a:xfrm>
            <a:off x="5741518" y="34006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39" name="Shape 35"/>
          <p:cNvSpPr/>
          <p:nvPr/>
        </p:nvSpPr>
        <p:spPr>
          <a:xfrm>
            <a:off x="619049" y="3771900"/>
            <a:ext cx="6782105" cy="580644"/>
          </a:xfrm>
          <a:prstGeom prst="rect">
            <a:avLst/>
          </a:prstGeom>
          <a:solidFill>
            <a:srgbClr val="FFFFFF"/>
          </a:solidFill>
          <a:ln/>
        </p:spPr>
        <p:txBody>
          <a:bodyPr/>
          <a:lstStyle/>
          <a:p>
            <a:endParaRPr lang="en-US"/>
          </a:p>
        </p:txBody>
      </p:sp>
      <p:sp>
        <p:nvSpPr>
          <p:cNvPr id="40" name="Shape 36"/>
          <p:cNvSpPr/>
          <p:nvPr/>
        </p:nvSpPr>
        <p:spPr>
          <a:xfrm>
            <a:off x="619049" y="4343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7"/>
          <p:cNvSpPr txBox="1"/>
          <p:nvPr/>
        </p:nvSpPr>
        <p:spPr>
          <a:xfrm>
            <a:off x="619049" y="3972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Tổ trưởng</a:t>
            </a:r>
            <a:endParaRPr lang="en-US" sz="900" dirty="0"/>
          </a:p>
        </p:txBody>
      </p:sp>
      <p:sp>
        <p:nvSpPr>
          <p:cNvPr id="42" name="Text 38"/>
          <p:cNvSpPr txBox="1"/>
          <p:nvPr/>
        </p:nvSpPr>
        <p:spPr>
          <a:xfrm>
            <a:off x="2421331"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27.0</a:t>
            </a:r>
            <a:endParaRPr lang="en-US" sz="900" dirty="0"/>
          </a:p>
        </p:txBody>
      </p:sp>
      <p:sp>
        <p:nvSpPr>
          <p:cNvPr id="43" name="Text 39"/>
          <p:cNvSpPr txBox="1"/>
          <p:nvPr/>
        </p:nvSpPr>
        <p:spPr>
          <a:xfrm>
            <a:off x="4081882" y="3972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26.0</a:t>
            </a:r>
            <a:endParaRPr lang="en-US" sz="900" dirty="0"/>
          </a:p>
        </p:txBody>
      </p:sp>
      <p:sp>
        <p:nvSpPr>
          <p:cNvPr id="44" name="Text 40"/>
          <p:cNvSpPr txBox="1"/>
          <p:nvPr/>
        </p:nvSpPr>
        <p:spPr>
          <a:xfrm>
            <a:off x="5741518" y="3972154"/>
            <a:ext cx="1666951" cy="171907"/>
          </a:xfrm>
          <a:prstGeom prst="rect">
            <a:avLst/>
          </a:prstGeom>
          <a:noFill/>
          <a:ln/>
        </p:spPr>
        <p:txBody>
          <a:bodyPr wrap="square" lIns="0" tIns="0" rIns="0" bIns="0" rtlCol="0" anchor="ctr"/>
          <a:lstStyle/>
          <a:p>
            <a:pPr marL="0" indent="0" algn="ctr">
              <a:buNone/>
            </a:pPr>
            <a:r>
              <a:rPr lang="en-US" sz="900" b="1" dirty="0">
                <a:solidFill>
                  <a:srgbClr val="48BB78"/>
                </a:solidFill>
                <a:latin typeface="Open Sans" pitchFamily="34" charset="0"/>
                <a:ea typeface="Open Sans" pitchFamily="34" charset="-122"/>
                <a:cs typeface="Open Sans" pitchFamily="34" charset="-120"/>
              </a:rPr>
              <a:t>+4%</a:t>
            </a:r>
            <a:endParaRPr lang="en-US" sz="900" dirty="0"/>
          </a:p>
        </p:txBody>
      </p:sp>
      <p:sp>
        <p:nvSpPr>
          <p:cNvPr id="45" name="Shape 41"/>
          <p:cNvSpPr/>
          <p:nvPr/>
        </p:nvSpPr>
        <p:spPr>
          <a:xfrm>
            <a:off x="619049" y="4343400"/>
            <a:ext cx="6782105" cy="580644"/>
          </a:xfrm>
          <a:prstGeom prst="rect">
            <a:avLst/>
          </a:prstGeom>
          <a:solidFill>
            <a:srgbClr val="F7FAFC"/>
          </a:solidFill>
          <a:ln/>
        </p:spPr>
        <p:txBody>
          <a:bodyPr/>
          <a:lstStyle/>
          <a:p>
            <a:endParaRPr lang="en-US"/>
          </a:p>
        </p:txBody>
      </p:sp>
      <p:sp>
        <p:nvSpPr>
          <p:cNvPr id="46" name="Shape 42"/>
          <p:cNvSpPr/>
          <p:nvPr/>
        </p:nvSpPr>
        <p:spPr>
          <a:xfrm>
            <a:off x="619049" y="49149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47" name="Text 43"/>
          <p:cNvSpPr txBox="1"/>
          <p:nvPr/>
        </p:nvSpPr>
        <p:spPr>
          <a:xfrm>
            <a:off x="619049" y="45436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Kỹ sư/Quản đốc</a:t>
            </a:r>
            <a:endParaRPr lang="en-US" sz="900" dirty="0"/>
          </a:p>
        </p:txBody>
      </p:sp>
      <p:sp>
        <p:nvSpPr>
          <p:cNvPr id="48" name="Text 44"/>
          <p:cNvSpPr txBox="1"/>
          <p:nvPr/>
        </p:nvSpPr>
        <p:spPr>
          <a:xfrm>
            <a:off x="2421331"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30.0</a:t>
            </a:r>
            <a:endParaRPr lang="en-US" sz="900" dirty="0"/>
          </a:p>
        </p:txBody>
      </p:sp>
      <p:sp>
        <p:nvSpPr>
          <p:cNvPr id="49" name="Text 45"/>
          <p:cNvSpPr txBox="1"/>
          <p:nvPr/>
        </p:nvSpPr>
        <p:spPr>
          <a:xfrm>
            <a:off x="4081882" y="45436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32.0</a:t>
            </a:r>
            <a:endParaRPr lang="en-US" sz="900" dirty="0"/>
          </a:p>
        </p:txBody>
      </p:sp>
      <p:sp>
        <p:nvSpPr>
          <p:cNvPr id="50" name="Text 46"/>
          <p:cNvSpPr txBox="1"/>
          <p:nvPr/>
        </p:nvSpPr>
        <p:spPr>
          <a:xfrm>
            <a:off x="5741518" y="45436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-6%</a:t>
            </a:r>
            <a:endParaRPr lang="en-US" sz="900" dirty="0"/>
          </a:p>
        </p:txBody>
      </p:sp>
      <p:sp>
        <p:nvSpPr>
          <p:cNvPr id="51" name="Shape 47"/>
          <p:cNvSpPr/>
          <p:nvPr/>
        </p:nvSpPr>
        <p:spPr>
          <a:xfrm>
            <a:off x="619049" y="4914900"/>
            <a:ext cx="6782105" cy="580644"/>
          </a:xfrm>
          <a:prstGeom prst="rect">
            <a:avLst/>
          </a:prstGeom>
          <a:solidFill>
            <a:srgbClr val="FFFFFF"/>
          </a:solidFill>
          <a:ln/>
        </p:spPr>
        <p:txBody>
          <a:bodyPr/>
          <a:lstStyle/>
          <a:p>
            <a:endParaRPr lang="en-US"/>
          </a:p>
        </p:txBody>
      </p:sp>
      <p:sp>
        <p:nvSpPr>
          <p:cNvPr id="52" name="Shape 48"/>
          <p:cNvSpPr/>
          <p:nvPr/>
        </p:nvSpPr>
        <p:spPr>
          <a:xfrm>
            <a:off x="619049" y="5486400"/>
            <a:ext cx="6782105" cy="9144"/>
          </a:xfrm>
          <a:prstGeom prst="rect">
            <a:avLst/>
          </a:prstGeom>
          <a:solidFill>
            <a:srgbClr val="E2E8F0"/>
          </a:solidFill>
          <a:ln w="12700">
            <a:solidFill>
              <a:srgbClr val="E2E8F0">
                <a:alpha val="0"/>
              </a:srgbClr>
            </a:solidFill>
            <a:prstDash val="solid"/>
          </a:ln>
        </p:spPr>
        <p:txBody>
          <a:bodyPr/>
          <a:lstStyle/>
          <a:p>
            <a:endParaRPr lang="en-US"/>
          </a:p>
        </p:txBody>
      </p:sp>
      <p:sp>
        <p:nvSpPr>
          <p:cNvPr id="53" name="Text 49"/>
          <p:cNvSpPr txBox="1"/>
          <p:nvPr/>
        </p:nvSpPr>
        <p:spPr>
          <a:xfrm>
            <a:off x="619049" y="5115154"/>
            <a:ext cx="1810512" cy="171907"/>
          </a:xfrm>
          <a:prstGeom prst="rect">
            <a:avLst/>
          </a:prstGeom>
          <a:noFill/>
          <a:ln/>
        </p:spPr>
        <p:txBody>
          <a:bodyPr wrap="square" lIns="0" tIns="0" rIns="0" bIns="0" rtlCol="0" anchor="ctr"/>
          <a:lstStyle/>
          <a:p>
            <a:pPr marL="0" indent="0" algn="l">
              <a:buNone/>
            </a:pPr>
            <a:r>
              <a:rPr lang="en-US" sz="900" b="1" dirty="0">
                <a:solidFill>
                  <a:srgbClr val="2D3748"/>
                </a:solidFill>
                <a:latin typeface="Open Sans" pitchFamily="34" charset="0"/>
                <a:ea typeface="Open Sans" pitchFamily="34" charset="-122"/>
                <a:cs typeface="Open Sans" pitchFamily="34" charset="-120"/>
              </a:rPr>
              <a:t>Ban quản lý</a:t>
            </a:r>
            <a:endParaRPr lang="en-US" sz="900" dirty="0"/>
          </a:p>
        </p:txBody>
      </p:sp>
      <p:sp>
        <p:nvSpPr>
          <p:cNvPr id="54" name="Text 50"/>
          <p:cNvSpPr txBox="1"/>
          <p:nvPr/>
        </p:nvSpPr>
        <p:spPr>
          <a:xfrm>
            <a:off x="2421331"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41.0</a:t>
            </a:r>
            <a:endParaRPr lang="en-US" sz="900" dirty="0"/>
          </a:p>
        </p:txBody>
      </p:sp>
      <p:sp>
        <p:nvSpPr>
          <p:cNvPr id="55" name="Text 51"/>
          <p:cNvSpPr txBox="1"/>
          <p:nvPr/>
        </p:nvSpPr>
        <p:spPr>
          <a:xfrm>
            <a:off x="4081882" y="5115154"/>
            <a:ext cx="1666951" cy="171907"/>
          </a:xfrm>
          <a:prstGeom prst="rect">
            <a:avLst/>
          </a:prstGeom>
          <a:noFill/>
          <a:ln/>
        </p:spPr>
        <p:txBody>
          <a:bodyPr wrap="square" lIns="0" tIns="0" rIns="0" bIns="0" rtlCol="0" anchor="ctr"/>
          <a:lstStyle/>
          <a:p>
            <a:pPr marL="0" indent="0" algn="ctr">
              <a:buNone/>
            </a:pPr>
            <a:r>
              <a:rPr lang="en-US" sz="900" dirty="0">
                <a:solidFill>
                  <a:srgbClr val="2D3748"/>
                </a:solidFill>
                <a:latin typeface="Open Sans" pitchFamily="34" charset="0"/>
                <a:ea typeface="Open Sans" pitchFamily="34" charset="-122"/>
                <a:cs typeface="Open Sans" pitchFamily="34" charset="-120"/>
              </a:rPr>
              <a:t>45.0</a:t>
            </a:r>
            <a:endParaRPr lang="en-US" sz="900" dirty="0"/>
          </a:p>
        </p:txBody>
      </p:sp>
      <p:sp>
        <p:nvSpPr>
          <p:cNvPr id="56" name="Text 52"/>
          <p:cNvSpPr txBox="1"/>
          <p:nvPr/>
        </p:nvSpPr>
        <p:spPr>
          <a:xfrm>
            <a:off x="5741518" y="5115154"/>
            <a:ext cx="1666951" cy="171907"/>
          </a:xfrm>
          <a:prstGeom prst="rect">
            <a:avLst/>
          </a:prstGeom>
          <a:noFill/>
          <a:ln/>
        </p:spPr>
        <p:txBody>
          <a:bodyPr wrap="square" lIns="0" tIns="0" rIns="0" bIns="0" rtlCol="0" anchor="ctr"/>
          <a:lstStyle/>
          <a:p>
            <a:pPr marL="0" indent="0" algn="ctr">
              <a:buNone/>
            </a:pPr>
            <a:r>
              <a:rPr lang="en-US" sz="900" b="1" dirty="0">
                <a:solidFill>
                  <a:srgbClr val="E53E3E"/>
                </a:solidFill>
                <a:latin typeface="Open Sans" pitchFamily="34" charset="0"/>
                <a:ea typeface="Open Sans" pitchFamily="34" charset="-122"/>
                <a:cs typeface="Open Sans" pitchFamily="34" charset="-120"/>
              </a:rPr>
              <a:t>-9%</a:t>
            </a:r>
            <a:endParaRPr lang="en-US" sz="900" dirty="0"/>
          </a:p>
        </p:txBody>
      </p:sp>
      <p:sp>
        <p:nvSpPr>
          <p:cNvPr id="57" name="Text 53"/>
          <p:cNvSpPr txBox="1"/>
          <p:nvPr/>
        </p:nvSpPr>
        <p:spPr>
          <a:xfrm>
            <a:off x="761695" y="5524805"/>
            <a:ext cx="5667451" cy="162763"/>
          </a:xfrm>
          <a:prstGeom prst="rect">
            <a:avLst/>
          </a:prstGeom>
          <a:noFill/>
          <a:ln/>
        </p:spPr>
        <p:txBody>
          <a:bodyPr wrap="square" lIns="0" tIns="0" rIns="0" bIns="0" rtlCol="0" anchor="ctr"/>
          <a:lstStyle/>
          <a:p>
            <a:pPr marL="0" indent="0" algn="l">
              <a:buNone/>
            </a:pPr>
            <a:r>
              <a:rPr lang="en-US" sz="900" b="1" dirty="0">
                <a:solidFill>
                  <a:srgbClr val="4A5568"/>
                </a:solidFill>
                <a:latin typeface="Open Sans" pitchFamily="34" charset="0"/>
                <a:ea typeface="Open Sans" pitchFamily="34" charset="-122"/>
                <a:cs typeface="Open Sans" pitchFamily="34" charset="-120"/>
              </a:rPr>
              <a:t>Tổng chi phí nhân công:</a:t>
            </a:r>
            <a:r>
              <a:rPr lang="en-US" sz="900" dirty="0">
                <a:solidFill>
                  <a:srgbClr val="4A5568"/>
                </a:solidFill>
                <a:latin typeface="Open Sans" pitchFamily="34" charset="0"/>
                <a:ea typeface="Open Sans" pitchFamily="34" charset="-122"/>
                <a:cs typeface="Open Sans" pitchFamily="34" charset="-120"/>
              </a:rPr>
              <a:t> 87.5 tỷ VND | </a:t>
            </a:r>
            <a:r>
              <a:rPr lang="en-US" sz="900" b="1" dirty="0">
                <a:solidFill>
                  <a:srgbClr val="4A5568"/>
                </a:solidFill>
                <a:latin typeface="Open Sans" pitchFamily="34" charset="0"/>
                <a:ea typeface="Open Sans" pitchFamily="34" charset="-122"/>
                <a:cs typeface="Open Sans" pitchFamily="34" charset="-120"/>
              </a:rPr>
              <a:t>Trung bình:</a:t>
            </a:r>
            <a:r>
              <a:rPr lang="en-US" sz="900" dirty="0">
                <a:solidFill>
                  <a:srgbClr val="4A5568"/>
                </a:solidFill>
                <a:latin typeface="Open Sans" pitchFamily="34" charset="0"/>
                <a:ea typeface="Open Sans" pitchFamily="34" charset="-122"/>
                <a:cs typeface="Open Sans" pitchFamily="34" charset="-120"/>
              </a:rPr>
              <a:t> 132 công nhân | </a:t>
            </a:r>
            <a:r>
              <a:rPr lang="en-US" sz="900" b="1" dirty="0">
                <a:solidFill>
                  <a:srgbClr val="4A5568"/>
                </a:solidFill>
                <a:latin typeface="Open Sans" pitchFamily="34" charset="0"/>
                <a:ea typeface="Open Sans" pitchFamily="34" charset="-122"/>
                <a:cs typeface="Open Sans" pitchFamily="34" charset="-120"/>
              </a:rPr>
              <a:t>Đỉnh cao:</a:t>
            </a:r>
            <a:r>
              <a:rPr lang="en-US" sz="900" dirty="0">
                <a:solidFill>
                  <a:srgbClr val="4A5568"/>
                </a:solidFill>
                <a:latin typeface="Open Sans" pitchFamily="34" charset="0"/>
                <a:ea typeface="Open Sans" pitchFamily="34" charset="-122"/>
                <a:cs typeface="Open Sans" pitchFamily="34" charset="-120"/>
              </a:rPr>
              <a:t> 165 công nhân </a:t>
            </a:r>
            <a:endParaRPr lang="en-US" sz="900" dirty="0"/>
          </a:p>
        </p:txBody>
      </p:sp>
      <p:sp>
        <p:nvSpPr>
          <p:cNvPr id="58" name="Shape 54"/>
          <p:cNvSpPr/>
          <p:nvPr/>
        </p:nvSpPr>
        <p:spPr>
          <a:xfrm>
            <a:off x="381305" y="190195"/>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59" name="Image 2" descr="preencoded.png"/>
          <p:cNvPicPr>
            <a:picLocks noChangeAspect="1"/>
          </p:cNvPicPr>
          <p:nvPr/>
        </p:nvPicPr>
        <p:blipFill>
          <a:blip r:embed="rId5"/>
          <a:srcRect t="-20060" b="-20060"/>
          <a:stretch/>
        </p:blipFill>
        <p:spPr>
          <a:xfrm>
            <a:off x="495605" y="286207"/>
            <a:ext cx="152705" cy="190195"/>
          </a:xfrm>
          <a:prstGeom prst="rect">
            <a:avLst/>
          </a:prstGeom>
        </p:spPr>
      </p:pic>
      <p:sp>
        <p:nvSpPr>
          <p:cNvPr id="60" name="Text 55"/>
          <p:cNvSpPr txBox="1"/>
          <p:nvPr/>
        </p:nvSpPr>
        <p:spPr>
          <a:xfrm>
            <a:off x="905256" y="190195"/>
            <a:ext cx="7620610" cy="372161"/>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ĐƠN GIÁ &amp; MỨC LƯƠNG NHÂN CÔNG</a:t>
            </a:r>
            <a:endParaRPr lang="en-US" sz="1800" dirty="0"/>
          </a:p>
        </p:txBody>
      </p:sp>
      <p:sp>
        <p:nvSpPr>
          <p:cNvPr id="61" name="Text 56"/>
          <p:cNvSpPr txBox="1"/>
          <p:nvPr/>
        </p:nvSpPr>
        <p:spPr>
          <a:xfrm>
            <a:off x="10754258" y="286207"/>
            <a:ext cx="1277417"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62" name="Image 3" descr="preencoded.png"/>
          <p:cNvPicPr>
            <a:picLocks noChangeAspect="1"/>
          </p:cNvPicPr>
          <p:nvPr/>
        </p:nvPicPr>
        <p:blipFill>
          <a:blip r:embed="rId6"/>
          <a:srcRect t="-5544" b="-5544"/>
          <a:stretch/>
        </p:blipFill>
        <p:spPr>
          <a:xfrm>
            <a:off x="10574122" y="309982"/>
            <a:ext cx="105156" cy="133502"/>
          </a:xfrm>
          <a:prstGeom prst="rect">
            <a:avLst/>
          </a:prstGeom>
        </p:spPr>
      </p:pic>
      <p:sp>
        <p:nvSpPr>
          <p:cNvPr id="63" name="Text 57"/>
          <p:cNvSpPr txBox="1"/>
          <p:nvPr/>
        </p:nvSpPr>
        <p:spPr>
          <a:xfrm>
            <a:off x="838505" y="1181405"/>
            <a:ext cx="6553505"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Bảng So Sánh Mức Lương ECC vs Thị Trường Hà Nội</a:t>
            </a:r>
            <a:endParaRPr lang="en-US" sz="1300" dirty="0"/>
          </a:p>
        </p:txBody>
      </p:sp>
      <p:pic>
        <p:nvPicPr>
          <p:cNvPr id="64" name="Image 4" descr="preencoded.png"/>
          <p:cNvPicPr>
            <a:picLocks noChangeAspect="1"/>
          </p:cNvPicPr>
          <p:nvPr/>
        </p:nvPicPr>
        <p:blipFill>
          <a:blip r:embed="rId7"/>
          <a:srcRect t="-14384" b="-14384"/>
          <a:stretch/>
        </p:blipFill>
        <p:spPr>
          <a:xfrm>
            <a:off x="609905" y="1200607"/>
            <a:ext cx="133502" cy="171907"/>
          </a:xfrm>
          <a:prstGeom prst="rect">
            <a:avLst/>
          </a:prstGeom>
        </p:spPr>
      </p:pic>
      <p:sp>
        <p:nvSpPr>
          <p:cNvPr id="65" name="Text 58"/>
          <p:cNvSpPr txBox="1"/>
          <p:nvPr/>
        </p:nvSpPr>
        <p:spPr>
          <a:xfrm>
            <a:off x="609905" y="5952744"/>
            <a:ext cx="6782105" cy="143561"/>
          </a:xfrm>
          <a:prstGeom prst="rect">
            <a:avLst/>
          </a:prstGeom>
          <a:noFill/>
          <a:ln/>
        </p:spPr>
        <p:txBody>
          <a:bodyPr wrap="square" lIns="0" tIns="0" rIns="0" bIns="0" rtlCol="0" anchor="ctr"/>
          <a:lstStyle/>
          <a:p>
            <a:pPr marL="0" indent="0" algn="ctr">
              <a:buNone/>
            </a:pPr>
            <a:r>
              <a:rPr lang="en-US" sz="900" i="1" dirty="0">
                <a:solidFill>
                  <a:srgbClr val="A0AEC0"/>
                </a:solidFill>
                <a:latin typeface="Open Sans" pitchFamily="34" charset="0"/>
                <a:ea typeface="Open Sans" pitchFamily="34" charset="-122"/>
                <a:cs typeface="Open Sans" pitchFamily="34" charset="-120"/>
              </a:rPr>
              <a:t>Nguồn: Tính toán từ định mức vật tư (BT: 63.940m3, Thép: 8.868T) và khảo sát thị trường Q1/2026</a:t>
            </a:r>
            <a:endParaRPr lang="en-US" sz="900" dirty="0"/>
          </a:p>
        </p:txBody>
      </p:sp>
      <p:sp>
        <p:nvSpPr>
          <p:cNvPr id="66" name="Text 59"/>
          <p:cNvSpPr txBox="1"/>
          <p:nvPr/>
        </p:nvSpPr>
        <p:spPr>
          <a:xfrm>
            <a:off x="8268005" y="1181405"/>
            <a:ext cx="331470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Nhận xét &amp; Đề xuất</a:t>
            </a:r>
            <a:endParaRPr lang="en-US" sz="1300" dirty="0"/>
          </a:p>
        </p:txBody>
      </p:sp>
      <p:pic>
        <p:nvPicPr>
          <p:cNvPr id="67" name="Image 5" descr="preencoded.png"/>
          <p:cNvPicPr>
            <a:picLocks noChangeAspect="1"/>
          </p:cNvPicPr>
          <p:nvPr/>
        </p:nvPicPr>
        <p:blipFill>
          <a:blip r:embed="rId8"/>
          <a:srcRect t="-14384" b="-14384"/>
          <a:stretch/>
        </p:blipFill>
        <p:spPr>
          <a:xfrm>
            <a:off x="8039405" y="1200607"/>
            <a:ext cx="133502" cy="171907"/>
          </a:xfrm>
          <a:prstGeom prst="rect">
            <a:avLst/>
          </a:prstGeom>
        </p:spPr>
      </p:pic>
      <p:sp>
        <p:nvSpPr>
          <p:cNvPr id="68" name="Text 60"/>
          <p:cNvSpPr txBox="1"/>
          <p:nvPr/>
        </p:nvSpPr>
        <p:spPr>
          <a:xfrm>
            <a:off x="8353044" y="1686154"/>
            <a:ext cx="3076956" cy="181051"/>
          </a:xfrm>
          <a:prstGeom prst="rect">
            <a:avLst/>
          </a:prstGeom>
          <a:noFill/>
          <a:ln/>
        </p:spPr>
        <p:txBody>
          <a:bodyPr wrap="square" lIns="0" tIns="0" rIns="0" bIns="0" rtlCol="0" anchor="ctr"/>
          <a:lstStyle/>
          <a:p>
            <a:pPr marL="0" indent="0" algn="l">
              <a:buNone/>
            </a:pPr>
            <a:r>
              <a:rPr lang="en-US" sz="1000" b="1" dirty="0">
                <a:solidFill>
                  <a:srgbClr val="2F855A"/>
                </a:solidFill>
                <a:latin typeface="Open Sans" pitchFamily="34" charset="0"/>
                <a:ea typeface="Open Sans" pitchFamily="34" charset="-122"/>
                <a:cs typeface="Open Sans" pitchFamily="34" charset="-120"/>
              </a:rPr>
              <a:t> Lợi thế thu hút công nhân</a:t>
            </a:r>
            <a:endParaRPr lang="en-US" sz="1000" dirty="0"/>
          </a:p>
        </p:txBody>
      </p:sp>
      <p:pic>
        <p:nvPicPr>
          <p:cNvPr id="69" name="Image 6" descr="preencoded.png"/>
          <p:cNvPicPr>
            <a:picLocks noChangeAspect="1"/>
          </p:cNvPicPr>
          <p:nvPr/>
        </p:nvPicPr>
        <p:blipFill>
          <a:blip r:embed="rId9"/>
          <a:srcRect l="-2512" r="-2512"/>
          <a:stretch/>
        </p:blipFill>
        <p:spPr>
          <a:xfrm>
            <a:off x="8191195" y="1709928"/>
            <a:ext cx="105156" cy="133502"/>
          </a:xfrm>
          <a:prstGeom prst="rect">
            <a:avLst/>
          </a:prstGeom>
        </p:spPr>
      </p:pic>
      <p:sp>
        <p:nvSpPr>
          <p:cNvPr id="70" name="Text 61"/>
          <p:cNvSpPr txBox="1"/>
          <p:nvPr/>
        </p:nvSpPr>
        <p:spPr>
          <a:xfrm>
            <a:off x="8191195" y="1923898"/>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nhóm công nhân thi công trực tiếp (phổ thông, tay nghề, kỹ thuật) </a:t>
            </a:r>
            <a:r>
              <a:rPr lang="en-US" sz="900" b="1" dirty="0">
                <a:solidFill>
                  <a:srgbClr val="4A5568"/>
                </a:solidFill>
                <a:latin typeface="Open Sans" pitchFamily="34" charset="0"/>
                <a:ea typeface="Open Sans" pitchFamily="34" charset="-122"/>
                <a:cs typeface="Open Sans" pitchFamily="34" charset="-120"/>
              </a:rPr>
              <a:t>cao hơn thị trường 4-11%</a:t>
            </a:r>
            <a:r>
              <a:rPr lang="en-US" sz="900" dirty="0">
                <a:solidFill>
                  <a:srgbClr val="4A5568"/>
                </a:solidFill>
                <a:latin typeface="Open Sans" pitchFamily="34" charset="0"/>
                <a:ea typeface="Open Sans" pitchFamily="34" charset="-122"/>
                <a:cs typeface="Open Sans" pitchFamily="34" charset="-120"/>
              </a:rPr>
              <a:t>. Điều này tạo lợi thế lớn để đảm bảo huy động đủ quân số (đỉnh 165 người) đúng tiến độ.</a:t>
            </a:r>
            <a:endParaRPr lang="en-US" sz="900" dirty="0"/>
          </a:p>
        </p:txBody>
      </p:sp>
      <p:sp>
        <p:nvSpPr>
          <p:cNvPr id="71" name="Text 62"/>
          <p:cNvSpPr txBox="1"/>
          <p:nvPr/>
        </p:nvSpPr>
        <p:spPr>
          <a:xfrm>
            <a:off x="8353044" y="3209544"/>
            <a:ext cx="3076956" cy="181051"/>
          </a:xfrm>
          <a:prstGeom prst="rect">
            <a:avLst/>
          </a:prstGeom>
          <a:noFill/>
          <a:ln/>
        </p:spPr>
        <p:txBody>
          <a:bodyPr wrap="square" lIns="0" tIns="0" rIns="0" bIns="0" rtlCol="0" anchor="ctr"/>
          <a:lstStyle/>
          <a:p>
            <a:pPr marL="0" indent="0" algn="l">
              <a:buNone/>
            </a:pPr>
            <a:r>
              <a:rPr lang="en-US" sz="1000" b="1" dirty="0">
                <a:solidFill>
                  <a:srgbClr val="C53030"/>
                </a:solidFill>
                <a:latin typeface="Open Sans" pitchFamily="34" charset="0"/>
                <a:ea typeface="Open Sans" pitchFamily="34" charset="-122"/>
                <a:cs typeface="Open Sans" pitchFamily="34" charset="-120"/>
              </a:rPr>
              <a:t> Rủi ro nhân sự quản lý</a:t>
            </a:r>
            <a:endParaRPr lang="en-US" sz="1000" dirty="0"/>
          </a:p>
        </p:txBody>
      </p:sp>
      <p:pic>
        <p:nvPicPr>
          <p:cNvPr id="72" name="Image 7" descr="preencoded.png"/>
          <p:cNvPicPr>
            <a:picLocks noChangeAspect="1"/>
          </p:cNvPicPr>
          <p:nvPr/>
        </p:nvPicPr>
        <p:blipFill>
          <a:blip r:embed="rId10"/>
          <a:srcRect t="-13478" b="-13478"/>
          <a:stretch/>
        </p:blipFill>
        <p:spPr>
          <a:xfrm>
            <a:off x="8191195" y="3233318"/>
            <a:ext cx="105156" cy="133502"/>
          </a:xfrm>
          <a:prstGeom prst="rect">
            <a:avLst/>
          </a:prstGeom>
        </p:spPr>
      </p:pic>
      <p:sp>
        <p:nvSpPr>
          <p:cNvPr id="73" name="Text 63"/>
          <p:cNvSpPr txBox="1"/>
          <p:nvPr/>
        </p:nvSpPr>
        <p:spPr>
          <a:xfrm>
            <a:off x="8191195" y="3448202"/>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Lương Kỹ sư và Ban quản lý </a:t>
            </a:r>
            <a:r>
              <a:rPr lang="en-US" sz="900" b="1" dirty="0">
                <a:solidFill>
                  <a:srgbClr val="4A5568"/>
                </a:solidFill>
                <a:latin typeface="Open Sans" pitchFamily="34" charset="0"/>
                <a:ea typeface="Open Sans" pitchFamily="34" charset="-122"/>
                <a:cs typeface="Open Sans" pitchFamily="34" charset="-120"/>
              </a:rPr>
              <a:t>thấp hơn thị trường 6-9%</a:t>
            </a:r>
            <a:r>
              <a:rPr lang="en-US" sz="900" dirty="0">
                <a:solidFill>
                  <a:srgbClr val="4A5568"/>
                </a:solidFill>
                <a:latin typeface="Open Sans" pitchFamily="34" charset="0"/>
                <a:ea typeface="Open Sans" pitchFamily="34" charset="-122"/>
                <a:cs typeface="Open Sans" pitchFamily="34" charset="-120"/>
              </a:rPr>
              <a:t>. Cần khẩn trương ban hành chính sách thưởng theo KPI tiến độ &amp; chất lượng để tạo động lực và giữ chân nhân tài cốt lõi.</a:t>
            </a:r>
            <a:endParaRPr lang="en-US" sz="900" dirty="0"/>
          </a:p>
        </p:txBody>
      </p:sp>
      <p:sp>
        <p:nvSpPr>
          <p:cNvPr id="74" name="Text 64"/>
          <p:cNvSpPr txBox="1"/>
          <p:nvPr/>
        </p:nvSpPr>
        <p:spPr>
          <a:xfrm>
            <a:off x="8353044" y="4733849"/>
            <a:ext cx="3076956" cy="181051"/>
          </a:xfrm>
          <a:prstGeom prst="rect">
            <a:avLst/>
          </a:prstGeom>
          <a:noFill/>
          <a:ln/>
        </p:spPr>
        <p:txBody>
          <a:bodyPr wrap="square" lIns="0" tIns="0" rIns="0" bIns="0" rtlCol="0" anchor="ctr"/>
          <a:lstStyle/>
          <a:p>
            <a:pPr marL="0" indent="0" algn="l">
              <a:buNone/>
            </a:pPr>
            <a:r>
              <a:rPr lang="en-US" sz="1000" b="1" dirty="0">
                <a:solidFill>
                  <a:srgbClr val="DD6B20"/>
                </a:solidFill>
                <a:latin typeface="Open Sans" pitchFamily="34" charset="0"/>
                <a:ea typeface="Open Sans" pitchFamily="34" charset="-122"/>
                <a:cs typeface="Open Sans" pitchFamily="34" charset="-120"/>
              </a:rPr>
              <a:t> Tỷ trọng chi phí hợp lý</a:t>
            </a:r>
            <a:endParaRPr lang="en-US" sz="1000" dirty="0"/>
          </a:p>
        </p:txBody>
      </p:sp>
      <p:pic>
        <p:nvPicPr>
          <p:cNvPr id="75" name="Image 8" descr="preencoded.png"/>
          <p:cNvPicPr>
            <a:picLocks noChangeAspect="1"/>
          </p:cNvPicPr>
          <p:nvPr/>
        </p:nvPicPr>
        <p:blipFill>
          <a:blip r:embed="rId11"/>
          <a:srcRect t="-29348" b="-29348"/>
          <a:stretch/>
        </p:blipFill>
        <p:spPr>
          <a:xfrm>
            <a:off x="8191195" y="4757623"/>
            <a:ext cx="105156" cy="133502"/>
          </a:xfrm>
          <a:prstGeom prst="rect">
            <a:avLst/>
          </a:prstGeom>
        </p:spPr>
      </p:pic>
      <p:sp>
        <p:nvSpPr>
          <p:cNvPr id="76" name="Text 65"/>
          <p:cNvSpPr txBox="1"/>
          <p:nvPr/>
        </p:nvSpPr>
        <p:spPr>
          <a:xfrm>
            <a:off x="8191195" y="4972507"/>
            <a:ext cx="3238805" cy="743407"/>
          </a:xfrm>
          <a:prstGeom prst="rect">
            <a:avLst/>
          </a:prstGeom>
          <a:noFill/>
          <a:ln/>
        </p:spPr>
        <p:txBody>
          <a:bodyPr wrap="square" lIns="0" tIns="0" rIns="0" bIns="0" rtlCol="0" anchor="ctr"/>
          <a:lstStyle/>
          <a:p>
            <a:pPr marL="0" indent="0" algn="l">
              <a:buNone/>
            </a:pPr>
            <a:r>
              <a:rPr lang="en-US" sz="900" dirty="0">
                <a:solidFill>
                  <a:srgbClr val="4A5568"/>
                </a:solidFill>
                <a:latin typeface="Open Sans" pitchFamily="34" charset="0"/>
                <a:ea typeface="Open Sans" pitchFamily="34" charset="-122"/>
                <a:cs typeface="Open Sans" pitchFamily="34" charset="-120"/>
              </a:rPr>
              <a:t>Quỹ lương </a:t>
            </a:r>
            <a:r>
              <a:rPr lang="en-US" sz="900" b="1" dirty="0">
                <a:solidFill>
                  <a:srgbClr val="4A5568"/>
                </a:solidFill>
                <a:latin typeface="Open Sans" pitchFamily="34" charset="0"/>
                <a:ea typeface="Open Sans" pitchFamily="34" charset="-122"/>
                <a:cs typeface="Open Sans" pitchFamily="34" charset="-120"/>
              </a:rPr>
              <a:t>87.5 tỷ</a:t>
            </a:r>
            <a:r>
              <a:rPr lang="en-US" sz="900" dirty="0">
                <a:solidFill>
                  <a:srgbClr val="4A5568"/>
                </a:solidFill>
                <a:latin typeface="Open Sans" pitchFamily="34" charset="0"/>
                <a:ea typeface="Open Sans" pitchFamily="34" charset="-122"/>
                <a:cs typeface="Open Sans" pitchFamily="34" charset="-120"/>
              </a:rPr>
              <a:t> (trung bình 3.24 tỷ/tháng) chiếm </a:t>
            </a:r>
            <a:r>
              <a:rPr lang="en-US" sz="900" b="1" dirty="0">
                <a:solidFill>
                  <a:srgbClr val="4A5568"/>
                </a:solidFill>
                <a:latin typeface="Open Sans" pitchFamily="34" charset="0"/>
                <a:ea typeface="Open Sans" pitchFamily="34" charset="-122"/>
                <a:cs typeface="Open Sans" pitchFamily="34" charset="-120"/>
              </a:rPr>
              <a:t>~30%</a:t>
            </a:r>
            <a:r>
              <a:rPr lang="en-US" sz="900" dirty="0">
                <a:solidFill>
                  <a:srgbClr val="4A5568"/>
                </a:solidFill>
                <a:latin typeface="Open Sans" pitchFamily="34" charset="0"/>
                <a:ea typeface="Open Sans" pitchFamily="34" charset="-122"/>
                <a:cs typeface="Open Sans" pitchFamily="34" charset="-120"/>
              </a:rPr>
              <a:t> tổng chi phí thi công trực tiếp (288.9 tỷ). Đây là tỷ lệ kiểm soát an toàn và tối ưu cho mô hình công ty ECC tự thực hiện.</a:t>
            </a:r>
            <a:endParaRPr lang="en-US" sz="900" dirty="0"/>
          </a:p>
        </p:txBody>
      </p:sp>
      <p:sp>
        <p:nvSpPr>
          <p:cNvPr id="77" name="Text 66"/>
          <p:cNvSpPr txBox="1"/>
          <p:nvPr/>
        </p:nvSpPr>
        <p:spPr>
          <a:xfrm>
            <a:off x="553212" y="6590995"/>
            <a:ext cx="36383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78" name="Image 9" descr="preencoded.png"/>
          <p:cNvPicPr>
            <a:picLocks noChangeAspect="1"/>
          </p:cNvPicPr>
          <p:nvPr/>
        </p:nvPicPr>
        <p:blipFill>
          <a:blip r:embed="rId12"/>
          <a:srcRect l="-1358" r="-1358"/>
          <a:stretch/>
        </p:blipFill>
        <p:spPr>
          <a:xfrm>
            <a:off x="381305" y="6614770"/>
            <a:ext cx="95098" cy="123444"/>
          </a:xfrm>
          <a:prstGeom prst="rect">
            <a:avLst/>
          </a:prstGeom>
        </p:spPr>
      </p:pic>
      <p:sp>
        <p:nvSpPr>
          <p:cNvPr id="79" name="Text 67"/>
          <p:cNvSpPr txBox="1"/>
          <p:nvPr/>
        </p:nvSpPr>
        <p:spPr>
          <a:xfrm>
            <a:off x="9905695" y="6590995"/>
            <a:ext cx="1905610" cy="210312"/>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11/15</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7A81B">
              <a:alpha val="10000"/>
            </a:srgbClr>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4491" b="-4491"/>
          <a:stretch/>
        </p:blipFill>
        <p:spPr>
          <a:xfrm>
            <a:off x="495605" y="228600"/>
            <a:ext cx="152705" cy="190195"/>
          </a:xfrm>
          <a:prstGeom prst="rect">
            <a:avLst/>
          </a:prstGeom>
        </p:spPr>
      </p:pic>
      <p:sp>
        <p:nvSpPr>
          <p:cNvPr id="8" name="Text 5"/>
          <p:cNvSpPr txBox="1"/>
          <p:nvPr/>
        </p:nvSpPr>
        <p:spPr>
          <a:xfrm>
            <a:off x="905256" y="185623"/>
            <a:ext cx="436626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TIẾN ĐỘ TỔNG THỂ - NOXH YÊN SỞ</a:t>
            </a:r>
            <a:endParaRPr lang="en-US" sz="1800" dirty="0"/>
          </a:p>
        </p:txBody>
      </p:sp>
      <p:pic>
        <p:nvPicPr>
          <p:cNvPr id="9" name="Image 1" descr="preencoded.png"/>
          <p:cNvPicPr>
            <a:picLocks noChangeAspect="1"/>
          </p:cNvPicPr>
          <p:nvPr/>
        </p:nvPicPr>
        <p:blipFill>
          <a:blip r:embed="rId4"/>
          <a:srcRect t="-5544" b="-5544"/>
          <a:stretch/>
        </p:blipFill>
        <p:spPr>
          <a:xfrm>
            <a:off x="10459822"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sp>
        <p:nvSpPr>
          <p:cNvPr id="11" name="Shape 7"/>
          <p:cNvSpPr/>
          <p:nvPr/>
        </p:nvSpPr>
        <p:spPr>
          <a:xfrm>
            <a:off x="381305" y="857707"/>
            <a:ext cx="11430000" cy="5429707"/>
          </a:xfrm>
          <a:prstGeom prst="roundRect">
            <a:avLst>
              <a:gd name="adj" fmla="val 70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pic>
        <p:nvPicPr>
          <p:cNvPr id="12" name="Image 2" descr="preencoded.png"/>
          <p:cNvPicPr>
            <a:picLocks noChangeAspect="1"/>
          </p:cNvPicPr>
          <p:nvPr/>
        </p:nvPicPr>
        <p:blipFill>
          <a:blip r:embed="rId5"/>
          <a:srcRect t="-20060" b="-20060"/>
          <a:stretch/>
        </p:blipFill>
        <p:spPr>
          <a:xfrm>
            <a:off x="771754" y="1281074"/>
            <a:ext cx="152705" cy="190195"/>
          </a:xfrm>
          <a:prstGeom prst="rect">
            <a:avLst/>
          </a:prstGeom>
        </p:spPr>
      </p:pic>
      <p:sp>
        <p:nvSpPr>
          <p:cNvPr id="13" name="Text 8"/>
          <p:cNvSpPr txBox="1"/>
          <p:nvPr/>
        </p:nvSpPr>
        <p:spPr>
          <a:xfrm>
            <a:off x="1037844" y="1248156"/>
            <a:ext cx="4386377" cy="257861"/>
          </a:xfrm>
          <a:prstGeom prst="rect">
            <a:avLst/>
          </a:prstGeom>
          <a:noFill/>
          <a:ln/>
        </p:spPr>
        <p:txBody>
          <a:bodyPr wrap="square" lIns="0" tIns="0" rIns="0" bIns="0" rtlCol="0" anchor="ctr"/>
          <a:lstStyle/>
          <a:p>
            <a:pPr marL="0" indent="0" algn="l">
              <a:buNone/>
            </a:pPr>
            <a:r>
              <a:rPr lang="en-US" sz="1600" b="1" dirty="0">
                <a:solidFill>
                  <a:srgbClr val="808080"/>
                </a:solidFill>
                <a:latin typeface="Montserrat" pitchFamily="34" charset="0"/>
                <a:ea typeface="Montserrat" pitchFamily="34" charset="-122"/>
                <a:cs typeface="Montserrat" pitchFamily="34" charset="-120"/>
              </a:rPr>
              <a:t>Timeline dự án - 3 giai đoạn chính</a:t>
            </a:r>
            <a:endParaRPr lang="en-US" sz="1600" dirty="0"/>
          </a:p>
        </p:txBody>
      </p:sp>
      <p:sp>
        <p:nvSpPr>
          <p:cNvPr id="14" name="Shape 9"/>
          <p:cNvSpPr/>
          <p:nvPr/>
        </p:nvSpPr>
        <p:spPr>
          <a:xfrm>
            <a:off x="771754" y="1790395"/>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5" name="Image 3" descr="preencoded.png"/>
          <p:cNvPicPr>
            <a:picLocks noChangeAspect="1"/>
          </p:cNvPicPr>
          <p:nvPr/>
        </p:nvPicPr>
        <p:blipFill>
          <a:blip r:embed="rId6"/>
          <a:srcRect l="-2512" r="-2512"/>
          <a:stretch/>
        </p:blipFill>
        <p:spPr>
          <a:xfrm>
            <a:off x="923544" y="1919326"/>
            <a:ext cx="105156" cy="133502"/>
          </a:xfrm>
          <a:prstGeom prst="rect">
            <a:avLst/>
          </a:prstGeom>
        </p:spPr>
      </p:pic>
      <p:sp>
        <p:nvSpPr>
          <p:cNvPr id="16" name="Text 10"/>
          <p:cNvSpPr txBox="1"/>
          <p:nvPr/>
        </p:nvSpPr>
        <p:spPr>
          <a:xfrm>
            <a:off x="1123798" y="1790395"/>
            <a:ext cx="7050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a:t>
            </a:r>
            <a:endParaRPr lang="en-US" sz="1000" dirty="0"/>
          </a:p>
        </p:txBody>
      </p:sp>
      <p:sp>
        <p:nvSpPr>
          <p:cNvPr id="17" name="Shape 11"/>
          <p:cNvSpPr/>
          <p:nvPr/>
        </p:nvSpPr>
        <p:spPr>
          <a:xfrm>
            <a:off x="2628900" y="1795882"/>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18" name="Shape 12"/>
          <p:cNvSpPr/>
          <p:nvPr/>
        </p:nvSpPr>
        <p:spPr>
          <a:xfrm>
            <a:off x="771754" y="2371954"/>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19" name="Image 4" descr="preencoded.png"/>
          <p:cNvPicPr>
            <a:picLocks noChangeAspect="1"/>
          </p:cNvPicPr>
          <p:nvPr/>
        </p:nvPicPr>
        <p:blipFill>
          <a:blip r:embed="rId6"/>
          <a:srcRect l="-2512" r="-2512"/>
          <a:stretch/>
        </p:blipFill>
        <p:spPr>
          <a:xfrm>
            <a:off x="923544" y="2499970"/>
            <a:ext cx="105156" cy="133502"/>
          </a:xfrm>
          <a:prstGeom prst="rect">
            <a:avLst/>
          </a:prstGeom>
        </p:spPr>
      </p:pic>
      <p:sp>
        <p:nvSpPr>
          <p:cNvPr id="20" name="Text 13"/>
          <p:cNvSpPr txBox="1"/>
          <p:nvPr/>
        </p:nvSpPr>
        <p:spPr>
          <a:xfrm>
            <a:off x="1123798" y="2371954"/>
            <a:ext cx="247802"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a:t>
            </a:r>
            <a:endParaRPr lang="en-US" sz="1000" dirty="0"/>
          </a:p>
        </p:txBody>
      </p:sp>
      <p:sp>
        <p:nvSpPr>
          <p:cNvPr id="21" name="Shape 14"/>
          <p:cNvSpPr/>
          <p:nvPr/>
        </p:nvSpPr>
        <p:spPr>
          <a:xfrm>
            <a:off x="2628900" y="2376526"/>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2" name="Shape 15"/>
          <p:cNvSpPr/>
          <p:nvPr/>
        </p:nvSpPr>
        <p:spPr>
          <a:xfrm>
            <a:off x="771754" y="2952598"/>
            <a:ext cx="1714500" cy="390449"/>
          </a:xfrm>
          <a:prstGeom prst="roundRect">
            <a:avLst>
              <a:gd name="adj" fmla="val 68544"/>
            </a:avLst>
          </a:prstGeom>
          <a:solidFill>
            <a:srgbClr val="F7FAFC"/>
          </a:solidFill>
          <a:ln w="12700">
            <a:solidFill>
              <a:srgbClr val="E2E8F0"/>
            </a:solidFill>
            <a:prstDash val="solid"/>
          </a:ln>
        </p:spPr>
        <p:txBody>
          <a:bodyPr/>
          <a:lstStyle/>
          <a:p>
            <a:endParaRPr lang="en-US"/>
          </a:p>
        </p:txBody>
      </p:sp>
      <p:pic>
        <p:nvPicPr>
          <p:cNvPr id="23" name="Image 5" descr="preencoded.png"/>
          <p:cNvPicPr>
            <a:picLocks noChangeAspect="1"/>
          </p:cNvPicPr>
          <p:nvPr/>
        </p:nvPicPr>
        <p:blipFill>
          <a:blip r:embed="rId6"/>
          <a:srcRect l="-2512" r="-2512"/>
          <a:stretch/>
        </p:blipFill>
        <p:spPr>
          <a:xfrm>
            <a:off x="923544" y="3081528"/>
            <a:ext cx="105156" cy="133502"/>
          </a:xfrm>
          <a:prstGeom prst="rect">
            <a:avLst/>
          </a:prstGeom>
        </p:spPr>
      </p:pic>
      <p:sp>
        <p:nvSpPr>
          <p:cNvPr id="24" name="Text 16"/>
          <p:cNvSpPr txBox="1"/>
          <p:nvPr/>
        </p:nvSpPr>
        <p:spPr>
          <a:xfrm>
            <a:off x="1123798" y="2952598"/>
            <a:ext cx="267005" cy="391363"/>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a:t>
            </a:r>
            <a:endParaRPr lang="en-US" sz="1000" dirty="0"/>
          </a:p>
        </p:txBody>
      </p:sp>
      <p:sp>
        <p:nvSpPr>
          <p:cNvPr id="25" name="Shape 17"/>
          <p:cNvSpPr/>
          <p:nvPr/>
        </p:nvSpPr>
        <p:spPr>
          <a:xfrm>
            <a:off x="2628900" y="2957170"/>
            <a:ext cx="8791956" cy="381305"/>
          </a:xfrm>
          <a:prstGeom prst="roundRect">
            <a:avLst>
              <a:gd name="adj" fmla="val 71942"/>
            </a:avLst>
          </a:prstGeom>
          <a:solidFill>
            <a:srgbClr val="F7FAFC"/>
          </a:solidFill>
          <a:ln w="12700">
            <a:solidFill>
              <a:srgbClr val="CBD5E0"/>
            </a:solidFill>
            <a:prstDash val="solid"/>
          </a:ln>
        </p:spPr>
        <p:txBody>
          <a:bodyPr/>
          <a:lstStyle/>
          <a:p>
            <a:endParaRPr lang="en-US"/>
          </a:p>
        </p:txBody>
      </p:sp>
      <p:sp>
        <p:nvSpPr>
          <p:cNvPr id="26" name="Shape 18"/>
          <p:cNvSpPr/>
          <p:nvPr/>
        </p:nvSpPr>
        <p:spPr>
          <a:xfrm>
            <a:off x="771754" y="3681374"/>
            <a:ext cx="171907" cy="171907"/>
          </a:xfrm>
          <a:prstGeom prst="roundRect">
            <a:avLst>
              <a:gd name="adj" fmla="val 236407"/>
            </a:avLst>
          </a:prstGeom>
          <a:solidFill>
            <a:srgbClr val="F7A81B"/>
          </a:solidFill>
          <a:ln w="12700">
            <a:solidFill>
              <a:srgbClr val="FFFFFF">
                <a:alpha val="0"/>
              </a:srgbClr>
            </a:solidFill>
            <a:prstDash val="solid"/>
          </a:ln>
        </p:spPr>
        <p:txBody>
          <a:bodyPr/>
          <a:lstStyle/>
          <a:p>
            <a:endParaRPr lang="en-US"/>
          </a:p>
        </p:txBody>
      </p:sp>
      <p:sp>
        <p:nvSpPr>
          <p:cNvPr id="27" name="Text 19"/>
          <p:cNvSpPr txBox="1"/>
          <p:nvPr/>
        </p:nvSpPr>
        <p:spPr>
          <a:xfrm>
            <a:off x="1037844" y="3676802"/>
            <a:ext cx="1610258"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CT2 (3 tòa) - 24 tháng</a:t>
            </a:r>
            <a:endParaRPr lang="en-US" sz="1000" dirty="0"/>
          </a:p>
        </p:txBody>
      </p:sp>
      <p:sp>
        <p:nvSpPr>
          <p:cNvPr id="28" name="Shape 20"/>
          <p:cNvSpPr/>
          <p:nvPr/>
        </p:nvSpPr>
        <p:spPr>
          <a:xfrm>
            <a:off x="2674620" y="3681374"/>
            <a:ext cx="171907" cy="171907"/>
          </a:xfrm>
          <a:prstGeom prst="roundRect">
            <a:avLst>
              <a:gd name="adj" fmla="val 236407"/>
            </a:avLst>
          </a:prstGeom>
          <a:solidFill>
            <a:srgbClr val="808080"/>
          </a:solidFill>
          <a:ln w="12700">
            <a:solidFill>
              <a:srgbClr val="FFFFFF">
                <a:alpha val="0"/>
              </a:srgbClr>
            </a:solidFill>
            <a:prstDash val="solid"/>
          </a:ln>
        </p:spPr>
        <p:txBody>
          <a:bodyPr/>
          <a:lstStyle/>
          <a:p>
            <a:endParaRPr lang="en-US"/>
          </a:p>
        </p:txBody>
      </p:sp>
      <p:sp>
        <p:nvSpPr>
          <p:cNvPr id="29" name="Text 21"/>
          <p:cNvSpPr txBox="1"/>
          <p:nvPr/>
        </p:nvSpPr>
        <p:spPr>
          <a:xfrm>
            <a:off x="2940710" y="3676802"/>
            <a:ext cx="1294790"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CT1 - 24 tháng</a:t>
            </a:r>
            <a:endParaRPr lang="en-US" sz="1000" dirty="0"/>
          </a:p>
        </p:txBody>
      </p:sp>
      <p:sp>
        <p:nvSpPr>
          <p:cNvPr id="30" name="Shape 22"/>
          <p:cNvSpPr/>
          <p:nvPr/>
        </p:nvSpPr>
        <p:spPr>
          <a:xfrm>
            <a:off x="4135831" y="3681374"/>
            <a:ext cx="171907" cy="171907"/>
          </a:xfrm>
          <a:prstGeom prst="roundRect">
            <a:avLst>
              <a:gd name="adj" fmla="val 236407"/>
            </a:avLst>
          </a:prstGeom>
          <a:solidFill>
            <a:srgbClr val="A0AEC0"/>
          </a:solidFill>
          <a:ln w="12700">
            <a:solidFill>
              <a:srgbClr val="FFFFFF">
                <a:alpha val="0"/>
              </a:srgbClr>
            </a:solidFill>
            <a:prstDash val="solid"/>
          </a:ln>
        </p:spPr>
        <p:txBody>
          <a:bodyPr/>
          <a:lstStyle/>
          <a:p>
            <a:endParaRPr lang="en-US"/>
          </a:p>
        </p:txBody>
      </p:sp>
      <p:sp>
        <p:nvSpPr>
          <p:cNvPr id="31" name="Text 23"/>
          <p:cNvSpPr txBox="1"/>
          <p:nvPr/>
        </p:nvSpPr>
        <p:spPr>
          <a:xfrm>
            <a:off x="4402836" y="3676802"/>
            <a:ext cx="129753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N01 - 30 tháng</a:t>
            </a:r>
            <a:endParaRPr lang="en-US" sz="1000" dirty="0"/>
          </a:p>
        </p:txBody>
      </p:sp>
      <p:sp>
        <p:nvSpPr>
          <p:cNvPr id="32" name="Shape 24"/>
          <p:cNvSpPr/>
          <p:nvPr/>
        </p:nvSpPr>
        <p:spPr>
          <a:xfrm>
            <a:off x="5618074" y="3681374"/>
            <a:ext cx="171907" cy="171907"/>
          </a:xfrm>
          <a:prstGeom prst="roundRect">
            <a:avLst>
              <a:gd name="adj" fmla="val 236407"/>
            </a:avLst>
          </a:prstGeom>
          <a:solidFill>
            <a:srgbClr val="FFFFFF"/>
          </a:solidFill>
          <a:ln w="38100">
            <a:solidFill>
              <a:srgbClr val="808080"/>
            </a:solidFill>
            <a:prstDash val="solid"/>
          </a:ln>
        </p:spPr>
        <p:txBody>
          <a:bodyPr/>
          <a:lstStyle/>
          <a:p>
            <a:endParaRPr lang="en-US"/>
          </a:p>
        </p:txBody>
      </p:sp>
      <p:sp>
        <p:nvSpPr>
          <p:cNvPr id="33" name="Text 25"/>
          <p:cNvSpPr txBox="1"/>
          <p:nvPr/>
        </p:nvSpPr>
        <p:spPr>
          <a:xfrm>
            <a:off x="5885078" y="3676802"/>
            <a:ext cx="1312164"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Mốc quan trọng</a:t>
            </a:r>
            <a:endParaRPr lang="en-US" sz="1000" dirty="0"/>
          </a:p>
        </p:txBody>
      </p:sp>
      <p:pic>
        <p:nvPicPr>
          <p:cNvPr id="34" name="Image 6" descr="preencoded.png"/>
          <p:cNvPicPr>
            <a:picLocks noChangeAspect="1"/>
          </p:cNvPicPr>
          <p:nvPr/>
        </p:nvPicPr>
        <p:blipFill>
          <a:blip r:embed="rId7"/>
          <a:srcRect t="-11" b="-11"/>
          <a:stretch/>
        </p:blipFill>
        <p:spPr>
          <a:xfrm>
            <a:off x="771754" y="4375404"/>
            <a:ext cx="10649102" cy="1520647"/>
          </a:xfrm>
          <a:prstGeom prst="rect">
            <a:avLst/>
          </a:prstGeom>
        </p:spPr>
      </p:pic>
      <p:sp>
        <p:nvSpPr>
          <p:cNvPr id="35" name="Text 26"/>
          <p:cNvSpPr txBox="1"/>
          <p:nvPr/>
        </p:nvSpPr>
        <p:spPr>
          <a:xfrm>
            <a:off x="1238098" y="4614062"/>
            <a:ext cx="9945014" cy="210312"/>
          </a:xfrm>
          <a:prstGeom prst="rect">
            <a:avLst/>
          </a:prstGeom>
          <a:noFill/>
          <a:ln/>
        </p:spPr>
        <p:txBody>
          <a:bodyPr wrap="square" lIns="0" tIns="0" rIns="0" bIns="0" rtlCol="0" anchor="ctr"/>
          <a:lstStyle/>
          <a:p>
            <a:pPr marL="0" indent="0" algn="l">
              <a:buNone/>
            </a:pPr>
            <a:r>
              <a:rPr lang="en-US" sz="1200" b="1" dirty="0">
                <a:solidFill>
                  <a:srgbClr val="808080"/>
                </a:solidFill>
                <a:latin typeface="Open Sans" pitchFamily="34" charset="0"/>
                <a:ea typeface="Open Sans" pitchFamily="34" charset="-122"/>
                <a:cs typeface="Open Sans" pitchFamily="34" charset="-120"/>
              </a:rPr>
              <a:t> Thông tin tiến độ </a:t>
            </a:r>
            <a:endParaRPr lang="en-US" sz="1200" dirty="0"/>
          </a:p>
        </p:txBody>
      </p:sp>
      <p:pic>
        <p:nvPicPr>
          <p:cNvPr id="36" name="Image 7" descr="preencoded.png"/>
          <p:cNvPicPr>
            <a:picLocks noChangeAspect="1"/>
          </p:cNvPicPr>
          <p:nvPr/>
        </p:nvPicPr>
        <p:blipFill>
          <a:blip r:embed="rId8"/>
          <a:srcRect t="-16800" b="-16800"/>
          <a:stretch/>
        </p:blipFill>
        <p:spPr>
          <a:xfrm>
            <a:off x="1047902" y="4642409"/>
            <a:ext cx="114300" cy="152705"/>
          </a:xfrm>
          <a:prstGeom prst="rect">
            <a:avLst/>
          </a:prstGeom>
        </p:spPr>
      </p:pic>
      <p:sp>
        <p:nvSpPr>
          <p:cNvPr id="37" name="Text 27"/>
          <p:cNvSpPr txBox="1"/>
          <p:nvPr/>
        </p:nvSpPr>
        <p:spPr>
          <a:xfrm>
            <a:off x="1047902" y="4937760"/>
            <a:ext cx="10135210" cy="724205"/>
          </a:xfrm>
          <a:prstGeom prst="rect">
            <a:avLst/>
          </a:prstGeom>
          <a:noFill/>
          <a:ln/>
        </p:spPr>
        <p:txBody>
          <a:bodyPr wrap="square" lIns="0" tIns="0" rIns="0" bIns="0" rtlCol="0" anchor="ctr"/>
          <a:lstStyle/>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CT2:</a:t>
            </a:r>
            <a:r>
              <a:rPr lang="en-US" sz="1000" dirty="0">
                <a:solidFill>
                  <a:srgbClr val="4A5568"/>
                </a:solidFill>
                <a:latin typeface="Open Sans" pitchFamily="34" charset="0"/>
                <a:ea typeface="Open Sans" pitchFamily="34" charset="-122"/>
                <a:cs typeface="Open Sans" pitchFamily="34" charset="-120"/>
              </a:rPr>
              <a:t> Khởi công 06/2026, hầm </a:t>
            </a:r>
            <a:r>
              <a:rPr lang="en-US" sz="1000" dirty="0" err="1">
                <a:solidFill>
                  <a:srgbClr val="4A5568"/>
                </a:solidFill>
                <a:latin typeface="Open Sans" pitchFamily="34" charset="0"/>
                <a:ea typeface="Open Sans" pitchFamily="34" charset="-122"/>
                <a:cs typeface="Open Sans" pitchFamily="34" charset="-120"/>
              </a:rPr>
              <a:t>xong</a:t>
            </a:r>
            <a:r>
              <a:rPr lang="en-US" sz="1000" dirty="0">
                <a:solidFill>
                  <a:srgbClr val="4A5568"/>
                </a:solidFill>
                <a:latin typeface="Open Sans" pitchFamily="34" charset="0"/>
                <a:ea typeface="Open Sans" pitchFamily="34" charset="-122"/>
                <a:cs typeface="Open Sans" pitchFamily="34" charset="-120"/>
              </a:rPr>
              <a:t> 06/2027,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06/2028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CT1:</a:t>
            </a:r>
            <a:r>
              <a:rPr lang="en-US" sz="1000" dirty="0">
                <a:solidFill>
                  <a:srgbClr val="4A5568"/>
                </a:solidFill>
                <a:latin typeface="Open Sans" pitchFamily="34" charset="0"/>
                <a:ea typeface="Open Sans" pitchFamily="34" charset="-122"/>
                <a:cs typeface="Open Sans" pitchFamily="34" charset="-120"/>
              </a:rPr>
              <a:t> Khởi </a:t>
            </a:r>
            <a:r>
              <a:rPr lang="en-US" sz="1000" dirty="0" err="1">
                <a:solidFill>
                  <a:srgbClr val="4A5568"/>
                </a:solidFill>
                <a:latin typeface="Open Sans" pitchFamily="34" charset="0"/>
                <a:ea typeface="Open Sans" pitchFamily="34" charset="-122"/>
                <a:cs typeface="Open Sans" pitchFamily="34" charset="-120"/>
              </a:rPr>
              <a:t>công</a:t>
            </a:r>
            <a:r>
              <a:rPr lang="en-US" sz="1000" dirty="0">
                <a:solidFill>
                  <a:srgbClr val="4A5568"/>
                </a:solidFill>
                <a:latin typeface="Open Sans" pitchFamily="34" charset="0"/>
                <a:ea typeface="Open Sans" pitchFamily="34" charset="-122"/>
                <a:cs typeface="Open Sans" pitchFamily="34" charset="-120"/>
              </a:rPr>
              <a:t> 09/2027, hầm xong 09/2027,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03/2028,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08/2028</a:t>
            </a:r>
            <a:endParaRPr lang="en-US" sz="1000" dirty="0"/>
          </a:p>
          <a:p>
            <a:pPr marL="0" indent="0" algn="l">
              <a:buNone/>
            </a:pPr>
            <a:r>
              <a:rPr lang="en-US" sz="1000" dirty="0">
                <a:solidFill>
                  <a:srgbClr val="4A5568"/>
                </a:solidFill>
                <a:latin typeface="Open Sans" pitchFamily="34" charset="0"/>
                <a:ea typeface="Open Sans" pitchFamily="34" charset="-122"/>
                <a:cs typeface="Open Sans" pitchFamily="34" charset="-120"/>
              </a:rPr>
              <a:t> • </a:t>
            </a:r>
            <a:r>
              <a:rPr lang="en-US" sz="1000" b="1" dirty="0">
                <a:solidFill>
                  <a:srgbClr val="4A5568"/>
                </a:solidFill>
                <a:latin typeface="Open Sans" pitchFamily="34" charset="0"/>
                <a:ea typeface="Open Sans" pitchFamily="34" charset="-122"/>
                <a:cs typeface="Open Sans" pitchFamily="34" charset="-120"/>
              </a:rPr>
              <a:t>N01:</a:t>
            </a:r>
            <a:r>
              <a:rPr lang="en-US" sz="1000" dirty="0">
                <a:solidFill>
                  <a:srgbClr val="4A5568"/>
                </a:solidFill>
                <a:latin typeface="Open Sans" pitchFamily="34" charset="0"/>
                <a:ea typeface="Open Sans" pitchFamily="34" charset="-122"/>
                <a:cs typeface="Open Sans" pitchFamily="34" charset="-120"/>
              </a:rPr>
              <a:t> Khởi công 11/2026, hầm xong 01/2028, cất </a:t>
            </a:r>
            <a:r>
              <a:rPr lang="en-US" sz="1000" dirty="0" err="1">
                <a:solidFill>
                  <a:srgbClr val="4A5568"/>
                </a:solidFill>
                <a:latin typeface="Open Sans" pitchFamily="34" charset="0"/>
                <a:ea typeface="Open Sans" pitchFamily="34" charset="-122"/>
                <a:cs typeface="Open Sans" pitchFamily="34" charset="-120"/>
              </a:rPr>
              <a:t>nóc</a:t>
            </a:r>
            <a:r>
              <a:rPr lang="en-US" sz="1000" dirty="0">
                <a:solidFill>
                  <a:srgbClr val="4A5568"/>
                </a:solidFill>
                <a:latin typeface="Open Sans" pitchFamily="34" charset="0"/>
                <a:ea typeface="Open Sans" pitchFamily="34" charset="-122"/>
                <a:cs typeface="Open Sans" pitchFamily="34" charset="-120"/>
              </a:rPr>
              <a:t> 11/2028, bàn </a:t>
            </a:r>
            <a:r>
              <a:rPr lang="en-US" sz="1000" dirty="0" err="1">
                <a:solidFill>
                  <a:srgbClr val="4A5568"/>
                </a:solidFill>
                <a:latin typeface="Open Sans" pitchFamily="34" charset="0"/>
                <a:ea typeface="Open Sans" pitchFamily="34" charset="-122"/>
                <a:cs typeface="Open Sans" pitchFamily="34" charset="-120"/>
              </a:rPr>
              <a:t>giao</a:t>
            </a:r>
            <a:r>
              <a:rPr lang="en-US" sz="1000" dirty="0">
                <a:solidFill>
                  <a:srgbClr val="4A5568"/>
                </a:solidFill>
                <a:latin typeface="Open Sans" pitchFamily="34" charset="0"/>
                <a:ea typeface="Open Sans" pitchFamily="34" charset="-122"/>
                <a:cs typeface="Open Sans" pitchFamily="34" charset="-120"/>
              </a:rPr>
              <a:t> 05/2029</a:t>
            </a:r>
            <a:endParaRPr lang="en-US" sz="1000" dirty="0"/>
          </a:p>
        </p:txBody>
      </p:sp>
      <p:sp>
        <p:nvSpPr>
          <p:cNvPr id="38" name="Shape 28"/>
          <p:cNvSpPr/>
          <p:nvPr/>
        </p:nvSpPr>
        <p:spPr>
          <a:xfrm>
            <a:off x="381305" y="6381598"/>
            <a:ext cx="11430000" cy="9144"/>
          </a:xfrm>
          <a:prstGeom prst="rect">
            <a:avLst/>
          </a:prstGeom>
          <a:solidFill>
            <a:srgbClr val="E2E8F0"/>
          </a:solidFill>
          <a:ln w="12700">
            <a:solidFill>
              <a:srgbClr val="E2E8F0">
                <a:alpha val="0"/>
              </a:srgbClr>
            </a:solidFill>
            <a:prstDash val="solid"/>
          </a:ln>
        </p:spPr>
        <p:txBody>
          <a:bodyPr/>
          <a:lstStyle/>
          <a:p>
            <a:endParaRPr lang="en-US"/>
          </a:p>
        </p:txBody>
      </p:sp>
      <p:pic>
        <p:nvPicPr>
          <p:cNvPr id="39" name="Image 8" descr="preencoded.png"/>
          <p:cNvPicPr>
            <a:picLocks noChangeAspect="1"/>
          </p:cNvPicPr>
          <p:nvPr/>
        </p:nvPicPr>
        <p:blipFill>
          <a:blip r:embed="rId9"/>
          <a:srcRect l="-1358" r="-1358"/>
          <a:stretch/>
        </p:blipFill>
        <p:spPr>
          <a:xfrm>
            <a:off x="381305" y="6515100"/>
            <a:ext cx="95098" cy="123444"/>
          </a:xfrm>
          <a:prstGeom prst="rect">
            <a:avLst/>
          </a:prstGeom>
        </p:spPr>
      </p:pic>
      <p:sp>
        <p:nvSpPr>
          <p:cNvPr id="40" name="Text 29"/>
          <p:cNvSpPr txBox="1"/>
          <p:nvPr/>
        </p:nvSpPr>
        <p:spPr>
          <a:xfrm>
            <a:off x="571500" y="6491326"/>
            <a:ext cx="2381098"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sp>
        <p:nvSpPr>
          <p:cNvPr id="41" name="Text 30"/>
          <p:cNvSpPr txBox="1"/>
          <p:nvPr/>
        </p:nvSpPr>
        <p:spPr>
          <a:xfrm>
            <a:off x="9802368" y="6491326"/>
            <a:ext cx="83759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9/12</a:t>
            </a:r>
            <a:endParaRPr lang="en-US" sz="900" dirty="0"/>
          </a:p>
        </p:txBody>
      </p:sp>
      <p:sp>
        <p:nvSpPr>
          <p:cNvPr id="42" name="Shape 31"/>
          <p:cNvSpPr/>
          <p:nvPr/>
        </p:nvSpPr>
        <p:spPr>
          <a:xfrm>
            <a:off x="10613441" y="6448349"/>
            <a:ext cx="1200607" cy="256946"/>
          </a:xfrm>
          <a:prstGeom prst="roundRect">
            <a:avLst>
              <a:gd name="adj" fmla="val 355872"/>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2"/>
          <p:cNvSpPr/>
          <p:nvPr/>
        </p:nvSpPr>
        <p:spPr>
          <a:xfrm>
            <a:off x="10613441" y="6448349"/>
            <a:ext cx="1200607" cy="257861"/>
          </a:xfrm>
          <a:prstGeom prst="rect">
            <a:avLst/>
          </a:prstGeom>
          <a:solidFill>
            <a:srgbClr val="FFFFFF">
              <a:alpha val="0"/>
            </a:srgbClr>
          </a:solidFill>
          <a:ln>
            <a:solidFill>
              <a:srgbClr val="FFFFFF">
                <a:alpha val="0"/>
              </a:srgbClr>
            </a:solidFill>
          </a:ln>
        </p:spPr>
        <p:txBody>
          <a:bodyPr wrap="square" lIns="139700" tIns="63500" rIns="139700" bIns="63500" rtlCol="0" anchor="ctr"/>
          <a:lstStyle/>
          <a:p>
            <a:pPr marL="0" indent="0" algn="ctr">
              <a:buNone/>
            </a:pPr>
            <a:r>
              <a:rPr lang="en-US" sz="800" b="1" kern="0" spc="38" dirty="0">
                <a:solidFill>
                  <a:srgbClr val="F7A81B"/>
                </a:solidFill>
                <a:latin typeface="Open Sans" pitchFamily="34" charset="0"/>
                <a:ea typeface="Open Sans" pitchFamily="34" charset="-122"/>
                <a:cs typeface="Open Sans" pitchFamily="34" charset="-120"/>
              </a:rPr>
              <a:t>Đang cập nhật</a:t>
            </a:r>
            <a:endParaRPr lang="en-US" sz="800" dirty="0"/>
          </a:p>
        </p:txBody>
      </p:sp>
      <p:sp>
        <p:nvSpPr>
          <p:cNvPr id="44" name="Shape 33"/>
          <p:cNvSpPr/>
          <p:nvPr/>
        </p:nvSpPr>
        <p:spPr>
          <a:xfrm>
            <a:off x="2638044" y="1805026"/>
            <a:ext cx="3076956" cy="362102"/>
          </a:xfrm>
          <a:prstGeom prst="roundRect">
            <a:avLst>
              <a:gd name="adj" fmla="val 79745"/>
            </a:avLst>
          </a:prstGeom>
          <a:solidFill>
            <a:srgbClr val="F7A81B"/>
          </a:solidFill>
          <a:ln w="12700">
            <a:solidFill>
              <a:srgbClr val="FFFFFF">
                <a:alpha val="0"/>
              </a:srgbClr>
            </a:solidFill>
            <a:prstDash val="solid"/>
          </a:ln>
        </p:spPr>
        <p:txBody>
          <a:bodyPr/>
          <a:lstStyle/>
          <a:p>
            <a:endParaRPr lang="en-US"/>
          </a:p>
        </p:txBody>
      </p:sp>
      <p:sp>
        <p:nvSpPr>
          <p:cNvPr id="45" name="Text 34"/>
          <p:cNvSpPr txBox="1"/>
          <p:nvPr/>
        </p:nvSpPr>
        <p:spPr>
          <a:xfrm>
            <a:off x="4021379" y="1900123"/>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06/26 - 06/28</a:t>
            </a:r>
            <a:endParaRPr lang="en-US" sz="900" dirty="0"/>
          </a:p>
        </p:txBody>
      </p:sp>
      <p:sp>
        <p:nvSpPr>
          <p:cNvPr id="46" name="Shape 35"/>
          <p:cNvSpPr/>
          <p:nvPr/>
        </p:nvSpPr>
        <p:spPr>
          <a:xfrm>
            <a:off x="3101340" y="2385670"/>
            <a:ext cx="2877160" cy="362102"/>
          </a:xfrm>
          <a:prstGeom prst="roundRect">
            <a:avLst>
              <a:gd name="adj" fmla="val 79745"/>
            </a:avLst>
          </a:prstGeom>
          <a:solidFill>
            <a:srgbClr val="808080"/>
          </a:solidFill>
          <a:ln w="12700">
            <a:solidFill>
              <a:srgbClr val="FFFFFF">
                <a:alpha val="0"/>
              </a:srgbClr>
            </a:solidFill>
            <a:prstDash val="solid"/>
          </a:ln>
        </p:spPr>
        <p:txBody>
          <a:bodyPr/>
          <a:lstStyle/>
          <a:p>
            <a:endParaRPr lang="en-US"/>
          </a:p>
        </p:txBody>
      </p:sp>
      <p:sp>
        <p:nvSpPr>
          <p:cNvPr id="47" name="Text 36"/>
          <p:cNvSpPr txBox="1"/>
          <p:nvPr/>
        </p:nvSpPr>
        <p:spPr>
          <a:xfrm>
            <a:off x="4408017" y="2488997"/>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09/26 - 08/28</a:t>
            </a:r>
            <a:endParaRPr lang="en-US" sz="900" dirty="0"/>
          </a:p>
        </p:txBody>
      </p:sp>
      <p:sp>
        <p:nvSpPr>
          <p:cNvPr id="48" name="Shape 37"/>
          <p:cNvSpPr/>
          <p:nvPr/>
        </p:nvSpPr>
        <p:spPr>
          <a:xfrm>
            <a:off x="3524250" y="2967228"/>
            <a:ext cx="3067660" cy="362102"/>
          </a:xfrm>
          <a:prstGeom prst="roundRect">
            <a:avLst>
              <a:gd name="adj" fmla="val 79745"/>
            </a:avLst>
          </a:prstGeom>
          <a:solidFill>
            <a:srgbClr val="A0AEC0"/>
          </a:solidFill>
          <a:ln w="12700">
            <a:solidFill>
              <a:srgbClr val="FFFFFF">
                <a:alpha val="0"/>
              </a:srgbClr>
            </a:solidFill>
            <a:prstDash val="solid"/>
          </a:ln>
        </p:spPr>
        <p:txBody>
          <a:bodyPr/>
          <a:lstStyle/>
          <a:p>
            <a:endParaRPr lang="en-US"/>
          </a:p>
        </p:txBody>
      </p:sp>
      <p:sp>
        <p:nvSpPr>
          <p:cNvPr id="49" name="Text 38"/>
          <p:cNvSpPr txBox="1"/>
          <p:nvPr/>
        </p:nvSpPr>
        <p:spPr>
          <a:xfrm>
            <a:off x="4776064" y="3058516"/>
            <a:ext cx="1629461" cy="171907"/>
          </a:xfrm>
          <a:prstGeom prst="rect">
            <a:avLst/>
          </a:prstGeom>
          <a:noFill/>
          <a:ln/>
        </p:spPr>
        <p:txBody>
          <a:bodyPr wrap="square" lIns="0" tIns="0" rIns="0" bIns="0" rtlCol="0" anchor="ctr"/>
          <a:lstStyle/>
          <a:p>
            <a:pPr marL="0" indent="0" algn="l">
              <a:buNone/>
            </a:pPr>
            <a:r>
              <a:rPr lang="en-US" sz="900" b="1" dirty="0">
                <a:solidFill>
                  <a:srgbClr val="FFFFFF"/>
                </a:solidFill>
                <a:latin typeface="Open Sans" pitchFamily="34" charset="0"/>
                <a:ea typeface="Open Sans" pitchFamily="34" charset="-122"/>
                <a:cs typeface="Open Sans" pitchFamily="34" charset="-120"/>
              </a:rPr>
              <a:t>11/26 - 05/29</a:t>
            </a:r>
            <a:endParaRPr lang="en-US" sz="900" dirty="0"/>
          </a:p>
        </p:txBody>
      </p:sp>
      <p:pic>
        <p:nvPicPr>
          <p:cNvPr id="50" name="Image 9" descr="preencoded.png"/>
          <p:cNvPicPr>
            <a:picLocks noChangeAspect="1"/>
          </p:cNvPicPr>
          <p:nvPr/>
        </p:nvPicPr>
        <p:blipFill>
          <a:blip r:embed="rId10"/>
          <a:srcRect/>
          <a:stretch/>
        </p:blipFill>
        <p:spPr>
          <a:xfrm>
            <a:off x="3887114" y="1919326"/>
            <a:ext cx="133502" cy="133502"/>
          </a:xfrm>
          <a:prstGeom prst="rect">
            <a:avLst/>
          </a:prstGeom>
        </p:spPr>
      </p:pic>
      <p:pic>
        <p:nvPicPr>
          <p:cNvPr id="51" name="Image 10" descr="preencoded.png"/>
          <p:cNvPicPr>
            <a:picLocks noChangeAspect="1"/>
          </p:cNvPicPr>
          <p:nvPr/>
        </p:nvPicPr>
        <p:blipFill>
          <a:blip r:embed="rId10"/>
          <a:srcRect/>
          <a:stretch/>
        </p:blipFill>
        <p:spPr>
          <a:xfrm>
            <a:off x="4764938" y="1919326"/>
            <a:ext cx="133502" cy="133502"/>
          </a:xfrm>
          <a:prstGeom prst="rect">
            <a:avLst/>
          </a:prstGeom>
        </p:spPr>
      </p:pic>
      <p:pic>
        <p:nvPicPr>
          <p:cNvPr id="52" name="Image 11" descr="preencoded.png"/>
          <p:cNvPicPr>
            <a:picLocks noChangeAspect="1"/>
          </p:cNvPicPr>
          <p:nvPr/>
        </p:nvPicPr>
        <p:blipFill>
          <a:blip r:embed="rId10"/>
          <a:srcRect/>
          <a:stretch/>
        </p:blipFill>
        <p:spPr>
          <a:xfrm>
            <a:off x="5641848" y="1919326"/>
            <a:ext cx="133502" cy="133502"/>
          </a:xfrm>
          <a:prstGeom prst="rect">
            <a:avLst/>
          </a:prstGeom>
        </p:spPr>
      </p:pic>
      <p:pic>
        <p:nvPicPr>
          <p:cNvPr id="53" name="Image 12" descr="preencoded.png"/>
          <p:cNvPicPr>
            <a:picLocks noChangeAspect="1"/>
          </p:cNvPicPr>
          <p:nvPr/>
        </p:nvPicPr>
        <p:blipFill>
          <a:blip r:embed="rId10"/>
          <a:srcRect/>
          <a:stretch/>
        </p:blipFill>
        <p:spPr>
          <a:xfrm>
            <a:off x="4265066" y="2499970"/>
            <a:ext cx="133502" cy="133502"/>
          </a:xfrm>
          <a:prstGeom prst="rect">
            <a:avLst/>
          </a:prstGeom>
        </p:spPr>
      </p:pic>
      <p:pic>
        <p:nvPicPr>
          <p:cNvPr id="54" name="Image 13" descr="preencoded.png"/>
          <p:cNvPicPr>
            <a:picLocks noChangeAspect="1"/>
          </p:cNvPicPr>
          <p:nvPr/>
        </p:nvPicPr>
        <p:blipFill>
          <a:blip r:embed="rId10"/>
          <a:srcRect/>
          <a:stretch/>
        </p:blipFill>
        <p:spPr>
          <a:xfrm>
            <a:off x="5116220" y="2499970"/>
            <a:ext cx="133502" cy="133502"/>
          </a:xfrm>
          <a:prstGeom prst="rect">
            <a:avLst/>
          </a:prstGeom>
        </p:spPr>
      </p:pic>
      <p:pic>
        <p:nvPicPr>
          <p:cNvPr id="55" name="Image 14" descr="preencoded.png"/>
          <p:cNvPicPr>
            <a:picLocks noChangeAspect="1"/>
          </p:cNvPicPr>
          <p:nvPr/>
        </p:nvPicPr>
        <p:blipFill>
          <a:blip r:embed="rId10"/>
          <a:srcRect/>
          <a:stretch/>
        </p:blipFill>
        <p:spPr>
          <a:xfrm>
            <a:off x="5901690" y="2499970"/>
            <a:ext cx="133502" cy="133502"/>
          </a:xfrm>
          <a:prstGeom prst="rect">
            <a:avLst/>
          </a:prstGeom>
        </p:spPr>
      </p:pic>
      <p:pic>
        <p:nvPicPr>
          <p:cNvPr id="56" name="Image 15" descr="preencoded.png"/>
          <p:cNvPicPr>
            <a:picLocks noChangeAspect="1"/>
          </p:cNvPicPr>
          <p:nvPr/>
        </p:nvPicPr>
        <p:blipFill>
          <a:blip r:embed="rId10"/>
          <a:srcRect/>
          <a:stretch/>
        </p:blipFill>
        <p:spPr>
          <a:xfrm>
            <a:off x="4639208" y="3081528"/>
            <a:ext cx="133502" cy="133502"/>
          </a:xfrm>
          <a:prstGeom prst="rect">
            <a:avLst/>
          </a:prstGeom>
        </p:spPr>
      </p:pic>
      <p:pic>
        <p:nvPicPr>
          <p:cNvPr id="57" name="Image 16" descr="preencoded.png"/>
          <p:cNvPicPr>
            <a:picLocks noChangeAspect="1"/>
          </p:cNvPicPr>
          <p:nvPr/>
        </p:nvPicPr>
        <p:blipFill>
          <a:blip r:embed="rId10"/>
          <a:srcRect/>
          <a:stretch/>
        </p:blipFill>
        <p:spPr>
          <a:xfrm>
            <a:off x="6519672" y="3081528"/>
            <a:ext cx="133502" cy="133502"/>
          </a:xfrm>
          <a:prstGeom prst="rect">
            <a:avLst/>
          </a:prstGeom>
        </p:spPr>
      </p:pic>
      <p:pic>
        <p:nvPicPr>
          <p:cNvPr id="58" name="Image 15" descr="preencoded.png">
            <a:extLst>
              <a:ext uri="{FF2B5EF4-FFF2-40B4-BE49-F238E27FC236}">
                <a16:creationId xmlns:a16="http://schemas.microsoft.com/office/drawing/2014/main" id="{CE2A102B-A75E-D5B1-69D2-4C0507DDA4B0}"/>
              </a:ext>
            </a:extLst>
          </p:cNvPr>
          <p:cNvPicPr>
            <a:picLocks noChangeAspect="1"/>
          </p:cNvPicPr>
          <p:nvPr/>
        </p:nvPicPr>
        <p:blipFill>
          <a:blip r:embed="rId10"/>
          <a:srcRect/>
          <a:stretch/>
        </p:blipFill>
        <p:spPr>
          <a:xfrm>
            <a:off x="5496458" y="3081528"/>
            <a:ext cx="133502" cy="1335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5" name="Shape 3"/>
          <p:cNvSpPr/>
          <p:nvPr/>
        </p:nvSpPr>
        <p:spPr>
          <a:xfrm>
            <a:off x="0" y="0"/>
            <a:ext cx="12191695" cy="685800"/>
          </a:xfrm>
          <a:prstGeom prst="rect">
            <a:avLst/>
          </a:prstGeom>
          <a:solidFill>
            <a:srgbClr val="F8F9FA"/>
          </a:solidFill>
          <a:ln/>
        </p:spPr>
        <p:txBody>
          <a:bodyPr/>
          <a:lstStyle/>
          <a:p>
            <a:endParaRPr lang="en-US"/>
          </a:p>
        </p:txBody>
      </p:sp>
      <p:sp>
        <p:nvSpPr>
          <p:cNvPr id="6" name="Shape 4"/>
          <p:cNvSpPr/>
          <p:nvPr/>
        </p:nvSpPr>
        <p:spPr>
          <a:xfrm>
            <a:off x="0" y="666598"/>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7" name="Shape 5"/>
          <p:cNvSpPr/>
          <p:nvPr/>
        </p:nvSpPr>
        <p:spPr>
          <a:xfrm>
            <a:off x="381305" y="857707"/>
            <a:ext cx="11449202" cy="5495544"/>
          </a:xfrm>
          <a:prstGeom prst="roundRect">
            <a:avLst>
              <a:gd name="adj" fmla="val 692"/>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8" name="Shape 6"/>
          <p:cNvSpPr/>
          <p:nvPr/>
        </p:nvSpPr>
        <p:spPr>
          <a:xfrm>
            <a:off x="609905" y="1571854"/>
            <a:ext cx="5419649" cy="1000354"/>
          </a:xfrm>
          <a:prstGeom prst="roundRect">
            <a:avLst>
              <a:gd name="adj" fmla="val 17411"/>
            </a:avLst>
          </a:prstGeom>
          <a:solidFill>
            <a:srgbClr val="FDFBF7"/>
          </a:solidFill>
          <a:ln/>
        </p:spPr>
        <p:txBody>
          <a:bodyPr/>
          <a:lstStyle/>
          <a:p>
            <a:endParaRPr lang="en-US"/>
          </a:p>
        </p:txBody>
      </p:sp>
      <p:sp>
        <p:nvSpPr>
          <p:cNvPr id="9" name="Shape 7"/>
          <p:cNvSpPr/>
          <p:nvPr/>
        </p:nvSpPr>
        <p:spPr>
          <a:xfrm>
            <a:off x="609905"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0" name="Shape 8"/>
          <p:cNvSpPr/>
          <p:nvPr/>
        </p:nvSpPr>
        <p:spPr>
          <a:xfrm>
            <a:off x="609905" y="2714854"/>
            <a:ext cx="5419649" cy="1000354"/>
          </a:xfrm>
          <a:prstGeom prst="roundRect">
            <a:avLst>
              <a:gd name="adj" fmla="val 17411"/>
            </a:avLst>
          </a:prstGeom>
          <a:solidFill>
            <a:srgbClr val="FDFBF7"/>
          </a:solidFill>
          <a:ln/>
        </p:spPr>
        <p:txBody>
          <a:bodyPr/>
          <a:lstStyle/>
          <a:p>
            <a:endParaRPr lang="en-US"/>
          </a:p>
        </p:txBody>
      </p:sp>
      <p:sp>
        <p:nvSpPr>
          <p:cNvPr id="11" name="Shape 9"/>
          <p:cNvSpPr/>
          <p:nvPr/>
        </p:nvSpPr>
        <p:spPr>
          <a:xfrm>
            <a:off x="609905"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2" name="Shape 10"/>
          <p:cNvSpPr/>
          <p:nvPr/>
        </p:nvSpPr>
        <p:spPr>
          <a:xfrm>
            <a:off x="609905" y="3857854"/>
            <a:ext cx="5419649" cy="1000354"/>
          </a:xfrm>
          <a:prstGeom prst="roundRect">
            <a:avLst>
              <a:gd name="adj" fmla="val 17411"/>
            </a:avLst>
          </a:prstGeom>
          <a:solidFill>
            <a:srgbClr val="F8F9FA"/>
          </a:solidFill>
          <a:ln/>
        </p:spPr>
        <p:txBody>
          <a:bodyPr/>
          <a:lstStyle/>
          <a:p>
            <a:endParaRPr lang="en-US"/>
          </a:p>
        </p:txBody>
      </p:sp>
      <p:sp>
        <p:nvSpPr>
          <p:cNvPr id="13" name="Shape 11"/>
          <p:cNvSpPr/>
          <p:nvPr/>
        </p:nvSpPr>
        <p:spPr>
          <a:xfrm>
            <a:off x="609905"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4" name="Shape 12"/>
          <p:cNvSpPr/>
          <p:nvPr/>
        </p:nvSpPr>
        <p:spPr>
          <a:xfrm>
            <a:off x="609905" y="5000854"/>
            <a:ext cx="5419649" cy="1000354"/>
          </a:xfrm>
          <a:prstGeom prst="roundRect">
            <a:avLst>
              <a:gd name="adj" fmla="val 17411"/>
            </a:avLst>
          </a:prstGeom>
          <a:solidFill>
            <a:srgbClr val="F8F9FA"/>
          </a:solidFill>
          <a:ln/>
        </p:spPr>
        <p:txBody>
          <a:bodyPr/>
          <a:lstStyle/>
          <a:p>
            <a:endParaRPr lang="en-US"/>
          </a:p>
        </p:txBody>
      </p:sp>
      <p:sp>
        <p:nvSpPr>
          <p:cNvPr id="15" name="Shape 13"/>
          <p:cNvSpPr/>
          <p:nvPr/>
        </p:nvSpPr>
        <p:spPr>
          <a:xfrm>
            <a:off x="609905" y="5000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16" name="Shape 14"/>
          <p:cNvSpPr/>
          <p:nvPr/>
        </p:nvSpPr>
        <p:spPr>
          <a:xfrm>
            <a:off x="6200546" y="1571854"/>
            <a:ext cx="5419649" cy="1000354"/>
          </a:xfrm>
          <a:prstGeom prst="roundRect">
            <a:avLst>
              <a:gd name="adj" fmla="val 17411"/>
            </a:avLst>
          </a:prstGeom>
          <a:solidFill>
            <a:srgbClr val="FDFBF7"/>
          </a:solidFill>
          <a:ln/>
        </p:spPr>
        <p:txBody>
          <a:bodyPr/>
          <a:lstStyle/>
          <a:p>
            <a:endParaRPr lang="en-US"/>
          </a:p>
        </p:txBody>
      </p:sp>
      <p:sp>
        <p:nvSpPr>
          <p:cNvPr id="17" name="Shape 15"/>
          <p:cNvSpPr/>
          <p:nvPr/>
        </p:nvSpPr>
        <p:spPr>
          <a:xfrm>
            <a:off x="6200546" y="1571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18" name="Shape 16"/>
          <p:cNvSpPr/>
          <p:nvPr/>
        </p:nvSpPr>
        <p:spPr>
          <a:xfrm>
            <a:off x="6200546" y="2714854"/>
            <a:ext cx="5419649" cy="1000354"/>
          </a:xfrm>
          <a:prstGeom prst="roundRect">
            <a:avLst>
              <a:gd name="adj" fmla="val 17411"/>
            </a:avLst>
          </a:prstGeom>
          <a:solidFill>
            <a:srgbClr val="FDFBF7"/>
          </a:solidFill>
          <a:ln/>
        </p:spPr>
        <p:txBody>
          <a:bodyPr/>
          <a:lstStyle/>
          <a:p>
            <a:endParaRPr lang="en-US"/>
          </a:p>
        </p:txBody>
      </p:sp>
      <p:sp>
        <p:nvSpPr>
          <p:cNvPr id="19" name="Shape 17"/>
          <p:cNvSpPr/>
          <p:nvPr/>
        </p:nvSpPr>
        <p:spPr>
          <a:xfrm>
            <a:off x="6200546" y="2714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0" name="Shape 18"/>
          <p:cNvSpPr/>
          <p:nvPr/>
        </p:nvSpPr>
        <p:spPr>
          <a:xfrm>
            <a:off x="6200546" y="3857854"/>
            <a:ext cx="5419649" cy="1000354"/>
          </a:xfrm>
          <a:prstGeom prst="roundRect">
            <a:avLst>
              <a:gd name="adj" fmla="val 17411"/>
            </a:avLst>
          </a:prstGeom>
          <a:solidFill>
            <a:srgbClr val="F8F9FA"/>
          </a:solidFill>
          <a:ln/>
        </p:spPr>
        <p:txBody>
          <a:bodyPr/>
          <a:lstStyle/>
          <a:p>
            <a:endParaRPr lang="en-US"/>
          </a:p>
        </p:txBody>
      </p:sp>
      <p:sp>
        <p:nvSpPr>
          <p:cNvPr id="21" name="Shape 19"/>
          <p:cNvSpPr/>
          <p:nvPr/>
        </p:nvSpPr>
        <p:spPr>
          <a:xfrm>
            <a:off x="6200546" y="3857854"/>
            <a:ext cx="38405" cy="1000354"/>
          </a:xfrm>
          <a:prstGeom prst="roundRect">
            <a:avLst>
              <a:gd name="adj" fmla="val 453512"/>
            </a:avLst>
          </a:prstGeom>
          <a:solidFill>
            <a:srgbClr val="808080"/>
          </a:solidFill>
          <a:ln w="12700">
            <a:solidFill>
              <a:srgbClr val="808080">
                <a:alpha val="0"/>
              </a:srgbClr>
            </a:solidFill>
            <a:prstDash val="solid"/>
          </a:ln>
        </p:spPr>
        <p:txBody>
          <a:bodyPr/>
          <a:lstStyle/>
          <a:p>
            <a:endParaRPr lang="en-US"/>
          </a:p>
        </p:txBody>
      </p:sp>
      <p:sp>
        <p:nvSpPr>
          <p:cNvPr id="22" name="Shape 20"/>
          <p:cNvSpPr/>
          <p:nvPr/>
        </p:nvSpPr>
        <p:spPr>
          <a:xfrm>
            <a:off x="6200546" y="5000854"/>
            <a:ext cx="5419649" cy="1000354"/>
          </a:xfrm>
          <a:prstGeom prst="roundRect">
            <a:avLst>
              <a:gd name="adj" fmla="val 17411"/>
            </a:avLst>
          </a:prstGeom>
          <a:solidFill>
            <a:srgbClr val="FDFBF7"/>
          </a:solidFill>
          <a:ln/>
        </p:spPr>
        <p:txBody>
          <a:bodyPr/>
          <a:lstStyle/>
          <a:p>
            <a:endParaRPr lang="en-US"/>
          </a:p>
        </p:txBody>
      </p:sp>
      <p:sp>
        <p:nvSpPr>
          <p:cNvPr id="23" name="Shape 21"/>
          <p:cNvSpPr/>
          <p:nvPr/>
        </p:nvSpPr>
        <p:spPr>
          <a:xfrm>
            <a:off x="6200546" y="5000854"/>
            <a:ext cx="38405" cy="1000354"/>
          </a:xfrm>
          <a:prstGeom prst="roundRect">
            <a:avLst>
              <a:gd name="adj" fmla="val 453512"/>
            </a:avLst>
          </a:prstGeom>
          <a:solidFill>
            <a:srgbClr val="F7A81B"/>
          </a:solidFill>
          <a:ln w="12700">
            <a:solidFill>
              <a:srgbClr val="F7A81B">
                <a:alpha val="0"/>
              </a:srgbClr>
            </a:solidFill>
            <a:prstDash val="solid"/>
          </a:ln>
        </p:spPr>
        <p:txBody>
          <a:bodyPr/>
          <a:lstStyle/>
          <a:p>
            <a:endParaRPr lang="en-US"/>
          </a:p>
        </p:txBody>
      </p:sp>
      <p:sp>
        <p:nvSpPr>
          <p:cNvPr id="24" name="Shape 22"/>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25"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26" name="Text 23"/>
          <p:cNvSpPr txBox="1"/>
          <p:nvPr/>
        </p:nvSpPr>
        <p:spPr>
          <a:xfrm>
            <a:off x="905256" y="171907"/>
            <a:ext cx="76206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PHÂN TÍCH RỦI RO - NOXH YÊN SỞ</a:t>
            </a:r>
            <a:endParaRPr lang="en-US" sz="1800" dirty="0"/>
          </a:p>
        </p:txBody>
      </p:sp>
      <p:sp>
        <p:nvSpPr>
          <p:cNvPr id="27" name="Text 24"/>
          <p:cNvSpPr txBox="1"/>
          <p:nvPr/>
        </p:nvSpPr>
        <p:spPr>
          <a:xfrm>
            <a:off x="10755173" y="237744"/>
            <a:ext cx="1292047"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28" name="Image 1" descr="preencoded.png"/>
          <p:cNvPicPr>
            <a:picLocks noChangeAspect="1"/>
          </p:cNvPicPr>
          <p:nvPr/>
        </p:nvPicPr>
        <p:blipFill>
          <a:blip r:embed="rId4"/>
          <a:srcRect t="-5544" b="-5544"/>
          <a:stretch/>
        </p:blipFill>
        <p:spPr>
          <a:xfrm>
            <a:off x="10574122" y="264262"/>
            <a:ext cx="105156" cy="133502"/>
          </a:xfrm>
          <a:prstGeom prst="rect">
            <a:avLst/>
          </a:prstGeom>
        </p:spPr>
      </p:pic>
      <p:sp>
        <p:nvSpPr>
          <p:cNvPr id="29" name="Text 25"/>
          <p:cNvSpPr txBox="1"/>
          <p:nvPr/>
        </p:nvSpPr>
        <p:spPr>
          <a:xfrm>
            <a:off x="838505" y="1123798"/>
            <a:ext cx="10725912"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8 rủi ro chính và biện pháp giảm thiểu</a:t>
            </a:r>
            <a:endParaRPr lang="en-US" sz="1500" dirty="0"/>
          </a:p>
        </p:txBody>
      </p:sp>
      <p:pic>
        <p:nvPicPr>
          <p:cNvPr id="30" name="Image 2" descr="preencoded.png"/>
          <p:cNvPicPr>
            <a:picLocks noChangeAspect="1"/>
          </p:cNvPicPr>
          <p:nvPr/>
        </p:nvPicPr>
        <p:blipFill>
          <a:blip r:embed="rId5"/>
          <a:srcRect t="-14384" b="-14384"/>
          <a:stretch/>
        </p:blipFill>
        <p:spPr>
          <a:xfrm>
            <a:off x="609905" y="1152144"/>
            <a:ext cx="133502" cy="171907"/>
          </a:xfrm>
          <a:prstGeom prst="rect">
            <a:avLst/>
          </a:prstGeom>
        </p:spPr>
      </p:pic>
      <p:sp>
        <p:nvSpPr>
          <p:cNvPr id="31" name="Text 26"/>
          <p:cNvSpPr txBox="1"/>
          <p:nvPr/>
        </p:nvSpPr>
        <p:spPr>
          <a:xfrm>
            <a:off x="961949" y="1681582"/>
            <a:ext cx="211957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1. GPMB chưa hoàn thành </a:t>
            </a:r>
            <a:endParaRPr lang="en-US" sz="1100" dirty="0"/>
          </a:p>
        </p:txBody>
      </p:sp>
      <p:pic>
        <p:nvPicPr>
          <p:cNvPr id="32" name="Image 3" descr="preencoded.png"/>
          <p:cNvPicPr>
            <a:picLocks noChangeAspect="1"/>
          </p:cNvPicPr>
          <p:nvPr/>
        </p:nvPicPr>
        <p:blipFill>
          <a:blip r:embed="rId6"/>
          <a:srcRect l="-2512" r="-2512"/>
          <a:stretch/>
        </p:blipFill>
        <p:spPr>
          <a:xfrm>
            <a:off x="780898" y="1709928"/>
            <a:ext cx="105156" cy="133502"/>
          </a:xfrm>
          <a:prstGeom prst="rect">
            <a:avLst/>
          </a:prstGeom>
        </p:spPr>
      </p:pic>
      <p:sp>
        <p:nvSpPr>
          <p:cNvPr id="33" name="Shape 27"/>
          <p:cNvSpPr/>
          <p:nvPr/>
        </p:nvSpPr>
        <p:spPr>
          <a:xfrm>
            <a:off x="5415991"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34" name="Text 28"/>
          <p:cNvSpPr txBox="1"/>
          <p:nvPr/>
        </p:nvSpPr>
        <p:spPr>
          <a:xfrm>
            <a:off x="5415991"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35" name="Text 29"/>
          <p:cNvSpPr txBox="1"/>
          <p:nvPr/>
        </p:nvSpPr>
        <p:spPr>
          <a:xfrm>
            <a:off x="780898" y="1943100"/>
            <a:ext cx="5612587"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Chủ ao chưa đồng ý bàn giao hoặc bơm nước, ảnh hưởng đến tiến độ khởi công</a:t>
            </a:r>
            <a:endParaRPr lang="en-US" sz="900" dirty="0"/>
          </a:p>
        </p:txBody>
      </p:sp>
      <p:pic>
        <p:nvPicPr>
          <p:cNvPr id="36" name="Image 4" descr="preencoded.png"/>
          <p:cNvPicPr>
            <a:picLocks noChangeAspect="1"/>
          </p:cNvPicPr>
          <p:nvPr/>
        </p:nvPicPr>
        <p:blipFill>
          <a:blip r:embed="rId7"/>
          <a:srcRect t="-11" b="-11"/>
          <a:stretch/>
        </p:blipFill>
        <p:spPr>
          <a:xfrm>
            <a:off x="780898" y="2192731"/>
            <a:ext cx="5048402" cy="295351"/>
          </a:xfrm>
          <a:prstGeom prst="rect">
            <a:avLst/>
          </a:prstGeom>
        </p:spPr>
      </p:pic>
      <p:sp>
        <p:nvSpPr>
          <p:cNvPr id="37" name="Shape 30"/>
          <p:cNvSpPr/>
          <p:nvPr/>
        </p:nvSpPr>
        <p:spPr>
          <a:xfrm>
            <a:off x="780898"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38" name="Text 31"/>
          <p:cNvSpPr txBox="1"/>
          <p:nvPr/>
        </p:nvSpPr>
        <p:spPr>
          <a:xfrm>
            <a:off x="1047902"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Đàm phán sớm, đền bù hỗ trợ tài sản trên đất, pháp lý hỗ trợ </a:t>
            </a:r>
            <a:endParaRPr lang="en-US" sz="900" dirty="0"/>
          </a:p>
        </p:txBody>
      </p:sp>
      <p:pic>
        <p:nvPicPr>
          <p:cNvPr id="39" name="Image 5" descr="preencoded.png"/>
          <p:cNvPicPr>
            <a:picLocks noChangeAspect="1"/>
          </p:cNvPicPr>
          <p:nvPr/>
        </p:nvPicPr>
        <p:blipFill>
          <a:blip r:embed="rId8"/>
          <a:srcRect t="-11170" b="-11170"/>
          <a:stretch/>
        </p:blipFill>
        <p:spPr>
          <a:xfrm>
            <a:off x="886054" y="2287829"/>
            <a:ext cx="85954" cy="105156"/>
          </a:xfrm>
          <a:prstGeom prst="rect">
            <a:avLst/>
          </a:prstGeom>
        </p:spPr>
      </p:pic>
      <p:sp>
        <p:nvSpPr>
          <p:cNvPr id="40" name="Text 32"/>
          <p:cNvSpPr txBox="1"/>
          <p:nvPr/>
        </p:nvSpPr>
        <p:spPr>
          <a:xfrm>
            <a:off x="961949" y="2824582"/>
            <a:ext cx="1723644"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3. Điện tạm chưa có </a:t>
            </a:r>
            <a:endParaRPr lang="en-US" sz="1100" dirty="0"/>
          </a:p>
        </p:txBody>
      </p:sp>
      <p:pic>
        <p:nvPicPr>
          <p:cNvPr id="41" name="Image 6" descr="preencoded.png"/>
          <p:cNvPicPr>
            <a:picLocks noChangeAspect="1"/>
          </p:cNvPicPr>
          <p:nvPr/>
        </p:nvPicPr>
        <p:blipFill>
          <a:blip r:embed="rId9"/>
          <a:srcRect t="-5544" b="-5544"/>
          <a:stretch/>
        </p:blipFill>
        <p:spPr>
          <a:xfrm>
            <a:off x="780898" y="2852928"/>
            <a:ext cx="105156" cy="133502"/>
          </a:xfrm>
          <a:prstGeom prst="rect">
            <a:avLst/>
          </a:prstGeom>
        </p:spPr>
      </p:pic>
      <p:sp>
        <p:nvSpPr>
          <p:cNvPr id="42" name="Shape 33"/>
          <p:cNvSpPr/>
          <p:nvPr/>
        </p:nvSpPr>
        <p:spPr>
          <a:xfrm>
            <a:off x="4970678"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43" name="Text 34"/>
          <p:cNvSpPr txBox="1"/>
          <p:nvPr/>
        </p:nvSpPr>
        <p:spPr>
          <a:xfrm>
            <a:off x="4970678"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44" name="Text 35"/>
          <p:cNvSpPr txBox="1"/>
          <p:nvPr/>
        </p:nvSpPr>
        <p:spPr>
          <a:xfrm>
            <a:off x="780898"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nguồn điện 3 pha để phục vụ thi công</a:t>
            </a:r>
            <a:endParaRPr lang="en-US" sz="900" dirty="0"/>
          </a:p>
        </p:txBody>
      </p:sp>
      <p:pic>
        <p:nvPicPr>
          <p:cNvPr id="45" name="Image 7" descr="preencoded.png"/>
          <p:cNvPicPr>
            <a:picLocks noChangeAspect="1"/>
          </p:cNvPicPr>
          <p:nvPr/>
        </p:nvPicPr>
        <p:blipFill>
          <a:blip r:embed="rId7"/>
          <a:srcRect t="-11" b="-11"/>
          <a:stretch/>
        </p:blipFill>
        <p:spPr>
          <a:xfrm>
            <a:off x="780898" y="3335731"/>
            <a:ext cx="5048402" cy="295351"/>
          </a:xfrm>
          <a:prstGeom prst="rect">
            <a:avLst/>
          </a:prstGeom>
        </p:spPr>
      </p:pic>
      <p:sp>
        <p:nvSpPr>
          <p:cNvPr id="46" name="Shape 36"/>
          <p:cNvSpPr/>
          <p:nvPr/>
        </p:nvSpPr>
        <p:spPr>
          <a:xfrm>
            <a:off x="780898"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47" name="Text 37"/>
          <p:cNvSpPr txBox="1"/>
          <p:nvPr/>
        </p:nvSpPr>
        <p:spPr>
          <a:xfrm>
            <a:off x="1047902"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Điện lực triển khai trạm biến áp 1600kVA, backup diesel </a:t>
            </a:r>
            <a:endParaRPr lang="en-US" sz="900" dirty="0"/>
          </a:p>
        </p:txBody>
      </p:sp>
      <p:pic>
        <p:nvPicPr>
          <p:cNvPr id="48" name="Image 8" descr="preencoded.png"/>
          <p:cNvPicPr>
            <a:picLocks noChangeAspect="1"/>
          </p:cNvPicPr>
          <p:nvPr/>
        </p:nvPicPr>
        <p:blipFill>
          <a:blip r:embed="rId8"/>
          <a:srcRect t="-11170" b="-11170"/>
          <a:stretch/>
        </p:blipFill>
        <p:spPr>
          <a:xfrm>
            <a:off x="886054" y="3430829"/>
            <a:ext cx="85954" cy="105156"/>
          </a:xfrm>
          <a:prstGeom prst="rect">
            <a:avLst/>
          </a:prstGeom>
        </p:spPr>
      </p:pic>
      <p:sp>
        <p:nvSpPr>
          <p:cNvPr id="49" name="Text 38"/>
          <p:cNvSpPr txBox="1"/>
          <p:nvPr/>
        </p:nvSpPr>
        <p:spPr>
          <a:xfrm>
            <a:off x="961949" y="3967582"/>
            <a:ext cx="235823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5. Thiết kế chưa hoàn thiện </a:t>
            </a:r>
            <a:endParaRPr lang="en-US" sz="1100" dirty="0"/>
          </a:p>
        </p:txBody>
      </p:sp>
      <p:pic>
        <p:nvPicPr>
          <p:cNvPr id="50" name="Image 9" descr="preencoded.png"/>
          <p:cNvPicPr>
            <a:picLocks noChangeAspect="1"/>
          </p:cNvPicPr>
          <p:nvPr/>
        </p:nvPicPr>
        <p:blipFill>
          <a:blip r:embed="rId10"/>
          <a:srcRect l="-2512" r="-2512"/>
          <a:stretch/>
        </p:blipFill>
        <p:spPr>
          <a:xfrm>
            <a:off x="780898" y="3995928"/>
            <a:ext cx="105156" cy="133502"/>
          </a:xfrm>
          <a:prstGeom prst="rect">
            <a:avLst/>
          </a:prstGeom>
        </p:spPr>
      </p:pic>
      <p:sp>
        <p:nvSpPr>
          <p:cNvPr id="51" name="Shape 39"/>
          <p:cNvSpPr/>
          <p:nvPr/>
        </p:nvSpPr>
        <p:spPr>
          <a:xfrm>
            <a:off x="5359298"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52" name="Text 40"/>
          <p:cNvSpPr txBox="1"/>
          <p:nvPr/>
        </p:nvSpPr>
        <p:spPr>
          <a:xfrm>
            <a:off x="5359298"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53" name="Text 41"/>
          <p:cNvSpPr txBox="1"/>
          <p:nvPr/>
        </p:nvSpPr>
        <p:spPr>
          <a:xfrm>
            <a:off x="780898"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có bản vẽ chi tiết và Spec vật liệu hoàn thiện</a:t>
            </a:r>
            <a:endParaRPr lang="en-US" sz="900" dirty="0"/>
          </a:p>
        </p:txBody>
      </p:sp>
      <p:pic>
        <p:nvPicPr>
          <p:cNvPr id="54" name="Image 10" descr="preencoded.png"/>
          <p:cNvPicPr>
            <a:picLocks noChangeAspect="1"/>
          </p:cNvPicPr>
          <p:nvPr/>
        </p:nvPicPr>
        <p:blipFill>
          <a:blip r:embed="rId7"/>
          <a:srcRect t="-11" b="-11"/>
          <a:stretch/>
        </p:blipFill>
        <p:spPr>
          <a:xfrm>
            <a:off x="780898" y="4478731"/>
            <a:ext cx="5048402" cy="295351"/>
          </a:xfrm>
          <a:prstGeom prst="rect">
            <a:avLst/>
          </a:prstGeom>
        </p:spPr>
      </p:pic>
      <p:sp>
        <p:nvSpPr>
          <p:cNvPr id="55" name="Shape 42"/>
          <p:cNvSpPr/>
          <p:nvPr/>
        </p:nvSpPr>
        <p:spPr>
          <a:xfrm>
            <a:off x="780898"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56" name="Text 43"/>
          <p:cNvSpPr txBox="1"/>
          <p:nvPr/>
        </p:nvSpPr>
        <p:spPr>
          <a:xfrm>
            <a:off x="1047902"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Thiết lập quy trình phê duyệt nhanh, tính toán theo hàm lượng thép </a:t>
            </a:r>
            <a:endParaRPr lang="en-US" sz="900" dirty="0"/>
          </a:p>
        </p:txBody>
      </p:sp>
      <p:pic>
        <p:nvPicPr>
          <p:cNvPr id="57" name="Image 11" descr="preencoded.png"/>
          <p:cNvPicPr>
            <a:picLocks noChangeAspect="1"/>
          </p:cNvPicPr>
          <p:nvPr/>
        </p:nvPicPr>
        <p:blipFill>
          <a:blip r:embed="rId11"/>
          <a:srcRect t="-11170" b="-11170"/>
          <a:stretch/>
        </p:blipFill>
        <p:spPr>
          <a:xfrm>
            <a:off x="886054" y="4573829"/>
            <a:ext cx="85954" cy="105156"/>
          </a:xfrm>
          <a:prstGeom prst="rect">
            <a:avLst/>
          </a:prstGeom>
        </p:spPr>
      </p:pic>
      <p:sp>
        <p:nvSpPr>
          <p:cNvPr id="58" name="Text 44"/>
          <p:cNvSpPr txBox="1"/>
          <p:nvPr/>
        </p:nvSpPr>
        <p:spPr>
          <a:xfrm>
            <a:off x="961949" y="5110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7. Quan hệ cộng đồng </a:t>
            </a:r>
            <a:endParaRPr lang="en-US" sz="1100" dirty="0"/>
          </a:p>
        </p:txBody>
      </p:sp>
      <p:pic>
        <p:nvPicPr>
          <p:cNvPr id="59" name="Image 12" descr="preencoded.png"/>
          <p:cNvPicPr>
            <a:picLocks noChangeAspect="1"/>
          </p:cNvPicPr>
          <p:nvPr/>
        </p:nvPicPr>
        <p:blipFill>
          <a:blip r:embed="rId12"/>
          <a:srcRect t="-29348" b="-29348"/>
          <a:stretch/>
        </p:blipFill>
        <p:spPr>
          <a:xfrm>
            <a:off x="780898" y="5138928"/>
            <a:ext cx="105156" cy="133502"/>
          </a:xfrm>
          <a:prstGeom prst="rect">
            <a:avLst/>
          </a:prstGeom>
        </p:spPr>
      </p:pic>
      <p:sp>
        <p:nvSpPr>
          <p:cNvPr id="60" name="Shape 45"/>
          <p:cNvSpPr/>
          <p:nvPr/>
        </p:nvSpPr>
        <p:spPr>
          <a:xfrm>
            <a:off x="5359298" y="5095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61" name="Text 46"/>
          <p:cNvSpPr txBox="1"/>
          <p:nvPr/>
        </p:nvSpPr>
        <p:spPr>
          <a:xfrm>
            <a:off x="5359298" y="5095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62" name="Text 47"/>
          <p:cNvSpPr txBox="1"/>
          <p:nvPr/>
        </p:nvSpPr>
        <p:spPr>
          <a:xfrm>
            <a:off x="780898"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Khu dân cư X2A đông đúc, cần đảm bảo an ninh trật tự</a:t>
            </a:r>
            <a:endParaRPr lang="en-US" sz="900" dirty="0"/>
          </a:p>
        </p:txBody>
      </p:sp>
      <p:pic>
        <p:nvPicPr>
          <p:cNvPr id="63" name="Image 13" descr="preencoded.png"/>
          <p:cNvPicPr>
            <a:picLocks noChangeAspect="1"/>
          </p:cNvPicPr>
          <p:nvPr/>
        </p:nvPicPr>
        <p:blipFill>
          <a:blip r:embed="rId7"/>
          <a:srcRect t="-11" b="-11"/>
          <a:stretch/>
        </p:blipFill>
        <p:spPr>
          <a:xfrm>
            <a:off x="780898" y="5621731"/>
            <a:ext cx="5048402" cy="295351"/>
          </a:xfrm>
          <a:prstGeom prst="rect">
            <a:avLst/>
          </a:prstGeom>
        </p:spPr>
      </p:pic>
      <p:sp>
        <p:nvSpPr>
          <p:cNvPr id="64" name="Shape 48"/>
          <p:cNvSpPr/>
          <p:nvPr/>
        </p:nvSpPr>
        <p:spPr>
          <a:xfrm>
            <a:off x="780898"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65" name="Text 49"/>
          <p:cNvSpPr txBox="1"/>
          <p:nvPr/>
        </p:nvSpPr>
        <p:spPr>
          <a:xfrm>
            <a:off x="1047902"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Bổ sung cán bộ cộng đồng, giải quyết khiếu nại </a:t>
            </a:r>
            <a:endParaRPr lang="en-US" sz="900" dirty="0"/>
          </a:p>
        </p:txBody>
      </p:sp>
      <p:pic>
        <p:nvPicPr>
          <p:cNvPr id="66" name="Image 14" descr="preencoded.png"/>
          <p:cNvPicPr>
            <a:picLocks noChangeAspect="1"/>
          </p:cNvPicPr>
          <p:nvPr/>
        </p:nvPicPr>
        <p:blipFill>
          <a:blip r:embed="rId11"/>
          <a:srcRect t="-11170" b="-11170"/>
          <a:stretch/>
        </p:blipFill>
        <p:spPr>
          <a:xfrm>
            <a:off x="886054" y="5716829"/>
            <a:ext cx="85954" cy="105156"/>
          </a:xfrm>
          <a:prstGeom prst="rect">
            <a:avLst/>
          </a:prstGeom>
        </p:spPr>
      </p:pic>
      <p:sp>
        <p:nvSpPr>
          <p:cNvPr id="67" name="Text 50"/>
          <p:cNvSpPr txBox="1"/>
          <p:nvPr/>
        </p:nvSpPr>
        <p:spPr>
          <a:xfrm>
            <a:off x="6553505" y="1681582"/>
            <a:ext cx="1840687"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2. Đường vào chưa có </a:t>
            </a:r>
            <a:endParaRPr lang="en-US" sz="1100" dirty="0"/>
          </a:p>
        </p:txBody>
      </p:sp>
      <p:pic>
        <p:nvPicPr>
          <p:cNvPr id="68" name="Image 15" descr="preencoded.png"/>
          <p:cNvPicPr>
            <a:picLocks noChangeAspect="1"/>
          </p:cNvPicPr>
          <p:nvPr/>
        </p:nvPicPr>
        <p:blipFill>
          <a:blip r:embed="rId13"/>
          <a:srcRect t="-21413" b="-21413"/>
          <a:stretch/>
        </p:blipFill>
        <p:spPr>
          <a:xfrm>
            <a:off x="6372454" y="1709928"/>
            <a:ext cx="105156" cy="133502"/>
          </a:xfrm>
          <a:prstGeom prst="rect">
            <a:avLst/>
          </a:prstGeom>
        </p:spPr>
      </p:pic>
      <p:sp>
        <p:nvSpPr>
          <p:cNvPr id="69" name="Shape 51"/>
          <p:cNvSpPr/>
          <p:nvPr/>
        </p:nvSpPr>
        <p:spPr>
          <a:xfrm>
            <a:off x="11007547" y="1666951"/>
            <a:ext cx="418795"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0" name="Text 52"/>
          <p:cNvSpPr txBox="1"/>
          <p:nvPr/>
        </p:nvSpPr>
        <p:spPr>
          <a:xfrm>
            <a:off x="11007547" y="1666951"/>
            <a:ext cx="419710"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Cao</a:t>
            </a:r>
            <a:endParaRPr lang="en-US" sz="800" dirty="0"/>
          </a:p>
        </p:txBody>
      </p:sp>
      <p:sp>
        <p:nvSpPr>
          <p:cNvPr id="71" name="Text 53"/>
          <p:cNvSpPr txBox="1"/>
          <p:nvPr/>
        </p:nvSpPr>
        <p:spPr>
          <a:xfrm>
            <a:off x="6372454" y="1943100"/>
            <a:ext cx="57342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Chưa liên hệ chính quyền về đường từ Vành đai 3, ảnh hưởng vận chuyển vật tư</a:t>
            </a:r>
            <a:endParaRPr lang="en-US" sz="900" dirty="0"/>
          </a:p>
        </p:txBody>
      </p:sp>
      <p:pic>
        <p:nvPicPr>
          <p:cNvPr id="72" name="Image 16" descr="preencoded.png"/>
          <p:cNvPicPr>
            <a:picLocks noChangeAspect="1"/>
          </p:cNvPicPr>
          <p:nvPr/>
        </p:nvPicPr>
        <p:blipFill>
          <a:blip r:embed="rId7"/>
          <a:srcRect t="-11" b="-11"/>
          <a:stretch/>
        </p:blipFill>
        <p:spPr>
          <a:xfrm>
            <a:off x="6372454" y="2192731"/>
            <a:ext cx="5048402" cy="295351"/>
          </a:xfrm>
          <a:prstGeom prst="rect">
            <a:avLst/>
          </a:prstGeom>
        </p:spPr>
      </p:pic>
      <p:sp>
        <p:nvSpPr>
          <p:cNvPr id="73" name="Shape 54"/>
          <p:cNvSpPr/>
          <p:nvPr/>
        </p:nvSpPr>
        <p:spPr>
          <a:xfrm>
            <a:off x="6372454" y="2192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74" name="Text 55"/>
          <p:cNvSpPr txBox="1"/>
          <p:nvPr/>
        </p:nvSpPr>
        <p:spPr>
          <a:xfrm>
            <a:off x="6639458" y="2192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Thuê đường độc lập từ Vành Đai 3, làm việc với chủ đất </a:t>
            </a:r>
            <a:endParaRPr lang="en-US" sz="900" dirty="0"/>
          </a:p>
        </p:txBody>
      </p:sp>
      <p:pic>
        <p:nvPicPr>
          <p:cNvPr id="75" name="Image 17" descr="preencoded.png"/>
          <p:cNvPicPr>
            <a:picLocks noChangeAspect="1"/>
          </p:cNvPicPr>
          <p:nvPr/>
        </p:nvPicPr>
        <p:blipFill>
          <a:blip r:embed="rId8"/>
          <a:srcRect t="-11170" b="-11170"/>
          <a:stretch/>
        </p:blipFill>
        <p:spPr>
          <a:xfrm>
            <a:off x="6476695" y="2287829"/>
            <a:ext cx="85954" cy="105156"/>
          </a:xfrm>
          <a:prstGeom prst="rect">
            <a:avLst/>
          </a:prstGeom>
        </p:spPr>
      </p:pic>
      <p:sp>
        <p:nvSpPr>
          <p:cNvPr id="76" name="Text 56"/>
          <p:cNvSpPr txBox="1"/>
          <p:nvPr/>
        </p:nvSpPr>
        <p:spPr>
          <a:xfrm>
            <a:off x="6553505" y="2824582"/>
            <a:ext cx="1281989"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4. Địa chất yếu </a:t>
            </a:r>
            <a:endParaRPr lang="en-US" sz="1100" dirty="0"/>
          </a:p>
        </p:txBody>
      </p:sp>
      <p:pic>
        <p:nvPicPr>
          <p:cNvPr id="77" name="Image 18" descr="preencoded.png"/>
          <p:cNvPicPr>
            <a:picLocks noChangeAspect="1"/>
          </p:cNvPicPr>
          <p:nvPr/>
        </p:nvPicPr>
        <p:blipFill>
          <a:blip r:embed="rId14"/>
          <a:srcRect t="-13478" b="-13478"/>
          <a:stretch/>
        </p:blipFill>
        <p:spPr>
          <a:xfrm>
            <a:off x="6372454" y="2852928"/>
            <a:ext cx="105156" cy="133502"/>
          </a:xfrm>
          <a:prstGeom prst="rect">
            <a:avLst/>
          </a:prstGeom>
        </p:spPr>
      </p:pic>
      <p:sp>
        <p:nvSpPr>
          <p:cNvPr id="78" name="Shape 57"/>
          <p:cNvSpPr/>
          <p:nvPr/>
        </p:nvSpPr>
        <p:spPr>
          <a:xfrm>
            <a:off x="10562234" y="2809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79" name="Text 58"/>
          <p:cNvSpPr txBox="1"/>
          <p:nvPr/>
        </p:nvSpPr>
        <p:spPr>
          <a:xfrm>
            <a:off x="10562234" y="2809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80" name="Text 59"/>
          <p:cNvSpPr txBox="1"/>
          <p:nvPr/>
        </p:nvSpPr>
        <p:spPr>
          <a:xfrm>
            <a:off x="6372454" y="3086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Lớp đất sét pha trạng thái dẻo chảy, chiều dày 27.5m</a:t>
            </a:r>
            <a:endParaRPr lang="en-US" sz="900" dirty="0"/>
          </a:p>
        </p:txBody>
      </p:sp>
      <p:pic>
        <p:nvPicPr>
          <p:cNvPr id="81" name="Image 19" descr="preencoded.png"/>
          <p:cNvPicPr>
            <a:picLocks noChangeAspect="1"/>
          </p:cNvPicPr>
          <p:nvPr/>
        </p:nvPicPr>
        <p:blipFill>
          <a:blip r:embed="rId7"/>
          <a:srcRect t="-11" b="-11"/>
          <a:stretch/>
        </p:blipFill>
        <p:spPr>
          <a:xfrm>
            <a:off x="6372454" y="3335731"/>
            <a:ext cx="5048402" cy="295351"/>
          </a:xfrm>
          <a:prstGeom prst="rect">
            <a:avLst/>
          </a:prstGeom>
        </p:spPr>
      </p:pic>
      <p:sp>
        <p:nvSpPr>
          <p:cNvPr id="82" name="Shape 60"/>
          <p:cNvSpPr/>
          <p:nvPr/>
        </p:nvSpPr>
        <p:spPr>
          <a:xfrm>
            <a:off x="6372454" y="3335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83" name="Text 61"/>
          <p:cNvSpPr txBox="1"/>
          <p:nvPr/>
        </p:nvSpPr>
        <p:spPr>
          <a:xfrm>
            <a:off x="6639458" y="3335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Đào từng lớp, giám sát biến dạng, hệ thống chống ngập </a:t>
            </a:r>
            <a:endParaRPr lang="en-US" sz="900" dirty="0"/>
          </a:p>
        </p:txBody>
      </p:sp>
      <p:pic>
        <p:nvPicPr>
          <p:cNvPr id="84" name="Image 20" descr="preencoded.png"/>
          <p:cNvPicPr>
            <a:picLocks noChangeAspect="1"/>
          </p:cNvPicPr>
          <p:nvPr/>
        </p:nvPicPr>
        <p:blipFill>
          <a:blip r:embed="rId8"/>
          <a:srcRect t="-11170" b="-11170"/>
          <a:stretch/>
        </p:blipFill>
        <p:spPr>
          <a:xfrm>
            <a:off x="6476695" y="3430829"/>
            <a:ext cx="85954" cy="105156"/>
          </a:xfrm>
          <a:prstGeom prst="rect">
            <a:avLst/>
          </a:prstGeom>
        </p:spPr>
      </p:pic>
      <p:sp>
        <p:nvSpPr>
          <p:cNvPr id="85" name="Text 62"/>
          <p:cNvSpPr txBox="1"/>
          <p:nvPr/>
        </p:nvSpPr>
        <p:spPr>
          <a:xfrm>
            <a:off x="6553505" y="3967582"/>
            <a:ext cx="1015898"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6. Ngập úng </a:t>
            </a:r>
            <a:endParaRPr lang="en-US" sz="1100" dirty="0"/>
          </a:p>
        </p:txBody>
      </p:sp>
      <p:pic>
        <p:nvPicPr>
          <p:cNvPr id="86" name="Image 21" descr="preencoded.png"/>
          <p:cNvPicPr>
            <a:picLocks noChangeAspect="1"/>
          </p:cNvPicPr>
          <p:nvPr/>
        </p:nvPicPr>
        <p:blipFill>
          <a:blip r:embed="rId15"/>
          <a:srcRect l="-2512" r="-2512"/>
          <a:stretch/>
        </p:blipFill>
        <p:spPr>
          <a:xfrm>
            <a:off x="6372454" y="3995928"/>
            <a:ext cx="105156" cy="133502"/>
          </a:xfrm>
          <a:prstGeom prst="rect">
            <a:avLst/>
          </a:prstGeom>
        </p:spPr>
      </p:pic>
      <p:sp>
        <p:nvSpPr>
          <p:cNvPr id="87" name="Shape 63"/>
          <p:cNvSpPr/>
          <p:nvPr/>
        </p:nvSpPr>
        <p:spPr>
          <a:xfrm>
            <a:off x="10950854" y="3952951"/>
            <a:ext cx="476402" cy="219456"/>
          </a:xfrm>
          <a:prstGeom prst="roundRect">
            <a:avLst>
              <a:gd name="adj" fmla="val 217391"/>
            </a:avLst>
          </a:prstGeom>
          <a:solidFill>
            <a:srgbClr val="EDF2F7"/>
          </a:solidFill>
          <a:ln w="12700">
            <a:solidFill>
              <a:srgbClr val="FFFFFF">
                <a:alpha val="0"/>
              </a:srgbClr>
            </a:solidFill>
            <a:prstDash val="solid"/>
          </a:ln>
        </p:spPr>
        <p:txBody>
          <a:bodyPr/>
          <a:lstStyle/>
          <a:p>
            <a:endParaRPr lang="en-US"/>
          </a:p>
        </p:txBody>
      </p:sp>
      <p:sp>
        <p:nvSpPr>
          <p:cNvPr id="88" name="Text 64"/>
          <p:cNvSpPr txBox="1"/>
          <p:nvPr/>
        </p:nvSpPr>
        <p:spPr>
          <a:xfrm>
            <a:off x="10950854" y="3952951"/>
            <a:ext cx="476402"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808080"/>
                </a:solidFill>
                <a:latin typeface="Open Sans" pitchFamily="34" charset="0"/>
                <a:ea typeface="Open Sans" pitchFamily="34" charset="-122"/>
                <a:cs typeface="Open Sans" pitchFamily="34" charset="-120"/>
              </a:rPr>
              <a:t>Thấp</a:t>
            </a:r>
            <a:endParaRPr lang="en-US" sz="800" dirty="0"/>
          </a:p>
        </p:txBody>
      </p:sp>
      <p:sp>
        <p:nvSpPr>
          <p:cNvPr id="89" name="Text 65"/>
          <p:cNvSpPr txBox="1"/>
          <p:nvPr/>
        </p:nvSpPr>
        <p:spPr>
          <a:xfrm>
            <a:off x="6372454" y="4229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Mực nước ngầm 9.2-10m, nguy cơ ngập úng công trường</a:t>
            </a:r>
            <a:endParaRPr lang="en-US" sz="900" dirty="0"/>
          </a:p>
        </p:txBody>
      </p:sp>
      <p:pic>
        <p:nvPicPr>
          <p:cNvPr id="90" name="Image 22" descr="preencoded.png"/>
          <p:cNvPicPr>
            <a:picLocks noChangeAspect="1"/>
          </p:cNvPicPr>
          <p:nvPr/>
        </p:nvPicPr>
        <p:blipFill>
          <a:blip r:embed="rId7"/>
          <a:srcRect t="-11" b="-11"/>
          <a:stretch/>
        </p:blipFill>
        <p:spPr>
          <a:xfrm>
            <a:off x="6372454" y="4478731"/>
            <a:ext cx="5048402" cy="295351"/>
          </a:xfrm>
          <a:prstGeom prst="rect">
            <a:avLst/>
          </a:prstGeom>
        </p:spPr>
      </p:pic>
      <p:sp>
        <p:nvSpPr>
          <p:cNvPr id="91" name="Shape 66"/>
          <p:cNvSpPr/>
          <p:nvPr/>
        </p:nvSpPr>
        <p:spPr>
          <a:xfrm>
            <a:off x="6372454" y="4478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92" name="Text 67"/>
          <p:cNvSpPr txBox="1"/>
          <p:nvPr/>
        </p:nvSpPr>
        <p:spPr>
          <a:xfrm>
            <a:off x="6639458" y="4478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Hệ thống bơm chống ngập tự động, rãnh thoát nước </a:t>
            </a:r>
            <a:endParaRPr lang="en-US" sz="900" dirty="0"/>
          </a:p>
        </p:txBody>
      </p:sp>
      <p:pic>
        <p:nvPicPr>
          <p:cNvPr id="93" name="Image 23" descr="preencoded.png"/>
          <p:cNvPicPr>
            <a:picLocks noChangeAspect="1"/>
          </p:cNvPicPr>
          <p:nvPr/>
        </p:nvPicPr>
        <p:blipFill>
          <a:blip r:embed="rId11"/>
          <a:srcRect t="-11170" b="-11170"/>
          <a:stretch/>
        </p:blipFill>
        <p:spPr>
          <a:xfrm>
            <a:off x="6476695" y="4573829"/>
            <a:ext cx="85954" cy="105156"/>
          </a:xfrm>
          <a:prstGeom prst="rect">
            <a:avLst/>
          </a:prstGeom>
        </p:spPr>
      </p:pic>
      <p:sp>
        <p:nvSpPr>
          <p:cNvPr id="94" name="Text 68"/>
          <p:cNvSpPr txBox="1"/>
          <p:nvPr/>
        </p:nvSpPr>
        <p:spPr>
          <a:xfrm>
            <a:off x="6553505" y="5110582"/>
            <a:ext cx="1293876" cy="191110"/>
          </a:xfrm>
          <a:prstGeom prst="rect">
            <a:avLst/>
          </a:prstGeom>
          <a:noFill/>
          <a:ln/>
        </p:spPr>
        <p:txBody>
          <a:bodyPr wrap="square" lIns="0" tIns="0" rIns="0" bIns="0" rtlCol="0" anchor="ctr"/>
          <a:lstStyle/>
          <a:p>
            <a:pPr marL="0" indent="0" algn="l">
              <a:buNone/>
            </a:pPr>
            <a:r>
              <a:rPr lang="en-US" sz="1100" b="1" dirty="0">
                <a:solidFill>
                  <a:srgbClr val="333333"/>
                </a:solidFill>
                <a:latin typeface="Open Sans" pitchFamily="34" charset="0"/>
                <a:ea typeface="Open Sans" pitchFamily="34" charset="-122"/>
                <a:cs typeface="Open Sans" pitchFamily="34" charset="-120"/>
              </a:rPr>
              <a:t> 8. Mua sắm MEP </a:t>
            </a:r>
            <a:endParaRPr lang="en-US" sz="1100" dirty="0"/>
          </a:p>
        </p:txBody>
      </p:sp>
      <p:pic>
        <p:nvPicPr>
          <p:cNvPr id="95" name="Image 24" descr="preencoded.png"/>
          <p:cNvPicPr>
            <a:picLocks noChangeAspect="1"/>
          </p:cNvPicPr>
          <p:nvPr/>
        </p:nvPicPr>
        <p:blipFill>
          <a:blip r:embed="rId16"/>
          <a:srcRect t="-29348" b="-29348"/>
          <a:stretch/>
        </p:blipFill>
        <p:spPr>
          <a:xfrm>
            <a:off x="6372454" y="5138928"/>
            <a:ext cx="105156" cy="133502"/>
          </a:xfrm>
          <a:prstGeom prst="rect">
            <a:avLst/>
          </a:prstGeom>
        </p:spPr>
      </p:pic>
      <p:sp>
        <p:nvSpPr>
          <p:cNvPr id="96" name="Shape 69"/>
          <p:cNvSpPr/>
          <p:nvPr/>
        </p:nvSpPr>
        <p:spPr>
          <a:xfrm>
            <a:off x="10562234" y="5095951"/>
            <a:ext cx="866851" cy="219456"/>
          </a:xfrm>
          <a:prstGeom prst="roundRect">
            <a:avLst>
              <a:gd name="adj" fmla="val 217391"/>
            </a:avLst>
          </a:prstGeom>
          <a:solidFill>
            <a:srgbClr val="F7A81B">
              <a:alpha val="15000"/>
            </a:srgbClr>
          </a:solidFill>
          <a:ln w="12700">
            <a:solidFill>
              <a:srgbClr val="FFFFFF">
                <a:alpha val="0"/>
              </a:srgbClr>
            </a:solidFill>
            <a:prstDash val="solid"/>
          </a:ln>
        </p:spPr>
        <p:txBody>
          <a:bodyPr/>
          <a:lstStyle/>
          <a:p>
            <a:endParaRPr lang="en-US"/>
          </a:p>
        </p:txBody>
      </p:sp>
      <p:sp>
        <p:nvSpPr>
          <p:cNvPr id="97" name="Text 70"/>
          <p:cNvSpPr txBox="1"/>
          <p:nvPr/>
        </p:nvSpPr>
        <p:spPr>
          <a:xfrm>
            <a:off x="10562234" y="5095951"/>
            <a:ext cx="866851" cy="219456"/>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Trung bình</a:t>
            </a:r>
            <a:endParaRPr lang="en-US" sz="800" dirty="0"/>
          </a:p>
        </p:txBody>
      </p:sp>
      <p:sp>
        <p:nvSpPr>
          <p:cNvPr id="98" name="Text 71"/>
          <p:cNvSpPr txBox="1"/>
          <p:nvPr/>
        </p:nvSpPr>
        <p:spPr>
          <a:xfrm>
            <a:off x="6372454" y="5372100"/>
            <a:ext cx="5048402" cy="181051"/>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bị MEP, cửa, vách nhôm kính cần đặt hàng sớm</a:t>
            </a:r>
            <a:endParaRPr lang="en-US" sz="900" dirty="0"/>
          </a:p>
        </p:txBody>
      </p:sp>
      <p:pic>
        <p:nvPicPr>
          <p:cNvPr id="99" name="Image 25" descr="preencoded.png"/>
          <p:cNvPicPr>
            <a:picLocks noChangeAspect="1"/>
          </p:cNvPicPr>
          <p:nvPr/>
        </p:nvPicPr>
        <p:blipFill>
          <a:blip r:embed="rId7"/>
          <a:srcRect t="-11" b="-11"/>
          <a:stretch/>
        </p:blipFill>
        <p:spPr>
          <a:xfrm>
            <a:off x="6372454" y="5621731"/>
            <a:ext cx="5048402" cy="295351"/>
          </a:xfrm>
          <a:prstGeom prst="rect">
            <a:avLst/>
          </a:prstGeom>
        </p:spPr>
      </p:pic>
      <p:sp>
        <p:nvSpPr>
          <p:cNvPr id="100" name="Shape 72"/>
          <p:cNvSpPr/>
          <p:nvPr/>
        </p:nvSpPr>
        <p:spPr>
          <a:xfrm>
            <a:off x="6372454" y="5621731"/>
            <a:ext cx="5048402" cy="295351"/>
          </a:xfrm>
          <a:prstGeom prst="roundRect">
            <a:avLst>
              <a:gd name="adj" fmla="val 119844"/>
            </a:avLst>
          </a:prstGeom>
          <a:noFill/>
          <a:ln w="12700">
            <a:solidFill>
              <a:srgbClr val="E2E8F0"/>
            </a:solidFill>
            <a:prstDash val="solid"/>
          </a:ln>
        </p:spPr>
        <p:txBody>
          <a:bodyPr/>
          <a:lstStyle/>
          <a:p>
            <a:endParaRPr lang="en-US"/>
          </a:p>
        </p:txBody>
      </p:sp>
      <p:sp>
        <p:nvSpPr>
          <p:cNvPr id="101" name="Text 73"/>
          <p:cNvSpPr txBox="1"/>
          <p:nvPr/>
        </p:nvSpPr>
        <p:spPr>
          <a:xfrm>
            <a:off x="6639458" y="5621731"/>
            <a:ext cx="4781398" cy="295351"/>
          </a:xfrm>
          <a:prstGeom prst="rect">
            <a:avLst/>
          </a:prstGeom>
          <a:solidFill>
            <a:srgbClr val="FFFFFF">
              <a:alpha val="0"/>
            </a:srgbClr>
          </a:solidFill>
          <a:ln>
            <a:solidFill>
              <a:srgbClr val="FFFFFF">
                <a:alpha val="0"/>
              </a:srgbClr>
            </a:solidFill>
          </a:ln>
        </p:spPr>
        <p:txBody>
          <a:bodyPr wrap="square" lIns="101600" tIns="63500" rIns="101600" bIns="63500" rtlCol="0" anchor="ctr"/>
          <a:lstStyle/>
          <a:p>
            <a:pPr marL="0" indent="0" algn="l">
              <a:buNone/>
            </a:pPr>
            <a:r>
              <a:rPr lang="en-US" sz="900" dirty="0">
                <a:solidFill>
                  <a:srgbClr val="555555"/>
                </a:solidFill>
                <a:latin typeface="Open Sans" pitchFamily="34" charset="0"/>
                <a:ea typeface="Open Sans" pitchFamily="34" charset="-122"/>
                <a:cs typeface="Open Sans" pitchFamily="34" charset="-120"/>
              </a:rPr>
              <a:t> Prequal vendors, early LOIs, hedging key materials </a:t>
            </a:r>
            <a:endParaRPr lang="en-US" sz="900" dirty="0"/>
          </a:p>
        </p:txBody>
      </p:sp>
      <p:pic>
        <p:nvPicPr>
          <p:cNvPr id="102" name="Image 26" descr="preencoded.png"/>
          <p:cNvPicPr>
            <a:picLocks noChangeAspect="1"/>
          </p:cNvPicPr>
          <p:nvPr/>
        </p:nvPicPr>
        <p:blipFill>
          <a:blip r:embed="rId8"/>
          <a:srcRect t="-11170" b="-11170"/>
          <a:stretch/>
        </p:blipFill>
        <p:spPr>
          <a:xfrm>
            <a:off x="6476695" y="5716829"/>
            <a:ext cx="85954" cy="105156"/>
          </a:xfrm>
          <a:prstGeom prst="rect">
            <a:avLst/>
          </a:prstGeom>
        </p:spPr>
      </p:pic>
      <p:sp>
        <p:nvSpPr>
          <p:cNvPr id="103" name="Text 74"/>
          <p:cNvSpPr txBox="1"/>
          <p:nvPr/>
        </p:nvSpPr>
        <p:spPr>
          <a:xfrm>
            <a:off x="571500" y="6476695"/>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 </a:t>
            </a:r>
            <a:endParaRPr lang="en-US" sz="900" dirty="0"/>
          </a:p>
        </p:txBody>
      </p:sp>
      <p:pic>
        <p:nvPicPr>
          <p:cNvPr id="104" name="Image 27" descr="preencoded.png"/>
          <p:cNvPicPr>
            <a:picLocks noChangeAspect="1"/>
          </p:cNvPicPr>
          <p:nvPr/>
        </p:nvPicPr>
        <p:blipFill>
          <a:blip r:embed="rId17"/>
          <a:srcRect l="-1358" r="-1358"/>
          <a:stretch/>
        </p:blipFill>
        <p:spPr>
          <a:xfrm>
            <a:off x="381305" y="6500470"/>
            <a:ext cx="95098" cy="123444"/>
          </a:xfrm>
          <a:prstGeom prst="rect">
            <a:avLst/>
          </a:prstGeom>
        </p:spPr>
      </p:pic>
      <p:sp>
        <p:nvSpPr>
          <p:cNvPr id="105" name="Text 75"/>
          <p:cNvSpPr txBox="1"/>
          <p:nvPr/>
        </p:nvSpPr>
        <p:spPr>
          <a:xfrm>
            <a:off x="9905695" y="6476695"/>
            <a:ext cx="1905610" cy="191110"/>
          </a:xfrm>
          <a:prstGeom prst="rect">
            <a:avLst/>
          </a:prstGeom>
          <a:noFill/>
          <a:ln/>
        </p:spPr>
        <p:txBody>
          <a:bodyPr wrap="square" lIns="0" tIns="0" rIns="0" bIns="0" rtlCol="0" anchor="ctr"/>
          <a:lstStyle/>
          <a:p>
            <a:pPr marL="0" indent="0" algn="r">
              <a:buNone/>
            </a:pPr>
            <a:r>
              <a:rPr lang="en-US" sz="900" dirty="0">
                <a:solidFill>
                  <a:srgbClr val="808080"/>
                </a:solidFill>
                <a:latin typeface="Open Sans" pitchFamily="34" charset="0"/>
                <a:ea typeface="Open Sans" pitchFamily="34" charset="-122"/>
                <a:cs typeface="Open Sans" pitchFamily="34" charset="-120"/>
              </a:rPr>
              <a:t>Trang 10/12</a:t>
            </a:r>
            <a:r>
              <a:rPr lang="en-US" sz="800" b="1" dirty="0">
                <a:solidFill>
                  <a:srgbClr val="F7A81B"/>
                </a:solidFill>
                <a:latin typeface="Open Sans" pitchFamily="34" charset="0"/>
                <a:ea typeface="Open Sans" pitchFamily="34" charset="-122"/>
                <a:cs typeface="Open Sans" pitchFamily="34" charset="-120"/>
              </a:rPr>
              <a:t>Cập nhật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8F9FA"/>
          </a:solidFill>
          <a:ln/>
        </p:spPr>
        <p:txBody>
          <a:bodyPr/>
          <a:lstStyle/>
          <a:p>
            <a:endParaRPr lang="en-US"/>
          </a:p>
        </p:txBody>
      </p:sp>
      <p:sp>
        <p:nvSpPr>
          <p:cNvPr id="5" name="Shape 3"/>
          <p:cNvSpPr/>
          <p:nvPr/>
        </p:nvSpPr>
        <p:spPr>
          <a:xfrm>
            <a:off x="0" y="647395"/>
            <a:ext cx="12191695" cy="19202"/>
          </a:xfrm>
          <a:prstGeom prst="rect">
            <a:avLst/>
          </a:prstGeom>
          <a:solidFill>
            <a:srgbClr val="F7A81B"/>
          </a:solidFill>
          <a:ln w="12700">
            <a:solidFill>
              <a:srgbClr val="F7A81B">
                <a:alpha val="0"/>
              </a:srgbClr>
            </a:solidFill>
            <a:prstDash val="solid"/>
          </a:ln>
        </p:spPr>
        <p:txBody>
          <a:bodyPr/>
          <a:lstStyle/>
          <a:p>
            <a:endParaRPr lang="en-US"/>
          </a:p>
        </p:txBody>
      </p:sp>
      <p:sp>
        <p:nvSpPr>
          <p:cNvPr id="6" name="Shape 4"/>
          <p:cNvSpPr/>
          <p:nvPr/>
        </p:nvSpPr>
        <p:spPr>
          <a:xfrm>
            <a:off x="381305" y="142646"/>
            <a:ext cx="381305" cy="381305"/>
          </a:xfrm>
          <a:prstGeom prst="roundRect">
            <a:avLst>
              <a:gd name="adj" fmla="val 95923"/>
            </a:avLst>
          </a:prstGeom>
          <a:solidFill>
            <a:srgbClr val="F7A81B"/>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37744"/>
            <a:ext cx="152705" cy="190195"/>
          </a:xfrm>
          <a:prstGeom prst="rect">
            <a:avLst/>
          </a:prstGeom>
        </p:spPr>
      </p:pic>
      <p:sp>
        <p:nvSpPr>
          <p:cNvPr id="8" name="Text 5"/>
          <p:cNvSpPr txBox="1"/>
          <p:nvPr/>
        </p:nvSpPr>
        <p:spPr>
          <a:xfrm>
            <a:off x="905256" y="142646"/>
            <a:ext cx="4763110"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 HOẠCH HÀNH ĐỘNG 14 NGÀY</a:t>
            </a:r>
            <a:endParaRPr lang="en-US" sz="1800" dirty="0"/>
          </a:p>
        </p:txBody>
      </p:sp>
      <p:sp>
        <p:nvSpPr>
          <p:cNvPr id="9" name="Text 6"/>
          <p:cNvSpPr txBox="1"/>
          <p:nvPr/>
        </p:nvSpPr>
        <p:spPr>
          <a:xfrm>
            <a:off x="10755173" y="237744"/>
            <a:ext cx="1390802" cy="181051"/>
          </a:xfrm>
          <a:prstGeom prst="rect">
            <a:avLst/>
          </a:prstGeom>
          <a:noFill/>
          <a:ln/>
        </p:spPr>
        <p:txBody>
          <a:bodyPr wrap="square" lIns="0" tIns="0" rIns="0" bIns="0" rtlCol="0" anchor="ctr"/>
          <a:lstStyle/>
          <a:p>
            <a:pPr marL="0" indent="0" algn="l">
              <a:buNone/>
            </a:pPr>
            <a:r>
              <a:rPr lang="en-US" sz="1000" dirty="0">
                <a:solidFill>
                  <a:srgbClr val="808080"/>
                </a:solidFill>
                <a:latin typeface="Open Sans" pitchFamily="34" charset="0"/>
                <a:ea typeface="Open Sans" pitchFamily="34" charset="-122"/>
                <a:cs typeface="Open Sans" pitchFamily="34" charset="-120"/>
              </a:rPr>
              <a:t> </a:t>
            </a: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pic>
        <p:nvPicPr>
          <p:cNvPr id="10" name="Image 1" descr="preencoded.png"/>
          <p:cNvPicPr>
            <a:picLocks noChangeAspect="1"/>
          </p:cNvPicPr>
          <p:nvPr/>
        </p:nvPicPr>
        <p:blipFill>
          <a:blip r:embed="rId4"/>
          <a:srcRect t="-5544" b="-5544"/>
          <a:stretch/>
        </p:blipFill>
        <p:spPr>
          <a:xfrm>
            <a:off x="10574122" y="261518"/>
            <a:ext cx="105156" cy="133502"/>
          </a:xfrm>
          <a:prstGeom prst="rect">
            <a:avLst/>
          </a:prstGeom>
        </p:spPr>
      </p:pic>
      <p:sp>
        <p:nvSpPr>
          <p:cNvPr id="11" name="Shape 7"/>
          <p:cNvSpPr/>
          <p:nvPr/>
        </p:nvSpPr>
        <p:spPr>
          <a:xfrm>
            <a:off x="381305" y="857707"/>
            <a:ext cx="11430000" cy="5477256"/>
          </a:xfrm>
          <a:prstGeom prst="roundRect">
            <a:avLst>
              <a:gd name="adj" fmla="val 697"/>
            </a:avLst>
          </a:prstGeom>
          <a:solidFill>
            <a:srgbClr val="FDFDFD"/>
          </a:solidFill>
          <a:ln w="12700">
            <a:solidFill>
              <a:srgbClr val="E0E0E0"/>
            </a:solidFill>
            <a:prstDash val="solid"/>
          </a:ln>
          <a:effectLst>
            <a:outerShdw blurRad="63500" dist="38100" dir="16200000" algn="bl" rotWithShape="0">
              <a:srgbClr val="000000">
                <a:alpha val="5000"/>
              </a:srgbClr>
            </a:outerShdw>
          </a:effectLst>
        </p:spPr>
        <p:txBody>
          <a:bodyPr/>
          <a:lstStyle/>
          <a:p>
            <a:endParaRPr lang="en-US"/>
          </a:p>
        </p:txBody>
      </p:sp>
      <p:sp>
        <p:nvSpPr>
          <p:cNvPr id="12" name="Text 8"/>
          <p:cNvSpPr txBox="1"/>
          <p:nvPr/>
        </p:nvSpPr>
        <p:spPr>
          <a:xfrm>
            <a:off x="838505" y="1086307"/>
            <a:ext cx="7392010" cy="210312"/>
          </a:xfrm>
          <a:prstGeom prst="rect">
            <a:avLst/>
          </a:prstGeom>
          <a:noFill/>
          <a:ln/>
        </p:spPr>
        <p:txBody>
          <a:bodyPr wrap="square" lIns="0" tIns="0" rIns="0" bIns="0" rtlCol="0" anchor="ctr"/>
          <a:lstStyle/>
          <a:p>
            <a:pPr marL="0" indent="0" algn="l">
              <a:buNone/>
            </a:pPr>
            <a:r>
              <a:rPr lang="en-US" sz="1300" b="1" dirty="0">
                <a:solidFill>
                  <a:srgbClr val="808080"/>
                </a:solidFill>
                <a:latin typeface="Montserrat" pitchFamily="34" charset="0"/>
                <a:ea typeface="Montserrat" pitchFamily="34" charset="-122"/>
                <a:cs typeface="Montserrat" pitchFamily="34" charset="-120"/>
              </a:rPr>
              <a:t> 10 hành động ưu tiên - Từ ngày 08/05 đến 22/05/2026</a:t>
            </a:r>
            <a:endParaRPr lang="en-US" sz="1300" dirty="0"/>
          </a:p>
        </p:txBody>
      </p:sp>
      <p:pic>
        <p:nvPicPr>
          <p:cNvPr id="13" name="Image 2" descr="preencoded.png"/>
          <p:cNvPicPr>
            <a:picLocks noChangeAspect="1"/>
          </p:cNvPicPr>
          <p:nvPr/>
        </p:nvPicPr>
        <p:blipFill>
          <a:blip r:embed="rId5"/>
          <a:srcRect l="-1773" r="-1773"/>
          <a:stretch/>
        </p:blipFill>
        <p:spPr>
          <a:xfrm>
            <a:off x="609905" y="1104595"/>
            <a:ext cx="133502" cy="171907"/>
          </a:xfrm>
          <a:prstGeom prst="rect">
            <a:avLst/>
          </a:prstGeom>
        </p:spPr>
      </p:pic>
      <p:sp>
        <p:nvSpPr>
          <p:cNvPr id="14" name="Shape 9"/>
          <p:cNvSpPr/>
          <p:nvPr/>
        </p:nvSpPr>
        <p:spPr>
          <a:xfrm>
            <a:off x="609905" y="1524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15" name="Shape 10"/>
          <p:cNvSpPr/>
          <p:nvPr/>
        </p:nvSpPr>
        <p:spPr>
          <a:xfrm>
            <a:off x="609905" y="1524305"/>
            <a:ext cx="38405" cy="571500"/>
          </a:xfrm>
          <a:prstGeom prst="roundRect">
            <a:avLst>
              <a:gd name="adj" fmla="val 634917"/>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752551" y="1714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D0</a:t>
            </a:r>
            <a:endParaRPr lang="en-US" sz="1000" dirty="0"/>
          </a:p>
        </p:txBody>
      </p:sp>
      <p:sp>
        <p:nvSpPr>
          <p:cNvPr id="17" name="Text 12"/>
          <p:cNvSpPr txBox="1"/>
          <p:nvPr/>
        </p:nvSpPr>
        <p:spPr>
          <a:xfrm>
            <a:off x="1466698" y="1619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1. Phê duyệt PA1 (Đào mở)</a:t>
            </a:r>
            <a:endParaRPr lang="en-US" sz="1000" dirty="0"/>
          </a:p>
        </p:txBody>
      </p:sp>
      <p:sp>
        <p:nvSpPr>
          <p:cNvPr id="18" name="Text 13"/>
          <p:cNvSpPr txBox="1"/>
          <p:nvPr/>
        </p:nvSpPr>
        <p:spPr>
          <a:xfrm>
            <a:off x="1466698" y="1819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Phê duyệt phương án thi công chính thức</a:t>
            </a:r>
            <a:endParaRPr lang="en-US" sz="900" dirty="0"/>
          </a:p>
        </p:txBody>
      </p:sp>
      <p:sp>
        <p:nvSpPr>
          <p:cNvPr id="19" name="Text 14"/>
          <p:cNvSpPr txBox="1"/>
          <p:nvPr/>
        </p:nvSpPr>
        <p:spPr>
          <a:xfrm>
            <a:off x="9334195" y="1695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Board</a:t>
            </a:r>
            <a:endParaRPr lang="en-US" sz="900" dirty="0"/>
          </a:p>
        </p:txBody>
      </p:sp>
      <p:sp>
        <p:nvSpPr>
          <p:cNvPr id="20" name="Shape 15"/>
          <p:cNvSpPr/>
          <p:nvPr/>
        </p:nvSpPr>
        <p:spPr>
          <a:xfrm>
            <a:off x="609905" y="22101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1" name="Shape 16"/>
          <p:cNvSpPr/>
          <p:nvPr/>
        </p:nvSpPr>
        <p:spPr>
          <a:xfrm>
            <a:off x="609905" y="22101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2" name="Text 17"/>
          <p:cNvSpPr txBox="1"/>
          <p:nvPr/>
        </p:nvSpPr>
        <p:spPr>
          <a:xfrm>
            <a:off x="752551" y="24003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D+3</a:t>
            </a:r>
            <a:endParaRPr lang="en-US" sz="1000" dirty="0"/>
          </a:p>
        </p:txBody>
      </p:sp>
      <p:sp>
        <p:nvSpPr>
          <p:cNvPr id="23" name="Text 18"/>
          <p:cNvSpPr txBox="1"/>
          <p:nvPr/>
        </p:nvSpPr>
        <p:spPr>
          <a:xfrm>
            <a:off x="1466698" y="23052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2. Hợp đồng tổ chức sự kiện</a:t>
            </a:r>
            <a:endParaRPr lang="en-US" sz="1000" dirty="0"/>
          </a:p>
        </p:txBody>
      </p:sp>
      <p:sp>
        <p:nvSpPr>
          <p:cNvPr id="24" name="Text 19"/>
          <p:cNvSpPr txBox="1"/>
          <p:nvPr/>
        </p:nvSpPr>
        <p:spPr>
          <a:xfrm>
            <a:off x="1466698" y="25054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Chuẩn bị lễ khởi công 25/5/2026</a:t>
            </a:r>
            <a:endParaRPr lang="en-US" sz="900" dirty="0"/>
          </a:p>
        </p:txBody>
      </p:sp>
      <p:sp>
        <p:nvSpPr>
          <p:cNvPr id="25" name="Text 20"/>
          <p:cNvSpPr txBox="1"/>
          <p:nvPr/>
        </p:nvSpPr>
        <p:spPr>
          <a:xfrm>
            <a:off x="9334195" y="23810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Admin/HSE</a:t>
            </a:r>
            <a:endParaRPr lang="en-US" sz="900" dirty="0"/>
          </a:p>
        </p:txBody>
      </p:sp>
      <p:sp>
        <p:nvSpPr>
          <p:cNvPr id="26" name="Shape 21"/>
          <p:cNvSpPr/>
          <p:nvPr/>
        </p:nvSpPr>
        <p:spPr>
          <a:xfrm>
            <a:off x="609905" y="28959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27" name="Shape 22"/>
          <p:cNvSpPr/>
          <p:nvPr/>
        </p:nvSpPr>
        <p:spPr>
          <a:xfrm>
            <a:off x="609905" y="28959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28" name="Text 23"/>
          <p:cNvSpPr txBox="1"/>
          <p:nvPr/>
        </p:nvSpPr>
        <p:spPr>
          <a:xfrm>
            <a:off x="752551" y="30861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D+4</a:t>
            </a:r>
            <a:endParaRPr lang="en-US" sz="1000" dirty="0"/>
          </a:p>
        </p:txBody>
      </p:sp>
      <p:sp>
        <p:nvSpPr>
          <p:cNvPr id="29" name="Text 24"/>
          <p:cNvSpPr txBox="1"/>
          <p:nvPr/>
        </p:nvSpPr>
        <p:spPr>
          <a:xfrm>
            <a:off x="1466698" y="29910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3. Bơm nước + hàng rào</a:t>
            </a:r>
            <a:endParaRPr lang="en-US" sz="1000" dirty="0"/>
          </a:p>
        </p:txBody>
      </p:sp>
      <p:sp>
        <p:nvSpPr>
          <p:cNvPr id="30" name="Text 25"/>
          <p:cNvSpPr txBox="1"/>
          <p:nvPr/>
        </p:nvSpPr>
        <p:spPr>
          <a:xfrm>
            <a:off x="1466698" y="31912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Thiết lập hệ thống bơm chống ngập</a:t>
            </a:r>
            <a:endParaRPr lang="en-US" sz="900" dirty="0"/>
          </a:p>
        </p:txBody>
      </p:sp>
      <p:sp>
        <p:nvSpPr>
          <p:cNvPr id="31" name="Text 26"/>
          <p:cNvSpPr txBox="1"/>
          <p:nvPr/>
        </p:nvSpPr>
        <p:spPr>
          <a:xfrm>
            <a:off x="9334195" y="30668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Site Manager</a:t>
            </a:r>
            <a:endParaRPr lang="en-US" sz="900" dirty="0"/>
          </a:p>
        </p:txBody>
      </p:sp>
      <p:sp>
        <p:nvSpPr>
          <p:cNvPr id="32" name="Shape 27"/>
          <p:cNvSpPr/>
          <p:nvPr/>
        </p:nvSpPr>
        <p:spPr>
          <a:xfrm>
            <a:off x="609905" y="35817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3" name="Shape 28"/>
          <p:cNvSpPr/>
          <p:nvPr/>
        </p:nvSpPr>
        <p:spPr>
          <a:xfrm>
            <a:off x="609905" y="35817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34" name="Text 29"/>
          <p:cNvSpPr txBox="1"/>
          <p:nvPr/>
        </p:nvSpPr>
        <p:spPr>
          <a:xfrm>
            <a:off x="752551" y="37719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D+5</a:t>
            </a:r>
            <a:endParaRPr lang="en-US" sz="1000" dirty="0"/>
          </a:p>
        </p:txBody>
      </p:sp>
      <p:sp>
        <p:nvSpPr>
          <p:cNvPr id="35" name="Text 30"/>
          <p:cNvSpPr txBox="1"/>
          <p:nvPr/>
        </p:nvSpPr>
        <p:spPr>
          <a:xfrm>
            <a:off x="1466698" y="36768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4. Thỏa thuận đường </a:t>
            </a:r>
            <a:r>
              <a:rPr lang="en-US" sz="1000" b="1" dirty="0" err="1">
                <a:solidFill>
                  <a:srgbClr val="333333"/>
                </a:solidFill>
                <a:latin typeface="Open Sans" pitchFamily="34" charset="0"/>
                <a:ea typeface="Open Sans" pitchFamily="34" charset="-122"/>
                <a:cs typeface="Open Sans" pitchFamily="34" charset="-120"/>
              </a:rPr>
              <a:t>vào</a:t>
            </a:r>
            <a:r>
              <a:rPr lang="en-US" sz="1000" b="1" dirty="0">
                <a:solidFill>
                  <a:srgbClr val="333333"/>
                </a:solidFill>
                <a:latin typeface="Open Sans" pitchFamily="34" charset="0"/>
                <a:ea typeface="Open Sans" pitchFamily="34" charset="-122"/>
                <a:cs typeface="Open Sans" pitchFamily="34" charset="-120"/>
              </a:rPr>
              <a:t> + Chủ ao</a:t>
            </a:r>
            <a:endParaRPr lang="en-US" sz="1000" dirty="0"/>
          </a:p>
        </p:txBody>
      </p:sp>
      <p:sp>
        <p:nvSpPr>
          <p:cNvPr id="36" name="Text 31"/>
          <p:cNvSpPr txBox="1"/>
          <p:nvPr/>
        </p:nvSpPr>
        <p:spPr>
          <a:xfrm>
            <a:off x="1466698" y="38770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Thuê đường độc lập từ Vành Đai 3</a:t>
            </a:r>
            <a:endParaRPr lang="en-US" sz="900" dirty="0"/>
          </a:p>
        </p:txBody>
      </p:sp>
      <p:sp>
        <p:nvSpPr>
          <p:cNvPr id="37" name="Text 32"/>
          <p:cNvSpPr txBox="1"/>
          <p:nvPr/>
        </p:nvSpPr>
        <p:spPr>
          <a:xfrm>
            <a:off x="9334195" y="37526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PM/Legal</a:t>
            </a:r>
            <a:endParaRPr lang="en-US" sz="900" dirty="0"/>
          </a:p>
        </p:txBody>
      </p:sp>
      <p:sp>
        <p:nvSpPr>
          <p:cNvPr id="38" name="Shape 33"/>
          <p:cNvSpPr/>
          <p:nvPr/>
        </p:nvSpPr>
        <p:spPr>
          <a:xfrm>
            <a:off x="609905" y="42675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39" name="Shape 34"/>
          <p:cNvSpPr/>
          <p:nvPr/>
        </p:nvSpPr>
        <p:spPr>
          <a:xfrm>
            <a:off x="609905" y="42675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0" name="Text 35"/>
          <p:cNvSpPr txBox="1"/>
          <p:nvPr/>
        </p:nvSpPr>
        <p:spPr>
          <a:xfrm>
            <a:off x="752551" y="44577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D+7</a:t>
            </a:r>
            <a:endParaRPr lang="en-US" sz="1000" dirty="0"/>
          </a:p>
        </p:txBody>
      </p:sp>
      <p:sp>
        <p:nvSpPr>
          <p:cNvPr id="41" name="Text 36"/>
          <p:cNvSpPr txBox="1"/>
          <p:nvPr/>
        </p:nvSpPr>
        <p:spPr>
          <a:xfrm>
            <a:off x="1466698" y="43626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5. Hợp đồng điện tạm 1600kVA + Bãi tập kết</a:t>
            </a:r>
            <a:endParaRPr lang="en-US" sz="1000" dirty="0"/>
          </a:p>
        </p:txBody>
      </p:sp>
      <p:sp>
        <p:nvSpPr>
          <p:cNvPr id="42" name="Text 37"/>
          <p:cNvSpPr txBox="1"/>
          <p:nvPr/>
        </p:nvSpPr>
        <p:spPr>
          <a:xfrm>
            <a:off x="1466698" y="45628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Triển khai trạm biến áp và bãi tập kết 50m</a:t>
            </a:r>
            <a:endParaRPr lang="en-US" sz="900" dirty="0"/>
          </a:p>
        </p:txBody>
      </p:sp>
      <p:sp>
        <p:nvSpPr>
          <p:cNvPr id="43" name="Text 38"/>
          <p:cNvSpPr txBox="1"/>
          <p:nvPr/>
        </p:nvSpPr>
        <p:spPr>
          <a:xfrm>
            <a:off x="9334195" y="44384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Procurement</a:t>
            </a:r>
            <a:endParaRPr lang="en-US" sz="900" dirty="0"/>
          </a:p>
        </p:txBody>
      </p:sp>
      <p:sp>
        <p:nvSpPr>
          <p:cNvPr id="44" name="Shape 39"/>
          <p:cNvSpPr/>
          <p:nvPr/>
        </p:nvSpPr>
        <p:spPr>
          <a:xfrm>
            <a:off x="609905" y="4953305"/>
            <a:ext cx="10972800"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45" name="Shape 40"/>
          <p:cNvSpPr/>
          <p:nvPr/>
        </p:nvSpPr>
        <p:spPr>
          <a:xfrm>
            <a:off x="609905" y="4953305"/>
            <a:ext cx="38405" cy="571500"/>
          </a:xfrm>
          <a:prstGeom prst="roundRect">
            <a:avLst>
              <a:gd name="adj" fmla="val 634917"/>
            </a:avLst>
          </a:prstGeom>
          <a:solidFill>
            <a:srgbClr val="808080"/>
          </a:solidFill>
          <a:ln w="12700">
            <a:solidFill>
              <a:srgbClr val="808080">
                <a:alpha val="0"/>
              </a:srgbClr>
            </a:solidFill>
            <a:prstDash val="solid"/>
          </a:ln>
        </p:spPr>
        <p:txBody>
          <a:bodyPr/>
          <a:lstStyle/>
          <a:p>
            <a:endParaRPr lang="en-US"/>
          </a:p>
        </p:txBody>
      </p:sp>
      <p:sp>
        <p:nvSpPr>
          <p:cNvPr id="46" name="Text 41"/>
          <p:cNvSpPr txBox="1"/>
          <p:nvPr/>
        </p:nvSpPr>
        <p:spPr>
          <a:xfrm>
            <a:off x="752551" y="5143500"/>
            <a:ext cx="571500" cy="181051"/>
          </a:xfrm>
          <a:prstGeom prst="rect">
            <a:avLst/>
          </a:prstGeom>
          <a:noFill/>
          <a:ln/>
        </p:spPr>
        <p:txBody>
          <a:bodyPr wrap="square" lIns="0" tIns="0" rIns="0" bIns="0" rtlCol="0" anchor="ctr"/>
          <a:lstStyle/>
          <a:p>
            <a:pPr marL="0" indent="0" algn="l">
              <a:buNone/>
            </a:pPr>
            <a:r>
              <a:rPr lang="en-US" sz="1000" b="1" dirty="0">
                <a:solidFill>
                  <a:srgbClr val="F7A81B"/>
                </a:solidFill>
                <a:latin typeface="Open Sans" pitchFamily="34" charset="0"/>
                <a:ea typeface="Open Sans" pitchFamily="34" charset="-122"/>
                <a:cs typeface="Open Sans" pitchFamily="34" charset="-120"/>
              </a:rPr>
              <a:t>D+10</a:t>
            </a:r>
            <a:endParaRPr lang="en-US" sz="1000" dirty="0"/>
          </a:p>
        </p:txBody>
      </p:sp>
      <p:sp>
        <p:nvSpPr>
          <p:cNvPr id="47" name="Text 42"/>
          <p:cNvSpPr txBox="1"/>
          <p:nvPr/>
        </p:nvSpPr>
        <p:spPr>
          <a:xfrm>
            <a:off x="1466698" y="5048402"/>
            <a:ext cx="7620610" cy="181051"/>
          </a:xfrm>
          <a:prstGeom prst="rect">
            <a:avLst/>
          </a:prstGeom>
          <a:noFill/>
          <a:ln/>
        </p:spPr>
        <p:txBody>
          <a:bodyPr wrap="square" lIns="0" tIns="0" rIns="0" bIns="0" rtlCol="0" anchor="ctr"/>
          <a:lstStyle/>
          <a:p>
            <a:pPr marL="0" indent="0" algn="l">
              <a:buNone/>
            </a:pPr>
            <a:r>
              <a:rPr lang="en-US" sz="1000" b="1" dirty="0">
                <a:solidFill>
                  <a:srgbClr val="333333"/>
                </a:solidFill>
                <a:latin typeface="Open Sans" pitchFamily="34" charset="0"/>
                <a:ea typeface="Open Sans" pitchFamily="34" charset="-122"/>
                <a:cs typeface="Open Sans" pitchFamily="34" charset="-120"/>
              </a:rPr>
              <a:t>6. Thành lập ECC + Mua ván khuôn/thiết bị</a:t>
            </a:r>
            <a:endParaRPr lang="en-US" sz="1000" dirty="0"/>
          </a:p>
        </p:txBody>
      </p:sp>
      <p:sp>
        <p:nvSpPr>
          <p:cNvPr id="48" name="Text 43"/>
          <p:cNvSpPr txBox="1"/>
          <p:nvPr/>
        </p:nvSpPr>
        <p:spPr>
          <a:xfrm>
            <a:off x="1466698" y="5248656"/>
            <a:ext cx="7620610" cy="162763"/>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Thành lập công ty thi công và mua sắm thiết bị</a:t>
            </a:r>
            <a:endParaRPr lang="en-US" sz="900" dirty="0"/>
          </a:p>
        </p:txBody>
      </p:sp>
      <p:sp>
        <p:nvSpPr>
          <p:cNvPr id="49" name="Text 44"/>
          <p:cNvSpPr txBox="1"/>
          <p:nvPr/>
        </p:nvSpPr>
        <p:spPr>
          <a:xfrm>
            <a:off x="9334195" y="5124298"/>
            <a:ext cx="2095805" cy="200254"/>
          </a:xfrm>
          <a:prstGeom prst="rect">
            <a:avLst/>
          </a:prstGeom>
          <a:noFill/>
          <a:ln/>
        </p:spPr>
        <p:txBody>
          <a:bodyPr wrap="square" lIns="0" tIns="0" rIns="0" bIns="0" rtlCol="0" anchor="ctr"/>
          <a:lstStyle/>
          <a:p>
            <a:pPr marL="0" indent="0" algn="l">
              <a:buNone/>
            </a:pPr>
            <a:r>
              <a:rPr lang="en-US" sz="800" b="1" dirty="0">
                <a:solidFill>
                  <a:srgbClr val="F7A81B"/>
                </a:solidFill>
                <a:latin typeface="Open Sans" pitchFamily="34" charset="0"/>
                <a:ea typeface="Open Sans" pitchFamily="34" charset="-122"/>
                <a:cs typeface="Open Sans" pitchFamily="34" charset="-120"/>
              </a:rPr>
              <a:t>CEO/HR</a:t>
            </a:r>
            <a:endParaRPr lang="en-US" sz="900" dirty="0"/>
          </a:p>
        </p:txBody>
      </p:sp>
      <p:sp>
        <p:nvSpPr>
          <p:cNvPr id="50" name="Shape 45"/>
          <p:cNvSpPr/>
          <p:nvPr/>
        </p:nvSpPr>
        <p:spPr>
          <a:xfrm>
            <a:off x="609905"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1" name="Text 46"/>
          <p:cNvSpPr txBox="1"/>
          <p:nvPr/>
        </p:nvSpPr>
        <p:spPr>
          <a:xfrm>
            <a:off x="609905"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14</a:t>
            </a:r>
            <a:endParaRPr lang="en-US" sz="1800" dirty="0"/>
          </a:p>
        </p:txBody>
      </p:sp>
      <p:sp>
        <p:nvSpPr>
          <p:cNvPr id="52" name="Text 47"/>
          <p:cNvSpPr txBox="1"/>
          <p:nvPr/>
        </p:nvSpPr>
        <p:spPr>
          <a:xfrm>
            <a:off x="609905"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Ngày còn lại</a:t>
            </a:r>
            <a:endParaRPr lang="en-US" sz="800" dirty="0"/>
          </a:p>
        </p:txBody>
      </p:sp>
      <p:sp>
        <p:nvSpPr>
          <p:cNvPr id="53" name="Shape 48"/>
          <p:cNvSpPr/>
          <p:nvPr/>
        </p:nvSpPr>
        <p:spPr>
          <a:xfrm>
            <a:off x="2829154"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4" name="Text 49"/>
          <p:cNvSpPr txBox="1"/>
          <p:nvPr/>
        </p:nvSpPr>
        <p:spPr>
          <a:xfrm>
            <a:off x="2829154"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10</a:t>
            </a:r>
            <a:endParaRPr lang="en-US" sz="1800" dirty="0"/>
          </a:p>
        </p:txBody>
      </p:sp>
      <p:sp>
        <p:nvSpPr>
          <p:cNvPr id="55" name="Text 50"/>
          <p:cNvSpPr txBox="1"/>
          <p:nvPr/>
        </p:nvSpPr>
        <p:spPr>
          <a:xfrm>
            <a:off x="2829154"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Hành động</a:t>
            </a:r>
            <a:endParaRPr lang="en-US" sz="800" dirty="0"/>
          </a:p>
        </p:txBody>
      </p:sp>
      <p:sp>
        <p:nvSpPr>
          <p:cNvPr id="56" name="Shape 51"/>
          <p:cNvSpPr/>
          <p:nvPr/>
        </p:nvSpPr>
        <p:spPr>
          <a:xfrm>
            <a:off x="5048402"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57" name="Text 52"/>
          <p:cNvSpPr txBox="1"/>
          <p:nvPr/>
        </p:nvSpPr>
        <p:spPr>
          <a:xfrm>
            <a:off x="5048402"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8</a:t>
            </a:r>
            <a:endParaRPr lang="en-US" sz="1800" dirty="0"/>
          </a:p>
        </p:txBody>
      </p:sp>
      <p:sp>
        <p:nvSpPr>
          <p:cNvPr id="58" name="Text 53"/>
          <p:cNvSpPr txBox="1"/>
          <p:nvPr/>
        </p:nvSpPr>
        <p:spPr>
          <a:xfrm>
            <a:off x="5048402"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Đơn vị</a:t>
            </a:r>
            <a:endParaRPr lang="en-US" sz="800" dirty="0"/>
          </a:p>
        </p:txBody>
      </p:sp>
      <p:sp>
        <p:nvSpPr>
          <p:cNvPr id="59" name="Shape 54"/>
          <p:cNvSpPr/>
          <p:nvPr/>
        </p:nvSpPr>
        <p:spPr>
          <a:xfrm>
            <a:off x="7267651"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0" name="Text 55"/>
          <p:cNvSpPr txBox="1"/>
          <p:nvPr/>
        </p:nvSpPr>
        <p:spPr>
          <a:xfrm>
            <a:off x="7267651"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3</a:t>
            </a:r>
            <a:endParaRPr lang="en-US" sz="1800" dirty="0"/>
          </a:p>
        </p:txBody>
      </p:sp>
      <p:sp>
        <p:nvSpPr>
          <p:cNvPr id="61" name="Text 56"/>
          <p:cNvSpPr txBox="1"/>
          <p:nvPr/>
        </p:nvSpPr>
        <p:spPr>
          <a:xfrm>
            <a:off x="7267651"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Rủi ro cao</a:t>
            </a:r>
            <a:endParaRPr lang="en-US" sz="800" dirty="0"/>
          </a:p>
        </p:txBody>
      </p:sp>
      <p:sp>
        <p:nvSpPr>
          <p:cNvPr id="62" name="Shape 57"/>
          <p:cNvSpPr/>
          <p:nvPr/>
        </p:nvSpPr>
        <p:spPr>
          <a:xfrm>
            <a:off x="9486900" y="5619902"/>
            <a:ext cx="2076602" cy="571500"/>
          </a:xfrm>
          <a:prstGeom prst="roundRect">
            <a:avLst>
              <a:gd name="adj" fmla="val 42667"/>
            </a:avLst>
          </a:prstGeom>
          <a:solidFill>
            <a:srgbClr val="FFFFFF"/>
          </a:solidFill>
          <a:ln w="12700">
            <a:solidFill>
              <a:srgbClr val="F0F0F0"/>
            </a:solidFill>
            <a:prstDash val="solid"/>
          </a:ln>
        </p:spPr>
        <p:txBody>
          <a:bodyPr/>
          <a:lstStyle/>
          <a:p>
            <a:endParaRPr lang="en-US"/>
          </a:p>
        </p:txBody>
      </p:sp>
      <p:sp>
        <p:nvSpPr>
          <p:cNvPr id="63" name="Text 58"/>
          <p:cNvSpPr txBox="1"/>
          <p:nvPr/>
        </p:nvSpPr>
        <p:spPr>
          <a:xfrm>
            <a:off x="9486900" y="5667451"/>
            <a:ext cx="2076602" cy="314554"/>
          </a:xfrm>
          <a:prstGeom prst="rect">
            <a:avLst/>
          </a:prstGeom>
          <a:noFill/>
          <a:ln/>
        </p:spPr>
        <p:txBody>
          <a:bodyPr wrap="square" lIns="0" tIns="0" rIns="0" bIns="0" rtlCol="0" anchor="ctr"/>
          <a:lstStyle/>
          <a:p>
            <a:pPr marL="0" indent="0" algn="ctr">
              <a:buNone/>
            </a:pPr>
            <a:r>
              <a:rPr lang="en-US" sz="1800" b="1" dirty="0">
                <a:solidFill>
                  <a:srgbClr val="F7A81B"/>
                </a:solidFill>
                <a:latin typeface="Open Sans" pitchFamily="34" charset="0"/>
                <a:ea typeface="Open Sans" pitchFamily="34" charset="-122"/>
                <a:cs typeface="Open Sans" pitchFamily="34" charset="-120"/>
              </a:rPr>
              <a:t>25/5</a:t>
            </a:r>
            <a:endParaRPr lang="en-US" sz="1800" dirty="0"/>
          </a:p>
        </p:txBody>
      </p:sp>
      <p:sp>
        <p:nvSpPr>
          <p:cNvPr id="64" name="Text 59"/>
          <p:cNvSpPr txBox="1"/>
          <p:nvPr/>
        </p:nvSpPr>
        <p:spPr>
          <a:xfrm>
            <a:off x="9486900" y="5982005"/>
            <a:ext cx="2076602" cy="143561"/>
          </a:xfrm>
          <a:prstGeom prst="rect">
            <a:avLst/>
          </a:prstGeom>
          <a:noFill/>
          <a:ln/>
        </p:spPr>
        <p:txBody>
          <a:bodyPr wrap="square" lIns="0" tIns="0" rIns="0" bIns="0" rtlCol="0" anchor="ctr"/>
          <a:lstStyle/>
          <a:p>
            <a:pPr marL="0" indent="0" algn="ctr">
              <a:buNone/>
            </a:pPr>
            <a:r>
              <a:rPr lang="en-US" sz="800" dirty="0">
                <a:solidFill>
                  <a:srgbClr val="808080"/>
                </a:solidFill>
                <a:latin typeface="Open Sans" pitchFamily="34" charset="0"/>
                <a:ea typeface="Open Sans" pitchFamily="34" charset="-122"/>
                <a:cs typeface="Open Sans" pitchFamily="34" charset="-120"/>
              </a:rPr>
              <a:t>Khởi công</a:t>
            </a:r>
            <a:endParaRPr lang="en-US" sz="800" dirty="0"/>
          </a:p>
        </p:txBody>
      </p:sp>
      <p:sp>
        <p:nvSpPr>
          <p:cNvPr id="65" name="Text 60"/>
          <p:cNvSpPr txBox="1"/>
          <p:nvPr/>
        </p:nvSpPr>
        <p:spPr>
          <a:xfrm>
            <a:off x="571500" y="6524244"/>
            <a:ext cx="3620110"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 Báo cáo trình Hội đồng Chủ đầu tư</a:t>
            </a:r>
            <a:endParaRPr lang="en-US" sz="900" dirty="0"/>
          </a:p>
        </p:txBody>
      </p:sp>
      <p:pic>
        <p:nvPicPr>
          <p:cNvPr id="66" name="Image 3" descr="preencoded.png"/>
          <p:cNvPicPr>
            <a:picLocks noChangeAspect="1"/>
          </p:cNvPicPr>
          <p:nvPr/>
        </p:nvPicPr>
        <p:blipFill>
          <a:blip r:embed="rId6"/>
          <a:srcRect l="-1358" r="-1358"/>
          <a:stretch/>
        </p:blipFill>
        <p:spPr>
          <a:xfrm>
            <a:off x="381305" y="6548018"/>
            <a:ext cx="95098" cy="123444"/>
          </a:xfrm>
          <a:prstGeom prst="rect">
            <a:avLst/>
          </a:prstGeom>
        </p:spPr>
      </p:pic>
      <p:sp>
        <p:nvSpPr>
          <p:cNvPr id="67" name="Text 61"/>
          <p:cNvSpPr txBox="1"/>
          <p:nvPr/>
        </p:nvSpPr>
        <p:spPr>
          <a:xfrm>
            <a:off x="9905695" y="6476695"/>
            <a:ext cx="1905610" cy="381305"/>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11/12</a:t>
            </a:r>
            <a:r>
              <a:rPr lang="en-US" sz="800" b="1" dirty="0">
                <a:solidFill>
                  <a:srgbClr val="F7A81B"/>
                </a:solidFill>
                <a:latin typeface="Open Sans" pitchFamily="34" charset="0"/>
                <a:ea typeface="Open Sans" pitchFamily="34" charset="-122"/>
                <a:cs typeface="Open Sans" pitchFamily="34" charset="-120"/>
              </a:rPr>
              <a:t>Đang cập nhật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0"/>
            <a:ext cx="12191695" cy="666598"/>
          </a:xfrm>
          <a:prstGeom prst="rect">
            <a:avLst/>
          </a:prstGeom>
          <a:solidFill>
            <a:srgbClr val="FFFFFF"/>
          </a:solidFill>
          <a:ln/>
        </p:spPr>
        <p:txBody>
          <a:bodyPr/>
          <a:lstStyle/>
          <a:p>
            <a:endParaRPr lang="en-US"/>
          </a:p>
        </p:txBody>
      </p:sp>
      <p:sp>
        <p:nvSpPr>
          <p:cNvPr id="5" name="Shape 3"/>
          <p:cNvSpPr/>
          <p:nvPr/>
        </p:nvSpPr>
        <p:spPr>
          <a:xfrm>
            <a:off x="0" y="647395"/>
            <a:ext cx="12191695" cy="19202"/>
          </a:xfrm>
          <a:prstGeom prst="rect">
            <a:avLst/>
          </a:prstGeom>
          <a:solidFill>
            <a:srgbClr val="F0F0F0"/>
          </a:solidFill>
          <a:ln w="12700">
            <a:solidFill>
              <a:srgbClr val="F0F0F0">
                <a:alpha val="0"/>
              </a:srgbClr>
            </a:solidFill>
            <a:prstDash val="solid"/>
          </a:ln>
        </p:spPr>
        <p:txBody>
          <a:bodyPr/>
          <a:lstStyle/>
          <a:p>
            <a:endParaRPr lang="en-US"/>
          </a:p>
        </p:txBody>
      </p:sp>
      <p:sp>
        <p:nvSpPr>
          <p:cNvPr id="6" name="Shape 4"/>
          <p:cNvSpPr/>
          <p:nvPr/>
        </p:nvSpPr>
        <p:spPr>
          <a:xfrm>
            <a:off x="381305" y="133502"/>
            <a:ext cx="381305" cy="381305"/>
          </a:xfrm>
          <a:prstGeom prst="roundRect">
            <a:avLst>
              <a:gd name="adj" fmla="val 95923"/>
            </a:avLst>
          </a:prstGeom>
          <a:solidFill>
            <a:srgbClr val="F7A81B">
              <a:alpha val="10000"/>
            </a:srgbClr>
          </a:solidFill>
          <a:ln w="12700">
            <a:solidFill>
              <a:srgbClr val="FFFFFF">
                <a:alpha val="0"/>
              </a:srgbClr>
            </a:solidFill>
            <a:prstDash val="solid"/>
          </a:ln>
        </p:spPr>
        <p:txBody>
          <a:bodyPr/>
          <a:lstStyle/>
          <a:p>
            <a:endParaRPr lang="en-US"/>
          </a:p>
        </p:txBody>
      </p:sp>
      <p:pic>
        <p:nvPicPr>
          <p:cNvPr id="7" name="Image 0" descr="preencoded.png"/>
          <p:cNvPicPr>
            <a:picLocks noChangeAspect="1"/>
          </p:cNvPicPr>
          <p:nvPr/>
        </p:nvPicPr>
        <p:blipFill>
          <a:blip r:embed="rId3"/>
          <a:srcRect t="-12275" b="-12275"/>
          <a:stretch/>
        </p:blipFill>
        <p:spPr>
          <a:xfrm>
            <a:off x="495605" y="228600"/>
            <a:ext cx="152705" cy="190195"/>
          </a:xfrm>
          <a:prstGeom prst="rect">
            <a:avLst/>
          </a:prstGeom>
        </p:spPr>
      </p:pic>
      <p:sp>
        <p:nvSpPr>
          <p:cNvPr id="8" name="Text 5"/>
          <p:cNvSpPr txBox="1"/>
          <p:nvPr/>
        </p:nvSpPr>
        <p:spPr>
          <a:xfrm>
            <a:off x="905256" y="185623"/>
            <a:ext cx="2886761" cy="277063"/>
          </a:xfrm>
          <a:prstGeom prst="rect">
            <a:avLst/>
          </a:prstGeom>
          <a:noFill/>
          <a:ln/>
        </p:spPr>
        <p:txBody>
          <a:bodyPr wrap="square" lIns="0" tIns="0" rIns="0" bIns="0" rtlCol="0" anchor="ctr"/>
          <a:lstStyle/>
          <a:p>
            <a:pPr marL="0" indent="0" algn="l">
              <a:buNone/>
            </a:pPr>
            <a:r>
              <a:rPr lang="en-US" sz="1800" b="1" dirty="0">
                <a:solidFill>
                  <a:srgbClr val="808080"/>
                </a:solidFill>
                <a:latin typeface="Montserrat" pitchFamily="34" charset="0"/>
                <a:ea typeface="Montserrat" pitchFamily="34" charset="-122"/>
                <a:cs typeface="Montserrat" pitchFamily="34" charset="-120"/>
              </a:rPr>
              <a:t>KẾT LUẬN &amp; PHÊ DUYỆT</a:t>
            </a:r>
            <a:endParaRPr lang="en-US" sz="1800" dirty="0"/>
          </a:p>
        </p:txBody>
      </p:sp>
      <p:pic>
        <p:nvPicPr>
          <p:cNvPr id="9" name="Image 1" descr="preencoded.png"/>
          <p:cNvPicPr>
            <a:picLocks noChangeAspect="1"/>
          </p:cNvPicPr>
          <p:nvPr/>
        </p:nvPicPr>
        <p:blipFill>
          <a:blip r:embed="rId4"/>
          <a:srcRect t="-5544" b="-5544"/>
          <a:stretch/>
        </p:blipFill>
        <p:spPr>
          <a:xfrm>
            <a:off x="10554919" y="256946"/>
            <a:ext cx="105156" cy="133502"/>
          </a:xfrm>
          <a:prstGeom prst="rect">
            <a:avLst/>
          </a:prstGeom>
        </p:spPr>
      </p:pic>
      <p:sp>
        <p:nvSpPr>
          <p:cNvPr id="10" name="Text 6"/>
          <p:cNvSpPr txBox="1"/>
          <p:nvPr/>
        </p:nvSpPr>
        <p:spPr>
          <a:xfrm>
            <a:off x="10755173" y="233172"/>
            <a:ext cx="1358798" cy="181051"/>
          </a:xfrm>
          <a:prstGeom prst="rect">
            <a:avLst/>
          </a:prstGeom>
          <a:noFill/>
          <a:ln/>
        </p:spPr>
        <p:txBody>
          <a:bodyPr wrap="square" lIns="0" tIns="0" rIns="0" bIns="0" rtlCol="0" anchor="ctr"/>
          <a:lstStyle/>
          <a:p>
            <a:pPr marL="0" indent="0" algn="l">
              <a:buNone/>
            </a:pPr>
            <a:r>
              <a:rPr lang="en-US" sz="1000" dirty="0" err="1">
                <a:solidFill>
                  <a:srgbClr val="808080"/>
                </a:solidFill>
                <a:latin typeface="Open Sans" pitchFamily="34" charset="0"/>
                <a:ea typeface="Open Sans" pitchFamily="34" charset="-122"/>
                <a:cs typeface="Open Sans" pitchFamily="34" charset="-120"/>
              </a:rPr>
              <a:t>Ngày</a:t>
            </a:r>
            <a:r>
              <a:rPr lang="en-US" sz="1000" dirty="0">
                <a:solidFill>
                  <a:srgbClr val="808080"/>
                </a:solidFill>
                <a:latin typeface="Open Sans" pitchFamily="34" charset="0"/>
                <a:ea typeface="Open Sans" pitchFamily="34" charset="-122"/>
                <a:cs typeface="Open Sans" pitchFamily="34" charset="-120"/>
              </a:rPr>
              <a:t> 13/05/2026</a:t>
            </a:r>
            <a:endParaRPr lang="en-US" sz="1000" dirty="0"/>
          </a:p>
        </p:txBody>
      </p:sp>
      <p:sp>
        <p:nvSpPr>
          <p:cNvPr id="11" name="Shape 7"/>
          <p:cNvSpPr/>
          <p:nvPr/>
        </p:nvSpPr>
        <p:spPr>
          <a:xfrm>
            <a:off x="381305" y="905256"/>
            <a:ext cx="11430000" cy="5477256"/>
          </a:xfrm>
          <a:prstGeom prst="roundRect">
            <a:avLst>
              <a:gd name="adj" fmla="val 697"/>
            </a:avLst>
          </a:prstGeom>
          <a:solidFill>
            <a:srgbClr val="FFFFFF"/>
          </a:solidFill>
          <a:ln w="12700">
            <a:solidFill>
              <a:srgbClr val="E0E0E0"/>
            </a:solidFill>
            <a:prstDash val="solid"/>
          </a:ln>
          <a:effectLst>
            <a:outerShdw blurRad="139700" dist="38100" dir="16200000" algn="bl" rotWithShape="0">
              <a:srgbClr val="000000">
                <a:alpha val="5000"/>
              </a:srgbClr>
            </a:outerShdw>
          </a:effectLst>
        </p:spPr>
        <p:txBody>
          <a:bodyPr/>
          <a:lstStyle/>
          <a:p>
            <a:endParaRPr lang="en-US"/>
          </a:p>
        </p:txBody>
      </p:sp>
      <p:sp>
        <p:nvSpPr>
          <p:cNvPr id="12" name="Text 8"/>
          <p:cNvSpPr txBox="1"/>
          <p:nvPr/>
        </p:nvSpPr>
        <p:spPr>
          <a:xfrm>
            <a:off x="810158" y="1181405"/>
            <a:ext cx="4839005" cy="228600"/>
          </a:xfrm>
          <a:prstGeom prst="rect">
            <a:avLst/>
          </a:prstGeom>
          <a:noFill/>
          <a:ln/>
        </p:spPr>
        <p:txBody>
          <a:bodyPr wrap="square" lIns="0" tIns="0" rIns="0" bIns="0" rtlCol="0" anchor="ctr"/>
          <a:lstStyle/>
          <a:p>
            <a:pPr marL="0" indent="0" algn="l">
              <a:buNone/>
            </a:pPr>
            <a:r>
              <a:rPr lang="en-US" sz="1500" b="1" dirty="0">
                <a:solidFill>
                  <a:srgbClr val="808080"/>
                </a:solidFill>
                <a:latin typeface="Montserrat" pitchFamily="34" charset="0"/>
                <a:ea typeface="Montserrat" pitchFamily="34" charset="-122"/>
                <a:cs typeface="Montserrat" pitchFamily="34" charset="-120"/>
              </a:rPr>
              <a:t>Kết luận &amp; Phê duyệt - Dự án NOXH Yên Sở</a:t>
            </a:r>
            <a:endParaRPr lang="en-US" sz="1500" dirty="0"/>
          </a:p>
        </p:txBody>
      </p:sp>
      <p:pic>
        <p:nvPicPr>
          <p:cNvPr id="13" name="Image 2" descr="preencoded.png"/>
          <p:cNvPicPr>
            <a:picLocks noChangeAspect="1"/>
          </p:cNvPicPr>
          <p:nvPr/>
        </p:nvPicPr>
        <p:blipFill>
          <a:blip r:embed="rId5"/>
          <a:srcRect l="-1773" r="-1773"/>
          <a:stretch/>
        </p:blipFill>
        <p:spPr>
          <a:xfrm>
            <a:off x="676656" y="1214323"/>
            <a:ext cx="133502" cy="171907"/>
          </a:xfrm>
          <a:prstGeom prst="rect">
            <a:avLst/>
          </a:prstGeom>
        </p:spPr>
      </p:pic>
      <p:sp>
        <p:nvSpPr>
          <p:cNvPr id="14" name="Shape 9"/>
          <p:cNvSpPr/>
          <p:nvPr/>
        </p:nvSpPr>
        <p:spPr>
          <a:xfrm>
            <a:off x="676656" y="1676095"/>
            <a:ext cx="4953305" cy="2048256"/>
          </a:xfrm>
          <a:prstGeom prst="roundRect">
            <a:avLst>
              <a:gd name="adj" fmla="val 4153"/>
            </a:avLst>
          </a:prstGeom>
          <a:solidFill>
            <a:srgbClr val="F9F9F9"/>
          </a:solidFill>
          <a:ln w="12700">
            <a:solidFill>
              <a:srgbClr val="E0E0E0"/>
            </a:solidFill>
            <a:prstDash val="solid"/>
          </a:ln>
        </p:spPr>
        <p:txBody>
          <a:bodyPr/>
          <a:lstStyle/>
          <a:p>
            <a:endParaRPr lang="en-US"/>
          </a:p>
        </p:txBody>
      </p:sp>
      <p:sp>
        <p:nvSpPr>
          <p:cNvPr id="15" name="Shape 10"/>
          <p:cNvSpPr/>
          <p:nvPr/>
        </p:nvSpPr>
        <p:spPr>
          <a:xfrm>
            <a:off x="676656" y="1676095"/>
            <a:ext cx="38405" cy="2048256"/>
          </a:xfrm>
          <a:prstGeom prst="roundRect">
            <a:avLst>
              <a:gd name="adj" fmla="val 221483"/>
            </a:avLst>
          </a:prstGeom>
          <a:solidFill>
            <a:srgbClr val="F7A81B"/>
          </a:solidFill>
          <a:ln w="12700">
            <a:solidFill>
              <a:srgbClr val="F7A81B">
                <a:alpha val="0"/>
              </a:srgbClr>
            </a:solidFill>
            <a:prstDash val="solid"/>
          </a:ln>
        </p:spPr>
        <p:txBody>
          <a:bodyPr/>
          <a:lstStyle/>
          <a:p>
            <a:endParaRPr lang="en-US"/>
          </a:p>
        </p:txBody>
      </p:sp>
      <p:sp>
        <p:nvSpPr>
          <p:cNvPr id="16" name="Text 11"/>
          <p:cNvSpPr txBox="1"/>
          <p:nvPr/>
        </p:nvSpPr>
        <p:spPr>
          <a:xfrm>
            <a:off x="1028700" y="1895551"/>
            <a:ext cx="8476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KẾT LUẬN</a:t>
            </a:r>
            <a:endParaRPr lang="en-US" sz="1200" dirty="0"/>
          </a:p>
        </p:txBody>
      </p:sp>
      <p:pic>
        <p:nvPicPr>
          <p:cNvPr id="17" name="Image 3" descr="preencoded.png"/>
          <p:cNvPicPr>
            <a:picLocks noChangeAspect="1"/>
          </p:cNvPicPr>
          <p:nvPr/>
        </p:nvPicPr>
        <p:blipFill>
          <a:blip r:embed="rId6"/>
          <a:srcRect t="-13478" b="-13478"/>
          <a:stretch/>
        </p:blipFill>
        <p:spPr>
          <a:xfrm>
            <a:off x="923544" y="1923898"/>
            <a:ext cx="105156" cy="133502"/>
          </a:xfrm>
          <a:prstGeom prst="rect">
            <a:avLst/>
          </a:prstGeom>
        </p:spPr>
      </p:pic>
      <p:sp>
        <p:nvSpPr>
          <p:cNvPr id="18" name="Text 12"/>
          <p:cNvSpPr txBox="1"/>
          <p:nvPr/>
        </p:nvSpPr>
        <p:spPr>
          <a:xfrm>
            <a:off x="923544" y="2190902"/>
            <a:ext cx="4486961" cy="228600"/>
          </a:xfrm>
          <a:prstGeom prst="rect">
            <a:avLst/>
          </a:prstGeom>
          <a:noFill/>
          <a:ln/>
        </p:spPr>
        <p:txBody>
          <a:bodyPr wrap="square" lIns="0" tIns="0" rIns="0" bIns="0" rtlCol="0" anchor="ctr"/>
          <a:lstStyle/>
          <a:p>
            <a:pPr marL="0" indent="0" algn="l">
              <a:buNone/>
            </a:pPr>
            <a:r>
              <a:rPr lang="en-US" sz="1300" b="1" dirty="0">
                <a:solidFill>
                  <a:srgbClr val="F7A81B"/>
                </a:solidFill>
                <a:latin typeface="Open Sans" pitchFamily="34" charset="0"/>
                <a:ea typeface="Open Sans" pitchFamily="34" charset="-122"/>
                <a:cs typeface="Open Sans" pitchFamily="34" charset="-120"/>
              </a:rPr>
              <a:t>Dự án khả thi về tài chính</a:t>
            </a:r>
            <a:endParaRPr lang="en-US" sz="1300" dirty="0"/>
          </a:p>
        </p:txBody>
      </p:sp>
      <p:sp>
        <p:nvSpPr>
          <p:cNvPr id="19" name="Text 13"/>
          <p:cNvSpPr txBox="1"/>
          <p:nvPr/>
        </p:nvSpPr>
        <p:spPr>
          <a:xfrm>
            <a:off x="923544" y="2514600"/>
            <a:ext cx="4486961" cy="914400"/>
          </a:xfrm>
          <a:prstGeom prst="rect">
            <a:avLst/>
          </a:prstGeom>
          <a:noFill/>
          <a:ln/>
        </p:spPr>
        <p:txBody>
          <a:bodyPr wrap="square" lIns="0" tIns="0" rIns="0" bIns="0" rtlCol="0" anchor="ctr"/>
          <a:lstStyle/>
          <a:p>
            <a:pPr marL="0" indent="0" algn="l">
              <a:buNone/>
            </a:pPr>
            <a:r>
              <a:rPr lang="en-US" sz="1100" dirty="0">
                <a:solidFill>
                  <a:srgbClr val="555555"/>
                </a:solidFill>
                <a:latin typeface="Open Sans" pitchFamily="34" charset="0"/>
                <a:ea typeface="Open Sans" pitchFamily="34" charset="-122"/>
                <a:cs typeface="Open Sans" pitchFamily="34" charset="-120"/>
              </a:rPr>
              <a:t>• Lợi nhuận: </a:t>
            </a:r>
            <a:r>
              <a:rPr lang="en-US" sz="1100" b="1" dirty="0">
                <a:solidFill>
                  <a:srgbClr val="F7A81B"/>
                </a:solidFill>
                <a:latin typeface="Open Sans" pitchFamily="34" charset="0"/>
                <a:ea typeface="Open Sans" pitchFamily="34" charset="-122"/>
                <a:cs typeface="Open Sans" pitchFamily="34" charset="-120"/>
              </a:rPr>
              <a:t>47.14 tỷ</a:t>
            </a:r>
            <a:r>
              <a:rPr lang="en-US" sz="1100" dirty="0">
                <a:solidFill>
                  <a:srgbClr val="555555"/>
                </a:solidFill>
                <a:latin typeface="Open Sans" pitchFamily="34" charset="0"/>
                <a:ea typeface="Open Sans" pitchFamily="34" charset="-122"/>
                <a:cs typeface="Open Sans" pitchFamily="34" charset="-120"/>
              </a:rPr>
              <a:t> (tỷ </a:t>
            </a:r>
            <a:r>
              <a:rPr lang="en-US" sz="1100" dirty="0" err="1">
                <a:solidFill>
                  <a:srgbClr val="555555"/>
                </a:solidFill>
                <a:latin typeface="Open Sans" pitchFamily="34" charset="0"/>
                <a:ea typeface="Open Sans" pitchFamily="34" charset="-122"/>
                <a:cs typeface="Open Sans" pitchFamily="34" charset="-120"/>
              </a:rPr>
              <a:t>suất</a:t>
            </a:r>
            <a:r>
              <a:rPr lang="en-US" sz="1100" dirty="0">
                <a:solidFill>
                  <a:srgbClr val="555555"/>
                </a:solidFill>
                <a:latin typeface="Open Sans" pitchFamily="34" charset="0"/>
                <a:ea typeface="Open Sans" pitchFamily="34" charset="-122"/>
                <a:cs typeface="Open Sans" pitchFamily="34" charset="-120"/>
              </a:rPr>
              <a:t> </a:t>
            </a:r>
            <a:r>
              <a:rPr lang="en-US" sz="1100" b="1" dirty="0">
                <a:solidFill>
                  <a:srgbClr val="555555"/>
                </a:solidFill>
                <a:latin typeface="Open Sans" pitchFamily="34" charset="0"/>
                <a:ea typeface="Open Sans" pitchFamily="34" charset="-122"/>
                <a:cs typeface="Open Sans" pitchFamily="34" charset="-120"/>
              </a:rPr>
              <a:t>10%</a:t>
            </a:r>
            <a:r>
              <a:rPr lang="en-US" sz="1100" dirty="0">
                <a:solidFill>
                  <a:srgbClr val="555555"/>
                </a:solidFill>
                <a:latin typeface="Open Sans" pitchFamily="34" charset="0"/>
                <a:ea typeface="Open Sans" pitchFamily="34" charset="-122"/>
                <a:cs typeface="Open Sans" pitchFamily="34" charset="-120"/>
              </a:rPr>
              <a:t>)</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Vốn lưu động tối đa: </a:t>
            </a:r>
            <a:r>
              <a:rPr lang="en-US" sz="1100" b="1" dirty="0">
                <a:solidFill>
                  <a:srgbClr val="555555"/>
                </a:solidFill>
                <a:latin typeface="Open Sans" pitchFamily="34" charset="0"/>
                <a:ea typeface="Open Sans" pitchFamily="34" charset="-122"/>
                <a:cs typeface="Open Sans" pitchFamily="34" charset="-120"/>
              </a:rPr>
              <a:t>17.71 tỷ</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Chọn </a:t>
            </a:r>
            <a:r>
              <a:rPr lang="en-US" sz="1100" b="1" dirty="0">
                <a:solidFill>
                  <a:srgbClr val="F7A81B"/>
                </a:solidFill>
                <a:latin typeface="Open Sans" pitchFamily="34" charset="0"/>
                <a:ea typeface="Open Sans" pitchFamily="34" charset="-122"/>
                <a:cs typeface="Open Sans" pitchFamily="34" charset="-120"/>
              </a:rPr>
              <a:t>PA1 (Đào mở)</a:t>
            </a:r>
            <a:r>
              <a:rPr lang="en-US" sz="1100" dirty="0">
                <a:solidFill>
                  <a:srgbClr val="555555"/>
                </a:solidFill>
                <a:latin typeface="Open Sans" pitchFamily="34" charset="0"/>
                <a:ea typeface="Open Sans" pitchFamily="34" charset="-122"/>
                <a:cs typeface="Open Sans" pitchFamily="34" charset="-120"/>
              </a:rPr>
              <a:t> tiết kiệm 1.84 tỷ và 60 ngày</a:t>
            </a:r>
            <a:endParaRPr lang="en-US" sz="1100" dirty="0"/>
          </a:p>
          <a:p>
            <a:pPr marL="0" indent="0" algn="l">
              <a:buNone/>
            </a:pPr>
            <a:r>
              <a:rPr lang="en-US" sz="1100" dirty="0">
                <a:solidFill>
                  <a:srgbClr val="555555"/>
                </a:solidFill>
                <a:latin typeface="Open Sans" pitchFamily="34" charset="0"/>
                <a:ea typeface="Open Sans" pitchFamily="34" charset="-122"/>
                <a:cs typeface="Open Sans" pitchFamily="34" charset="-120"/>
              </a:rPr>
              <a:t> • Mô hình ECC thi công trực tiếp tăng kiểm soát và lợi nhuận</a:t>
            </a:r>
            <a:endParaRPr lang="en-US" sz="1100" dirty="0"/>
          </a:p>
        </p:txBody>
      </p:sp>
      <p:sp>
        <p:nvSpPr>
          <p:cNvPr id="20" name="Shape 14"/>
          <p:cNvSpPr/>
          <p:nvPr/>
        </p:nvSpPr>
        <p:spPr>
          <a:xfrm>
            <a:off x="676656" y="3866998"/>
            <a:ext cx="4953305" cy="2238451"/>
          </a:xfrm>
          <a:prstGeom prst="roundRect">
            <a:avLst>
              <a:gd name="adj" fmla="val 3477"/>
            </a:avLst>
          </a:prstGeom>
          <a:solidFill>
            <a:srgbClr val="F9F9F9"/>
          </a:solidFill>
          <a:ln w="12700">
            <a:solidFill>
              <a:srgbClr val="E0E0E0"/>
            </a:solidFill>
            <a:prstDash val="solid"/>
          </a:ln>
        </p:spPr>
        <p:txBody>
          <a:bodyPr/>
          <a:lstStyle/>
          <a:p>
            <a:endParaRPr lang="en-US"/>
          </a:p>
        </p:txBody>
      </p:sp>
      <p:sp>
        <p:nvSpPr>
          <p:cNvPr id="21" name="Shape 15"/>
          <p:cNvSpPr/>
          <p:nvPr/>
        </p:nvSpPr>
        <p:spPr>
          <a:xfrm>
            <a:off x="676656" y="3866998"/>
            <a:ext cx="38405" cy="2238451"/>
          </a:xfrm>
          <a:prstGeom prst="roundRect">
            <a:avLst>
              <a:gd name="adj" fmla="val 202633"/>
            </a:avLst>
          </a:prstGeom>
          <a:solidFill>
            <a:srgbClr val="F7A81B"/>
          </a:solidFill>
          <a:ln w="12700">
            <a:solidFill>
              <a:srgbClr val="F7A81B">
                <a:alpha val="0"/>
              </a:srgbClr>
            </a:solidFill>
            <a:prstDash val="solid"/>
          </a:ln>
        </p:spPr>
        <p:txBody>
          <a:bodyPr/>
          <a:lstStyle/>
          <a:p>
            <a:endParaRPr lang="en-US"/>
          </a:p>
        </p:txBody>
      </p:sp>
      <p:sp>
        <p:nvSpPr>
          <p:cNvPr id="22" name="Text 16"/>
          <p:cNvSpPr txBox="1"/>
          <p:nvPr/>
        </p:nvSpPr>
        <p:spPr>
          <a:xfrm>
            <a:off x="1028700" y="4086454"/>
            <a:ext cx="1438351"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BƯỚC TIẾP THEO</a:t>
            </a:r>
            <a:endParaRPr lang="en-US" sz="1200" dirty="0"/>
          </a:p>
        </p:txBody>
      </p:sp>
      <p:pic>
        <p:nvPicPr>
          <p:cNvPr id="23" name="Image 4" descr="preencoded.png"/>
          <p:cNvPicPr>
            <a:picLocks noChangeAspect="1"/>
          </p:cNvPicPr>
          <p:nvPr/>
        </p:nvPicPr>
        <p:blipFill>
          <a:blip r:embed="rId7"/>
          <a:srcRect t="-13478" b="-13478"/>
          <a:stretch/>
        </p:blipFill>
        <p:spPr>
          <a:xfrm>
            <a:off x="923544" y="4114800"/>
            <a:ext cx="105156" cy="133502"/>
          </a:xfrm>
          <a:prstGeom prst="rect">
            <a:avLst/>
          </a:prstGeom>
        </p:spPr>
      </p:pic>
      <p:sp>
        <p:nvSpPr>
          <p:cNvPr id="24" name="Shape 17"/>
          <p:cNvSpPr/>
          <p:nvPr/>
        </p:nvSpPr>
        <p:spPr>
          <a:xfrm>
            <a:off x="923544"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25" name="Shape 18"/>
          <p:cNvSpPr/>
          <p:nvPr/>
        </p:nvSpPr>
        <p:spPr>
          <a:xfrm>
            <a:off x="1481328"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26" name="Image 5" descr="preencoded.png"/>
          <p:cNvPicPr>
            <a:picLocks noChangeAspect="1"/>
          </p:cNvPicPr>
          <p:nvPr/>
        </p:nvPicPr>
        <p:blipFill>
          <a:blip r:embed="rId8"/>
          <a:srcRect t="-5544" b="-5544"/>
          <a:stretch/>
        </p:blipFill>
        <p:spPr>
          <a:xfrm>
            <a:off x="1580998" y="4593031"/>
            <a:ext cx="105156" cy="133502"/>
          </a:xfrm>
          <a:prstGeom prst="rect">
            <a:avLst/>
          </a:prstGeom>
        </p:spPr>
      </p:pic>
      <p:sp>
        <p:nvSpPr>
          <p:cNvPr id="27" name="Text 19"/>
          <p:cNvSpPr txBox="1"/>
          <p:nvPr/>
        </p:nvSpPr>
        <p:spPr>
          <a:xfrm>
            <a:off x="1028700"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Thực hiện</a:t>
            </a:r>
            <a:endParaRPr lang="en-US" sz="1000" dirty="0"/>
          </a:p>
        </p:txBody>
      </p:sp>
      <p:sp>
        <p:nvSpPr>
          <p:cNvPr id="28" name="Text 20"/>
          <p:cNvSpPr txBox="1"/>
          <p:nvPr/>
        </p:nvSpPr>
        <p:spPr>
          <a:xfrm>
            <a:off x="1028700"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Kế hoạch 14 ngày</a:t>
            </a:r>
            <a:endParaRPr lang="en-US" sz="900" dirty="0"/>
          </a:p>
        </p:txBody>
      </p:sp>
      <p:sp>
        <p:nvSpPr>
          <p:cNvPr id="29" name="Shape 21"/>
          <p:cNvSpPr/>
          <p:nvPr/>
        </p:nvSpPr>
        <p:spPr>
          <a:xfrm>
            <a:off x="2457907"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0" name="Shape 22"/>
          <p:cNvSpPr/>
          <p:nvPr/>
        </p:nvSpPr>
        <p:spPr>
          <a:xfrm>
            <a:off x="3014777"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1" name="Image 6" descr="preencoded.png"/>
          <p:cNvPicPr>
            <a:picLocks noChangeAspect="1"/>
          </p:cNvPicPr>
          <p:nvPr/>
        </p:nvPicPr>
        <p:blipFill>
          <a:blip r:embed="rId9"/>
          <a:srcRect t="-5544" b="-5544"/>
          <a:stretch/>
        </p:blipFill>
        <p:spPr>
          <a:xfrm>
            <a:off x="3114446" y="4593031"/>
            <a:ext cx="105156" cy="133502"/>
          </a:xfrm>
          <a:prstGeom prst="rect">
            <a:avLst/>
          </a:prstGeom>
        </p:spPr>
      </p:pic>
      <p:sp>
        <p:nvSpPr>
          <p:cNvPr id="32" name="Text 23"/>
          <p:cNvSpPr txBox="1"/>
          <p:nvPr/>
        </p:nvSpPr>
        <p:spPr>
          <a:xfrm>
            <a:off x="2562149"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Báo cáo</a:t>
            </a:r>
            <a:endParaRPr lang="en-US" sz="1000" dirty="0"/>
          </a:p>
        </p:txBody>
      </p:sp>
      <p:sp>
        <p:nvSpPr>
          <p:cNvPr id="33" name="Text 24"/>
          <p:cNvSpPr txBox="1"/>
          <p:nvPr/>
        </p:nvSpPr>
        <p:spPr>
          <a:xfrm>
            <a:off x="2424989" y="5105095"/>
            <a:ext cx="1484986"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Sẵn sàng 24/05/2026</a:t>
            </a:r>
            <a:endParaRPr lang="en-US" sz="900" dirty="0"/>
          </a:p>
        </p:txBody>
      </p:sp>
      <p:sp>
        <p:nvSpPr>
          <p:cNvPr id="34" name="Shape 25"/>
          <p:cNvSpPr/>
          <p:nvPr/>
        </p:nvSpPr>
        <p:spPr>
          <a:xfrm>
            <a:off x="3991356" y="4381805"/>
            <a:ext cx="1419149" cy="1009498"/>
          </a:xfrm>
          <a:prstGeom prst="roundRect">
            <a:avLst>
              <a:gd name="adj" fmla="val 13672"/>
            </a:avLst>
          </a:prstGeom>
          <a:solidFill>
            <a:srgbClr val="FFFFFF"/>
          </a:solidFill>
          <a:ln w="12700">
            <a:solidFill>
              <a:srgbClr val="F7A81B">
                <a:alpha val="30000"/>
              </a:srgbClr>
            </a:solidFill>
            <a:prstDash val="solid"/>
          </a:ln>
        </p:spPr>
        <p:txBody>
          <a:bodyPr/>
          <a:lstStyle/>
          <a:p>
            <a:endParaRPr lang="en-US"/>
          </a:p>
        </p:txBody>
      </p:sp>
      <p:sp>
        <p:nvSpPr>
          <p:cNvPr id="35" name="Shape 26"/>
          <p:cNvSpPr/>
          <p:nvPr/>
        </p:nvSpPr>
        <p:spPr>
          <a:xfrm>
            <a:off x="4548226" y="4505249"/>
            <a:ext cx="304495" cy="3044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36" name="Image 7" descr="preencoded.png"/>
          <p:cNvPicPr>
            <a:picLocks noChangeAspect="1"/>
          </p:cNvPicPr>
          <p:nvPr/>
        </p:nvPicPr>
        <p:blipFill>
          <a:blip r:embed="rId10"/>
          <a:srcRect t="-13478" b="-13478"/>
          <a:stretch/>
        </p:blipFill>
        <p:spPr>
          <a:xfrm>
            <a:off x="4647895" y="4593031"/>
            <a:ext cx="105156" cy="133502"/>
          </a:xfrm>
          <a:prstGeom prst="rect">
            <a:avLst/>
          </a:prstGeom>
        </p:spPr>
      </p:pic>
      <p:sp>
        <p:nvSpPr>
          <p:cNvPr id="37" name="Text 27"/>
          <p:cNvSpPr txBox="1"/>
          <p:nvPr/>
        </p:nvSpPr>
        <p:spPr>
          <a:xfrm>
            <a:off x="4095598" y="4886554"/>
            <a:ext cx="1209751" cy="181051"/>
          </a:xfrm>
          <a:prstGeom prst="rect">
            <a:avLst/>
          </a:prstGeom>
          <a:noFill/>
          <a:ln/>
        </p:spPr>
        <p:txBody>
          <a:bodyPr wrap="square" lIns="0" tIns="0" rIns="0" bIns="0" rtlCol="0" anchor="ctr"/>
          <a:lstStyle/>
          <a:p>
            <a:pPr marL="0" indent="0" algn="ctr">
              <a:buNone/>
            </a:pPr>
            <a:r>
              <a:rPr lang="en-US" sz="1000" b="1" dirty="0">
                <a:solidFill>
                  <a:srgbClr val="808080"/>
                </a:solidFill>
                <a:latin typeface="Open Sans" pitchFamily="34" charset="0"/>
                <a:ea typeface="Open Sans" pitchFamily="34" charset="-122"/>
                <a:cs typeface="Open Sans" pitchFamily="34" charset="-120"/>
              </a:rPr>
              <a:t>Khởi công</a:t>
            </a:r>
            <a:endParaRPr lang="en-US" sz="1000" dirty="0"/>
          </a:p>
        </p:txBody>
      </p:sp>
      <p:sp>
        <p:nvSpPr>
          <p:cNvPr id="38" name="Text 28"/>
          <p:cNvSpPr txBox="1"/>
          <p:nvPr/>
        </p:nvSpPr>
        <p:spPr>
          <a:xfrm>
            <a:off x="4095598" y="5105095"/>
            <a:ext cx="1209751" cy="162763"/>
          </a:xfrm>
          <a:prstGeom prst="rect">
            <a:avLst/>
          </a:prstGeom>
          <a:noFill/>
          <a:ln/>
        </p:spPr>
        <p:txBody>
          <a:bodyPr wrap="square" lIns="0" tIns="0" rIns="0" bIns="0" rtlCol="0" anchor="ctr"/>
          <a:lstStyle/>
          <a:p>
            <a:pPr marL="0" indent="0" algn="ctr">
              <a:buNone/>
            </a:pPr>
            <a:r>
              <a:rPr lang="en-US" sz="900" dirty="0">
                <a:solidFill>
                  <a:srgbClr val="666666"/>
                </a:solidFill>
                <a:latin typeface="Open Sans" pitchFamily="34" charset="0"/>
                <a:ea typeface="Open Sans" pitchFamily="34" charset="-122"/>
                <a:cs typeface="Open Sans" pitchFamily="34" charset="-120"/>
              </a:rPr>
              <a:t>25/05/2026</a:t>
            </a:r>
            <a:endParaRPr lang="en-US" sz="900" dirty="0"/>
          </a:p>
        </p:txBody>
      </p:sp>
      <p:sp>
        <p:nvSpPr>
          <p:cNvPr id="39" name="Shape 29"/>
          <p:cNvSpPr/>
          <p:nvPr/>
        </p:nvSpPr>
        <p:spPr>
          <a:xfrm>
            <a:off x="5867705" y="1676095"/>
            <a:ext cx="5667451" cy="4429354"/>
          </a:xfrm>
          <a:prstGeom prst="roundRect">
            <a:avLst>
              <a:gd name="adj" fmla="val 888"/>
            </a:avLst>
          </a:prstGeom>
          <a:solidFill>
            <a:srgbClr val="F9F9F9"/>
          </a:solidFill>
          <a:ln w="12700">
            <a:solidFill>
              <a:srgbClr val="E0E0E0"/>
            </a:solidFill>
            <a:prstDash val="solid"/>
          </a:ln>
        </p:spPr>
        <p:txBody>
          <a:bodyPr/>
          <a:lstStyle/>
          <a:p>
            <a:endParaRPr lang="en-US"/>
          </a:p>
        </p:txBody>
      </p:sp>
      <p:sp>
        <p:nvSpPr>
          <p:cNvPr id="40" name="Shape 30"/>
          <p:cNvSpPr/>
          <p:nvPr/>
        </p:nvSpPr>
        <p:spPr>
          <a:xfrm>
            <a:off x="5867705" y="1676095"/>
            <a:ext cx="38405" cy="4429354"/>
          </a:xfrm>
          <a:prstGeom prst="roundRect">
            <a:avLst>
              <a:gd name="adj" fmla="val 102406"/>
            </a:avLst>
          </a:prstGeom>
          <a:solidFill>
            <a:srgbClr val="F7A81B"/>
          </a:solidFill>
          <a:ln w="12700">
            <a:solidFill>
              <a:srgbClr val="F7A81B">
                <a:alpha val="0"/>
              </a:srgbClr>
            </a:solidFill>
            <a:prstDash val="solid"/>
          </a:ln>
        </p:spPr>
        <p:txBody>
          <a:bodyPr/>
          <a:lstStyle/>
          <a:p>
            <a:endParaRPr lang="en-US"/>
          </a:p>
        </p:txBody>
      </p:sp>
      <p:sp>
        <p:nvSpPr>
          <p:cNvPr id="41" name="Text 31"/>
          <p:cNvSpPr txBox="1"/>
          <p:nvPr/>
        </p:nvSpPr>
        <p:spPr>
          <a:xfrm>
            <a:off x="6220663" y="1895551"/>
            <a:ext cx="1762049" cy="181051"/>
          </a:xfrm>
          <a:prstGeom prst="rect">
            <a:avLst/>
          </a:prstGeom>
          <a:noFill/>
          <a:ln/>
        </p:spPr>
        <p:txBody>
          <a:bodyPr wrap="square" lIns="0" tIns="0" rIns="0" bIns="0" rtlCol="0" anchor="ctr"/>
          <a:lstStyle/>
          <a:p>
            <a:pPr marL="0" indent="0" algn="l">
              <a:buNone/>
            </a:pPr>
            <a:r>
              <a:rPr lang="en-US" sz="1200" b="1" kern="0" spc="38" dirty="0">
                <a:solidFill>
                  <a:srgbClr val="808080"/>
                </a:solidFill>
                <a:latin typeface="Montserrat" pitchFamily="34" charset="0"/>
                <a:ea typeface="Montserrat" pitchFamily="34" charset="-122"/>
                <a:cs typeface="Montserrat" pitchFamily="34" charset="-120"/>
              </a:rPr>
              <a:t>PHÊ DUYỆT YÊU CẦU</a:t>
            </a:r>
            <a:endParaRPr lang="en-US" sz="1200" dirty="0"/>
          </a:p>
        </p:txBody>
      </p:sp>
      <p:pic>
        <p:nvPicPr>
          <p:cNvPr id="42" name="Image 8" descr="preencoded.png"/>
          <p:cNvPicPr>
            <a:picLocks noChangeAspect="1"/>
          </p:cNvPicPr>
          <p:nvPr/>
        </p:nvPicPr>
        <p:blipFill>
          <a:blip r:embed="rId11"/>
          <a:srcRect t="-5544" b="-5544"/>
          <a:stretch/>
        </p:blipFill>
        <p:spPr>
          <a:xfrm>
            <a:off x="6115507" y="1923898"/>
            <a:ext cx="105156" cy="133502"/>
          </a:xfrm>
          <a:prstGeom prst="rect">
            <a:avLst/>
          </a:prstGeom>
        </p:spPr>
      </p:pic>
      <p:sp>
        <p:nvSpPr>
          <p:cNvPr id="43" name="Shape 32"/>
          <p:cNvSpPr/>
          <p:nvPr/>
        </p:nvSpPr>
        <p:spPr>
          <a:xfrm>
            <a:off x="6115507" y="2190902"/>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4" name="Shape 33"/>
          <p:cNvSpPr/>
          <p:nvPr/>
        </p:nvSpPr>
        <p:spPr>
          <a:xfrm>
            <a:off x="6267298" y="231434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45" name="Image 9" descr="preencoded.png"/>
          <p:cNvPicPr>
            <a:picLocks noChangeAspect="1"/>
          </p:cNvPicPr>
          <p:nvPr/>
        </p:nvPicPr>
        <p:blipFill>
          <a:blip r:embed="rId12"/>
          <a:srcRect t="-4819" b="-4819"/>
          <a:stretch/>
        </p:blipFill>
        <p:spPr>
          <a:xfrm>
            <a:off x="6324905" y="2364638"/>
            <a:ext cx="75895" cy="95098"/>
          </a:xfrm>
          <a:prstGeom prst="rect">
            <a:avLst/>
          </a:prstGeom>
        </p:spPr>
      </p:pic>
      <p:sp>
        <p:nvSpPr>
          <p:cNvPr id="46" name="Text 34"/>
          <p:cNvSpPr txBox="1"/>
          <p:nvPr/>
        </p:nvSpPr>
        <p:spPr>
          <a:xfrm>
            <a:off x="6572707" y="229514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PA1 làm phương án chính thức cho CT2</a:t>
            </a:r>
            <a:endParaRPr lang="en-US" sz="1000" dirty="0"/>
          </a:p>
        </p:txBody>
      </p:sp>
      <p:sp>
        <p:nvSpPr>
          <p:cNvPr id="47" name="Text 35"/>
          <p:cNvSpPr txBox="1"/>
          <p:nvPr/>
        </p:nvSpPr>
        <p:spPr>
          <a:xfrm>
            <a:off x="6572707" y="248625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Đào mở - tiết kiệm 1.84 tỷ, nhanh hơn 60 ngày</a:t>
            </a:r>
            <a:endParaRPr lang="en-US" sz="900" dirty="0"/>
          </a:p>
        </p:txBody>
      </p:sp>
      <p:sp>
        <p:nvSpPr>
          <p:cNvPr id="48" name="Shape 36"/>
          <p:cNvSpPr/>
          <p:nvPr/>
        </p:nvSpPr>
        <p:spPr>
          <a:xfrm>
            <a:off x="6115507" y="2857500"/>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49" name="Shape 37"/>
          <p:cNvSpPr/>
          <p:nvPr/>
        </p:nvSpPr>
        <p:spPr>
          <a:xfrm>
            <a:off x="6267298" y="298094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0" name="Image 10" descr="preencoded.png"/>
          <p:cNvPicPr>
            <a:picLocks noChangeAspect="1"/>
          </p:cNvPicPr>
          <p:nvPr/>
        </p:nvPicPr>
        <p:blipFill>
          <a:blip r:embed="rId12"/>
          <a:srcRect t="-4819" b="-4819"/>
          <a:stretch/>
        </p:blipFill>
        <p:spPr>
          <a:xfrm>
            <a:off x="6324905" y="3031236"/>
            <a:ext cx="75895" cy="95098"/>
          </a:xfrm>
          <a:prstGeom prst="rect">
            <a:avLst/>
          </a:prstGeom>
        </p:spPr>
      </p:pic>
      <p:sp>
        <p:nvSpPr>
          <p:cNvPr id="51" name="Text 38"/>
          <p:cNvSpPr txBox="1"/>
          <p:nvPr/>
        </p:nvSpPr>
        <p:spPr>
          <a:xfrm>
            <a:off x="6572707" y="2962656"/>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ngân sách thuê đường vào và bãi tập kết</a:t>
            </a:r>
            <a:endParaRPr lang="en-US" sz="1000" dirty="0"/>
          </a:p>
        </p:txBody>
      </p:sp>
      <p:sp>
        <p:nvSpPr>
          <p:cNvPr id="52" name="Text 39"/>
          <p:cNvSpPr txBox="1"/>
          <p:nvPr/>
        </p:nvSpPr>
        <p:spPr>
          <a:xfrm>
            <a:off x="6572707" y="3152851"/>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50 triệu/tháng cho đường từ Vành đai 3</a:t>
            </a:r>
            <a:endParaRPr lang="en-US" sz="900" dirty="0"/>
          </a:p>
        </p:txBody>
      </p:sp>
      <p:sp>
        <p:nvSpPr>
          <p:cNvPr id="53" name="Shape 40"/>
          <p:cNvSpPr/>
          <p:nvPr/>
        </p:nvSpPr>
        <p:spPr>
          <a:xfrm>
            <a:off x="6115507" y="3524098"/>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4" name="Shape 41"/>
          <p:cNvSpPr/>
          <p:nvPr/>
        </p:nvSpPr>
        <p:spPr>
          <a:xfrm>
            <a:off x="6267298" y="3648456"/>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55" name="Image 11" descr="preencoded.png"/>
          <p:cNvPicPr>
            <a:picLocks noChangeAspect="1"/>
          </p:cNvPicPr>
          <p:nvPr/>
        </p:nvPicPr>
        <p:blipFill>
          <a:blip r:embed="rId12"/>
          <a:srcRect t="-4819" b="-4819"/>
          <a:stretch/>
        </p:blipFill>
        <p:spPr>
          <a:xfrm>
            <a:off x="6324905" y="3697834"/>
            <a:ext cx="75895" cy="95098"/>
          </a:xfrm>
          <a:prstGeom prst="rect">
            <a:avLst/>
          </a:prstGeom>
        </p:spPr>
      </p:pic>
      <p:sp>
        <p:nvSpPr>
          <p:cNvPr id="56" name="Text 42"/>
          <p:cNvSpPr txBox="1"/>
          <p:nvPr/>
        </p:nvSpPr>
        <p:spPr>
          <a:xfrm>
            <a:off x="6572707" y="3629254"/>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fast-track trạm biến áp 1600kVA</a:t>
            </a:r>
            <a:endParaRPr lang="en-US" sz="1000" dirty="0"/>
          </a:p>
        </p:txBody>
      </p:sp>
      <p:sp>
        <p:nvSpPr>
          <p:cNvPr id="57" name="Text 43"/>
          <p:cNvSpPr txBox="1"/>
          <p:nvPr/>
        </p:nvSpPr>
        <p:spPr>
          <a:xfrm>
            <a:off x="6572707" y="3819449"/>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Điện tạm cho thi công phần ngầm</a:t>
            </a:r>
            <a:endParaRPr lang="en-US" sz="900" dirty="0"/>
          </a:p>
        </p:txBody>
      </p:sp>
      <p:sp>
        <p:nvSpPr>
          <p:cNvPr id="58" name="Shape 44"/>
          <p:cNvSpPr/>
          <p:nvPr/>
        </p:nvSpPr>
        <p:spPr>
          <a:xfrm>
            <a:off x="6115507" y="4190695"/>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59" name="Shape 45"/>
          <p:cNvSpPr/>
          <p:nvPr/>
        </p:nvSpPr>
        <p:spPr>
          <a:xfrm>
            <a:off x="6267298" y="4315054"/>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0" name="Image 12" descr="preencoded.png"/>
          <p:cNvPicPr>
            <a:picLocks noChangeAspect="1"/>
          </p:cNvPicPr>
          <p:nvPr/>
        </p:nvPicPr>
        <p:blipFill>
          <a:blip r:embed="rId12"/>
          <a:srcRect t="-4819" b="-4819"/>
          <a:stretch/>
        </p:blipFill>
        <p:spPr>
          <a:xfrm>
            <a:off x="6324905" y="4364431"/>
            <a:ext cx="75895" cy="95098"/>
          </a:xfrm>
          <a:prstGeom prst="rect">
            <a:avLst/>
          </a:prstGeom>
        </p:spPr>
      </p:pic>
      <p:sp>
        <p:nvSpPr>
          <p:cNvPr id="61" name="Text 46"/>
          <p:cNvSpPr txBox="1"/>
          <p:nvPr/>
        </p:nvSpPr>
        <p:spPr>
          <a:xfrm>
            <a:off x="6572707" y="4295851"/>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thành lập ECC </a:t>
            </a:r>
            <a:r>
              <a:rPr lang="en-US" sz="1000" b="1" dirty="0" err="1">
                <a:solidFill>
                  <a:srgbClr val="808080"/>
                </a:solidFill>
                <a:latin typeface="Open Sans" pitchFamily="34" charset="0"/>
                <a:ea typeface="Open Sans" pitchFamily="34" charset="-122"/>
                <a:cs typeface="Open Sans" pitchFamily="34" charset="-120"/>
              </a:rPr>
              <a:t>và</a:t>
            </a:r>
            <a:r>
              <a:rPr lang="en-US" sz="1000" b="1" dirty="0">
                <a:solidFill>
                  <a:srgbClr val="808080"/>
                </a:solidFill>
                <a:latin typeface="Open Sans" pitchFamily="34" charset="0"/>
                <a:ea typeface="Open Sans" pitchFamily="34" charset="-122"/>
                <a:cs typeface="Open Sans" pitchFamily="34" charset="-120"/>
              </a:rPr>
              <a:t> </a:t>
            </a:r>
            <a:r>
              <a:rPr lang="en-US" sz="1000" b="1" dirty="0" err="1">
                <a:solidFill>
                  <a:srgbClr val="808080"/>
                </a:solidFill>
                <a:latin typeface="Open Sans" pitchFamily="34" charset="0"/>
                <a:ea typeface="Open Sans" pitchFamily="34" charset="-122"/>
                <a:cs typeface="Open Sans" pitchFamily="34" charset="-120"/>
              </a:rPr>
              <a:t>CapEx</a:t>
            </a:r>
            <a:r>
              <a:rPr lang="en-US" sz="1000" b="1" dirty="0">
                <a:solidFill>
                  <a:srgbClr val="808080"/>
                </a:solidFill>
                <a:latin typeface="Open Sans" pitchFamily="34" charset="0"/>
                <a:ea typeface="Open Sans" pitchFamily="34" charset="-122"/>
                <a:cs typeface="Open Sans" pitchFamily="34" charset="-120"/>
              </a:rPr>
              <a:t> ban đầu</a:t>
            </a:r>
            <a:endParaRPr lang="en-US" sz="1000" dirty="0"/>
          </a:p>
        </p:txBody>
      </p:sp>
      <p:sp>
        <p:nvSpPr>
          <p:cNvPr id="62" name="Text 47"/>
          <p:cNvSpPr txBox="1"/>
          <p:nvPr/>
        </p:nvSpPr>
        <p:spPr>
          <a:xfrm>
            <a:off x="6572707" y="4486046"/>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Ván khuôn 32.91 tỷ, thiết bị 14.81 tỷ</a:t>
            </a:r>
            <a:endParaRPr lang="en-US" sz="900" dirty="0"/>
          </a:p>
        </p:txBody>
      </p:sp>
      <p:sp>
        <p:nvSpPr>
          <p:cNvPr id="63" name="Shape 48"/>
          <p:cNvSpPr/>
          <p:nvPr/>
        </p:nvSpPr>
        <p:spPr>
          <a:xfrm>
            <a:off x="6115507" y="4858207"/>
            <a:ext cx="5201107" cy="562356"/>
          </a:xfrm>
          <a:prstGeom prst="roundRect">
            <a:avLst>
              <a:gd name="adj" fmla="val 44095"/>
            </a:avLst>
          </a:prstGeom>
          <a:solidFill>
            <a:srgbClr val="FFFFFF"/>
          </a:solidFill>
          <a:ln w="12700">
            <a:solidFill>
              <a:srgbClr val="E0E0E0"/>
            </a:solidFill>
            <a:prstDash val="solid"/>
          </a:ln>
        </p:spPr>
        <p:txBody>
          <a:bodyPr/>
          <a:lstStyle/>
          <a:p>
            <a:endParaRPr lang="en-US"/>
          </a:p>
        </p:txBody>
      </p:sp>
      <p:sp>
        <p:nvSpPr>
          <p:cNvPr id="64" name="Shape 49"/>
          <p:cNvSpPr/>
          <p:nvPr/>
        </p:nvSpPr>
        <p:spPr>
          <a:xfrm>
            <a:off x="6267298" y="4981651"/>
            <a:ext cx="190195" cy="190195"/>
          </a:xfrm>
          <a:prstGeom prst="ellipse">
            <a:avLst/>
          </a:prstGeom>
          <a:solidFill>
            <a:srgbClr val="F7A81B">
              <a:alpha val="10000"/>
            </a:srgbClr>
          </a:solidFill>
          <a:ln w="12700">
            <a:solidFill>
              <a:srgbClr val="FFFFFF">
                <a:alpha val="0"/>
              </a:srgbClr>
            </a:solidFill>
            <a:prstDash val="solid"/>
          </a:ln>
        </p:spPr>
        <p:txBody>
          <a:bodyPr/>
          <a:lstStyle/>
          <a:p>
            <a:endParaRPr lang="en-US"/>
          </a:p>
        </p:txBody>
      </p:sp>
      <p:pic>
        <p:nvPicPr>
          <p:cNvPr id="65" name="Image 13" descr="preencoded.png"/>
          <p:cNvPicPr>
            <a:picLocks noChangeAspect="1"/>
          </p:cNvPicPr>
          <p:nvPr/>
        </p:nvPicPr>
        <p:blipFill>
          <a:blip r:embed="rId12"/>
          <a:srcRect t="-4819" b="-4819"/>
          <a:stretch/>
        </p:blipFill>
        <p:spPr>
          <a:xfrm>
            <a:off x="6324905" y="5031943"/>
            <a:ext cx="75895" cy="95098"/>
          </a:xfrm>
          <a:prstGeom prst="rect">
            <a:avLst/>
          </a:prstGeom>
        </p:spPr>
      </p:pic>
      <p:sp>
        <p:nvSpPr>
          <p:cNvPr id="66" name="Text 50"/>
          <p:cNvSpPr txBox="1"/>
          <p:nvPr/>
        </p:nvSpPr>
        <p:spPr>
          <a:xfrm>
            <a:off x="6572707" y="4962449"/>
            <a:ext cx="4591202" cy="181051"/>
          </a:xfrm>
          <a:prstGeom prst="rect">
            <a:avLst/>
          </a:prstGeom>
          <a:noFill/>
          <a:ln/>
        </p:spPr>
        <p:txBody>
          <a:bodyPr wrap="square" lIns="0" tIns="0" rIns="0" bIns="0" rtlCol="0" anchor="ctr"/>
          <a:lstStyle/>
          <a:p>
            <a:pPr marL="0" indent="0" algn="l">
              <a:buNone/>
            </a:pPr>
            <a:r>
              <a:rPr lang="en-US" sz="1000" b="1" dirty="0">
                <a:solidFill>
                  <a:srgbClr val="808080"/>
                </a:solidFill>
                <a:latin typeface="Open Sans" pitchFamily="34" charset="0"/>
                <a:ea typeface="Open Sans" pitchFamily="34" charset="-122"/>
                <a:cs typeface="Open Sans" pitchFamily="34" charset="-120"/>
              </a:rPr>
              <a:t>Phê duyệt LOIs sớm cho cọc nhồi, văng chống, đất</a:t>
            </a:r>
            <a:endParaRPr lang="en-US" sz="1000" dirty="0"/>
          </a:p>
        </p:txBody>
      </p:sp>
      <p:sp>
        <p:nvSpPr>
          <p:cNvPr id="67" name="Text 51"/>
          <p:cNvSpPr txBox="1"/>
          <p:nvPr/>
        </p:nvSpPr>
        <p:spPr>
          <a:xfrm>
            <a:off x="6572707" y="5152644"/>
            <a:ext cx="4591202" cy="162763"/>
          </a:xfrm>
          <a:prstGeom prst="rect">
            <a:avLst/>
          </a:prstGeom>
          <a:noFill/>
          <a:ln/>
        </p:spPr>
        <p:txBody>
          <a:bodyPr wrap="square" lIns="0" tIns="0" rIns="0" bIns="0" rtlCol="0" anchor="ctr"/>
          <a:lstStyle/>
          <a:p>
            <a:pPr marL="0" indent="0" algn="l">
              <a:buNone/>
            </a:pPr>
            <a:r>
              <a:rPr lang="en-US" sz="900" dirty="0">
                <a:solidFill>
                  <a:srgbClr val="666666"/>
                </a:solidFill>
                <a:latin typeface="Open Sans" pitchFamily="34" charset="0"/>
                <a:ea typeface="Open Sans" pitchFamily="34" charset="-122"/>
                <a:cs typeface="Open Sans" pitchFamily="34" charset="-120"/>
              </a:rPr>
              <a:t>Đảm bảo tiến độ khởi công</a:t>
            </a:r>
            <a:endParaRPr lang="en-US" sz="900" dirty="0"/>
          </a:p>
        </p:txBody>
      </p:sp>
      <p:sp>
        <p:nvSpPr>
          <p:cNvPr id="68" name="Text 52"/>
          <p:cNvSpPr txBox="1"/>
          <p:nvPr/>
        </p:nvSpPr>
        <p:spPr>
          <a:xfrm>
            <a:off x="476402" y="6486754"/>
            <a:ext cx="2399386"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Báo cáo trình Hội đồng Chủ đầu tư</a:t>
            </a:r>
            <a:endParaRPr lang="en-US" sz="900" dirty="0"/>
          </a:p>
        </p:txBody>
      </p:sp>
      <p:pic>
        <p:nvPicPr>
          <p:cNvPr id="69" name="Image 14" descr="preencoded.png"/>
          <p:cNvPicPr>
            <a:picLocks noChangeAspect="1"/>
          </p:cNvPicPr>
          <p:nvPr/>
        </p:nvPicPr>
        <p:blipFill>
          <a:blip r:embed="rId13"/>
          <a:srcRect l="-1358" r="-1358"/>
          <a:stretch/>
        </p:blipFill>
        <p:spPr>
          <a:xfrm>
            <a:off x="381305" y="6511442"/>
            <a:ext cx="95098" cy="123444"/>
          </a:xfrm>
          <a:prstGeom prst="rect">
            <a:avLst/>
          </a:prstGeom>
        </p:spPr>
      </p:pic>
      <p:sp>
        <p:nvSpPr>
          <p:cNvPr id="70" name="Text 53"/>
          <p:cNvSpPr txBox="1"/>
          <p:nvPr/>
        </p:nvSpPr>
        <p:spPr>
          <a:xfrm>
            <a:off x="9945014" y="6486754"/>
            <a:ext cx="1867205" cy="171907"/>
          </a:xfrm>
          <a:prstGeom prst="rect">
            <a:avLst/>
          </a:prstGeom>
          <a:noFill/>
          <a:ln/>
        </p:spPr>
        <p:txBody>
          <a:bodyPr wrap="square" lIns="0" tIns="0" rIns="0" bIns="0" rtlCol="0" anchor="ctr"/>
          <a:lstStyle/>
          <a:p>
            <a:pPr marL="0" indent="0" algn="l">
              <a:buNone/>
            </a:pPr>
            <a:r>
              <a:rPr lang="en-US" sz="900" dirty="0">
                <a:solidFill>
                  <a:srgbClr val="808080"/>
                </a:solidFill>
                <a:latin typeface="Open Sans" pitchFamily="34" charset="0"/>
                <a:ea typeface="Open Sans" pitchFamily="34" charset="-122"/>
                <a:cs typeface="Open Sans" pitchFamily="34" charset="-120"/>
              </a:rPr>
              <a:t>Trang 12/12</a:t>
            </a:r>
            <a:r>
              <a:rPr lang="en-US" sz="800" b="1" dirty="0">
                <a:solidFill>
                  <a:srgbClr val="F7A81B"/>
                </a:solidFill>
                <a:latin typeface="Open Sans" pitchFamily="34" charset="0"/>
                <a:ea typeface="Open Sans" pitchFamily="34" charset="-122"/>
                <a:cs typeface="Open Sans" pitchFamily="34" charset="-120"/>
              </a:rPr>
              <a:t>Hoàn thành</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TotalTime>
  <Words>2918</Words>
  <Application>Microsoft Office PowerPoint</Application>
  <PresentationFormat>Widescreen</PresentationFormat>
  <Paragraphs>587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Quang</dc:creator>
  <cp:lastModifiedBy>Personal</cp:lastModifiedBy>
  <cp:revision>12</cp:revision>
  <cp:lastPrinted>2026-05-12T02:47:04Z</cp:lastPrinted>
  <dcterms:created xsi:type="dcterms:W3CDTF">2026-05-11T23:56:49Z</dcterms:created>
  <dcterms:modified xsi:type="dcterms:W3CDTF">2026-05-13T02:45:24Z</dcterms:modified>
</cp:coreProperties>
</file>